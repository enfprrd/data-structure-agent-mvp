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477" r:id="rId3"/>
    <p:sldId id="567" r:id="rId4"/>
    <p:sldId id="568" r:id="rId5"/>
    <p:sldId id="639" r:id="rId6"/>
    <p:sldId id="640" r:id="rId7"/>
    <p:sldId id="641" r:id="rId8"/>
    <p:sldId id="642" r:id="rId9"/>
    <p:sldId id="643" r:id="rId10"/>
    <p:sldId id="644" r:id="rId11"/>
    <p:sldId id="645" r:id="rId12"/>
    <p:sldId id="646" r:id="rId13"/>
    <p:sldId id="648" r:id="rId14"/>
    <p:sldId id="649" r:id="rId15"/>
    <p:sldId id="650" r:id="rId16"/>
    <p:sldId id="651" r:id="rId17"/>
    <p:sldId id="652" r:id="rId18"/>
    <p:sldId id="653" r:id="rId19"/>
    <p:sldId id="654" r:id="rId20"/>
    <p:sldId id="655" r:id="rId21"/>
    <p:sldId id="656" r:id="rId22"/>
    <p:sldId id="647" r:id="rId23"/>
    <p:sldId id="657" r:id="rId24"/>
    <p:sldId id="658" r:id="rId25"/>
    <p:sldId id="659" r:id="rId26"/>
    <p:sldId id="660" r:id="rId27"/>
    <p:sldId id="661" r:id="rId28"/>
    <p:sldId id="662" r:id="rId29"/>
    <p:sldId id="663" r:id="rId30"/>
    <p:sldId id="664" r:id="rId31"/>
    <p:sldId id="665" r:id="rId32"/>
    <p:sldId id="666" r:id="rId33"/>
    <p:sldId id="667" r:id="rId34"/>
    <p:sldId id="668" r:id="rId35"/>
    <p:sldId id="669" r:id="rId36"/>
    <p:sldId id="670" r:id="rId37"/>
    <p:sldId id="671" r:id="rId38"/>
    <p:sldId id="672" r:id="rId39"/>
    <p:sldId id="673" r:id="rId40"/>
    <p:sldId id="674" r:id="rId41"/>
  </p:sldIdLst>
  <p:sldSz cx="9144000" cy="6858000" type="screen4x3"/>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2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1"/>
        <p:guide pos="291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5.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3465"/>
            <a:ext cx="8229600" cy="538988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a:spLocks noGrp="1"/>
          </p:cNvSpPr>
          <p:nvPr userDrawn="1"/>
        </p:nvSpPr>
        <p:spPr>
          <a:xfrm>
            <a:off x="1141095" y="635"/>
            <a:ext cx="7545705" cy="885190"/>
          </a:xfrm>
          <a:prstGeom prst="rect">
            <a:avLst/>
          </a:prstGeom>
          <a:noFill/>
          <a:ln>
            <a:noFill/>
          </a:ln>
          <a:effectLst/>
        </p:spPr>
        <p:txBody>
          <a:bodyPr vert="horz" wrap="square" lIns="91440" tIns="45720" rIns="91440" bIns="45720" numCol="1" anchor="ctr" anchorCtr="0" compatLnSpc="1"/>
          <a:lstStyle>
            <a:lvl1pPr algn="l">
              <a:defRPr sz="3200">
                <a:solidFill>
                  <a:schemeClr val="bg1"/>
                </a:solidFill>
              </a:defRPr>
            </a:lvl1pPr>
          </a:lstStyle>
          <a:p>
            <a:endParaRPr lang="zh-CN" altLang="en-US"/>
          </a:p>
        </p:txBody>
      </p:sp>
      <p:sp>
        <p:nvSpPr>
          <p:cNvPr id="8" name="标题 7"/>
          <p:cNvSpPr>
            <a:spLocks noGrp="1"/>
          </p:cNvSpPr>
          <p:nvPr>
            <p:ph type="title"/>
          </p:nvPr>
        </p:nvSpPr>
        <p:spPr>
          <a:xfrm>
            <a:off x="1194435" y="0"/>
            <a:ext cx="7493000" cy="895985"/>
          </a:xfrm>
        </p:spPr>
        <p:txBody>
          <a:bodyPr anchor="ctr" anchorCtr="0"/>
          <a:lstStyle>
            <a:lvl1pPr algn="l">
              <a:defRPr sz="3200" b="1">
                <a:solidFill>
                  <a:schemeClr val="bg1"/>
                </a:solidFill>
              </a:defRPr>
            </a:lvl1p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0639BCA4-5DF8-4F2B-A77F-EEFEEEEEFCF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44925D7E-B542-4D39-911F-9C66EB3EF7C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45847812-3FFE-4E5B-AE0A-6A412ED8120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灯片编号占位符 5"/>
          <p:cNvSpPr>
            <a:spLocks noGrp="1"/>
          </p:cNvSpPr>
          <p:nvPr>
            <p:ph type="sldNum" sz="quarter" idx="11"/>
          </p:nvPr>
        </p:nvSpPr>
        <p:spPr>
          <a:xfrm>
            <a:off x="6553200" y="6248400"/>
            <a:ext cx="2133600" cy="457200"/>
          </a:xfrm>
        </p:spPr>
        <p:txBody>
          <a:bodyPr/>
          <a:lstStyle>
            <a:lvl1pPr>
              <a:defRPr/>
            </a:lvl1pPr>
          </a:lstStyle>
          <a:p>
            <a:fld id="{4B8AB00C-BC51-49F0-AFD2-845F7FF64C4C}" type="slidenum">
              <a:rPr lang="en-US" altLang="zh-CN"/>
            </a:fld>
            <a:endParaRPr lang="en-US" altLang="zh-CN"/>
          </a:p>
        </p:txBody>
      </p:sp>
      <p:sp>
        <p:nvSpPr>
          <p:cNvPr id="7" name="页脚占位符 6"/>
          <p:cNvSpPr>
            <a:spLocks noGrp="1"/>
          </p:cNvSpPr>
          <p:nvPr>
            <p:ph type="ftr" sz="quarter" idx="12"/>
          </p:nvPr>
        </p:nvSpPr>
        <p:spPr>
          <a:xfrm>
            <a:off x="3124200" y="6407150"/>
            <a:ext cx="2895600" cy="457200"/>
          </a:xfrm>
        </p:spPr>
        <p:txBody>
          <a:bodyPr/>
          <a:lstStyle>
            <a:lvl1pPr>
              <a:defRPr/>
            </a:lvl1pPr>
          </a:lstStyle>
          <a:p>
            <a:endParaRPr lang="en-US" altLang="zh-CN"/>
          </a:p>
          <a:p>
            <a:r>
              <a:rPr lang="en-US" altLang="zh-CN"/>
              <a:t>Prof. Q. Wang</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11.xml"/><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 Target="slide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7.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ctrTitle"/>
          </p:nvPr>
        </p:nvSpPr>
        <p:spPr>
          <a:xfrm>
            <a:off x="685800" y="1572260"/>
            <a:ext cx="7772400" cy="1856740"/>
          </a:xfrm>
        </p:spPr>
        <p:txBody>
          <a:bodyPr/>
          <a:p>
            <a:pPr>
              <a:lnSpc>
                <a:spcPct val="130000"/>
              </a:lnSpc>
            </a:pPr>
            <a:r>
              <a:rPr lang="en-US" altLang="zh-CN" dirty="0">
                <a:solidFill>
                  <a:schemeClr val="accent1"/>
                </a:solidFill>
                <a:ea typeface="黑体" panose="02010609060101010101" pitchFamily="2" charset="-122"/>
              </a:rPr>
              <a:t>Chapter 08 </a:t>
            </a:r>
            <a:r>
              <a:rPr lang="en-US" altLang="zh-CN" dirty="0">
                <a:solidFill>
                  <a:schemeClr val="accent1"/>
                </a:solidFill>
                <a:ea typeface="黑体" panose="02010609060101010101" pitchFamily="2" charset="-122"/>
                <a:sym typeface="+mn-ea"/>
              </a:rPr>
              <a:t>Searching</a:t>
            </a:r>
            <a:br>
              <a:rPr lang="en-US" altLang="zh-CN" dirty="0">
                <a:solidFill>
                  <a:schemeClr val="accent1"/>
                </a:solidFill>
                <a:ea typeface="黑体" panose="02010609060101010101" pitchFamily="2" charset="-122"/>
              </a:rPr>
            </a:br>
            <a:r>
              <a:rPr kumimoji="1" lang="zh-CN" altLang="en-US" sz="2700" dirty="0">
                <a:solidFill>
                  <a:schemeClr val="accent1"/>
                </a:solidFill>
                <a:ea typeface="黑体" panose="02010609060101010101" pitchFamily="2" charset="-122"/>
              </a:rPr>
              <a:t>第八章 查找</a:t>
            </a:r>
            <a:endParaRPr kumimoji="1" lang="zh-CN" altLang="en-US" sz="2700" dirty="0">
              <a:solidFill>
                <a:schemeClr val="accent1"/>
              </a:solidFill>
              <a:ea typeface="黑体" panose="02010609060101010101" pitchFamily="2" charset="-122"/>
            </a:endParaRPr>
          </a:p>
        </p:txBody>
      </p:sp>
      <p:sp>
        <p:nvSpPr>
          <p:cNvPr id="5" name="Rectangle 5"/>
          <p:cNvSpPr>
            <a:spLocks noGrp="1" noChangeArrowheads="1"/>
          </p:cNvSpPr>
          <p:nvPr>
            <p:ph type="subTitle" idx="1"/>
            <p:custDataLst>
              <p:tags r:id="rId1"/>
            </p:custDataLst>
          </p:nvPr>
        </p:nvSpPr>
        <p:spPr/>
        <p:txBody>
          <a:bodyPr/>
          <a:p>
            <a:pPr>
              <a:lnSpc>
                <a:spcPct val="130000"/>
              </a:lnSpc>
            </a:pPr>
            <a:r>
              <a:rPr lang="zh-CN" altLang="en-US" dirty="0">
                <a:solidFill>
                  <a:schemeClr val="dk1"/>
                </a:solidFill>
                <a:latin typeface="黑体" panose="02010609060101010101" pitchFamily="2" charset="-122"/>
                <a:ea typeface="黑体" panose="02010609060101010101" pitchFamily="2" charset="-122"/>
              </a:rPr>
              <a:t>王犇</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wben@nwpu.edu.cn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sz="3200" b="1">
                <a:effectLst>
                  <a:outerShdw blurRad="38100" dist="25400" dir="5400000" algn="ctr" rotWithShape="0">
                    <a:srgbClr val="6E747A">
                      <a:alpha val="43000"/>
                    </a:srgbClr>
                  </a:outerShdw>
                </a:effectLst>
                <a:sym typeface="+mn-ea"/>
              </a:rPr>
              <a:t>本章学习线索</a:t>
            </a:r>
            <a:endParaRPr lang="zh-CN" altLang="en-US" sz="3200" b="1">
              <a:effectLst>
                <a:outerShdw blurRad="38100" dist="25400" dir="5400000" algn="ctr" rotWithShape="0">
                  <a:srgbClr val="6E747A">
                    <a:alpha val="43000"/>
                  </a:srgbClr>
                </a:outerShdw>
              </a:effectLst>
              <a:sym typeface="+mn-ea"/>
            </a:endParaRPr>
          </a:p>
        </p:txBody>
      </p:sp>
      <p:sp>
        <p:nvSpPr>
          <p:cNvPr id="5" name="Rectangle 5"/>
          <p:cNvSpPr>
            <a:spLocks noGrp="1" noChangeArrowheads="1"/>
          </p:cNvSpPr>
          <p:nvPr>
            <p:ph type="body" idx="1"/>
          </p:nvPr>
        </p:nvSpPr>
        <p:spPr>
          <a:xfrm>
            <a:off x="474980" y="1146810"/>
            <a:ext cx="8079740" cy="5248910"/>
          </a:xfrm>
          <a:noFill/>
        </p:spPr>
        <p:txBody>
          <a:bodyPr/>
          <a:p>
            <a:pPr>
              <a:lnSpc>
                <a:spcPct val="110000"/>
              </a:lnSpc>
            </a:pPr>
            <a:r>
              <a:rPr lang="zh-CN" altLang="en-US" sz="2400">
                <a:latin typeface="Times New Roman" panose="02020603050405020304" pitchFamily="18" charset="0"/>
                <a:cs typeface="Times New Roman" panose="02020603050405020304" pitchFamily="18" charset="0"/>
              </a:rPr>
              <a:t>主要线索</a:t>
            </a: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重点</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静态查找表：顺序查找，二分查找，索引查找</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动态查找表：概念和方法</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哈希查找表：概念和策略</a:t>
            </a:r>
            <a:endParaRPr lang="zh-CN" altLang="en-US" sz="2400">
              <a:latin typeface="Times New Roman" panose="02020603050405020304" pitchFamily="18" charset="0"/>
              <a:cs typeface="Times New Roman" panose="02020603050405020304" pitchFamily="18" charset="0"/>
            </a:endParaRPr>
          </a:p>
          <a:p>
            <a:pPr>
              <a:lnSpc>
                <a:spcPct val="110000"/>
              </a:lnSpc>
            </a:pPr>
            <a:r>
              <a:rPr lang="zh-CN" altLang="en-US" sz="2400">
                <a:latin typeface="Times New Roman" panose="02020603050405020304" pitchFamily="18" charset="0"/>
                <a:cs typeface="Times New Roman" panose="02020603050405020304" pitchFamily="18" charset="0"/>
              </a:rPr>
              <a:t> 难点 </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zh-CN" altLang="en-US" sz="2400">
                <a:latin typeface="Times New Roman" panose="02020603050405020304" pitchFamily="18" charset="0"/>
                <a:cs typeface="Times New Roman" panose="02020603050405020304" pitchFamily="18" charset="0"/>
              </a:rPr>
              <a:t>二叉排序树和二叉平衡树</a:t>
            </a:r>
            <a:endParaRPr lang="zh-CN" altLang="en-US" sz="2400">
              <a:latin typeface="Times New Roman" panose="02020603050405020304" pitchFamily="18" charset="0"/>
              <a:cs typeface="Times New Roman" panose="02020603050405020304" pitchFamily="18" charset="0"/>
            </a:endParaRPr>
          </a:p>
          <a:p>
            <a:pPr lvl="1">
              <a:lnSpc>
                <a:spcPct val="110000"/>
              </a:lnSpc>
            </a:pP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树和</a:t>
            </a:r>
            <a:r>
              <a:rPr lang="en-US" altLang="zh-CN" sz="2400">
                <a:latin typeface="Times New Roman" panose="02020603050405020304" pitchFamily="18" charset="0"/>
                <a:cs typeface="Times New Roman" panose="02020603050405020304" pitchFamily="18" charset="0"/>
              </a:rPr>
              <a:t>B</a:t>
            </a:r>
            <a:r>
              <a:rPr lang="en-US" altLang="zh-CN" sz="2400" baseline="300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树</a:t>
            </a:r>
            <a:endParaRPr lang="zh-CN" altLang="en-US" sz="2400">
              <a:latin typeface="Times New Roman" panose="02020603050405020304" pitchFamily="18" charset="0"/>
              <a:cs typeface="Times New Roman" panose="02020603050405020304" pitchFamily="18" charset="0"/>
            </a:endParaRPr>
          </a:p>
        </p:txBody>
      </p:sp>
      <p:sp>
        <p:nvSpPr>
          <p:cNvPr id="6" name="Text Box 6"/>
          <p:cNvSpPr txBox="1">
            <a:spLocks noChangeArrowheads="1"/>
          </p:cNvSpPr>
          <p:nvPr/>
        </p:nvSpPr>
        <p:spPr bwMode="auto">
          <a:xfrm>
            <a:off x="861060" y="1876425"/>
            <a:ext cx="1418590"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lang="zh-CN" altLang="en-US" sz="1600" b="1">
                <a:ea typeface="幼圆" panose="02010509060101010101" pitchFamily="49" charset="-122"/>
              </a:rPr>
              <a:t>查找的概念及一般方法</a:t>
            </a:r>
            <a:endParaRPr lang="zh-CN" altLang="en-US" sz="1600" b="1">
              <a:ea typeface="幼圆" panose="02010509060101010101" pitchFamily="49" charset="-122"/>
            </a:endParaRPr>
          </a:p>
        </p:txBody>
      </p:sp>
      <p:sp>
        <p:nvSpPr>
          <p:cNvPr id="7" name="Text Box 7"/>
          <p:cNvSpPr txBox="1">
            <a:spLocks noChangeArrowheads="1"/>
          </p:cNvSpPr>
          <p:nvPr/>
        </p:nvSpPr>
        <p:spPr bwMode="auto">
          <a:xfrm>
            <a:off x="2715260" y="1774190"/>
            <a:ext cx="145542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buClrTx/>
              <a:buSzTx/>
              <a:buFontTx/>
            </a:pPr>
            <a:r>
              <a:rPr lang="zh-CN" altLang="en-US" sz="1600" b="1">
                <a:ea typeface="幼圆" panose="02010509060101010101" pitchFamily="49" charset="-122"/>
              </a:rPr>
              <a:t>静态查找表</a:t>
            </a:r>
            <a:endParaRPr lang="zh-CN" altLang="en-US" sz="1600" b="1">
              <a:ea typeface="幼圆" panose="02010509060101010101" pitchFamily="49" charset="-122"/>
            </a:endParaRPr>
          </a:p>
          <a:p>
            <a:pPr algn="ctr">
              <a:buClrTx/>
              <a:buSzTx/>
              <a:buFontTx/>
            </a:pPr>
            <a:r>
              <a:rPr lang="zh-CN" altLang="en-US" sz="1600" b="1">
                <a:ea typeface="幼圆" panose="02010509060101010101" pitchFamily="49" charset="-122"/>
              </a:rPr>
              <a:t>顺序，二分和索引查找</a:t>
            </a:r>
            <a:endParaRPr lang="zh-CN" altLang="en-US" sz="1600" b="1">
              <a:ea typeface="幼圆" panose="02010509060101010101" pitchFamily="49" charset="-122"/>
            </a:endParaRPr>
          </a:p>
        </p:txBody>
      </p:sp>
      <p:sp>
        <p:nvSpPr>
          <p:cNvPr id="8" name="Text Box 8"/>
          <p:cNvSpPr txBox="1">
            <a:spLocks noChangeArrowheads="1"/>
          </p:cNvSpPr>
          <p:nvPr/>
        </p:nvSpPr>
        <p:spPr bwMode="auto">
          <a:xfrm>
            <a:off x="4606290" y="1630045"/>
            <a:ext cx="1880235" cy="107632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ea typeface="幼圆" panose="02010509060101010101" pitchFamily="49" charset="-122"/>
              </a:rPr>
              <a:t>动态查找表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二叉排序树</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二叉平衡树</a:t>
            </a:r>
            <a:endParaRPr lang="zh-CN" altLang="en-US" sz="1600" b="1">
              <a:ea typeface="幼圆" panose="02010509060101010101" pitchFamily="49" charset="-122"/>
            </a:endParaRPr>
          </a:p>
          <a:p>
            <a:pPr algn="ctr"/>
            <a:r>
              <a:rPr kumimoji="1" lang="en-US" altLang="zh-CN" sz="1600" b="1">
                <a:ea typeface="幼圆" panose="02010509060101010101" pitchFamily="49" charset="-122"/>
              </a:rPr>
              <a:t>B</a:t>
            </a:r>
            <a:r>
              <a:rPr kumimoji="1" lang="zh-CN" altLang="en-US" sz="1600" b="1">
                <a:ea typeface="幼圆" panose="02010509060101010101" pitchFamily="49" charset="-122"/>
              </a:rPr>
              <a:t>树和</a:t>
            </a:r>
            <a:r>
              <a:rPr kumimoji="1" lang="en-US" altLang="zh-CN" sz="1600" b="1">
                <a:ea typeface="幼圆" panose="02010509060101010101" pitchFamily="49" charset="-122"/>
              </a:rPr>
              <a:t>B</a:t>
            </a:r>
            <a:r>
              <a:rPr kumimoji="1" lang="en-US" altLang="zh-CN" sz="1600" b="1" baseline="30000">
                <a:ea typeface="幼圆" panose="02010509060101010101" pitchFamily="49" charset="-122"/>
              </a:rPr>
              <a:t>+</a:t>
            </a:r>
            <a:r>
              <a:rPr kumimoji="1" lang="zh-CN" altLang="en-US" sz="1600" b="1">
                <a:ea typeface="幼圆" panose="02010509060101010101" pitchFamily="49" charset="-122"/>
              </a:rPr>
              <a:t>树</a:t>
            </a:r>
            <a:endParaRPr kumimoji="1" lang="zh-CN" altLang="en-US" sz="1600" b="1">
              <a:ea typeface="幼圆" panose="02010509060101010101" pitchFamily="49" charset="-122"/>
            </a:endParaRPr>
          </a:p>
        </p:txBody>
      </p:sp>
      <p:sp>
        <p:nvSpPr>
          <p:cNvPr id="9" name="Text Box 9"/>
          <p:cNvSpPr txBox="1">
            <a:spLocks noChangeArrowheads="1"/>
          </p:cNvSpPr>
          <p:nvPr/>
        </p:nvSpPr>
        <p:spPr bwMode="auto">
          <a:xfrm>
            <a:off x="6922135" y="1809115"/>
            <a:ext cx="1703070" cy="82994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ea typeface="幼圆" panose="02010509060101010101" pitchFamily="49" charset="-122"/>
              </a:rPr>
              <a:t>哈希查找表</a:t>
            </a:r>
            <a:endParaRPr kumimoji="1" lang="zh-CN" altLang="en-US" sz="1600" b="1">
              <a:ea typeface="幼圆" panose="02010509060101010101" pitchFamily="49" charset="-122"/>
            </a:endParaRPr>
          </a:p>
          <a:p>
            <a:pPr algn="ctr"/>
            <a:r>
              <a:rPr kumimoji="1" lang="zh-CN" altLang="en-US" sz="1600" b="1">
                <a:ea typeface="幼圆" panose="02010509060101010101" pitchFamily="49" charset="-122"/>
              </a:rPr>
              <a:t>哈希函数</a:t>
            </a:r>
            <a:endParaRPr kumimoji="1" lang="zh-CN" altLang="en-US" sz="1600" b="1">
              <a:ea typeface="幼圆" panose="02010509060101010101" pitchFamily="49" charset="-122"/>
            </a:endParaRPr>
          </a:p>
          <a:p>
            <a:pPr algn="ctr"/>
            <a:r>
              <a:rPr lang="zh-CN" altLang="en-US" sz="1600" b="1">
                <a:ea typeface="幼圆" panose="02010509060101010101" pitchFamily="49" charset="-122"/>
              </a:rPr>
              <a:t>冲突</a:t>
            </a:r>
            <a:r>
              <a:rPr kumimoji="1" lang="zh-CN" altLang="en-US" sz="1600" b="1">
                <a:ea typeface="幼圆" panose="02010509060101010101" pitchFamily="49" charset="-122"/>
              </a:rPr>
              <a:t>及解决策略</a:t>
            </a:r>
            <a:endParaRPr kumimoji="1" lang="zh-CN" altLang="en-US" sz="1600" b="1">
              <a:ea typeface="幼圆" panose="02010509060101010101" pitchFamily="49" charset="-122"/>
            </a:endParaRPr>
          </a:p>
        </p:txBody>
      </p:sp>
      <p:sp>
        <p:nvSpPr>
          <p:cNvPr id="10" name="AutoShape 10"/>
          <p:cNvSpPr>
            <a:spLocks noChangeArrowheads="1"/>
          </p:cNvSpPr>
          <p:nvPr/>
        </p:nvSpPr>
        <p:spPr bwMode="auto">
          <a:xfrm>
            <a:off x="2335530"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p>
        </p:txBody>
      </p:sp>
      <p:sp>
        <p:nvSpPr>
          <p:cNvPr id="11" name="AutoShape 11"/>
          <p:cNvSpPr>
            <a:spLocks noChangeArrowheads="1"/>
          </p:cNvSpPr>
          <p:nvPr/>
        </p:nvSpPr>
        <p:spPr bwMode="auto">
          <a:xfrm>
            <a:off x="4226322" y="2108280"/>
            <a:ext cx="323850"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p>
        </p:txBody>
      </p:sp>
      <p:sp>
        <p:nvSpPr>
          <p:cNvPr id="12" name="AutoShape 12"/>
          <p:cNvSpPr>
            <a:spLocks noChangeArrowheads="1"/>
          </p:cNvSpPr>
          <p:nvPr/>
        </p:nvSpPr>
        <p:spPr bwMode="auto">
          <a:xfrm>
            <a:off x="6535420" y="2143125"/>
            <a:ext cx="328295" cy="161925"/>
          </a:xfrm>
          <a:prstGeom prst="rightArrow">
            <a:avLst>
              <a:gd name="adj1" fmla="val 50000"/>
              <a:gd name="adj2" fmla="val 5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p>
        </p:txBody>
      </p:sp>
      <p:sp>
        <p:nvSpPr>
          <p:cNvPr id="13" name="Rectangle 14"/>
          <p:cNvSpPr>
            <a:spLocks noChangeArrowheads="1"/>
          </p:cNvSpPr>
          <p:nvPr/>
        </p:nvSpPr>
        <p:spPr bwMode="auto">
          <a:xfrm>
            <a:off x="5937012" y="3781981"/>
            <a:ext cx="1790700" cy="414020"/>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none">
            <a:spAutoFit/>
            <a:scene3d>
              <a:camera prst="orthographicFront"/>
              <a:lightRig rig="threePt" dir="t"/>
            </a:scene3d>
          </a:bodyPr>
          <a:p>
            <a:r>
              <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rPr>
              <a:t>平均检索长度</a:t>
            </a:r>
            <a:endParaRPr kumimoji="1" lang="zh-CN" altLang="en-US" sz="2100" b="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scene3d>
              <a:camera prst="orthographicFront"/>
              <a:lightRig rig="threePt" dir="t"/>
            </a:scene3d>
          </a:bodyPr>
          <a:lstStyle/>
          <a:p>
            <a:r>
              <a:rPr lang="en-US" altLang="zh-CN" b="1">
                <a:solidFill>
                  <a:schemeClr val="bg1"/>
                </a:solidFill>
                <a:effectLst>
                  <a:outerShdw blurRad="38100" dist="25400" dir="5400000" algn="ctr" rotWithShape="0">
                    <a:srgbClr val="6E747A">
                      <a:alpha val="43000"/>
                    </a:srgbClr>
                  </a:outerShdw>
                </a:effectLst>
              </a:rPr>
              <a:t>Contents</a:t>
            </a:r>
            <a:endParaRPr lang="en-US" altLang="zh-CN" b="1">
              <a:solidFill>
                <a:schemeClr val="bg1"/>
              </a:solidFill>
              <a:effectLst>
                <a:outerShdw blurRad="38100" dist="25400" dir="5400000" algn="ctr" rotWithShape="0">
                  <a:srgbClr val="6E747A">
                    <a:alpha val="43000"/>
                  </a:srgbClr>
                </a:outerShdw>
              </a:effectLst>
            </a:endParaRPr>
          </a:p>
        </p:txBody>
      </p:sp>
      <p:sp>
        <p:nvSpPr>
          <p:cNvPr id="122883" name="Rectangle 3"/>
          <p:cNvSpPr>
            <a:spLocks noGrp="1" noChangeArrowheads="1"/>
          </p:cNvSpPr>
          <p:nvPr>
            <p:ph idx="1"/>
          </p:nvPr>
        </p:nvSpPr>
        <p:spPr/>
        <p:txBody>
          <a:bodyPr/>
          <a:lstStyle/>
          <a:p>
            <a:r>
              <a:rPr lang="en-US" altLang="zh-CN" dirty="0">
                <a:solidFill>
                  <a:schemeClr val="accent1">
                    <a:lumMod val="20000"/>
                    <a:lumOff val="80000"/>
                  </a:schemeClr>
                </a:solidFill>
              </a:rPr>
              <a:t>Definition of searching (Retrieval)</a:t>
            </a:r>
            <a:endParaRPr lang="en-US" altLang="zh-CN" dirty="0">
              <a:solidFill>
                <a:schemeClr val="accent1">
                  <a:lumMod val="20000"/>
                  <a:lumOff val="80000"/>
                </a:schemeClr>
              </a:solidFill>
            </a:endParaRPr>
          </a:p>
          <a:p>
            <a:r>
              <a:rPr lang="en-US" altLang="zh-CN" dirty="0">
                <a:solidFill>
                  <a:schemeClr val="accent1">
                    <a:lumMod val="20000"/>
                    <a:lumOff val="80000"/>
                  </a:schemeClr>
                </a:solidFill>
              </a:rPr>
              <a:t>Static searching table</a:t>
            </a:r>
            <a:endParaRPr lang="en-US" altLang="zh-CN" dirty="0">
              <a:solidFill>
                <a:schemeClr val="accent1">
                  <a:lumMod val="20000"/>
                  <a:lumOff val="80000"/>
                </a:schemeClr>
              </a:solidFill>
            </a:endParaRPr>
          </a:p>
          <a:p>
            <a:pPr algn="l"/>
            <a:r>
              <a:rPr lang="en-US" altLang="zh-CN" dirty="0">
                <a:solidFill>
                  <a:srgbClr val="FF0000"/>
                </a:solidFill>
              </a:rPr>
              <a:t>Dynamic searching table</a:t>
            </a:r>
            <a:endParaRPr lang="en-US" altLang="zh-CN" dirty="0">
              <a:solidFill>
                <a:srgbClr val="FF0000"/>
              </a:solidFill>
            </a:endParaRPr>
          </a:p>
          <a:p>
            <a:r>
              <a:rPr lang="en-US" altLang="zh-CN" dirty="0">
                <a:solidFill>
                  <a:schemeClr val="accent1"/>
                </a:solidFill>
              </a:rPr>
              <a:t>Hash table</a:t>
            </a:r>
            <a:endParaRPr lang="en-US" altLang="zh-CN" dirty="0">
              <a:solidFill>
                <a:schemeClr val="accent1"/>
              </a:solidFill>
            </a:endParaRPr>
          </a:p>
          <a:p>
            <a:r>
              <a:rPr lang="en-US" altLang="zh-CN" dirty="0">
                <a:solidFill>
                  <a:schemeClr val="accent1"/>
                </a:solidFill>
              </a:rPr>
              <a:t>Searching efficiency analysis</a:t>
            </a:r>
            <a:endParaRPr lang="en-US" altLang="zh-CN" dirty="0">
              <a:solidFill>
                <a:schemeClr val="accent1"/>
              </a:solidFill>
            </a:endParaRPr>
          </a:p>
          <a:p>
            <a:r>
              <a:rPr lang="en-US" altLang="zh-CN" dirty="0">
                <a:solidFill>
                  <a:schemeClr val="accent1"/>
                </a:solidFill>
              </a:rPr>
              <a:t>Conclusion</a:t>
            </a:r>
            <a:endParaRPr lang="en-US" altLang="zh-CN"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8" name="Rectangle 6"/>
          <p:cNvSpPr>
            <a:spLocks noGrp="1" noChangeArrowheads="1"/>
          </p:cNvSpPr>
          <p:nvPr>
            <p:ph type="title"/>
          </p:nvPr>
        </p:nvSpPr>
        <p:spPr/>
        <p:txBody>
          <a:bodyPr/>
          <a:lstStyle/>
          <a:p>
            <a:pPr algn="l"/>
            <a:r>
              <a:rPr lang="en-US" altLang="zh-CN" b="1">
                <a:solidFill>
                  <a:schemeClr val="bg1"/>
                </a:solidFill>
                <a:effectLst>
                  <a:outerShdw blurRad="38100" dist="25400" dir="5400000" algn="ctr" rotWithShape="0">
                    <a:srgbClr val="6E747A">
                      <a:alpha val="43000"/>
                    </a:srgbClr>
                  </a:outerShdw>
                </a:effectLst>
                <a:ea typeface="幼圆" panose="02010509060101010101" pitchFamily="49" charset="-122"/>
                <a:cs typeface="+mj-lt"/>
              </a:rPr>
              <a:t>8.4 </a:t>
            </a:r>
            <a:r>
              <a:rPr lang="zh-CN" altLang="en-US" b="1">
                <a:solidFill>
                  <a:schemeClr val="bg1"/>
                </a:solidFill>
                <a:effectLst>
                  <a:outerShdw blurRad="38100" dist="25400" dir="5400000" algn="ctr" rotWithShape="0">
                    <a:srgbClr val="6E747A">
                      <a:alpha val="43000"/>
                    </a:srgbClr>
                  </a:outerShdw>
                </a:effectLst>
                <a:ea typeface="幼圆" panose="02010509060101010101" pitchFamily="49" charset="-122"/>
                <a:cs typeface="+mj-lt"/>
              </a:rPr>
              <a:t>平衡二叉树</a:t>
            </a:r>
            <a:endParaRPr lang="zh-CN" altLang="en-US" b="1">
              <a:solidFill>
                <a:schemeClr val="bg1"/>
              </a:solidFill>
              <a:effectLst>
                <a:outerShdw blurRad="38100" dist="25400" dir="5400000" algn="ctr" rotWithShape="0">
                  <a:srgbClr val="6E747A">
                    <a:alpha val="43000"/>
                  </a:srgbClr>
                </a:outerShdw>
              </a:effectLst>
              <a:ea typeface="幼圆" panose="02010509060101010101" pitchFamily="49" charset="-122"/>
              <a:cs typeface="+mj-lt"/>
            </a:endParaRPr>
          </a:p>
        </p:txBody>
      </p:sp>
      <p:sp>
        <p:nvSpPr>
          <p:cNvPr id="79879" name="Rectangle 7"/>
          <p:cNvSpPr>
            <a:spLocks noGrp="1" noChangeArrowheads="1"/>
          </p:cNvSpPr>
          <p:nvPr>
            <p:ph idx="1"/>
          </p:nvPr>
        </p:nvSpPr>
        <p:spPr/>
        <p:txBody>
          <a:bodyPr/>
          <a:lstStyle/>
          <a:p>
            <a:pPr>
              <a:lnSpc>
                <a:spcPct val="140000"/>
              </a:lnSpc>
            </a:pPr>
            <a:r>
              <a:rPr kumimoji="1" lang="zh-CN" altLang="en-US" sz="2400" b="1" dirty="0">
                <a:solidFill>
                  <a:srgbClr val="FF0000"/>
                </a:solidFill>
              </a:rPr>
              <a:t>平衡二叉树</a:t>
            </a:r>
            <a:r>
              <a:rPr kumimoji="1" lang="zh-CN" altLang="en-US" sz="2400" dirty="0"/>
              <a:t>又称</a:t>
            </a:r>
            <a:r>
              <a:rPr kumimoji="1" lang="en-US" altLang="zh-CN" sz="2400" dirty="0">
                <a:solidFill>
                  <a:srgbClr val="FF0000"/>
                </a:solidFill>
              </a:rPr>
              <a:t>AVL</a:t>
            </a:r>
            <a:r>
              <a:rPr kumimoji="1" lang="zh-CN" altLang="en-US" sz="2400" dirty="0"/>
              <a:t>树。</a:t>
            </a:r>
            <a:endParaRPr kumimoji="1" lang="zh-CN" altLang="en-US" sz="2400" dirty="0"/>
          </a:p>
          <a:p>
            <a:pPr lvl="1">
              <a:lnSpc>
                <a:spcPct val="140000"/>
              </a:lnSpc>
            </a:pPr>
            <a:r>
              <a:rPr kumimoji="1" lang="zh-CN" altLang="en-US" sz="2000" dirty="0"/>
              <a:t>它或者是一棵空树，或者是具有下列性质的二叉树：</a:t>
            </a:r>
            <a:endParaRPr kumimoji="1" lang="zh-CN" altLang="en-US" sz="2000" dirty="0"/>
          </a:p>
          <a:p>
            <a:pPr lvl="1">
              <a:lnSpc>
                <a:spcPct val="140000"/>
              </a:lnSpc>
            </a:pPr>
            <a:r>
              <a:rPr kumimoji="1" lang="zh-CN" altLang="en-US" sz="2000" dirty="0"/>
              <a:t>它的左右子树均为平衡二叉树，且</a:t>
            </a:r>
            <a:r>
              <a:rPr kumimoji="1" lang="zh-CN" altLang="en-US" sz="2000" dirty="0">
                <a:solidFill>
                  <a:srgbClr val="FF0000"/>
                </a:solidFill>
              </a:rPr>
              <a:t>左右子树的深度之差的绝对值不超过</a:t>
            </a:r>
            <a:r>
              <a:rPr kumimoji="1" lang="en-US" altLang="zh-CN" sz="2000" dirty="0">
                <a:solidFill>
                  <a:srgbClr val="FF0000"/>
                </a:solidFill>
              </a:rPr>
              <a:t>1</a:t>
            </a:r>
            <a:r>
              <a:rPr kumimoji="1" lang="zh-CN" altLang="en-US" sz="2000" dirty="0"/>
              <a:t>。</a:t>
            </a:r>
            <a:endParaRPr kumimoji="1" lang="zh-CN" altLang="en-US" sz="2000" dirty="0"/>
          </a:p>
          <a:p>
            <a:pPr>
              <a:lnSpc>
                <a:spcPct val="140000"/>
              </a:lnSpc>
            </a:pPr>
            <a:r>
              <a:rPr kumimoji="1" lang="zh-CN" altLang="en-US" sz="2400" b="1" dirty="0">
                <a:solidFill>
                  <a:srgbClr val="FF0000"/>
                </a:solidFill>
              </a:rPr>
              <a:t>平衡因子</a:t>
            </a:r>
            <a:r>
              <a:rPr kumimoji="1" lang="en-US" altLang="zh-CN" sz="2400" dirty="0">
                <a:solidFill>
                  <a:srgbClr val="FF0000"/>
                </a:solidFill>
              </a:rPr>
              <a:t>BF</a:t>
            </a:r>
            <a:r>
              <a:rPr kumimoji="1" lang="en-US" altLang="zh-CN" sz="2400" dirty="0"/>
              <a:t> (Balance Factor)</a:t>
            </a:r>
            <a:r>
              <a:rPr kumimoji="1" lang="zh-CN" altLang="en-US" sz="2400" dirty="0"/>
              <a:t>为该结点的左子树的深度减去右子树的深度。</a:t>
            </a:r>
            <a:endParaRPr kumimoji="1" lang="zh-CN" altLang="en-US" sz="2400" dirty="0"/>
          </a:p>
          <a:p>
            <a:pPr>
              <a:lnSpc>
                <a:spcPct val="140000"/>
              </a:lnSpc>
            </a:pPr>
            <a:r>
              <a:rPr kumimoji="1" lang="zh-CN" altLang="en-US" sz="2400" dirty="0"/>
              <a:t>在平衡二叉树上所有结点平衡因子只可能为</a:t>
            </a:r>
            <a:r>
              <a:rPr kumimoji="1" lang="en-US" altLang="zh-CN" sz="2400" dirty="0"/>
              <a:t>-1, 0, 1</a:t>
            </a:r>
            <a:r>
              <a:rPr kumimoji="1" lang="zh-CN" altLang="en-US" sz="2400" dirty="0"/>
              <a:t>。只要二叉树上有一个结点的平衡因子的绝对值大于</a:t>
            </a:r>
            <a:r>
              <a:rPr kumimoji="1" lang="en-US" altLang="zh-CN" sz="2400" dirty="0"/>
              <a:t>1</a:t>
            </a:r>
            <a:r>
              <a:rPr kumimoji="1" lang="zh-CN" altLang="en-US" sz="2400" dirty="0"/>
              <a:t>，则该二叉树就是不平衡的。</a:t>
            </a:r>
            <a:endParaRPr kumimoji="1"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9879">
                                            <p:txEl>
                                              <p:pRg st="3" end="3"/>
                                            </p:txEl>
                                          </p:spTgt>
                                        </p:tgtEl>
                                        <p:attrNameLst>
                                          <p:attrName>style.visibility</p:attrName>
                                        </p:attrNameLst>
                                      </p:cBhvr>
                                      <p:to>
                                        <p:strVal val="visible"/>
                                      </p:to>
                                    </p:set>
                                    <p:animEffect transition="in" filter="fade">
                                      <p:cBhvr>
                                        <p:cTn id="7" dur="1000"/>
                                        <p:tgtEl>
                                          <p:spTgt spid="79879">
                                            <p:txEl>
                                              <p:pRg st="3" end="3"/>
                                            </p:txEl>
                                          </p:spTgt>
                                        </p:tgtEl>
                                      </p:cBhvr>
                                    </p:animEffect>
                                    <p:anim calcmode="lin" valueType="num">
                                      <p:cBhvr>
                                        <p:cTn id="8" dur="1000" fill="hold"/>
                                        <p:tgtEl>
                                          <p:spTgt spid="7987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987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9879">
                                            <p:txEl>
                                              <p:pRg st="4" end="4"/>
                                            </p:txEl>
                                          </p:spTgt>
                                        </p:tgtEl>
                                        <p:attrNameLst>
                                          <p:attrName>style.visibility</p:attrName>
                                        </p:attrNameLst>
                                      </p:cBhvr>
                                      <p:to>
                                        <p:strVal val="visible"/>
                                      </p:to>
                                    </p:set>
                                    <p:animEffect transition="in" filter="fade">
                                      <p:cBhvr>
                                        <p:cTn id="14" dur="1000"/>
                                        <p:tgtEl>
                                          <p:spTgt spid="79879">
                                            <p:txEl>
                                              <p:pRg st="4" end="4"/>
                                            </p:txEl>
                                          </p:spTgt>
                                        </p:tgtEl>
                                      </p:cBhvr>
                                    </p:animEffect>
                                    <p:anim calcmode="lin" valueType="num">
                                      <p:cBhvr>
                                        <p:cTn id="15" dur="1000" fill="hold"/>
                                        <p:tgtEl>
                                          <p:spTgt spid="79879">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7987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title"/>
          </p:nvPr>
        </p:nvSpPr>
        <p:spPr/>
        <p:txBody>
          <a:bodyPr/>
          <a:lstStyle/>
          <a:p>
            <a:pPr algn="l"/>
            <a:r>
              <a:rPr lang="en-US" altLang="zh-CN" b="1">
                <a:solidFill>
                  <a:schemeClr val="bg1"/>
                </a:solidFill>
                <a:effectLst>
                  <a:outerShdw blurRad="38100" dist="25400" dir="5400000" algn="ctr" rotWithShape="0">
                    <a:srgbClr val="6E747A">
                      <a:alpha val="43000"/>
                    </a:srgbClr>
                  </a:outerShdw>
                </a:effectLst>
              </a:rPr>
              <a:t>8.4 </a:t>
            </a:r>
            <a:r>
              <a:rPr lang="zh-CN" altLang="en-US" b="1">
                <a:solidFill>
                  <a:schemeClr val="bg1"/>
                </a:solidFill>
                <a:effectLst>
                  <a:outerShdw blurRad="38100" dist="25400" dir="5400000" algn="ctr" rotWithShape="0">
                    <a:srgbClr val="6E747A">
                      <a:alpha val="43000"/>
                    </a:srgbClr>
                  </a:outerShdw>
                </a:effectLst>
              </a:rPr>
              <a:t>平衡二叉树</a:t>
            </a:r>
            <a:endParaRPr lang="zh-CN" altLang="en-US" b="1">
              <a:solidFill>
                <a:schemeClr val="bg1"/>
              </a:solidFill>
              <a:effectLst>
                <a:outerShdw blurRad="38100" dist="25400" dir="5400000" algn="ctr" rotWithShape="0">
                  <a:srgbClr val="6E747A">
                    <a:alpha val="43000"/>
                  </a:srgbClr>
                </a:outerShdw>
              </a:effectLst>
            </a:endParaRPr>
          </a:p>
        </p:txBody>
      </p:sp>
      <p:sp>
        <p:nvSpPr>
          <p:cNvPr id="265220" name="Rectangle 4"/>
          <p:cNvSpPr>
            <a:spLocks noGrp="1" noChangeArrowheads="1"/>
          </p:cNvSpPr>
          <p:nvPr>
            <p:ph idx="1"/>
          </p:nvPr>
        </p:nvSpPr>
        <p:spPr/>
        <p:txBody>
          <a:bodyPr/>
          <a:lstStyle/>
          <a:p>
            <a:pPr>
              <a:lnSpc>
                <a:spcPct val="140000"/>
              </a:lnSpc>
            </a:pPr>
            <a:r>
              <a:rPr lang="zh-CN" altLang="en-US" sz="2400" dirty="0"/>
              <a:t>对于平衡二叉树来说，它的深度和</a:t>
            </a:r>
            <a:r>
              <a:rPr lang="en-US" altLang="zh-CN" sz="2400" b="1" i="1" dirty="0">
                <a:solidFill>
                  <a:srgbClr val="FF0000"/>
                </a:solidFill>
                <a:latin typeface="Times New Roman" panose="02020603050405020304" pitchFamily="18" charset="0"/>
                <a:cs typeface="Times New Roman" panose="02020603050405020304" pitchFamily="18" charset="0"/>
              </a:rPr>
              <a:t>log</a:t>
            </a:r>
            <a:r>
              <a:rPr lang="en-US" altLang="zh-CN" sz="2400" b="1" baseline="-25000" dirty="0">
                <a:solidFill>
                  <a:srgbClr val="FF0000"/>
                </a:solidFill>
                <a:latin typeface="Times New Roman" panose="02020603050405020304" pitchFamily="18" charset="0"/>
                <a:cs typeface="Times New Roman" panose="02020603050405020304" pitchFamily="18" charset="0"/>
              </a:rPr>
              <a:t>2</a:t>
            </a:r>
            <a:r>
              <a:rPr lang="en-US" altLang="zh-CN" sz="2400" b="1" i="1" dirty="0">
                <a:solidFill>
                  <a:srgbClr val="FF0000"/>
                </a:solidFill>
                <a:latin typeface="Times New Roman" panose="02020603050405020304" pitchFamily="18" charset="0"/>
                <a:cs typeface="Times New Roman" panose="02020603050405020304" pitchFamily="18" charset="0"/>
              </a:rPr>
              <a:t>N</a:t>
            </a:r>
            <a:r>
              <a:rPr lang="zh-CN" altLang="en-US" sz="2400" dirty="0"/>
              <a:t>是同数量级的，因此我们希望任何初始序列构成的二叉排序树都是</a:t>
            </a:r>
            <a:r>
              <a:rPr lang="en-US" altLang="zh-CN" sz="2400" dirty="0"/>
              <a:t>AVL</a:t>
            </a:r>
            <a:r>
              <a:rPr lang="zh-CN" altLang="en-US" sz="2400" dirty="0"/>
              <a:t>树。</a:t>
            </a:r>
            <a:endParaRPr lang="zh-CN" altLang="en-US" sz="2400" dirty="0"/>
          </a:p>
          <a:p>
            <a:pPr>
              <a:lnSpc>
                <a:spcPct val="140000"/>
              </a:lnSpc>
            </a:pPr>
            <a:r>
              <a:rPr lang="zh-CN" altLang="en-US" sz="2400" dirty="0"/>
              <a:t>如何使构成的二叉排序树成为平衡二叉树呢？可以通过对结点的</a:t>
            </a:r>
            <a:r>
              <a:rPr lang="zh-CN" altLang="en-US" sz="2400" dirty="0">
                <a:solidFill>
                  <a:srgbClr val="FF0000"/>
                </a:solidFill>
              </a:rPr>
              <a:t>旋转操作</a:t>
            </a:r>
            <a:r>
              <a:rPr lang="zh-CN" altLang="en-US" sz="2400" dirty="0"/>
              <a:t>来实现。下面讨论一般的情况。</a:t>
            </a:r>
            <a:endParaRPr lang="zh-CN" altLang="en-US" sz="2400" dirty="0"/>
          </a:p>
          <a:p>
            <a:pPr>
              <a:lnSpc>
                <a:spcPct val="140000"/>
              </a:lnSpc>
            </a:pPr>
            <a:r>
              <a:rPr lang="zh-CN" altLang="en-US" sz="2400" dirty="0"/>
              <a:t>考虑</a:t>
            </a:r>
            <a:r>
              <a:rPr lang="zh-CN" altLang="en-US" sz="2400" dirty="0">
                <a:solidFill>
                  <a:srgbClr val="FF0000"/>
                </a:solidFill>
              </a:rPr>
              <a:t>失去平衡的点</a:t>
            </a:r>
            <a:r>
              <a:rPr lang="zh-CN" altLang="en-US" sz="2400" dirty="0"/>
              <a:t>以及</a:t>
            </a:r>
            <a:r>
              <a:rPr lang="zh-CN" altLang="en-US" sz="2400" dirty="0">
                <a:solidFill>
                  <a:srgbClr val="FF0000"/>
                </a:solidFill>
              </a:rPr>
              <a:t>他的祖先结点的路径</a:t>
            </a:r>
            <a:r>
              <a:rPr lang="zh-CN" altLang="en-US" sz="2400" dirty="0"/>
              <a:t>。</a:t>
            </a:r>
            <a:endParaRPr lang="zh-CN"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scene3d>
              <a:camera prst="orthographicFront"/>
              <a:lightRig rig="threePt" dir="t"/>
            </a:scene3d>
          </a:bodyPr>
          <a:lstStyle/>
          <a:p>
            <a:r>
              <a:rPr lang="zh-CN" altLang="en-US" b="1">
                <a:solidFill>
                  <a:schemeClr val="bg1"/>
                </a:solidFill>
                <a:effectLst>
                  <a:outerShdw blurRad="38100" dist="25400" dir="5400000" algn="ctr" rotWithShape="0">
                    <a:srgbClr val="6E747A">
                      <a:alpha val="43000"/>
                    </a:srgbClr>
                  </a:outerShdw>
                </a:effectLst>
              </a:rPr>
              <a:t>四种基本情况</a:t>
            </a:r>
            <a:endParaRPr lang="zh-CN" altLang="en-US" b="1">
              <a:solidFill>
                <a:schemeClr val="bg1"/>
              </a:solidFill>
              <a:effectLst>
                <a:outerShdw blurRad="38100" dist="25400" dir="5400000" algn="ctr" rotWithShape="0">
                  <a:srgbClr val="6E747A">
                    <a:alpha val="43000"/>
                  </a:srgbClr>
                </a:outerShdw>
              </a:effectLst>
            </a:endParaRPr>
          </a:p>
        </p:txBody>
      </p:sp>
      <p:sp>
        <p:nvSpPr>
          <p:cNvPr id="204850" name="Rectangle 50"/>
          <p:cNvSpPr>
            <a:spLocks noGrp="1" noChangeArrowheads="1"/>
          </p:cNvSpPr>
          <p:nvPr>
            <p:ph idx="1"/>
          </p:nvPr>
        </p:nvSpPr>
        <p:spPr>
          <a:xfrm>
            <a:off x="457200" y="1053465"/>
            <a:ext cx="8229600" cy="1217930"/>
          </a:xfrm>
        </p:spPr>
        <p:txBody>
          <a:bodyPr/>
          <a:lstStyle/>
          <a:p>
            <a:pPr>
              <a:lnSpc>
                <a:spcPct val="130000"/>
              </a:lnSpc>
            </a:pPr>
            <a:r>
              <a:rPr lang="zh-CN" altLang="en-US" sz="2400"/>
              <a:t>一字形  </a:t>
            </a:r>
            <a:r>
              <a:rPr lang="en-US" altLang="zh-CN" sz="2400"/>
              <a:t>/  or \</a:t>
            </a:r>
            <a:endParaRPr lang="en-US" altLang="zh-CN" sz="2400"/>
          </a:p>
          <a:p>
            <a:pPr>
              <a:lnSpc>
                <a:spcPct val="130000"/>
              </a:lnSpc>
            </a:pPr>
            <a:r>
              <a:rPr lang="zh-CN" altLang="en-US" sz="2400"/>
              <a:t>之字形  </a:t>
            </a:r>
            <a:r>
              <a:rPr lang="en-US" altLang="zh-CN" sz="2400"/>
              <a:t>&lt; or &gt;</a:t>
            </a:r>
            <a:endParaRPr lang="en-US" altLang="zh-CN" sz="2400"/>
          </a:p>
        </p:txBody>
      </p:sp>
      <p:grpSp>
        <p:nvGrpSpPr>
          <p:cNvPr id="204883" name="Group 83"/>
          <p:cNvGrpSpPr/>
          <p:nvPr/>
        </p:nvGrpSpPr>
        <p:grpSpPr bwMode="auto">
          <a:xfrm>
            <a:off x="1438434" y="2942193"/>
            <a:ext cx="1070372" cy="2809875"/>
            <a:chOff x="528" y="1797"/>
            <a:chExt cx="899" cy="2360"/>
          </a:xfrm>
        </p:grpSpPr>
        <p:grpSp>
          <p:nvGrpSpPr>
            <p:cNvPr id="204873" name="Group 73"/>
            <p:cNvGrpSpPr/>
            <p:nvPr/>
          </p:nvGrpSpPr>
          <p:grpSpPr bwMode="auto">
            <a:xfrm>
              <a:off x="528" y="2690"/>
              <a:ext cx="899" cy="899"/>
              <a:chOff x="528" y="2690"/>
              <a:chExt cx="899" cy="899"/>
            </a:xfrm>
          </p:grpSpPr>
          <p:sp>
            <p:nvSpPr>
              <p:cNvPr id="204832" name="Line 32"/>
              <p:cNvSpPr>
                <a:spLocks noChangeShapeType="1"/>
              </p:cNvSpPr>
              <p:nvPr/>
            </p:nvSpPr>
            <p:spPr bwMode="auto">
              <a:xfrm flipH="1">
                <a:off x="672" y="2834"/>
                <a:ext cx="576" cy="5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33" name="Oval 33"/>
              <p:cNvSpPr>
                <a:spLocks noChangeArrowheads="1"/>
              </p:cNvSpPr>
              <p:nvPr/>
            </p:nvSpPr>
            <p:spPr bwMode="auto">
              <a:xfrm>
                <a:off x="1200" y="2690"/>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2</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34" name="Oval 34"/>
              <p:cNvSpPr>
                <a:spLocks noChangeArrowheads="1"/>
              </p:cNvSpPr>
              <p:nvPr/>
            </p:nvSpPr>
            <p:spPr bwMode="auto">
              <a:xfrm>
                <a:off x="864" y="3026"/>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35" name="Oval 35"/>
              <p:cNvSpPr>
                <a:spLocks noChangeArrowheads="1"/>
              </p:cNvSpPr>
              <p:nvPr/>
            </p:nvSpPr>
            <p:spPr bwMode="auto">
              <a:xfrm>
                <a:off x="528" y="3362"/>
                <a:ext cx="227" cy="227"/>
              </a:xfrm>
              <a:prstGeom prst="ellipse">
                <a:avLst/>
              </a:prstGeom>
              <a:solidFill>
                <a:schemeClr val="tx2">
                  <a:lumMod val="7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sp>
          <p:nvSpPr>
            <p:cNvPr id="204846" name="Text Box 46"/>
            <p:cNvSpPr txBox="1">
              <a:spLocks noChangeArrowheads="1"/>
            </p:cNvSpPr>
            <p:nvPr/>
          </p:nvSpPr>
          <p:spPr bwMode="auto">
            <a:xfrm>
              <a:off x="819" y="3822"/>
              <a:ext cx="31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latin typeface="Times New Roman" panose="02020603050405020304" pitchFamily="18" charset="0"/>
                  <a:cs typeface="Times New Roman" panose="02020603050405020304" pitchFamily="18" charset="0"/>
                </a:rPr>
                <a:t>1</a:t>
              </a:r>
              <a:endParaRPr lang="en-US" altLang="zh-CN" sz="2000" b="1" dirty="0">
                <a:latin typeface="Times New Roman" panose="02020603050405020304" pitchFamily="18" charset="0"/>
                <a:cs typeface="Times New Roman" panose="02020603050405020304" pitchFamily="18" charset="0"/>
              </a:endParaRPr>
            </a:p>
          </p:txBody>
        </p:sp>
        <p:grpSp>
          <p:nvGrpSpPr>
            <p:cNvPr id="204872" name="Group 72"/>
            <p:cNvGrpSpPr/>
            <p:nvPr/>
          </p:nvGrpSpPr>
          <p:grpSpPr bwMode="auto">
            <a:xfrm>
              <a:off x="696" y="1797"/>
              <a:ext cx="563" cy="563"/>
              <a:chOff x="857" y="1797"/>
              <a:chExt cx="563" cy="563"/>
            </a:xfrm>
          </p:grpSpPr>
          <p:sp>
            <p:nvSpPr>
              <p:cNvPr id="204870" name="Line 70"/>
              <p:cNvSpPr>
                <a:spLocks noChangeShapeType="1"/>
              </p:cNvSpPr>
              <p:nvPr/>
            </p:nvSpPr>
            <p:spPr bwMode="auto">
              <a:xfrm flipV="1">
                <a:off x="1004" y="1888"/>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57" name="Oval 57"/>
              <p:cNvSpPr>
                <a:spLocks noChangeArrowheads="1"/>
              </p:cNvSpPr>
              <p:nvPr/>
            </p:nvSpPr>
            <p:spPr bwMode="auto">
              <a:xfrm>
                <a:off x="1193" y="1797"/>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58" name="Oval 58"/>
              <p:cNvSpPr>
                <a:spLocks noChangeArrowheads="1"/>
              </p:cNvSpPr>
              <p:nvPr/>
            </p:nvSpPr>
            <p:spPr bwMode="auto">
              <a:xfrm>
                <a:off x="857" y="2133"/>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grpSp>
      <p:grpSp>
        <p:nvGrpSpPr>
          <p:cNvPr id="204882" name="Group 82"/>
          <p:cNvGrpSpPr/>
          <p:nvPr/>
        </p:nvGrpSpPr>
        <p:grpSpPr bwMode="auto">
          <a:xfrm>
            <a:off x="3183890" y="2942193"/>
            <a:ext cx="1070372" cy="2809875"/>
            <a:chOff x="1725" y="1797"/>
            <a:chExt cx="899" cy="2360"/>
          </a:xfrm>
        </p:grpSpPr>
        <p:grpSp>
          <p:nvGrpSpPr>
            <p:cNvPr id="204875" name="Group 75"/>
            <p:cNvGrpSpPr/>
            <p:nvPr/>
          </p:nvGrpSpPr>
          <p:grpSpPr bwMode="auto">
            <a:xfrm>
              <a:off x="1725" y="2690"/>
              <a:ext cx="899" cy="899"/>
              <a:chOff x="1728" y="2690"/>
              <a:chExt cx="899" cy="899"/>
            </a:xfrm>
          </p:grpSpPr>
          <p:sp>
            <p:nvSpPr>
              <p:cNvPr id="204831" name="Line 31"/>
              <p:cNvSpPr>
                <a:spLocks noChangeShapeType="1"/>
              </p:cNvSpPr>
              <p:nvPr/>
            </p:nvSpPr>
            <p:spPr bwMode="auto">
              <a:xfrm>
                <a:off x="1872" y="2834"/>
                <a:ext cx="576" cy="5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36" name="Oval 36"/>
              <p:cNvSpPr>
                <a:spLocks noChangeArrowheads="1"/>
              </p:cNvSpPr>
              <p:nvPr/>
            </p:nvSpPr>
            <p:spPr bwMode="auto">
              <a:xfrm>
                <a:off x="1728" y="2690"/>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-2</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37" name="Oval 37"/>
              <p:cNvSpPr>
                <a:spLocks noChangeArrowheads="1"/>
              </p:cNvSpPr>
              <p:nvPr/>
            </p:nvSpPr>
            <p:spPr bwMode="auto">
              <a:xfrm>
                <a:off x="2064" y="3026"/>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38" name="Oval 38"/>
              <p:cNvSpPr>
                <a:spLocks noChangeArrowheads="1"/>
              </p:cNvSpPr>
              <p:nvPr/>
            </p:nvSpPr>
            <p:spPr bwMode="auto">
              <a:xfrm>
                <a:off x="2400" y="3362"/>
                <a:ext cx="227" cy="227"/>
              </a:xfrm>
              <a:prstGeom prst="ellipse">
                <a:avLst/>
              </a:prstGeom>
              <a:solidFill>
                <a:schemeClr val="tx2">
                  <a:lumMod val="7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sp>
          <p:nvSpPr>
            <p:cNvPr id="204847" name="Text Box 47"/>
            <p:cNvSpPr txBox="1">
              <a:spLocks noChangeArrowheads="1"/>
            </p:cNvSpPr>
            <p:nvPr/>
          </p:nvSpPr>
          <p:spPr bwMode="auto">
            <a:xfrm>
              <a:off x="2015" y="3822"/>
              <a:ext cx="31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latin typeface="Times New Roman" panose="02020603050405020304" pitchFamily="18" charset="0"/>
                  <a:cs typeface="Times New Roman" panose="02020603050405020304" pitchFamily="18" charset="0"/>
                </a:rPr>
                <a:t>2</a:t>
              </a:r>
              <a:endParaRPr lang="en-US" altLang="zh-CN" sz="2000" b="1" dirty="0">
                <a:latin typeface="Times New Roman" panose="02020603050405020304" pitchFamily="18" charset="0"/>
                <a:cs typeface="Times New Roman" panose="02020603050405020304" pitchFamily="18" charset="0"/>
              </a:endParaRPr>
            </a:p>
          </p:txBody>
        </p:sp>
        <p:grpSp>
          <p:nvGrpSpPr>
            <p:cNvPr id="204874" name="Group 74"/>
            <p:cNvGrpSpPr/>
            <p:nvPr/>
          </p:nvGrpSpPr>
          <p:grpSpPr bwMode="auto">
            <a:xfrm>
              <a:off x="1893" y="1797"/>
              <a:ext cx="563" cy="563"/>
              <a:chOff x="1721" y="1797"/>
              <a:chExt cx="563" cy="563"/>
            </a:xfrm>
          </p:grpSpPr>
          <p:sp>
            <p:nvSpPr>
              <p:cNvPr id="204871" name="Line 71"/>
              <p:cNvSpPr>
                <a:spLocks noChangeShapeType="1"/>
              </p:cNvSpPr>
              <p:nvPr/>
            </p:nvSpPr>
            <p:spPr bwMode="auto">
              <a:xfrm>
                <a:off x="1866" y="1933"/>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60" name="Oval 60"/>
              <p:cNvSpPr>
                <a:spLocks noChangeArrowheads="1"/>
              </p:cNvSpPr>
              <p:nvPr/>
            </p:nvSpPr>
            <p:spPr bwMode="auto">
              <a:xfrm>
                <a:off x="1721" y="1797"/>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61" name="Oval 61"/>
              <p:cNvSpPr>
                <a:spLocks noChangeArrowheads="1"/>
              </p:cNvSpPr>
              <p:nvPr/>
            </p:nvSpPr>
            <p:spPr bwMode="auto">
              <a:xfrm>
                <a:off x="2057" y="2133"/>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grpSp>
      <p:grpSp>
        <p:nvGrpSpPr>
          <p:cNvPr id="204881" name="Group 81"/>
          <p:cNvGrpSpPr/>
          <p:nvPr/>
        </p:nvGrpSpPr>
        <p:grpSpPr bwMode="auto">
          <a:xfrm>
            <a:off x="5131276" y="2943463"/>
            <a:ext cx="671513" cy="2809875"/>
            <a:chOff x="3068" y="1797"/>
            <a:chExt cx="564" cy="2360"/>
          </a:xfrm>
        </p:grpSpPr>
        <p:grpSp>
          <p:nvGrpSpPr>
            <p:cNvPr id="204877" name="Group 77"/>
            <p:cNvGrpSpPr/>
            <p:nvPr/>
          </p:nvGrpSpPr>
          <p:grpSpPr bwMode="auto">
            <a:xfrm>
              <a:off x="3069" y="2690"/>
              <a:ext cx="563" cy="899"/>
              <a:chOff x="3072" y="2690"/>
              <a:chExt cx="563" cy="899"/>
            </a:xfrm>
          </p:grpSpPr>
          <p:sp>
            <p:nvSpPr>
              <p:cNvPr id="204829" name="Line 29"/>
              <p:cNvSpPr>
                <a:spLocks noChangeShapeType="1"/>
              </p:cNvSpPr>
              <p:nvPr/>
            </p:nvSpPr>
            <p:spPr bwMode="auto">
              <a:xfrm>
                <a:off x="3216" y="3170"/>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30" name="Line 30"/>
              <p:cNvSpPr>
                <a:spLocks noChangeShapeType="1"/>
              </p:cNvSpPr>
              <p:nvPr/>
            </p:nvSpPr>
            <p:spPr bwMode="auto">
              <a:xfrm flipV="1">
                <a:off x="3216" y="2786"/>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39" name="Oval 39"/>
              <p:cNvSpPr>
                <a:spLocks noChangeArrowheads="1"/>
              </p:cNvSpPr>
              <p:nvPr/>
            </p:nvSpPr>
            <p:spPr bwMode="auto">
              <a:xfrm>
                <a:off x="3072" y="3026"/>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40" name="Oval 40"/>
              <p:cNvSpPr>
                <a:spLocks noChangeArrowheads="1"/>
              </p:cNvSpPr>
              <p:nvPr/>
            </p:nvSpPr>
            <p:spPr bwMode="auto">
              <a:xfrm>
                <a:off x="3408" y="2690"/>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2</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41" name="Oval 41"/>
              <p:cNvSpPr>
                <a:spLocks noChangeArrowheads="1"/>
              </p:cNvSpPr>
              <p:nvPr/>
            </p:nvSpPr>
            <p:spPr bwMode="auto">
              <a:xfrm>
                <a:off x="3408" y="3362"/>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42" name="Line 42"/>
              <p:cNvSpPr>
                <a:spLocks noChangeShapeType="1"/>
              </p:cNvSpPr>
              <p:nvPr/>
            </p:nvSpPr>
            <p:spPr bwMode="auto">
              <a:xfrm>
                <a:off x="3264" y="3218"/>
                <a:ext cx="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
          <p:nvSpPr>
            <p:cNvPr id="204848" name="Text Box 48"/>
            <p:cNvSpPr txBox="1">
              <a:spLocks noChangeArrowheads="1"/>
            </p:cNvSpPr>
            <p:nvPr/>
          </p:nvSpPr>
          <p:spPr bwMode="auto">
            <a:xfrm>
              <a:off x="3191" y="3822"/>
              <a:ext cx="31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latin typeface="Times New Roman" panose="02020603050405020304" pitchFamily="18" charset="0"/>
                  <a:cs typeface="Times New Roman" panose="02020603050405020304" pitchFamily="18" charset="0"/>
                </a:rPr>
                <a:t>3</a:t>
              </a:r>
              <a:endParaRPr lang="en-US" altLang="zh-CN" sz="2000" b="1" dirty="0">
                <a:latin typeface="Times New Roman" panose="02020603050405020304" pitchFamily="18" charset="0"/>
                <a:cs typeface="Times New Roman" panose="02020603050405020304" pitchFamily="18" charset="0"/>
              </a:endParaRPr>
            </a:p>
          </p:txBody>
        </p:sp>
        <p:grpSp>
          <p:nvGrpSpPr>
            <p:cNvPr id="204876" name="Group 76"/>
            <p:cNvGrpSpPr/>
            <p:nvPr/>
          </p:nvGrpSpPr>
          <p:grpSpPr bwMode="auto">
            <a:xfrm>
              <a:off x="3068" y="1797"/>
              <a:ext cx="563" cy="563"/>
              <a:chOff x="3065" y="1797"/>
              <a:chExt cx="563" cy="563"/>
            </a:xfrm>
          </p:grpSpPr>
          <p:sp>
            <p:nvSpPr>
              <p:cNvPr id="204854" name="Line 54"/>
              <p:cNvSpPr>
                <a:spLocks noChangeShapeType="1"/>
              </p:cNvSpPr>
              <p:nvPr/>
            </p:nvSpPr>
            <p:spPr bwMode="auto">
              <a:xfrm flipV="1">
                <a:off x="3209" y="1893"/>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63" name="Oval 63"/>
              <p:cNvSpPr>
                <a:spLocks noChangeArrowheads="1"/>
              </p:cNvSpPr>
              <p:nvPr/>
            </p:nvSpPr>
            <p:spPr bwMode="auto">
              <a:xfrm>
                <a:off x="3065" y="2133"/>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64" name="Oval 64"/>
              <p:cNvSpPr>
                <a:spLocks noChangeArrowheads="1"/>
              </p:cNvSpPr>
              <p:nvPr/>
            </p:nvSpPr>
            <p:spPr bwMode="auto">
              <a:xfrm>
                <a:off x="3401" y="1797"/>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66" name="Line 66"/>
              <p:cNvSpPr>
                <a:spLocks noChangeShapeType="1"/>
              </p:cNvSpPr>
              <p:nvPr/>
            </p:nvSpPr>
            <p:spPr bwMode="auto">
              <a:xfrm>
                <a:off x="3257" y="2325"/>
                <a:ext cx="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grpSp>
        <p:nvGrpSpPr>
          <p:cNvPr id="204880" name="Group 80"/>
          <p:cNvGrpSpPr/>
          <p:nvPr/>
        </p:nvGrpSpPr>
        <p:grpSpPr bwMode="auto">
          <a:xfrm>
            <a:off x="6747669" y="2943463"/>
            <a:ext cx="671513" cy="2808684"/>
            <a:chOff x="4556" y="1797"/>
            <a:chExt cx="564" cy="2359"/>
          </a:xfrm>
        </p:grpSpPr>
        <p:grpSp>
          <p:nvGrpSpPr>
            <p:cNvPr id="204879" name="Group 79"/>
            <p:cNvGrpSpPr/>
            <p:nvPr/>
          </p:nvGrpSpPr>
          <p:grpSpPr bwMode="auto">
            <a:xfrm>
              <a:off x="4557" y="2690"/>
              <a:ext cx="563" cy="899"/>
              <a:chOff x="4560" y="2690"/>
              <a:chExt cx="563" cy="899"/>
            </a:xfrm>
          </p:grpSpPr>
          <p:sp>
            <p:nvSpPr>
              <p:cNvPr id="204827" name="Line 27"/>
              <p:cNvSpPr>
                <a:spLocks noChangeShapeType="1"/>
              </p:cNvSpPr>
              <p:nvPr/>
            </p:nvSpPr>
            <p:spPr bwMode="auto">
              <a:xfrm flipV="1">
                <a:off x="4704" y="3122"/>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28" name="Line 28"/>
              <p:cNvSpPr>
                <a:spLocks noChangeShapeType="1"/>
              </p:cNvSpPr>
              <p:nvPr/>
            </p:nvSpPr>
            <p:spPr bwMode="auto">
              <a:xfrm>
                <a:off x="4704" y="2834"/>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43" name="Oval 43"/>
              <p:cNvSpPr>
                <a:spLocks noChangeArrowheads="1"/>
              </p:cNvSpPr>
              <p:nvPr/>
            </p:nvSpPr>
            <p:spPr bwMode="auto">
              <a:xfrm>
                <a:off x="4896" y="3026"/>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44" name="Oval 44"/>
              <p:cNvSpPr>
                <a:spLocks noChangeArrowheads="1"/>
              </p:cNvSpPr>
              <p:nvPr/>
            </p:nvSpPr>
            <p:spPr bwMode="auto">
              <a:xfrm>
                <a:off x="4560" y="2690"/>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-2</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45" name="Oval 45"/>
              <p:cNvSpPr>
                <a:spLocks noChangeArrowheads="1"/>
              </p:cNvSpPr>
              <p:nvPr/>
            </p:nvSpPr>
            <p:spPr bwMode="auto">
              <a:xfrm>
                <a:off x="4560" y="3362"/>
                <a:ext cx="227" cy="227"/>
              </a:xfrm>
              <a:prstGeom prst="ellipse">
                <a:avLst/>
              </a:prstGeom>
              <a:solidFill>
                <a:schemeClr val="tx2">
                  <a:lumMod val="75000"/>
                </a:schemeClr>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sp>
          <p:nvSpPr>
            <p:cNvPr id="204849" name="Text Box 49"/>
            <p:cNvSpPr txBox="1">
              <a:spLocks noChangeArrowheads="1"/>
            </p:cNvSpPr>
            <p:nvPr/>
          </p:nvSpPr>
          <p:spPr bwMode="auto">
            <a:xfrm>
              <a:off x="4679" y="3821"/>
              <a:ext cx="31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latin typeface="Times New Roman" panose="02020603050405020304" pitchFamily="18" charset="0"/>
                  <a:cs typeface="Times New Roman" panose="02020603050405020304" pitchFamily="18" charset="0"/>
                </a:rPr>
                <a:t>4</a:t>
              </a:r>
              <a:endParaRPr lang="en-US" altLang="zh-CN" sz="2000" b="1" dirty="0">
                <a:latin typeface="Times New Roman" panose="02020603050405020304" pitchFamily="18" charset="0"/>
                <a:cs typeface="Times New Roman" panose="02020603050405020304" pitchFamily="18" charset="0"/>
              </a:endParaRPr>
            </a:p>
          </p:txBody>
        </p:sp>
        <p:grpSp>
          <p:nvGrpSpPr>
            <p:cNvPr id="204878" name="Group 78"/>
            <p:cNvGrpSpPr/>
            <p:nvPr/>
          </p:nvGrpSpPr>
          <p:grpSpPr bwMode="auto">
            <a:xfrm>
              <a:off x="4556" y="1797"/>
              <a:ext cx="563" cy="563"/>
              <a:chOff x="4553" y="1797"/>
              <a:chExt cx="563" cy="563"/>
            </a:xfrm>
          </p:grpSpPr>
          <p:sp>
            <p:nvSpPr>
              <p:cNvPr id="204852" name="Line 52"/>
              <p:cNvSpPr>
                <a:spLocks noChangeShapeType="1"/>
              </p:cNvSpPr>
              <p:nvPr/>
            </p:nvSpPr>
            <p:spPr bwMode="auto">
              <a:xfrm>
                <a:off x="4697" y="1941"/>
                <a:ext cx="288" cy="2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4867" name="Oval 67"/>
              <p:cNvSpPr>
                <a:spLocks noChangeArrowheads="1"/>
              </p:cNvSpPr>
              <p:nvPr/>
            </p:nvSpPr>
            <p:spPr bwMode="auto">
              <a:xfrm>
                <a:off x="4889" y="2133"/>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0</a:t>
                </a:r>
                <a:endParaRPr lang="en-US" altLang="zh-CN" sz="2000" b="1">
                  <a:solidFill>
                    <a:srgbClr val="FF0000"/>
                  </a:solidFill>
                  <a:latin typeface="Times New Roman" panose="02020603050405020304" pitchFamily="18" charset="0"/>
                  <a:cs typeface="Times New Roman" panose="02020603050405020304" pitchFamily="18" charset="0"/>
                </a:endParaRPr>
              </a:p>
            </p:txBody>
          </p:sp>
          <p:sp>
            <p:nvSpPr>
              <p:cNvPr id="204868" name="Oval 68"/>
              <p:cNvSpPr>
                <a:spLocks noChangeArrowheads="1"/>
              </p:cNvSpPr>
              <p:nvPr/>
            </p:nvSpPr>
            <p:spPr bwMode="auto">
              <a:xfrm>
                <a:off x="4553" y="1797"/>
                <a:ext cx="227" cy="227"/>
              </a:xfrm>
              <a:prstGeom prst="ellipse">
                <a:avLst/>
              </a:prstGeom>
              <a:solidFill>
                <a:schemeClr val="tx2">
                  <a:lumMod val="75000"/>
                </a:schemeClr>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Times New Roman" panose="02020603050405020304" pitchFamily="18" charset="0"/>
                    <a:cs typeface="Times New Roman" panose="02020603050405020304" pitchFamily="18" charset="0"/>
                  </a:rPr>
                  <a:t>-1</a:t>
                </a:r>
                <a:endParaRPr lang="en-US" altLang="zh-CN" sz="2000" b="1">
                  <a:solidFill>
                    <a:srgbClr val="FF0000"/>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zh-CN" altLang="en-US" b="1">
                <a:effectLst>
                  <a:outerShdw blurRad="38100" dist="25400" dir="5400000" algn="ctr" rotWithShape="0">
                    <a:srgbClr val="6E747A">
                      <a:alpha val="43000"/>
                    </a:srgbClr>
                  </a:outerShdw>
                </a:effectLst>
                <a:sym typeface="+mn-ea"/>
              </a:rPr>
              <a:t>四种基本情况</a:t>
            </a:r>
            <a:endParaRPr lang="zh-CN" altLang="en-US" b="1"/>
          </a:p>
        </p:txBody>
      </p:sp>
      <p:sp>
        <p:nvSpPr>
          <p:cNvPr id="80901" name="Text Box 5"/>
          <p:cNvSpPr txBox="1">
            <a:spLocks noChangeArrowheads="1"/>
          </p:cNvSpPr>
          <p:nvPr/>
        </p:nvSpPr>
        <p:spPr bwMode="auto">
          <a:xfrm>
            <a:off x="384810" y="996315"/>
            <a:ext cx="8331200" cy="544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nSpc>
                <a:spcPct val="16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假设由于在二叉排序树上插入结点而失去平衡的最小子树根结点的指针为</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（即</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是离插入结点最近，且平衡因子绝对值大于</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的祖先结点），则失去平衡后进行调整的规律可归纳为下列四种情况：</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457200" indent="-457200">
              <a:lnSpc>
                <a:spcPct val="160000"/>
              </a:lnSpc>
              <a:buClr>
                <a:srgbClr val="00B0F0"/>
              </a:buClr>
              <a:buFont typeface="+mj-lt"/>
              <a:buAutoNum type="alphaUcPeriod"/>
            </a:pP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单向右旋</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：在*</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的左子树根结点的左子树上插入结点。</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hlinkClick r:id="rId1" action="ppaction://hlinksldjump"/>
              </a:rPr>
              <a:t>如</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hlinkClick r:id="rId1" action="ppaction://hlinksldjump"/>
              </a:rPr>
              <a:t>Fig.a</a:t>
            </a:r>
            <a:endParaRPr kumimoji="1" lang="en-US" altLang="zh-CN"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endParaRPr>
          </a:p>
          <a:p>
            <a:pPr marL="457200" indent="-457200">
              <a:lnSpc>
                <a:spcPct val="160000"/>
              </a:lnSpc>
              <a:buClr>
                <a:srgbClr val="00B0F0"/>
              </a:buClr>
              <a:buFont typeface="+mj-lt"/>
              <a:buAutoNum type="alphaUcPeriod"/>
            </a:pP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单向左旋</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：在*</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mn-ea"/>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的右子树根结点的右子树上插入结点。</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hlinkClick r:id="rId2" action="ppaction://hlinksldjump"/>
              </a:rPr>
              <a:t>如</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sym typeface="+mn-ea"/>
                <a:hlinkClick r:id="rId2" action="ppaction://hlinksldjump"/>
              </a:rPr>
              <a:t>Fig.b</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marL="457200" indent="-457200">
              <a:lnSpc>
                <a:spcPct val="160000"/>
              </a:lnSpc>
              <a:buClr>
                <a:srgbClr val="00B0F0"/>
              </a:buClr>
              <a:buFont typeface="+mj-lt"/>
              <a:buAutoNum type="alphaUcPeriod"/>
            </a:pP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双向旋转</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先左后右</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）：在*</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mn-ea"/>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的左子树根结点的右子树上插入结点。</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hlinkClick r:id="rId3" action="ppaction://hlinksldjump"/>
              </a:rPr>
              <a:t>如</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sym typeface="+mn-ea"/>
                <a:hlinkClick r:id="rId3" action="ppaction://hlinksldjump"/>
              </a:rPr>
              <a:t>Fig.c</a:t>
            </a:r>
            <a:endParaRPr kumimoji="1" lang="en-US" altLang="zh-CN" dirty="0" err="1">
              <a:latin typeface="Times New Roman" panose="02020603050405020304" pitchFamily="18" charset="0"/>
              <a:ea typeface="幼圆" panose="02010509060101010101" pitchFamily="49" charset="-122"/>
              <a:cs typeface="Times New Roman" panose="02020603050405020304" pitchFamily="18" charset="0"/>
              <a:sym typeface="+mn-ea"/>
              <a:hlinkClick r:id="rId3" action="ppaction://hlinksldjump"/>
            </a:endParaRPr>
          </a:p>
          <a:p>
            <a:pPr marL="457200" indent="-457200">
              <a:lnSpc>
                <a:spcPct val="160000"/>
              </a:lnSpc>
              <a:buClr>
                <a:srgbClr val="00B0F0"/>
              </a:buClr>
              <a:buFont typeface="+mj-lt"/>
              <a:buAutoNum type="alphaUcPeriod"/>
            </a:pP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双向旋转</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a:t>
            </a:r>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先右后左</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）：在*</a:t>
            </a:r>
            <a:r>
              <a:rPr kumimoji="1" lang="en-US" altLang="zh-CN" i="1" dirty="0">
                <a:latin typeface="Times New Roman" panose="02020603050405020304" pitchFamily="18" charset="0"/>
                <a:ea typeface="幼圆" panose="02010509060101010101" pitchFamily="49" charset="-122"/>
                <a:cs typeface="Times New Roman" panose="02020603050405020304" pitchFamily="18" charset="0"/>
                <a:sym typeface="+mn-ea"/>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rPr>
              <a:t>的右子树根结点的左子树上插入结点。</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sym typeface="+mn-ea"/>
                <a:hlinkClick r:id="rId4" action="ppaction://hlinksldjump"/>
              </a:rPr>
              <a:t>如</a:t>
            </a: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sym typeface="+mn-ea"/>
                <a:hlinkClick r:id="rId4" action="ppaction://hlinksldjump"/>
              </a:rPr>
              <a:t>Fig.d</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marL="285750" indent="-285750">
              <a:lnSpc>
                <a:spcPct val="16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上面的几种情况在经过平衡旋转处理后，以*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mn-ea"/>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或*</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sym typeface="+mn-ea"/>
              </a:rPr>
              <a:t>c</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为根的新子树为平衡二叉树，而且</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它的深度和插入之前以*</a:t>
            </a:r>
            <a:r>
              <a:rPr kumimoji="1" lang="en-US" altLang="zh-CN" sz="2000" b="1" i="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a</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sym typeface="+mn-ea"/>
              </a:rPr>
              <a:t>为根的子树相同</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rPr>
              <a:t>。因此，当平衡的二叉排序树因插入结点而失去平衡时，仅需对最小不平衡子树进行旋转处理即可。</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00" name="Group 80"/>
          <p:cNvGrpSpPr/>
          <p:nvPr/>
        </p:nvGrpSpPr>
        <p:grpSpPr bwMode="auto">
          <a:xfrm>
            <a:off x="4205050" y="3170793"/>
            <a:ext cx="628650" cy="514350"/>
            <a:chOff x="2208" y="480"/>
            <a:chExt cx="528" cy="432"/>
          </a:xfrm>
        </p:grpSpPr>
        <p:sp>
          <p:nvSpPr>
            <p:cNvPr id="82001" name="AutoShape 81"/>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002" name="Text Box 82"/>
            <p:cNvSpPr txBox="1">
              <a:spLocks noChangeArrowheads="1"/>
            </p:cNvSpPr>
            <p:nvPr/>
          </p:nvSpPr>
          <p:spPr bwMode="auto">
            <a:xfrm>
              <a:off x="2256" y="480"/>
              <a:ext cx="38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LL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82078" name="Rectangle 158"/>
          <p:cNvSpPr>
            <a:spLocks noChangeArrowheads="1"/>
          </p:cNvSpPr>
          <p:nvPr/>
        </p:nvSpPr>
        <p:spPr bwMode="auto">
          <a:xfrm>
            <a:off x="406559" y="1128345"/>
            <a:ext cx="864394" cy="41402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a:spAutoFit/>
          </a:bodyPr>
          <a:lstStyle/>
          <a:p>
            <a:r>
              <a:rPr lang="en-US" altLang="zh-CN" sz="2100" b="1" dirty="0" err="1">
                <a:solidFill>
                  <a:srgbClr val="CC0000"/>
                </a:solidFill>
                <a:ea typeface="幼圆" panose="02010509060101010101" pitchFamily="49" charset="-122"/>
              </a:rPr>
              <a:t>Fig.a</a:t>
            </a:r>
            <a:endParaRPr lang="en-US" altLang="zh-CN" sz="2100" b="1" dirty="0">
              <a:solidFill>
                <a:srgbClr val="CC0000"/>
              </a:solidFill>
              <a:ea typeface="幼圆" panose="02010509060101010101" pitchFamily="49" charset="-122"/>
            </a:endParaRPr>
          </a:p>
        </p:txBody>
      </p:sp>
      <p:sp>
        <p:nvSpPr>
          <p:cNvPr id="82081" name="Rectangle 161"/>
          <p:cNvSpPr>
            <a:spLocks noGrp="1" noChangeArrowheads="1"/>
          </p:cNvSpPr>
          <p:nvPr>
            <p:ph type="title"/>
          </p:nvPr>
        </p:nvSpPr>
        <p:spPr/>
        <p:txBody>
          <a:bodyPr>
            <a:scene3d>
              <a:camera prst="orthographicFront"/>
              <a:lightRig rig="threePt" dir="t"/>
            </a:scene3d>
          </a:bodyPr>
          <a:lstStyle/>
          <a:p>
            <a:r>
              <a:rPr lang="en-US" altLang="zh-CN" b="1" dirty="0">
                <a:solidFill>
                  <a:schemeClr val="bg1"/>
                </a:solidFill>
                <a:effectLst>
                  <a:outerShdw blurRad="38100" dist="25400" dir="5400000" algn="ctr" rotWithShape="0">
                    <a:srgbClr val="6E747A">
                      <a:alpha val="43000"/>
                    </a:srgbClr>
                  </a:outerShdw>
                </a:effectLst>
              </a:rPr>
              <a:t>A. </a:t>
            </a:r>
            <a:r>
              <a:rPr lang="zh-CN" altLang="en-US" b="1" dirty="0">
                <a:solidFill>
                  <a:schemeClr val="bg1"/>
                </a:solidFill>
                <a:effectLst>
                  <a:outerShdw blurRad="38100" dist="25400" dir="5400000" algn="ctr" rotWithShape="0">
                    <a:srgbClr val="6E747A">
                      <a:alpha val="43000"/>
                    </a:srgbClr>
                  </a:outerShdw>
                </a:effectLst>
              </a:rPr>
              <a:t>单向右旋</a:t>
            </a:r>
            <a:endParaRPr lang="zh-CN" altLang="en-US" b="1" dirty="0">
              <a:solidFill>
                <a:schemeClr val="bg1"/>
              </a:solidFill>
              <a:effectLst>
                <a:outerShdw blurRad="38100" dist="25400" dir="5400000" algn="ctr" rotWithShape="0">
                  <a:srgbClr val="6E747A">
                    <a:alpha val="43000"/>
                  </a:srgbClr>
                </a:outerShdw>
              </a:effectLst>
            </a:endParaRPr>
          </a:p>
        </p:txBody>
      </p:sp>
      <p:grpSp>
        <p:nvGrpSpPr>
          <p:cNvPr id="4" name="组合 3"/>
          <p:cNvGrpSpPr/>
          <p:nvPr/>
        </p:nvGrpSpPr>
        <p:grpSpPr>
          <a:xfrm>
            <a:off x="664210" y="2060575"/>
            <a:ext cx="3463925" cy="2935894"/>
            <a:chOff x="653" y="3173"/>
            <a:chExt cx="5250" cy="4528"/>
          </a:xfrm>
        </p:grpSpPr>
        <p:sp>
          <p:nvSpPr>
            <p:cNvPr id="5" name="Oval 6"/>
            <p:cNvSpPr>
              <a:spLocks noChangeArrowheads="1"/>
            </p:cNvSpPr>
            <p:nvPr/>
          </p:nvSpPr>
          <p:spPr bwMode="auto">
            <a:xfrm>
              <a:off x="3078" y="3173"/>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 name="Oval 7"/>
            <p:cNvSpPr>
              <a:spLocks noChangeArrowheads="1"/>
            </p:cNvSpPr>
            <p:nvPr/>
          </p:nvSpPr>
          <p:spPr bwMode="auto">
            <a:xfrm>
              <a:off x="2118" y="4133"/>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7" name="AutoShape 8"/>
            <p:cNvCxnSpPr>
              <a:cxnSpLocks noChangeShapeType="1"/>
              <a:stCxn id="5" idx="2"/>
              <a:endCxn id="6" idx="0"/>
            </p:cNvCxnSpPr>
            <p:nvPr/>
          </p:nvCxnSpPr>
          <p:spPr bwMode="auto">
            <a:xfrm flipH="1">
              <a:off x="2538" y="3593"/>
              <a:ext cx="540" cy="54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 name="Group 9"/>
            <p:cNvGrpSpPr/>
            <p:nvPr/>
          </p:nvGrpSpPr>
          <p:grpSpPr bwMode="auto">
            <a:xfrm>
              <a:off x="1373" y="5453"/>
              <a:ext cx="895" cy="1680"/>
              <a:chOff x="998" y="1728"/>
              <a:chExt cx="358" cy="672"/>
            </a:xfrm>
          </p:grpSpPr>
          <p:grpSp>
            <p:nvGrpSpPr>
              <p:cNvPr id="9" name="Group 10"/>
              <p:cNvGrpSpPr/>
              <p:nvPr/>
            </p:nvGrpSpPr>
            <p:grpSpPr bwMode="auto">
              <a:xfrm>
                <a:off x="1008" y="1728"/>
                <a:ext cx="288" cy="672"/>
                <a:chOff x="1008" y="1728"/>
                <a:chExt cx="288" cy="672"/>
              </a:xfrm>
            </p:grpSpPr>
            <p:sp>
              <p:nvSpPr>
                <p:cNvPr id="10" name="Rectangle 11"/>
                <p:cNvSpPr>
                  <a:spLocks noChangeArrowheads="1"/>
                </p:cNvSpPr>
                <p:nvPr/>
              </p:nvSpPr>
              <p:spPr bwMode="auto">
                <a:xfrm>
                  <a:off x="1008" y="1728"/>
                  <a:ext cx="288" cy="672"/>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11" name="Line 12"/>
                <p:cNvSpPr>
                  <a:spLocks noChangeShapeType="1"/>
                </p:cNvSpPr>
                <p:nvPr/>
              </p:nvSpPr>
              <p:spPr bwMode="auto">
                <a:xfrm>
                  <a:off x="1008" y="2256"/>
                  <a:ext cx="288"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2" name="Line 13"/>
                <p:cNvSpPr>
                  <a:spLocks noChangeShapeType="1"/>
                </p:cNvSpPr>
                <p:nvPr/>
              </p:nvSpPr>
              <p:spPr bwMode="auto">
                <a:xfrm>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3" name="Line 14"/>
                <p:cNvSpPr>
                  <a:spLocks noChangeShapeType="1"/>
                </p:cNvSpPr>
                <p:nvPr/>
              </p:nvSpPr>
              <p:spPr bwMode="auto">
                <a:xfrm flipV="1">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14" name="Text Box 15"/>
              <p:cNvSpPr txBox="1">
                <a:spLocks noChangeArrowheads="1"/>
              </p:cNvSpPr>
              <p:nvPr/>
            </p:nvSpPr>
            <p:spPr bwMode="auto">
              <a:xfrm>
                <a:off x="998" y="1850"/>
                <a:ext cx="358"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5" name="Group 16"/>
            <p:cNvGrpSpPr/>
            <p:nvPr/>
          </p:nvGrpSpPr>
          <p:grpSpPr bwMode="auto">
            <a:xfrm>
              <a:off x="2915" y="5453"/>
              <a:ext cx="913" cy="1320"/>
              <a:chOff x="1615" y="1728"/>
              <a:chExt cx="365" cy="528"/>
            </a:xfrm>
          </p:grpSpPr>
          <p:sp>
            <p:nvSpPr>
              <p:cNvPr id="16" name="Rectangle 17"/>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17" name="Text Box 18"/>
              <p:cNvSpPr txBox="1">
                <a:spLocks noChangeArrowheads="1"/>
              </p:cNvSpPr>
              <p:nvPr/>
            </p:nvSpPr>
            <p:spPr bwMode="auto">
              <a:xfrm>
                <a:off x="1615" y="1850"/>
                <a:ext cx="365"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8" name="Group 19"/>
            <p:cNvGrpSpPr/>
            <p:nvPr/>
          </p:nvGrpSpPr>
          <p:grpSpPr bwMode="auto">
            <a:xfrm>
              <a:off x="653" y="5453"/>
              <a:ext cx="625" cy="1680"/>
              <a:chOff x="710" y="1728"/>
              <a:chExt cx="250" cy="672"/>
            </a:xfrm>
          </p:grpSpPr>
          <p:sp>
            <p:nvSpPr>
              <p:cNvPr id="19" name="Line 20"/>
              <p:cNvSpPr>
                <a:spLocks noChangeShapeType="1"/>
              </p:cNvSpPr>
              <p:nvPr/>
            </p:nvSpPr>
            <p:spPr bwMode="auto">
              <a:xfrm>
                <a:off x="720" y="1728"/>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0" name="Line 21"/>
              <p:cNvSpPr>
                <a:spLocks noChangeShapeType="1"/>
              </p:cNvSpPr>
              <p:nvPr/>
            </p:nvSpPr>
            <p:spPr bwMode="auto">
              <a:xfrm>
                <a:off x="720" y="2400"/>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1" name="Text Box 22"/>
              <p:cNvSpPr txBox="1">
                <a:spLocks noChangeArrowheads="1"/>
              </p:cNvSpPr>
              <p:nvPr/>
            </p:nvSpPr>
            <p:spPr bwMode="auto">
              <a:xfrm>
                <a:off x="710" y="1920"/>
                <a:ext cx="250"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2" name="Line 23"/>
              <p:cNvSpPr>
                <a:spLocks noChangeShapeType="1"/>
              </p:cNvSpPr>
              <p:nvPr/>
            </p:nvSpPr>
            <p:spPr bwMode="auto">
              <a:xfrm>
                <a:off x="816" y="2160"/>
                <a:ext cx="0" cy="24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3" name="Line 24"/>
              <p:cNvSpPr>
                <a:spLocks noChangeShapeType="1"/>
              </p:cNvSpPr>
              <p:nvPr/>
            </p:nvSpPr>
            <p:spPr bwMode="auto">
              <a:xfrm flipV="1">
                <a:off x="816" y="1728"/>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nvGrpSpPr>
            <p:cNvPr id="24" name="Group 25"/>
            <p:cNvGrpSpPr/>
            <p:nvPr/>
          </p:nvGrpSpPr>
          <p:grpSpPr bwMode="auto">
            <a:xfrm>
              <a:off x="2178" y="5453"/>
              <a:ext cx="1025" cy="1320"/>
              <a:chOff x="1896" y="1728"/>
              <a:chExt cx="410" cy="528"/>
            </a:xfrm>
          </p:grpSpPr>
          <p:sp>
            <p:nvSpPr>
              <p:cNvPr id="25" name="Line 26"/>
              <p:cNvSpPr>
                <a:spLocks noChangeShapeType="1"/>
              </p:cNvSpPr>
              <p:nvPr/>
            </p:nvSpPr>
            <p:spPr bwMode="auto">
              <a:xfrm>
                <a:off x="2000"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6" name="Line 27"/>
              <p:cNvSpPr>
                <a:spLocks noChangeShapeType="1"/>
              </p:cNvSpPr>
              <p:nvPr/>
            </p:nvSpPr>
            <p:spPr bwMode="auto">
              <a:xfrm>
                <a:off x="2000"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7" name="Text Box 28"/>
              <p:cNvSpPr txBox="1">
                <a:spLocks noChangeArrowheads="1"/>
              </p:cNvSpPr>
              <p:nvPr/>
            </p:nvSpPr>
            <p:spPr bwMode="auto">
              <a:xfrm>
                <a:off x="1896" y="1824"/>
                <a:ext cx="410"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 name="Line 29"/>
              <p:cNvSpPr>
                <a:spLocks noChangeShapeType="1"/>
              </p:cNvSpPr>
              <p:nvPr/>
            </p:nvSpPr>
            <p:spPr bwMode="auto">
              <a:xfrm>
                <a:off x="2072"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9" name="Line 30"/>
              <p:cNvSpPr>
                <a:spLocks noChangeShapeType="1"/>
              </p:cNvSpPr>
              <p:nvPr/>
            </p:nvSpPr>
            <p:spPr bwMode="auto">
              <a:xfrm flipV="1">
                <a:off x="2072"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nvGrpSpPr>
            <p:cNvPr id="30" name="Group 31"/>
            <p:cNvGrpSpPr/>
            <p:nvPr/>
          </p:nvGrpSpPr>
          <p:grpSpPr bwMode="auto">
            <a:xfrm>
              <a:off x="4158" y="4133"/>
              <a:ext cx="938" cy="1320"/>
              <a:chOff x="1622" y="1728"/>
              <a:chExt cx="375" cy="528"/>
            </a:xfrm>
          </p:grpSpPr>
          <p:sp>
            <p:nvSpPr>
              <p:cNvPr id="31" name="Rectangle 32"/>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32" name="Text Box 33"/>
              <p:cNvSpPr txBox="1">
                <a:spLocks noChangeArrowheads="1"/>
              </p:cNvSpPr>
              <p:nvPr/>
            </p:nvSpPr>
            <p:spPr bwMode="auto">
              <a:xfrm>
                <a:off x="1622" y="1850"/>
                <a:ext cx="375"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3" name="Group 34"/>
            <p:cNvGrpSpPr/>
            <p:nvPr/>
          </p:nvGrpSpPr>
          <p:grpSpPr bwMode="auto">
            <a:xfrm>
              <a:off x="4878" y="4133"/>
              <a:ext cx="1025" cy="1320"/>
              <a:chOff x="1920" y="1728"/>
              <a:chExt cx="410" cy="528"/>
            </a:xfrm>
          </p:grpSpPr>
          <p:sp>
            <p:nvSpPr>
              <p:cNvPr id="34" name="Line 35"/>
              <p:cNvSpPr>
                <a:spLocks noChangeShapeType="1"/>
              </p:cNvSpPr>
              <p:nvPr/>
            </p:nvSpPr>
            <p:spPr bwMode="auto">
              <a:xfrm>
                <a:off x="2034"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5" name="Line 36"/>
              <p:cNvSpPr>
                <a:spLocks noChangeShapeType="1"/>
              </p:cNvSpPr>
              <p:nvPr/>
            </p:nvSpPr>
            <p:spPr bwMode="auto">
              <a:xfrm>
                <a:off x="2034"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6" name="Text Box 37"/>
              <p:cNvSpPr txBox="1">
                <a:spLocks noChangeArrowheads="1"/>
              </p:cNvSpPr>
              <p:nvPr/>
            </p:nvSpPr>
            <p:spPr bwMode="auto">
              <a:xfrm>
                <a:off x="1920" y="1824"/>
                <a:ext cx="410" cy="22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7" name="Line 38"/>
              <p:cNvSpPr>
                <a:spLocks noChangeShapeType="1"/>
              </p:cNvSpPr>
              <p:nvPr/>
            </p:nvSpPr>
            <p:spPr bwMode="auto">
              <a:xfrm>
                <a:off x="2106"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8" name="Line 39"/>
              <p:cNvSpPr>
                <a:spLocks noChangeShapeType="1"/>
              </p:cNvSpPr>
              <p:nvPr/>
            </p:nvSpPr>
            <p:spPr bwMode="auto">
              <a:xfrm flipV="1">
                <a:off x="2106"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cxnSp>
          <p:nvCxnSpPr>
            <p:cNvPr id="39" name="AutoShape 40"/>
            <p:cNvCxnSpPr>
              <a:cxnSpLocks noChangeShapeType="1"/>
              <a:stCxn id="5" idx="6"/>
              <a:endCxn id="31" idx="0"/>
            </p:cNvCxnSpPr>
            <p:nvPr/>
          </p:nvCxnSpPr>
          <p:spPr bwMode="auto">
            <a:xfrm>
              <a:off x="3918" y="3593"/>
              <a:ext cx="625" cy="54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41"/>
            <p:cNvCxnSpPr>
              <a:cxnSpLocks noChangeShapeType="1"/>
              <a:stCxn id="6" idx="3"/>
              <a:endCxn id="10" idx="0"/>
            </p:cNvCxnSpPr>
            <p:nvPr/>
          </p:nvCxnSpPr>
          <p:spPr bwMode="auto">
            <a:xfrm flipH="1">
              <a:off x="1758" y="4850"/>
              <a:ext cx="483" cy="602"/>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42"/>
            <p:cNvCxnSpPr>
              <a:cxnSpLocks noChangeShapeType="1"/>
              <a:stCxn id="6" idx="5"/>
              <a:endCxn id="16" idx="0"/>
            </p:cNvCxnSpPr>
            <p:nvPr/>
          </p:nvCxnSpPr>
          <p:spPr bwMode="auto">
            <a:xfrm>
              <a:off x="2835" y="4850"/>
              <a:ext cx="483" cy="602"/>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Text Box 43"/>
            <p:cNvSpPr txBox="1">
              <a:spLocks noChangeArrowheads="1"/>
            </p:cNvSpPr>
            <p:nvPr/>
          </p:nvSpPr>
          <p:spPr bwMode="auto">
            <a:xfrm>
              <a:off x="918" y="7133"/>
              <a:ext cx="1835" cy="568"/>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3" name="组合 42"/>
          <p:cNvGrpSpPr/>
          <p:nvPr/>
        </p:nvGrpSpPr>
        <p:grpSpPr>
          <a:xfrm>
            <a:off x="5157470" y="2060575"/>
            <a:ext cx="3472815" cy="2219960"/>
            <a:chOff x="8373" y="3653"/>
            <a:chExt cx="5095" cy="3360"/>
          </a:xfrm>
        </p:grpSpPr>
        <p:sp>
          <p:nvSpPr>
            <p:cNvPr id="44" name="Oval 84"/>
            <p:cNvSpPr>
              <a:spLocks noChangeArrowheads="1"/>
            </p:cNvSpPr>
            <p:nvPr/>
          </p:nvSpPr>
          <p:spPr bwMode="auto">
            <a:xfrm flipH="1">
              <a:off x="11478" y="4493"/>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5" name="Oval 85"/>
            <p:cNvSpPr>
              <a:spLocks noChangeArrowheads="1"/>
            </p:cNvSpPr>
            <p:nvPr/>
          </p:nvSpPr>
          <p:spPr bwMode="auto">
            <a:xfrm flipH="1">
              <a:off x="10158" y="3653"/>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6" name="Group 86"/>
            <p:cNvGrpSpPr/>
            <p:nvPr/>
          </p:nvGrpSpPr>
          <p:grpSpPr bwMode="auto">
            <a:xfrm>
              <a:off x="9040" y="4720"/>
              <a:ext cx="895" cy="2293"/>
              <a:chOff x="837" y="2976"/>
              <a:chExt cx="358" cy="528"/>
            </a:xfrm>
          </p:grpSpPr>
          <p:sp>
            <p:nvSpPr>
              <p:cNvPr id="47" name="Rectangle 87"/>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48" name="Text Box 88"/>
              <p:cNvSpPr txBox="1">
                <a:spLocks noChangeArrowheads="1"/>
              </p:cNvSpPr>
              <p:nvPr/>
            </p:nvSpPr>
            <p:spPr bwMode="auto">
              <a:xfrm flipH="1">
                <a:off x="837" y="3120"/>
                <a:ext cx="358" cy="128"/>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9" name="Group 89"/>
            <p:cNvGrpSpPr/>
            <p:nvPr/>
          </p:nvGrpSpPr>
          <p:grpSpPr bwMode="auto">
            <a:xfrm>
              <a:off x="10603" y="5693"/>
              <a:ext cx="913" cy="1320"/>
              <a:chOff x="838" y="2976"/>
              <a:chExt cx="365" cy="528"/>
            </a:xfrm>
          </p:grpSpPr>
          <p:sp>
            <p:nvSpPr>
              <p:cNvPr id="50" name="Rectangle 90"/>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51" name="Text Box 91"/>
              <p:cNvSpPr txBox="1">
                <a:spLocks noChangeArrowheads="1"/>
              </p:cNvSpPr>
              <p:nvPr/>
            </p:nvSpPr>
            <p:spPr bwMode="auto">
              <a:xfrm flipH="1">
                <a:off x="838" y="3120"/>
                <a:ext cx="365" cy="223"/>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2" name="Group 92"/>
            <p:cNvGrpSpPr/>
            <p:nvPr/>
          </p:nvGrpSpPr>
          <p:grpSpPr bwMode="auto">
            <a:xfrm>
              <a:off x="12530" y="5693"/>
              <a:ext cx="938" cy="1320"/>
              <a:chOff x="841" y="2976"/>
              <a:chExt cx="375" cy="528"/>
            </a:xfrm>
          </p:grpSpPr>
          <p:sp>
            <p:nvSpPr>
              <p:cNvPr id="53" name="Rectangle 93"/>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54" name="Text Box 94"/>
              <p:cNvSpPr txBox="1">
                <a:spLocks noChangeArrowheads="1"/>
              </p:cNvSpPr>
              <p:nvPr/>
            </p:nvSpPr>
            <p:spPr bwMode="auto">
              <a:xfrm flipH="1">
                <a:off x="841" y="3120"/>
                <a:ext cx="375" cy="223"/>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55" name="AutoShape 95"/>
            <p:cNvCxnSpPr>
              <a:cxnSpLocks noChangeShapeType="1"/>
              <a:stCxn id="45" idx="6"/>
              <a:endCxn id="47" idx="0"/>
            </p:cNvCxnSpPr>
            <p:nvPr/>
          </p:nvCxnSpPr>
          <p:spPr bwMode="auto">
            <a:xfrm flipH="1">
              <a:off x="9438" y="4073"/>
              <a:ext cx="720" cy="64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AutoShape 96"/>
            <p:cNvCxnSpPr>
              <a:cxnSpLocks noChangeShapeType="1"/>
              <a:stCxn id="44" idx="5"/>
              <a:endCxn id="50" idx="0"/>
            </p:cNvCxnSpPr>
            <p:nvPr/>
          </p:nvCxnSpPr>
          <p:spPr bwMode="auto">
            <a:xfrm flipH="1">
              <a:off x="10998" y="5208"/>
              <a:ext cx="603" cy="4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97"/>
            <p:cNvCxnSpPr>
              <a:cxnSpLocks noChangeShapeType="1"/>
              <a:stCxn id="44" idx="3"/>
              <a:endCxn id="53" idx="0"/>
            </p:cNvCxnSpPr>
            <p:nvPr/>
          </p:nvCxnSpPr>
          <p:spPr bwMode="auto">
            <a:xfrm>
              <a:off x="12193" y="5208"/>
              <a:ext cx="725" cy="4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98"/>
            <p:cNvCxnSpPr>
              <a:cxnSpLocks noChangeShapeType="1"/>
              <a:stCxn id="45" idx="2"/>
              <a:endCxn id="44" idx="0"/>
            </p:cNvCxnSpPr>
            <p:nvPr/>
          </p:nvCxnSpPr>
          <p:spPr bwMode="auto">
            <a:xfrm>
              <a:off x="10998" y="4073"/>
              <a:ext cx="900" cy="42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9" name="Group 120"/>
            <p:cNvGrpSpPr/>
            <p:nvPr/>
          </p:nvGrpSpPr>
          <p:grpSpPr bwMode="auto">
            <a:xfrm flipH="1">
              <a:off x="8373" y="4720"/>
              <a:ext cx="625" cy="2293"/>
              <a:chOff x="1980" y="1728"/>
              <a:chExt cx="250" cy="528"/>
            </a:xfrm>
          </p:grpSpPr>
          <p:sp>
            <p:nvSpPr>
              <p:cNvPr id="60" name="Line 121"/>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1" name="Line 122"/>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2" name="Text Box 123"/>
              <p:cNvSpPr txBox="1">
                <a:spLocks noChangeArrowheads="1"/>
              </p:cNvSpPr>
              <p:nvPr/>
            </p:nvSpPr>
            <p:spPr bwMode="auto">
              <a:xfrm>
                <a:off x="1980" y="1885"/>
                <a:ext cx="250" cy="128"/>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3" name="Line 124"/>
              <p:cNvSpPr>
                <a:spLocks noChangeShapeType="1"/>
              </p:cNvSpPr>
              <p:nvPr/>
            </p:nvSpPr>
            <p:spPr bwMode="auto">
              <a:xfrm>
                <a:off x="2088"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4" name="Line 125"/>
              <p:cNvSpPr>
                <a:spLocks noChangeShapeType="1"/>
              </p:cNvSpPr>
              <p:nvPr/>
            </p:nvSpPr>
            <p:spPr bwMode="auto">
              <a:xfrm flipV="1">
                <a:off x="2088"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nvGrpSpPr>
            <p:cNvPr id="65" name="Group 126"/>
            <p:cNvGrpSpPr/>
            <p:nvPr/>
          </p:nvGrpSpPr>
          <p:grpSpPr bwMode="auto">
            <a:xfrm flipH="1">
              <a:off x="9773" y="5693"/>
              <a:ext cx="1025" cy="1320"/>
              <a:chOff x="1940" y="1728"/>
              <a:chExt cx="410" cy="528"/>
            </a:xfrm>
          </p:grpSpPr>
          <p:sp>
            <p:nvSpPr>
              <p:cNvPr id="66" name="Line 127"/>
              <p:cNvSpPr>
                <a:spLocks noChangeShapeType="1"/>
              </p:cNvSpPr>
              <p:nvPr/>
            </p:nvSpPr>
            <p:spPr bwMode="auto">
              <a:xfrm>
                <a:off x="205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7" name="Line 128"/>
              <p:cNvSpPr>
                <a:spLocks noChangeShapeType="1"/>
              </p:cNvSpPr>
              <p:nvPr/>
            </p:nvSpPr>
            <p:spPr bwMode="auto">
              <a:xfrm>
                <a:off x="205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68" name="Text Box 129"/>
              <p:cNvSpPr txBox="1">
                <a:spLocks noChangeArrowheads="1"/>
              </p:cNvSpPr>
              <p:nvPr/>
            </p:nvSpPr>
            <p:spPr bwMode="auto">
              <a:xfrm>
                <a:off x="1940" y="1824"/>
                <a:ext cx="410" cy="223"/>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9" name="Line 130"/>
              <p:cNvSpPr>
                <a:spLocks noChangeShapeType="1"/>
              </p:cNvSpPr>
              <p:nvPr/>
            </p:nvSpPr>
            <p:spPr bwMode="auto">
              <a:xfrm>
                <a:off x="2128"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0" name="Line 131"/>
              <p:cNvSpPr>
                <a:spLocks noChangeShapeType="1"/>
              </p:cNvSpPr>
              <p:nvPr/>
            </p:nvSpPr>
            <p:spPr bwMode="auto">
              <a:xfrm flipV="1">
                <a:off x="2128"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nvGrpSpPr>
            <p:cNvPr id="71" name="Group 132"/>
            <p:cNvGrpSpPr/>
            <p:nvPr/>
          </p:nvGrpSpPr>
          <p:grpSpPr bwMode="auto">
            <a:xfrm flipH="1">
              <a:off x="11623" y="5693"/>
              <a:ext cx="1025" cy="1320"/>
              <a:chOff x="1920" y="1728"/>
              <a:chExt cx="410" cy="528"/>
            </a:xfrm>
          </p:grpSpPr>
          <p:sp>
            <p:nvSpPr>
              <p:cNvPr id="72" name="Line 133"/>
              <p:cNvSpPr>
                <a:spLocks noChangeShapeType="1"/>
              </p:cNvSpPr>
              <p:nvPr/>
            </p:nvSpPr>
            <p:spPr bwMode="auto">
              <a:xfrm>
                <a:off x="2034"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3" name="Line 134"/>
              <p:cNvSpPr>
                <a:spLocks noChangeShapeType="1"/>
              </p:cNvSpPr>
              <p:nvPr/>
            </p:nvSpPr>
            <p:spPr bwMode="auto">
              <a:xfrm>
                <a:off x="2034"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4" name="Text Box 135"/>
              <p:cNvSpPr txBox="1">
                <a:spLocks noChangeArrowheads="1"/>
              </p:cNvSpPr>
              <p:nvPr/>
            </p:nvSpPr>
            <p:spPr bwMode="auto">
              <a:xfrm>
                <a:off x="1920" y="1824"/>
                <a:ext cx="410" cy="223"/>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5" name="Line 136"/>
              <p:cNvSpPr>
                <a:spLocks noChangeShapeType="1"/>
              </p:cNvSpPr>
              <p:nvPr/>
            </p:nvSpPr>
            <p:spPr bwMode="auto">
              <a:xfrm>
                <a:off x="2106"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76" name="Line 137"/>
              <p:cNvSpPr>
                <a:spLocks noChangeShapeType="1"/>
              </p:cNvSpPr>
              <p:nvPr/>
            </p:nvSpPr>
            <p:spPr bwMode="auto">
              <a:xfrm flipV="1">
                <a:off x="2106"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sp>
        <p:nvSpPr>
          <p:cNvPr id="77" name="右弧形箭头 76">
            <a:hlinkClick r:id="rId1" action="ppaction://hlinksldjump"/>
          </p:cNvPr>
          <p:cNvSpPr/>
          <p:nvPr/>
        </p:nvSpPr>
        <p:spPr>
          <a:xfrm>
            <a:off x="8630285" y="6217920"/>
            <a:ext cx="240665" cy="354965"/>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nvPr>
        </p:nvSpPr>
        <p:spPr/>
        <p:txBody>
          <a:bodyPr/>
          <a:p>
            <a:r>
              <a:rPr lang="en-US" altLang="zh-CN" dirty="0">
                <a:solidFill>
                  <a:schemeClr val="bg1"/>
                </a:solidFill>
                <a:effectLst>
                  <a:outerShdw blurRad="38100" dist="25400" dir="5400000" algn="ctr" rotWithShape="0">
                    <a:srgbClr val="6E747A">
                      <a:alpha val="43000"/>
                    </a:srgbClr>
                  </a:outerShdw>
                </a:effectLst>
                <a:ea typeface="幼圆" panose="02010509060101010101" pitchFamily="49" charset="-122"/>
                <a:cs typeface="Arial" panose="020B0604020202020204" pitchFamily="34" charset="0"/>
                <a:sym typeface="+mn-ea"/>
              </a:rPr>
              <a:t>B. </a:t>
            </a:r>
            <a:r>
              <a:rPr lang="zh-CN" altLang="en-US" dirty="0">
                <a:solidFill>
                  <a:schemeClr val="bg1"/>
                </a:solidFill>
                <a:effectLst>
                  <a:outerShdw blurRad="38100" dist="25400" dir="5400000" algn="ctr" rotWithShape="0">
                    <a:srgbClr val="6E747A">
                      <a:alpha val="43000"/>
                    </a:srgbClr>
                  </a:outerShdw>
                </a:effectLst>
                <a:ea typeface="幼圆" panose="02010509060101010101" pitchFamily="49" charset="-122"/>
                <a:cs typeface="Arial" panose="020B0604020202020204" pitchFamily="34" charset="0"/>
                <a:sym typeface="+mn-ea"/>
              </a:rPr>
              <a:t>单向左旋</a:t>
            </a:r>
            <a:endParaRPr lang="zh-CN" altLang="en-US" dirty="0">
              <a:solidFill>
                <a:schemeClr val="bg1"/>
              </a:solidFill>
              <a:effectLst>
                <a:outerShdw blurRad="38100" dist="25400" dir="5400000" algn="ctr" rotWithShape="0">
                  <a:srgbClr val="6E747A">
                    <a:alpha val="43000"/>
                  </a:srgbClr>
                </a:outerShdw>
              </a:effectLst>
              <a:ea typeface="幼圆" panose="02010509060101010101" pitchFamily="49" charset="-122"/>
              <a:cs typeface="Arial" panose="020B0604020202020204" pitchFamily="34" charset="0"/>
              <a:sym typeface="+mn-ea"/>
            </a:endParaRPr>
          </a:p>
        </p:txBody>
      </p:sp>
      <p:grpSp>
        <p:nvGrpSpPr>
          <p:cNvPr id="281708" name="Group 108"/>
          <p:cNvGrpSpPr/>
          <p:nvPr/>
        </p:nvGrpSpPr>
        <p:grpSpPr bwMode="auto">
          <a:xfrm>
            <a:off x="4094560" y="3380820"/>
            <a:ext cx="628650" cy="514350"/>
            <a:chOff x="2208" y="480"/>
            <a:chExt cx="528" cy="432"/>
          </a:xfrm>
        </p:grpSpPr>
        <p:sp>
          <p:nvSpPr>
            <p:cNvPr id="281709" name="AutoShape 109"/>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10" name="Text Box 110"/>
            <p:cNvSpPr txBox="1">
              <a:spLocks noChangeArrowheads="1"/>
            </p:cNvSpPr>
            <p:nvPr/>
          </p:nvSpPr>
          <p:spPr bwMode="auto">
            <a:xfrm>
              <a:off x="2256" y="480"/>
              <a:ext cx="410"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RR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 name="组合 1"/>
          <p:cNvGrpSpPr/>
          <p:nvPr/>
        </p:nvGrpSpPr>
        <p:grpSpPr>
          <a:xfrm>
            <a:off x="4841875" y="2384425"/>
            <a:ext cx="3653790" cy="2230120"/>
            <a:chOff x="10545" y="3258"/>
            <a:chExt cx="5568" cy="3360"/>
          </a:xfrm>
        </p:grpSpPr>
        <p:sp>
          <p:nvSpPr>
            <p:cNvPr id="281696" name="Oval 96"/>
            <p:cNvSpPr>
              <a:spLocks noChangeArrowheads="1"/>
            </p:cNvSpPr>
            <p:nvPr/>
          </p:nvSpPr>
          <p:spPr bwMode="auto">
            <a:xfrm>
              <a:off x="12420" y="4098"/>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697" name="Oval 97"/>
            <p:cNvSpPr>
              <a:spLocks noChangeArrowheads="1"/>
            </p:cNvSpPr>
            <p:nvPr/>
          </p:nvSpPr>
          <p:spPr bwMode="auto">
            <a:xfrm>
              <a:off x="13740" y="3258"/>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698" name="Rectangle 98"/>
            <p:cNvSpPr>
              <a:spLocks noChangeArrowheads="1"/>
            </p:cNvSpPr>
            <p:nvPr/>
          </p:nvSpPr>
          <p:spPr bwMode="auto">
            <a:xfrm>
              <a:off x="15230" y="4379"/>
              <a:ext cx="720" cy="223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1699" name="Text Box 99"/>
            <p:cNvSpPr txBox="1">
              <a:spLocks noChangeArrowheads="1"/>
            </p:cNvSpPr>
            <p:nvPr/>
          </p:nvSpPr>
          <p:spPr bwMode="auto">
            <a:xfrm>
              <a:off x="11415" y="5628"/>
              <a:ext cx="921" cy="555"/>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700" name="Rectangle 100"/>
            <p:cNvSpPr>
              <a:spLocks noChangeArrowheads="1"/>
            </p:cNvSpPr>
            <p:nvPr/>
          </p:nvSpPr>
          <p:spPr bwMode="auto">
            <a:xfrm>
              <a:off x="13380" y="5298"/>
              <a:ext cx="720" cy="132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1701" name="Text Box 101"/>
            <p:cNvSpPr txBox="1">
              <a:spLocks noChangeArrowheads="1"/>
            </p:cNvSpPr>
            <p:nvPr/>
          </p:nvSpPr>
          <p:spPr bwMode="auto">
            <a:xfrm>
              <a:off x="13343" y="5658"/>
              <a:ext cx="895" cy="555"/>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702" name="Rectangle 102"/>
            <p:cNvSpPr>
              <a:spLocks noChangeArrowheads="1"/>
            </p:cNvSpPr>
            <p:nvPr/>
          </p:nvSpPr>
          <p:spPr bwMode="auto">
            <a:xfrm>
              <a:off x="11460" y="5298"/>
              <a:ext cx="720" cy="132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81703" name="Text Box 103"/>
            <p:cNvSpPr txBox="1">
              <a:spLocks noChangeArrowheads="1"/>
            </p:cNvSpPr>
            <p:nvPr/>
          </p:nvSpPr>
          <p:spPr bwMode="auto">
            <a:xfrm>
              <a:off x="15201" y="5060"/>
              <a:ext cx="912" cy="555"/>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281704" name="AutoShape 104"/>
            <p:cNvCxnSpPr>
              <a:cxnSpLocks noChangeShapeType="1"/>
              <a:stCxn id="281697" idx="6"/>
              <a:endCxn id="281698" idx="0"/>
            </p:cNvCxnSpPr>
            <p:nvPr/>
          </p:nvCxnSpPr>
          <p:spPr bwMode="auto">
            <a:xfrm>
              <a:off x="14580" y="3678"/>
              <a:ext cx="1010" cy="702"/>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705" name="AutoShape 105"/>
            <p:cNvCxnSpPr>
              <a:cxnSpLocks noChangeShapeType="1"/>
              <a:stCxn id="281696" idx="5"/>
              <a:endCxn id="281700" idx="0"/>
            </p:cNvCxnSpPr>
            <p:nvPr/>
          </p:nvCxnSpPr>
          <p:spPr bwMode="auto">
            <a:xfrm>
              <a:off x="13138" y="4838"/>
              <a:ext cx="602" cy="46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706" name="AutoShape 106"/>
            <p:cNvCxnSpPr>
              <a:cxnSpLocks noChangeShapeType="1"/>
              <a:stCxn id="281696" idx="3"/>
              <a:endCxn id="281702" idx="0"/>
            </p:cNvCxnSpPr>
            <p:nvPr/>
          </p:nvCxnSpPr>
          <p:spPr bwMode="auto">
            <a:xfrm flipH="1">
              <a:off x="11820" y="4838"/>
              <a:ext cx="723" cy="46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707" name="AutoShape 107"/>
            <p:cNvCxnSpPr>
              <a:cxnSpLocks noChangeShapeType="1"/>
              <a:stCxn id="281697" idx="2"/>
              <a:endCxn id="281696" idx="0"/>
            </p:cNvCxnSpPr>
            <p:nvPr/>
          </p:nvCxnSpPr>
          <p:spPr bwMode="auto">
            <a:xfrm flipH="1">
              <a:off x="12840" y="3678"/>
              <a:ext cx="900" cy="42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81731" name="Group 131"/>
            <p:cNvGrpSpPr/>
            <p:nvPr/>
          </p:nvGrpSpPr>
          <p:grpSpPr bwMode="auto">
            <a:xfrm flipH="1">
              <a:off x="14560" y="4379"/>
              <a:ext cx="623" cy="2238"/>
              <a:chOff x="2022" y="1728"/>
              <a:chExt cx="249" cy="528"/>
            </a:xfrm>
          </p:grpSpPr>
          <p:sp>
            <p:nvSpPr>
              <p:cNvPr id="281732" name="Line 132"/>
              <p:cNvSpPr>
                <a:spLocks noChangeShapeType="1"/>
              </p:cNvSpPr>
              <p:nvPr/>
            </p:nvSpPr>
            <p:spPr bwMode="auto">
              <a:xfrm>
                <a:off x="205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33" name="Line 133"/>
              <p:cNvSpPr>
                <a:spLocks noChangeShapeType="1"/>
              </p:cNvSpPr>
              <p:nvPr/>
            </p:nvSpPr>
            <p:spPr bwMode="auto">
              <a:xfrm>
                <a:off x="205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34" name="Text Box 134"/>
              <p:cNvSpPr txBox="1">
                <a:spLocks noChangeArrowheads="1"/>
              </p:cNvSpPr>
              <p:nvPr/>
            </p:nvSpPr>
            <p:spPr bwMode="auto">
              <a:xfrm>
                <a:off x="2022" y="1889"/>
                <a:ext cx="249" cy="131"/>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735" name="Line 135"/>
              <p:cNvSpPr>
                <a:spLocks noChangeShapeType="1"/>
              </p:cNvSpPr>
              <p:nvPr/>
            </p:nvSpPr>
            <p:spPr bwMode="auto">
              <a:xfrm>
                <a:off x="2128"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36" name="Line 136"/>
              <p:cNvSpPr>
                <a:spLocks noChangeShapeType="1"/>
              </p:cNvSpPr>
              <p:nvPr/>
            </p:nvSpPr>
            <p:spPr bwMode="auto">
              <a:xfrm flipV="1">
                <a:off x="2128"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281737" name="Group 137"/>
            <p:cNvGrpSpPr/>
            <p:nvPr/>
          </p:nvGrpSpPr>
          <p:grpSpPr bwMode="auto">
            <a:xfrm flipH="1">
              <a:off x="12345" y="5298"/>
              <a:ext cx="1023" cy="1320"/>
              <a:chOff x="1920" y="1728"/>
              <a:chExt cx="409" cy="528"/>
            </a:xfrm>
          </p:grpSpPr>
          <p:sp>
            <p:nvSpPr>
              <p:cNvPr id="281738" name="Line 138"/>
              <p:cNvSpPr>
                <a:spLocks noChangeShapeType="1"/>
              </p:cNvSpPr>
              <p:nvPr/>
            </p:nvSpPr>
            <p:spPr bwMode="auto">
              <a:xfrm>
                <a:off x="2034"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39" name="Line 139"/>
              <p:cNvSpPr>
                <a:spLocks noChangeShapeType="1"/>
              </p:cNvSpPr>
              <p:nvPr/>
            </p:nvSpPr>
            <p:spPr bwMode="auto">
              <a:xfrm>
                <a:off x="2034"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40" name="Text Box 140"/>
              <p:cNvSpPr txBox="1">
                <a:spLocks noChangeArrowheads="1"/>
              </p:cNvSpPr>
              <p:nvPr/>
            </p:nvSpPr>
            <p:spPr bwMode="auto">
              <a:xfrm>
                <a:off x="1920" y="1824"/>
                <a:ext cx="409" cy="222"/>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741" name="Line 141"/>
              <p:cNvSpPr>
                <a:spLocks noChangeShapeType="1"/>
              </p:cNvSpPr>
              <p:nvPr/>
            </p:nvSpPr>
            <p:spPr bwMode="auto">
              <a:xfrm>
                <a:off x="2106"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42" name="Line 142"/>
              <p:cNvSpPr>
                <a:spLocks noChangeShapeType="1"/>
              </p:cNvSpPr>
              <p:nvPr/>
            </p:nvSpPr>
            <p:spPr bwMode="auto">
              <a:xfrm flipV="1">
                <a:off x="2106"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281743" name="Group 143"/>
            <p:cNvGrpSpPr/>
            <p:nvPr/>
          </p:nvGrpSpPr>
          <p:grpSpPr bwMode="auto">
            <a:xfrm flipH="1">
              <a:off x="10545" y="5298"/>
              <a:ext cx="1023" cy="1320"/>
              <a:chOff x="1920" y="1728"/>
              <a:chExt cx="409" cy="528"/>
            </a:xfrm>
          </p:grpSpPr>
          <p:sp>
            <p:nvSpPr>
              <p:cNvPr id="281744" name="Line 144"/>
              <p:cNvSpPr>
                <a:spLocks noChangeShapeType="1"/>
              </p:cNvSpPr>
              <p:nvPr/>
            </p:nvSpPr>
            <p:spPr bwMode="auto">
              <a:xfrm>
                <a:off x="2034"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45" name="Line 145"/>
              <p:cNvSpPr>
                <a:spLocks noChangeShapeType="1"/>
              </p:cNvSpPr>
              <p:nvPr/>
            </p:nvSpPr>
            <p:spPr bwMode="auto">
              <a:xfrm>
                <a:off x="2034"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46" name="Text Box 146"/>
              <p:cNvSpPr txBox="1">
                <a:spLocks noChangeArrowheads="1"/>
              </p:cNvSpPr>
              <p:nvPr/>
            </p:nvSpPr>
            <p:spPr bwMode="auto">
              <a:xfrm>
                <a:off x="1920" y="1824"/>
                <a:ext cx="409" cy="222"/>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81747" name="Line 147"/>
              <p:cNvSpPr>
                <a:spLocks noChangeShapeType="1"/>
              </p:cNvSpPr>
              <p:nvPr/>
            </p:nvSpPr>
            <p:spPr bwMode="auto">
              <a:xfrm>
                <a:off x="2106"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81748" name="Line 148"/>
              <p:cNvSpPr>
                <a:spLocks noChangeShapeType="1"/>
              </p:cNvSpPr>
              <p:nvPr/>
            </p:nvSpPr>
            <p:spPr bwMode="auto">
              <a:xfrm flipV="1">
                <a:off x="2106"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sp>
        <p:nvSpPr>
          <p:cNvPr id="281755" name="Rectangle 155"/>
          <p:cNvSpPr>
            <a:spLocks noChangeArrowheads="1"/>
          </p:cNvSpPr>
          <p:nvPr/>
        </p:nvSpPr>
        <p:spPr bwMode="auto">
          <a:xfrm>
            <a:off x="1485900" y="1065610"/>
            <a:ext cx="6172200" cy="854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algn="ctr"/>
            <a:endParaRPr lang="zh-CN" altLang="en-US" sz="3300" dirty="0">
              <a:solidFill>
                <a:schemeClr val="accent1"/>
              </a:solidFill>
              <a:effectLst>
                <a:outerShdw blurRad="38100" dist="25400" dir="5400000" algn="ctr" rotWithShape="0">
                  <a:srgbClr val="6E747A">
                    <a:alpha val="43000"/>
                  </a:srgbClr>
                </a:outerShdw>
              </a:effectLst>
              <a:ea typeface="幼圆" panose="02010509060101010101" pitchFamily="49" charset="-122"/>
              <a:cs typeface="Arial" panose="020B0604020202020204" pitchFamily="34" charset="0"/>
            </a:endParaRPr>
          </a:p>
        </p:txBody>
      </p:sp>
      <p:grpSp>
        <p:nvGrpSpPr>
          <p:cNvPr id="3" name="组合 2"/>
          <p:cNvGrpSpPr/>
          <p:nvPr/>
        </p:nvGrpSpPr>
        <p:grpSpPr>
          <a:xfrm>
            <a:off x="177165" y="2325370"/>
            <a:ext cx="3556635" cy="2974952"/>
            <a:chOff x="583" y="3018"/>
            <a:chExt cx="5225" cy="4519"/>
          </a:xfrm>
        </p:grpSpPr>
        <p:sp>
          <p:nvSpPr>
            <p:cNvPr id="4" name="Oval 41"/>
            <p:cNvSpPr>
              <a:spLocks noChangeArrowheads="1"/>
            </p:cNvSpPr>
            <p:nvPr/>
          </p:nvSpPr>
          <p:spPr bwMode="auto">
            <a:xfrm flipH="1">
              <a:off x="2568" y="3018"/>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 name="Oval 42"/>
            <p:cNvSpPr>
              <a:spLocks noChangeArrowheads="1"/>
            </p:cNvSpPr>
            <p:nvPr/>
          </p:nvSpPr>
          <p:spPr bwMode="auto">
            <a:xfrm flipH="1">
              <a:off x="3528" y="3978"/>
              <a:ext cx="840" cy="840"/>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6" name="AutoShape 43"/>
            <p:cNvCxnSpPr>
              <a:cxnSpLocks noChangeShapeType="1"/>
              <a:stCxn id="4" idx="2"/>
              <a:endCxn id="5" idx="0"/>
            </p:cNvCxnSpPr>
            <p:nvPr/>
          </p:nvCxnSpPr>
          <p:spPr bwMode="auto">
            <a:xfrm>
              <a:off x="3408" y="3438"/>
              <a:ext cx="540" cy="54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 name="Group 44"/>
            <p:cNvGrpSpPr/>
            <p:nvPr/>
          </p:nvGrpSpPr>
          <p:grpSpPr bwMode="auto">
            <a:xfrm flipH="1">
              <a:off x="4368" y="5298"/>
              <a:ext cx="720" cy="1680"/>
              <a:chOff x="1008" y="1728"/>
              <a:chExt cx="288" cy="672"/>
            </a:xfrm>
          </p:grpSpPr>
          <p:sp>
            <p:nvSpPr>
              <p:cNvPr id="8" name="Rectangle 45"/>
              <p:cNvSpPr>
                <a:spLocks noChangeArrowheads="1"/>
              </p:cNvSpPr>
              <p:nvPr/>
            </p:nvSpPr>
            <p:spPr bwMode="auto">
              <a:xfrm>
                <a:off x="1008" y="1728"/>
                <a:ext cx="288" cy="672"/>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9" name="Line 46"/>
              <p:cNvSpPr>
                <a:spLocks noChangeShapeType="1"/>
              </p:cNvSpPr>
              <p:nvPr/>
            </p:nvSpPr>
            <p:spPr bwMode="auto">
              <a:xfrm>
                <a:off x="1008" y="2256"/>
                <a:ext cx="288"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0" name="Line 47"/>
              <p:cNvSpPr>
                <a:spLocks noChangeShapeType="1"/>
              </p:cNvSpPr>
              <p:nvPr/>
            </p:nvSpPr>
            <p:spPr bwMode="auto">
              <a:xfrm>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1" name="Line 48"/>
              <p:cNvSpPr>
                <a:spLocks noChangeShapeType="1"/>
              </p:cNvSpPr>
              <p:nvPr/>
            </p:nvSpPr>
            <p:spPr bwMode="auto">
              <a:xfrm flipV="1">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12" name="Text Box 49"/>
            <p:cNvSpPr txBox="1">
              <a:spLocks noChangeArrowheads="1"/>
            </p:cNvSpPr>
            <p:nvPr/>
          </p:nvSpPr>
          <p:spPr bwMode="auto">
            <a:xfrm flipH="1">
              <a:off x="4336" y="5658"/>
              <a:ext cx="912" cy="559"/>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3" name="Group 50"/>
            <p:cNvGrpSpPr/>
            <p:nvPr/>
          </p:nvGrpSpPr>
          <p:grpSpPr bwMode="auto">
            <a:xfrm>
              <a:off x="2808" y="5298"/>
              <a:ext cx="925" cy="1320"/>
              <a:chOff x="852" y="2976"/>
              <a:chExt cx="370" cy="528"/>
            </a:xfrm>
          </p:grpSpPr>
          <p:sp>
            <p:nvSpPr>
              <p:cNvPr id="14" name="Rectangle 51"/>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15" name="Text Box 52"/>
              <p:cNvSpPr txBox="1">
                <a:spLocks noChangeArrowheads="1"/>
              </p:cNvSpPr>
              <p:nvPr/>
            </p:nvSpPr>
            <p:spPr bwMode="auto">
              <a:xfrm flipH="1">
                <a:off x="864" y="3120"/>
                <a:ext cx="358" cy="22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6" name="Group 53"/>
            <p:cNvGrpSpPr/>
            <p:nvPr/>
          </p:nvGrpSpPr>
          <p:grpSpPr bwMode="auto">
            <a:xfrm flipH="1">
              <a:off x="5183" y="5298"/>
              <a:ext cx="625" cy="1680"/>
              <a:chOff x="720" y="1728"/>
              <a:chExt cx="250" cy="672"/>
            </a:xfrm>
          </p:grpSpPr>
          <p:sp>
            <p:nvSpPr>
              <p:cNvPr id="17" name="Line 54"/>
              <p:cNvSpPr>
                <a:spLocks noChangeShapeType="1"/>
              </p:cNvSpPr>
              <p:nvPr/>
            </p:nvSpPr>
            <p:spPr bwMode="auto">
              <a:xfrm>
                <a:off x="730" y="1728"/>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8" name="Line 55"/>
              <p:cNvSpPr>
                <a:spLocks noChangeShapeType="1"/>
              </p:cNvSpPr>
              <p:nvPr/>
            </p:nvSpPr>
            <p:spPr bwMode="auto">
              <a:xfrm>
                <a:off x="730" y="2400"/>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19" name="Text Box 56"/>
              <p:cNvSpPr txBox="1">
                <a:spLocks noChangeArrowheads="1"/>
              </p:cNvSpPr>
              <p:nvPr/>
            </p:nvSpPr>
            <p:spPr bwMode="auto">
              <a:xfrm>
                <a:off x="720" y="1920"/>
                <a:ext cx="250" cy="22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0" name="Line 57"/>
              <p:cNvSpPr>
                <a:spLocks noChangeShapeType="1"/>
              </p:cNvSpPr>
              <p:nvPr/>
            </p:nvSpPr>
            <p:spPr bwMode="auto">
              <a:xfrm>
                <a:off x="826" y="2160"/>
                <a:ext cx="0" cy="24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1" name="Line 58"/>
              <p:cNvSpPr>
                <a:spLocks noChangeShapeType="1"/>
              </p:cNvSpPr>
              <p:nvPr/>
            </p:nvSpPr>
            <p:spPr bwMode="auto">
              <a:xfrm flipV="1">
                <a:off x="826" y="1728"/>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grpSp>
          <p:nvGrpSpPr>
            <p:cNvPr id="22" name="Group 59"/>
            <p:cNvGrpSpPr/>
            <p:nvPr/>
          </p:nvGrpSpPr>
          <p:grpSpPr bwMode="auto">
            <a:xfrm flipH="1">
              <a:off x="1888" y="5298"/>
              <a:ext cx="1025" cy="1320"/>
              <a:chOff x="1974" y="1728"/>
              <a:chExt cx="410" cy="528"/>
            </a:xfrm>
          </p:grpSpPr>
          <p:sp>
            <p:nvSpPr>
              <p:cNvPr id="23" name="Line 60"/>
              <p:cNvSpPr>
                <a:spLocks noChangeShapeType="1"/>
              </p:cNvSpPr>
              <p:nvPr/>
            </p:nvSpPr>
            <p:spPr bwMode="auto">
              <a:xfrm>
                <a:off x="2088"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4" name="Line 61"/>
              <p:cNvSpPr>
                <a:spLocks noChangeShapeType="1"/>
              </p:cNvSpPr>
              <p:nvPr/>
            </p:nvSpPr>
            <p:spPr bwMode="auto">
              <a:xfrm>
                <a:off x="2088"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5" name="Text Box 62"/>
              <p:cNvSpPr txBox="1">
                <a:spLocks noChangeArrowheads="1"/>
              </p:cNvSpPr>
              <p:nvPr/>
            </p:nvSpPr>
            <p:spPr bwMode="auto">
              <a:xfrm>
                <a:off x="1974" y="1824"/>
                <a:ext cx="410" cy="22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6" name="Line 63"/>
              <p:cNvSpPr>
                <a:spLocks noChangeShapeType="1"/>
              </p:cNvSpPr>
              <p:nvPr/>
            </p:nvSpPr>
            <p:spPr bwMode="auto">
              <a:xfrm>
                <a:off x="2160"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27" name="Line 64"/>
              <p:cNvSpPr>
                <a:spLocks noChangeShapeType="1"/>
              </p:cNvSpPr>
              <p:nvPr/>
            </p:nvSpPr>
            <p:spPr bwMode="auto">
              <a:xfrm flipV="1">
                <a:off x="2160"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sp>
          <p:nvSpPr>
            <p:cNvPr id="28" name="Rectangle 65"/>
            <p:cNvSpPr>
              <a:spLocks noChangeArrowheads="1"/>
            </p:cNvSpPr>
            <p:nvPr/>
          </p:nvSpPr>
          <p:spPr bwMode="auto">
            <a:xfrm flipH="1">
              <a:off x="1638" y="3978"/>
              <a:ext cx="720" cy="132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latin typeface="Times New Roman" panose="02020603050405020304" pitchFamily="18" charset="0"/>
                <a:cs typeface="Times New Roman" panose="02020603050405020304" pitchFamily="18" charset="0"/>
              </a:endParaRPr>
            </a:p>
          </p:txBody>
        </p:sp>
        <p:sp>
          <p:nvSpPr>
            <p:cNvPr id="29" name="Text Box 66"/>
            <p:cNvSpPr txBox="1">
              <a:spLocks noChangeArrowheads="1"/>
            </p:cNvSpPr>
            <p:nvPr/>
          </p:nvSpPr>
          <p:spPr bwMode="auto">
            <a:xfrm flipH="1">
              <a:off x="1640" y="4218"/>
              <a:ext cx="921" cy="559"/>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30" name="Group 67"/>
            <p:cNvGrpSpPr/>
            <p:nvPr/>
          </p:nvGrpSpPr>
          <p:grpSpPr bwMode="auto">
            <a:xfrm flipH="1">
              <a:off x="583" y="3978"/>
              <a:ext cx="1025" cy="1320"/>
              <a:chOff x="1920" y="1728"/>
              <a:chExt cx="410" cy="528"/>
            </a:xfrm>
          </p:grpSpPr>
          <p:sp>
            <p:nvSpPr>
              <p:cNvPr id="31" name="Line 68"/>
              <p:cNvSpPr>
                <a:spLocks noChangeShapeType="1"/>
              </p:cNvSpPr>
              <p:nvPr/>
            </p:nvSpPr>
            <p:spPr bwMode="auto">
              <a:xfrm>
                <a:off x="2034"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2" name="Line 69"/>
              <p:cNvSpPr>
                <a:spLocks noChangeShapeType="1"/>
              </p:cNvSpPr>
              <p:nvPr/>
            </p:nvSpPr>
            <p:spPr bwMode="auto">
              <a:xfrm>
                <a:off x="2034"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3" name="Text Box 70"/>
              <p:cNvSpPr txBox="1">
                <a:spLocks noChangeArrowheads="1"/>
              </p:cNvSpPr>
              <p:nvPr/>
            </p:nvSpPr>
            <p:spPr bwMode="auto">
              <a:xfrm>
                <a:off x="1920" y="1824"/>
                <a:ext cx="410" cy="22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 name="Line 71"/>
              <p:cNvSpPr>
                <a:spLocks noChangeShapeType="1"/>
              </p:cNvSpPr>
              <p:nvPr/>
            </p:nvSpPr>
            <p:spPr bwMode="auto">
              <a:xfrm>
                <a:off x="2106"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sp>
            <p:nvSpPr>
              <p:cNvPr id="35" name="Line 72"/>
              <p:cNvSpPr>
                <a:spLocks noChangeShapeType="1"/>
              </p:cNvSpPr>
              <p:nvPr/>
            </p:nvSpPr>
            <p:spPr bwMode="auto">
              <a:xfrm flipV="1">
                <a:off x="2106"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350"/>
              </a:p>
            </p:txBody>
          </p:sp>
        </p:grpSp>
        <p:cxnSp>
          <p:nvCxnSpPr>
            <p:cNvPr id="36" name="AutoShape 73"/>
            <p:cNvCxnSpPr>
              <a:cxnSpLocks noChangeShapeType="1"/>
              <a:stCxn id="4" idx="6"/>
              <a:endCxn id="28" idx="0"/>
            </p:cNvCxnSpPr>
            <p:nvPr/>
          </p:nvCxnSpPr>
          <p:spPr bwMode="auto">
            <a:xfrm flipH="1">
              <a:off x="1998" y="3438"/>
              <a:ext cx="547" cy="54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74"/>
            <p:cNvCxnSpPr>
              <a:cxnSpLocks noChangeShapeType="1"/>
              <a:stCxn id="5" idx="3"/>
              <a:endCxn id="8" idx="0"/>
            </p:cNvCxnSpPr>
            <p:nvPr/>
          </p:nvCxnSpPr>
          <p:spPr bwMode="auto">
            <a:xfrm>
              <a:off x="4243" y="4715"/>
              <a:ext cx="485" cy="583"/>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75"/>
            <p:cNvCxnSpPr>
              <a:cxnSpLocks noChangeShapeType="1"/>
              <a:stCxn id="5" idx="5"/>
              <a:endCxn id="14" idx="0"/>
            </p:cNvCxnSpPr>
            <p:nvPr/>
          </p:nvCxnSpPr>
          <p:spPr bwMode="auto">
            <a:xfrm flipH="1">
              <a:off x="3168" y="4715"/>
              <a:ext cx="482" cy="583"/>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76"/>
            <p:cNvSpPr txBox="1">
              <a:spLocks noChangeArrowheads="1"/>
            </p:cNvSpPr>
            <p:nvPr/>
          </p:nvSpPr>
          <p:spPr bwMode="auto">
            <a:xfrm flipH="1">
              <a:off x="3838" y="6978"/>
              <a:ext cx="1835" cy="559"/>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82078" name="Rectangle 158"/>
          <p:cNvSpPr>
            <a:spLocks noChangeArrowheads="1"/>
          </p:cNvSpPr>
          <p:nvPr/>
        </p:nvSpPr>
        <p:spPr bwMode="auto">
          <a:xfrm>
            <a:off x="406559" y="1128345"/>
            <a:ext cx="864394" cy="41402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a:spAutoFit/>
          </a:bodyPr>
          <a:p>
            <a:r>
              <a:rPr lang="en-US" altLang="zh-CN" sz="2100" b="1" dirty="0" err="1">
                <a:solidFill>
                  <a:srgbClr val="CC0000"/>
                </a:solidFill>
                <a:ea typeface="幼圆" panose="02010509060101010101" pitchFamily="49" charset="-122"/>
              </a:rPr>
              <a:t>Fig.b</a:t>
            </a:r>
            <a:endParaRPr lang="en-US" altLang="zh-CN" sz="2100" b="1" dirty="0">
              <a:solidFill>
                <a:srgbClr val="CC0000"/>
              </a:solidFill>
              <a:ea typeface="幼圆" panose="02010509060101010101" pitchFamily="49" charset="-122"/>
            </a:endParaRPr>
          </a:p>
        </p:txBody>
      </p:sp>
      <p:sp>
        <p:nvSpPr>
          <p:cNvPr id="77" name="右弧形箭头 76">
            <a:hlinkClick r:id="rId1" action="ppaction://hlinksldjump"/>
          </p:cNvPr>
          <p:cNvSpPr/>
          <p:nvPr/>
        </p:nvSpPr>
        <p:spPr>
          <a:xfrm>
            <a:off x="8630285" y="6217920"/>
            <a:ext cx="240665" cy="354965"/>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dirty="0">
                <a:solidFill>
                  <a:schemeClr val="bg1"/>
                </a:solidFill>
                <a:effectLst>
                  <a:outerShdw blurRad="38100" dist="25400" dir="5400000" algn="ctr" rotWithShape="0">
                    <a:srgbClr val="6E747A">
                      <a:alpha val="43000"/>
                    </a:srgbClr>
                  </a:outerShdw>
                </a:effectLst>
                <a:sym typeface="+mn-ea"/>
              </a:rPr>
              <a:t>C. </a:t>
            </a:r>
            <a:r>
              <a:rPr lang="zh-CN" altLang="en-US" dirty="0">
                <a:solidFill>
                  <a:schemeClr val="bg1"/>
                </a:solidFill>
                <a:effectLst>
                  <a:outerShdw blurRad="38100" dist="25400" dir="5400000" algn="ctr" rotWithShape="0">
                    <a:srgbClr val="6E747A">
                      <a:alpha val="43000"/>
                    </a:srgbClr>
                  </a:outerShdw>
                </a:effectLst>
                <a:sym typeface="+mn-ea"/>
              </a:rPr>
              <a:t>双向右旋（左右）</a:t>
            </a:r>
            <a:endParaRPr lang="zh-CN" altLang="en-US" dirty="0">
              <a:solidFill>
                <a:schemeClr val="bg1"/>
              </a:solidFill>
              <a:effectLst>
                <a:outerShdw blurRad="38100" dist="25400" dir="5400000" algn="ctr" rotWithShape="0">
                  <a:srgbClr val="6E747A">
                    <a:alpha val="43000"/>
                  </a:srgbClr>
                </a:outerShdw>
              </a:effectLst>
              <a:sym typeface="+mn-ea"/>
            </a:endParaRPr>
          </a:p>
        </p:txBody>
      </p:sp>
      <p:sp>
        <p:nvSpPr>
          <p:cNvPr id="82962" name="Text Box 18"/>
          <p:cNvSpPr txBox="1">
            <a:spLocks noChangeArrowheads="1"/>
          </p:cNvSpPr>
          <p:nvPr/>
        </p:nvSpPr>
        <p:spPr bwMode="auto">
          <a:xfrm>
            <a:off x="2052796" y="3674216"/>
            <a:ext cx="10007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3002" name="Group 58"/>
          <p:cNvGrpSpPr/>
          <p:nvPr/>
        </p:nvGrpSpPr>
        <p:grpSpPr bwMode="auto">
          <a:xfrm>
            <a:off x="4383881" y="2220701"/>
            <a:ext cx="628650" cy="514350"/>
            <a:chOff x="2208" y="480"/>
            <a:chExt cx="528" cy="432"/>
          </a:xfrm>
        </p:grpSpPr>
        <p:sp>
          <p:nvSpPr>
            <p:cNvPr id="83003" name="AutoShape 59"/>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3004" name="Text Box 60"/>
            <p:cNvSpPr txBox="1">
              <a:spLocks noChangeArrowheads="1"/>
            </p:cNvSpPr>
            <p:nvPr/>
          </p:nvSpPr>
          <p:spPr bwMode="auto">
            <a:xfrm>
              <a:off x="2256" y="480"/>
              <a:ext cx="39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LR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3063" name="Group 119"/>
          <p:cNvGrpSpPr/>
          <p:nvPr/>
        </p:nvGrpSpPr>
        <p:grpSpPr bwMode="auto">
          <a:xfrm>
            <a:off x="977900" y="1039495"/>
            <a:ext cx="3380105" cy="2618105"/>
            <a:chOff x="178" y="288"/>
            <a:chExt cx="2522" cy="1824"/>
          </a:xfrm>
        </p:grpSpPr>
        <p:sp>
          <p:nvSpPr>
            <p:cNvPr id="82951" name="Oval 7"/>
            <p:cNvSpPr>
              <a:spLocks noChangeArrowheads="1"/>
            </p:cNvSpPr>
            <p:nvPr/>
          </p:nvSpPr>
          <p:spPr bwMode="auto">
            <a:xfrm>
              <a:off x="1330" y="288"/>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952" name="Oval 8"/>
            <p:cNvSpPr>
              <a:spLocks noChangeArrowheads="1"/>
            </p:cNvSpPr>
            <p:nvPr/>
          </p:nvSpPr>
          <p:spPr bwMode="auto">
            <a:xfrm>
              <a:off x="946" y="67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2953" name="AutoShape 9"/>
            <p:cNvCxnSpPr>
              <a:cxnSpLocks noChangeShapeType="1"/>
              <a:stCxn id="82951" idx="3"/>
              <a:endCxn id="82952" idx="7"/>
            </p:cNvCxnSpPr>
            <p:nvPr/>
          </p:nvCxnSpPr>
          <p:spPr bwMode="auto">
            <a:xfrm flipH="1">
              <a:off x="1233" y="584"/>
              <a:ext cx="146" cy="12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54" name="Oval 10"/>
            <p:cNvSpPr>
              <a:spLocks noChangeArrowheads="1"/>
            </p:cNvSpPr>
            <p:nvPr/>
          </p:nvSpPr>
          <p:spPr bwMode="auto">
            <a:xfrm>
              <a:off x="1522" y="1008"/>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2955" name="Group 11"/>
            <p:cNvGrpSpPr/>
            <p:nvPr/>
          </p:nvGrpSpPr>
          <p:grpSpPr bwMode="auto">
            <a:xfrm>
              <a:off x="1186" y="1440"/>
              <a:ext cx="358" cy="672"/>
              <a:chOff x="998" y="1728"/>
              <a:chExt cx="358" cy="672"/>
            </a:xfrm>
          </p:grpSpPr>
          <p:grpSp>
            <p:nvGrpSpPr>
              <p:cNvPr id="82956" name="Group 12"/>
              <p:cNvGrpSpPr/>
              <p:nvPr/>
            </p:nvGrpSpPr>
            <p:grpSpPr bwMode="auto">
              <a:xfrm>
                <a:off x="1008" y="1728"/>
                <a:ext cx="288" cy="672"/>
                <a:chOff x="1008" y="1728"/>
                <a:chExt cx="288" cy="672"/>
              </a:xfrm>
            </p:grpSpPr>
            <p:sp>
              <p:nvSpPr>
                <p:cNvPr id="82957" name="Rectangle 13"/>
                <p:cNvSpPr>
                  <a:spLocks noChangeArrowheads="1"/>
                </p:cNvSpPr>
                <p:nvPr/>
              </p:nvSpPr>
              <p:spPr bwMode="auto">
                <a:xfrm>
                  <a:off x="1008" y="1728"/>
                  <a:ext cx="288" cy="672"/>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2958" name="Line 14"/>
                <p:cNvSpPr>
                  <a:spLocks noChangeShapeType="1"/>
                </p:cNvSpPr>
                <p:nvPr/>
              </p:nvSpPr>
              <p:spPr bwMode="auto">
                <a:xfrm>
                  <a:off x="1008" y="2256"/>
                  <a:ext cx="288"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59" name="Line 15"/>
                <p:cNvSpPr>
                  <a:spLocks noChangeShapeType="1"/>
                </p:cNvSpPr>
                <p:nvPr/>
              </p:nvSpPr>
              <p:spPr bwMode="auto">
                <a:xfrm>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60" name="Line 16"/>
                <p:cNvSpPr>
                  <a:spLocks noChangeShapeType="1"/>
                </p:cNvSpPr>
                <p:nvPr/>
              </p:nvSpPr>
              <p:spPr bwMode="auto">
                <a:xfrm flipV="1">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
            <p:nvSpPr>
              <p:cNvPr id="82961" name="Text Box 17"/>
              <p:cNvSpPr txBox="1">
                <a:spLocks noChangeArrowheads="1"/>
              </p:cNvSpPr>
              <p:nvPr/>
            </p:nvSpPr>
            <p:spPr bwMode="auto">
              <a:xfrm>
                <a:off x="998" y="1850"/>
                <a:ext cx="358"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2963" name="Group 19"/>
            <p:cNvGrpSpPr/>
            <p:nvPr/>
          </p:nvGrpSpPr>
          <p:grpSpPr bwMode="auto">
            <a:xfrm>
              <a:off x="898" y="1440"/>
              <a:ext cx="410" cy="672"/>
              <a:chOff x="720" y="1728"/>
              <a:chExt cx="410" cy="672"/>
            </a:xfrm>
          </p:grpSpPr>
          <p:sp>
            <p:nvSpPr>
              <p:cNvPr id="82964" name="Line 20"/>
              <p:cNvSpPr>
                <a:spLocks noChangeShapeType="1"/>
              </p:cNvSpPr>
              <p:nvPr/>
            </p:nvSpPr>
            <p:spPr bwMode="auto">
              <a:xfrm>
                <a:off x="720" y="1728"/>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65" name="Line 21"/>
              <p:cNvSpPr>
                <a:spLocks noChangeShapeType="1"/>
              </p:cNvSpPr>
              <p:nvPr/>
            </p:nvSpPr>
            <p:spPr bwMode="auto">
              <a:xfrm>
                <a:off x="720" y="2400"/>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66" name="Text Box 22"/>
              <p:cNvSpPr txBox="1">
                <a:spLocks noChangeArrowheads="1"/>
              </p:cNvSpPr>
              <p:nvPr/>
            </p:nvSpPr>
            <p:spPr bwMode="auto">
              <a:xfrm>
                <a:off x="720" y="1920"/>
                <a:ext cx="410"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967" name="Line 23"/>
              <p:cNvSpPr>
                <a:spLocks noChangeShapeType="1"/>
              </p:cNvSpPr>
              <p:nvPr/>
            </p:nvSpPr>
            <p:spPr bwMode="auto">
              <a:xfrm>
                <a:off x="816" y="2160"/>
                <a:ext cx="0" cy="24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68" name="Line 24"/>
              <p:cNvSpPr>
                <a:spLocks noChangeShapeType="1"/>
              </p:cNvSpPr>
              <p:nvPr/>
            </p:nvSpPr>
            <p:spPr bwMode="auto">
              <a:xfrm flipV="1">
                <a:off x="816" y="1728"/>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82969" name="Group 25"/>
            <p:cNvGrpSpPr/>
            <p:nvPr/>
          </p:nvGrpSpPr>
          <p:grpSpPr bwMode="auto">
            <a:xfrm>
              <a:off x="1810" y="1440"/>
              <a:ext cx="698" cy="528"/>
              <a:chOff x="1344" y="3024"/>
              <a:chExt cx="698" cy="528"/>
            </a:xfrm>
          </p:grpSpPr>
          <p:grpSp>
            <p:nvGrpSpPr>
              <p:cNvPr id="82970" name="Group 26"/>
              <p:cNvGrpSpPr/>
              <p:nvPr/>
            </p:nvGrpSpPr>
            <p:grpSpPr bwMode="auto">
              <a:xfrm>
                <a:off x="1344" y="3024"/>
                <a:ext cx="365" cy="528"/>
                <a:chOff x="1622" y="1728"/>
                <a:chExt cx="365" cy="528"/>
              </a:xfrm>
            </p:grpSpPr>
            <p:sp>
              <p:nvSpPr>
                <p:cNvPr id="82971" name="Rectangle 27"/>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2972" name="Text Box 28"/>
                <p:cNvSpPr txBox="1">
                  <a:spLocks noChangeArrowheads="1"/>
                </p:cNvSpPr>
                <p:nvPr/>
              </p:nvSpPr>
              <p:spPr bwMode="auto">
                <a:xfrm>
                  <a:off x="1622" y="1850"/>
                  <a:ext cx="365"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2973" name="Group 29"/>
              <p:cNvGrpSpPr/>
              <p:nvPr/>
            </p:nvGrpSpPr>
            <p:grpSpPr bwMode="auto">
              <a:xfrm>
                <a:off x="1632" y="3024"/>
                <a:ext cx="410" cy="528"/>
                <a:chOff x="1920" y="1728"/>
                <a:chExt cx="410" cy="528"/>
              </a:xfrm>
            </p:grpSpPr>
            <p:sp>
              <p:nvSpPr>
                <p:cNvPr id="82974" name="Line 30"/>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75" name="Line 31"/>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76" name="Text Box 32"/>
                <p:cNvSpPr txBox="1">
                  <a:spLocks noChangeArrowheads="1"/>
                </p:cNvSpPr>
                <p:nvPr/>
              </p:nvSpPr>
              <p:spPr bwMode="auto">
                <a:xfrm>
                  <a:off x="1920" y="1824"/>
                  <a:ext cx="410"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h-2</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977" name="Line 33"/>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78" name="Line 34"/>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grpSp>
          <p:nvGrpSpPr>
            <p:cNvPr id="82979" name="Group 35"/>
            <p:cNvGrpSpPr/>
            <p:nvPr/>
          </p:nvGrpSpPr>
          <p:grpSpPr bwMode="auto">
            <a:xfrm>
              <a:off x="466" y="1104"/>
              <a:ext cx="358" cy="528"/>
              <a:chOff x="1622" y="1728"/>
              <a:chExt cx="358" cy="528"/>
            </a:xfrm>
          </p:grpSpPr>
          <p:sp>
            <p:nvSpPr>
              <p:cNvPr id="82980" name="Rectangle 36"/>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2981" name="Text Box 37"/>
              <p:cNvSpPr txBox="1">
                <a:spLocks noChangeArrowheads="1"/>
              </p:cNvSpPr>
              <p:nvPr/>
            </p:nvSpPr>
            <p:spPr bwMode="auto">
              <a:xfrm>
                <a:off x="1622" y="1850"/>
                <a:ext cx="358"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2982" name="Group 38"/>
            <p:cNvGrpSpPr/>
            <p:nvPr/>
          </p:nvGrpSpPr>
          <p:grpSpPr bwMode="auto">
            <a:xfrm>
              <a:off x="178" y="1104"/>
              <a:ext cx="410" cy="528"/>
              <a:chOff x="1920" y="1728"/>
              <a:chExt cx="410" cy="528"/>
            </a:xfrm>
          </p:grpSpPr>
          <p:sp>
            <p:nvSpPr>
              <p:cNvPr id="82983" name="Line 39"/>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84" name="Line 40"/>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85" name="Text Box 41"/>
              <p:cNvSpPr txBox="1">
                <a:spLocks noChangeArrowheads="1"/>
              </p:cNvSpPr>
              <p:nvPr/>
            </p:nvSpPr>
            <p:spPr bwMode="auto">
              <a:xfrm>
                <a:off x="1920" y="1824"/>
                <a:ext cx="410"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986" name="Line 42"/>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87" name="Line 43"/>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82988" name="Group 44"/>
            <p:cNvGrpSpPr/>
            <p:nvPr/>
          </p:nvGrpSpPr>
          <p:grpSpPr bwMode="auto">
            <a:xfrm>
              <a:off x="2002" y="624"/>
              <a:ext cx="698" cy="528"/>
              <a:chOff x="1344" y="3024"/>
              <a:chExt cx="698" cy="528"/>
            </a:xfrm>
          </p:grpSpPr>
          <p:grpSp>
            <p:nvGrpSpPr>
              <p:cNvPr id="82989" name="Group 45"/>
              <p:cNvGrpSpPr/>
              <p:nvPr/>
            </p:nvGrpSpPr>
            <p:grpSpPr bwMode="auto">
              <a:xfrm>
                <a:off x="1344" y="3024"/>
                <a:ext cx="375" cy="528"/>
                <a:chOff x="1622" y="1728"/>
                <a:chExt cx="375" cy="528"/>
              </a:xfrm>
            </p:grpSpPr>
            <p:sp>
              <p:nvSpPr>
                <p:cNvPr id="82990" name="Rectangle 46"/>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2991" name="Text Box 47"/>
                <p:cNvSpPr txBox="1">
                  <a:spLocks noChangeArrowheads="1"/>
                </p:cNvSpPr>
                <p:nvPr/>
              </p:nvSpPr>
              <p:spPr bwMode="auto">
                <a:xfrm>
                  <a:off x="1622" y="1850"/>
                  <a:ext cx="375"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2992" name="Group 48"/>
              <p:cNvGrpSpPr/>
              <p:nvPr/>
            </p:nvGrpSpPr>
            <p:grpSpPr bwMode="auto">
              <a:xfrm>
                <a:off x="1632" y="3024"/>
                <a:ext cx="410" cy="528"/>
                <a:chOff x="1920" y="1728"/>
                <a:chExt cx="410" cy="528"/>
              </a:xfrm>
            </p:grpSpPr>
            <p:sp>
              <p:nvSpPr>
                <p:cNvPr id="82993" name="Line 49"/>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94" name="Line 50"/>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95" name="Text Box 51"/>
                <p:cNvSpPr txBox="1">
                  <a:spLocks noChangeArrowheads="1"/>
                </p:cNvSpPr>
                <p:nvPr/>
              </p:nvSpPr>
              <p:spPr bwMode="auto">
                <a:xfrm>
                  <a:off x="1920" y="1824"/>
                  <a:ext cx="410" cy="257"/>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996" name="Line 52"/>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997" name="Line 53"/>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cxnSp>
          <p:nvCxnSpPr>
            <p:cNvPr id="82998" name="AutoShape 54"/>
            <p:cNvCxnSpPr>
              <a:cxnSpLocks noChangeShapeType="1"/>
              <a:stCxn id="82952" idx="5"/>
              <a:endCxn id="82954" idx="2"/>
            </p:cNvCxnSpPr>
            <p:nvPr/>
          </p:nvCxnSpPr>
          <p:spPr bwMode="auto">
            <a:xfrm>
              <a:off x="1233" y="968"/>
              <a:ext cx="280" cy="20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999" name="AutoShape 55"/>
            <p:cNvCxnSpPr>
              <a:cxnSpLocks noChangeShapeType="1"/>
              <a:stCxn id="82954" idx="3"/>
              <a:endCxn id="82957" idx="0"/>
            </p:cNvCxnSpPr>
            <p:nvPr/>
          </p:nvCxnSpPr>
          <p:spPr bwMode="auto">
            <a:xfrm flipH="1">
              <a:off x="1340" y="1304"/>
              <a:ext cx="231" cy="136"/>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00" name="AutoShape 56"/>
            <p:cNvCxnSpPr>
              <a:cxnSpLocks noChangeShapeType="1"/>
              <a:stCxn id="82954" idx="5"/>
              <a:endCxn id="82971" idx="0"/>
            </p:cNvCxnSpPr>
            <p:nvPr/>
          </p:nvCxnSpPr>
          <p:spPr bwMode="auto">
            <a:xfrm>
              <a:off x="1809" y="1304"/>
              <a:ext cx="155" cy="136"/>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01" name="AutoShape 57"/>
            <p:cNvCxnSpPr>
              <a:cxnSpLocks noChangeShapeType="1"/>
              <a:stCxn id="82951" idx="6"/>
              <a:endCxn id="82990" idx="0"/>
            </p:cNvCxnSpPr>
            <p:nvPr/>
          </p:nvCxnSpPr>
          <p:spPr bwMode="auto">
            <a:xfrm>
              <a:off x="1675" y="456"/>
              <a:ext cx="481" cy="16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05" name="AutoShape 61"/>
            <p:cNvCxnSpPr>
              <a:cxnSpLocks noChangeShapeType="1"/>
              <a:stCxn id="82952" idx="2"/>
              <a:endCxn id="82980" idx="0"/>
            </p:cNvCxnSpPr>
            <p:nvPr/>
          </p:nvCxnSpPr>
          <p:spPr bwMode="auto">
            <a:xfrm flipH="1">
              <a:off x="620" y="840"/>
              <a:ext cx="317" cy="264"/>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3062" name="Group 118"/>
          <p:cNvGrpSpPr/>
          <p:nvPr/>
        </p:nvGrpSpPr>
        <p:grpSpPr bwMode="auto">
          <a:xfrm>
            <a:off x="5184140" y="1160145"/>
            <a:ext cx="2730500" cy="1803400"/>
            <a:chOff x="3394" y="336"/>
            <a:chExt cx="1923" cy="1344"/>
          </a:xfrm>
        </p:grpSpPr>
        <p:sp>
          <p:nvSpPr>
            <p:cNvPr id="83007" name="Oval 63"/>
            <p:cNvSpPr>
              <a:spLocks noChangeArrowheads="1"/>
            </p:cNvSpPr>
            <p:nvPr/>
          </p:nvSpPr>
          <p:spPr bwMode="auto">
            <a:xfrm flipH="1">
              <a:off x="4594" y="67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08" name="Oval 64"/>
            <p:cNvSpPr>
              <a:spLocks noChangeArrowheads="1"/>
            </p:cNvSpPr>
            <p:nvPr/>
          </p:nvSpPr>
          <p:spPr bwMode="auto">
            <a:xfrm flipH="1">
              <a:off x="4114" y="33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3009" name="Group 65"/>
            <p:cNvGrpSpPr/>
            <p:nvPr/>
          </p:nvGrpSpPr>
          <p:grpSpPr bwMode="auto">
            <a:xfrm>
              <a:off x="3394" y="1152"/>
              <a:ext cx="370" cy="528"/>
              <a:chOff x="852" y="2976"/>
              <a:chExt cx="370" cy="528"/>
            </a:xfrm>
          </p:grpSpPr>
          <p:sp>
            <p:nvSpPr>
              <p:cNvPr id="83010" name="Rectangle 66"/>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011" name="Text Box 67"/>
              <p:cNvSpPr txBox="1">
                <a:spLocks noChangeArrowheads="1"/>
              </p:cNvSpPr>
              <p:nvPr/>
            </p:nvSpPr>
            <p:spPr bwMode="auto">
              <a:xfrm flipH="1">
                <a:off x="864" y="3120"/>
                <a:ext cx="358" cy="27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3012" name="Group 68"/>
            <p:cNvGrpSpPr/>
            <p:nvPr/>
          </p:nvGrpSpPr>
          <p:grpSpPr bwMode="auto">
            <a:xfrm>
              <a:off x="4402" y="1152"/>
              <a:ext cx="380" cy="384"/>
              <a:chOff x="852" y="2976"/>
              <a:chExt cx="380" cy="528"/>
            </a:xfrm>
          </p:grpSpPr>
          <p:sp>
            <p:nvSpPr>
              <p:cNvPr id="83013" name="Rectangle 69"/>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014" name="Text Box 70"/>
              <p:cNvSpPr txBox="1">
                <a:spLocks noChangeArrowheads="1"/>
              </p:cNvSpPr>
              <p:nvPr/>
            </p:nvSpPr>
            <p:spPr bwMode="auto">
              <a:xfrm flipH="1">
                <a:off x="867" y="3120"/>
                <a:ext cx="365" cy="378"/>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3015" name="Group 71"/>
            <p:cNvGrpSpPr/>
            <p:nvPr/>
          </p:nvGrpSpPr>
          <p:grpSpPr bwMode="auto">
            <a:xfrm>
              <a:off x="4930" y="1152"/>
              <a:ext cx="387" cy="528"/>
              <a:chOff x="852" y="2976"/>
              <a:chExt cx="387" cy="528"/>
            </a:xfrm>
          </p:grpSpPr>
          <p:sp>
            <p:nvSpPr>
              <p:cNvPr id="83016" name="Rectangle 72"/>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017" name="Text Box 73"/>
              <p:cNvSpPr txBox="1">
                <a:spLocks noChangeArrowheads="1"/>
              </p:cNvSpPr>
              <p:nvPr/>
            </p:nvSpPr>
            <p:spPr bwMode="auto">
              <a:xfrm flipH="1">
                <a:off x="864" y="3120"/>
                <a:ext cx="375" cy="27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83018" name="AutoShape 74"/>
            <p:cNvCxnSpPr>
              <a:cxnSpLocks noChangeShapeType="1"/>
              <a:stCxn id="83007" idx="5"/>
              <a:endCxn id="83013" idx="0"/>
            </p:cNvCxnSpPr>
            <p:nvPr/>
          </p:nvCxnSpPr>
          <p:spPr bwMode="auto">
            <a:xfrm flipH="1">
              <a:off x="4546" y="967"/>
              <a:ext cx="97" cy="1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19" name="AutoShape 75"/>
            <p:cNvCxnSpPr>
              <a:cxnSpLocks noChangeShapeType="1"/>
              <a:stCxn id="83007" idx="3"/>
              <a:endCxn id="83016" idx="0"/>
            </p:cNvCxnSpPr>
            <p:nvPr/>
          </p:nvCxnSpPr>
          <p:spPr bwMode="auto">
            <a:xfrm>
              <a:off x="4880" y="967"/>
              <a:ext cx="194" cy="1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20" name="AutoShape 76"/>
            <p:cNvCxnSpPr>
              <a:cxnSpLocks noChangeShapeType="1"/>
              <a:stCxn id="83008" idx="2"/>
              <a:endCxn id="83007" idx="7"/>
            </p:cNvCxnSpPr>
            <p:nvPr/>
          </p:nvCxnSpPr>
          <p:spPr bwMode="auto">
            <a:xfrm>
              <a:off x="4459" y="504"/>
              <a:ext cx="184" cy="20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021" name="Oval 77"/>
            <p:cNvSpPr>
              <a:spLocks noChangeArrowheads="1"/>
            </p:cNvSpPr>
            <p:nvPr/>
          </p:nvSpPr>
          <p:spPr bwMode="auto">
            <a:xfrm flipH="1">
              <a:off x="3634" y="67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022" name="AutoShape 78"/>
            <p:cNvCxnSpPr>
              <a:cxnSpLocks noChangeShapeType="1"/>
              <a:stCxn id="83008" idx="6"/>
              <a:endCxn id="83021" idx="1"/>
            </p:cNvCxnSpPr>
            <p:nvPr/>
          </p:nvCxnSpPr>
          <p:spPr bwMode="auto">
            <a:xfrm flipH="1">
              <a:off x="3920" y="504"/>
              <a:ext cx="185" cy="20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3023" name="Group 79"/>
            <p:cNvGrpSpPr/>
            <p:nvPr/>
          </p:nvGrpSpPr>
          <p:grpSpPr bwMode="auto">
            <a:xfrm>
              <a:off x="3922" y="1152"/>
              <a:ext cx="370" cy="528"/>
              <a:chOff x="852" y="2976"/>
              <a:chExt cx="370" cy="528"/>
            </a:xfrm>
          </p:grpSpPr>
          <p:sp>
            <p:nvSpPr>
              <p:cNvPr id="83024" name="Rectangle 80"/>
              <p:cNvSpPr>
                <a:spLocks noChangeArrowheads="1"/>
              </p:cNvSpPr>
              <p:nvPr/>
            </p:nvSpPr>
            <p:spPr bwMode="auto">
              <a:xfrm flipH="1">
                <a:off x="852" y="2976"/>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025" name="Text Box 81"/>
              <p:cNvSpPr txBox="1">
                <a:spLocks noChangeArrowheads="1"/>
              </p:cNvSpPr>
              <p:nvPr/>
            </p:nvSpPr>
            <p:spPr bwMode="auto">
              <a:xfrm flipH="1">
                <a:off x="864" y="3120"/>
                <a:ext cx="358" cy="274"/>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83026" name="AutoShape 82"/>
            <p:cNvCxnSpPr>
              <a:cxnSpLocks noChangeShapeType="1"/>
              <a:stCxn id="83021" idx="5"/>
              <a:endCxn id="83010" idx="0"/>
            </p:cNvCxnSpPr>
            <p:nvPr/>
          </p:nvCxnSpPr>
          <p:spPr bwMode="auto">
            <a:xfrm flipH="1">
              <a:off x="3538" y="967"/>
              <a:ext cx="145" cy="1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27" name="AutoShape 83"/>
            <p:cNvCxnSpPr>
              <a:cxnSpLocks noChangeShapeType="1"/>
              <a:stCxn id="83021" idx="3"/>
              <a:endCxn id="83024" idx="0"/>
            </p:cNvCxnSpPr>
            <p:nvPr/>
          </p:nvCxnSpPr>
          <p:spPr bwMode="auto">
            <a:xfrm>
              <a:off x="3920" y="967"/>
              <a:ext cx="146" cy="185"/>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028" name="Rectangle 84"/>
            <p:cNvSpPr>
              <a:spLocks noChangeArrowheads="1"/>
            </p:cNvSpPr>
            <p:nvPr/>
          </p:nvSpPr>
          <p:spPr bwMode="auto">
            <a:xfrm>
              <a:off x="4402" y="1536"/>
              <a:ext cx="288" cy="144"/>
            </a:xfrm>
            <a:prstGeom prst="rect">
              <a:avLst/>
            </a:prstGeom>
            <a:noFill/>
            <a:ln w="28575" cmpd="sng">
              <a:solidFill>
                <a:schemeClr val="accent1">
                  <a:shade val="50000"/>
                </a:schemeClr>
              </a:solidFill>
              <a:prstDash val="sys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83030" name="Text Box 86"/>
          <p:cNvSpPr txBox="1">
            <a:spLocks noChangeArrowheads="1"/>
          </p:cNvSpPr>
          <p:nvPr/>
        </p:nvSpPr>
        <p:spPr bwMode="auto">
          <a:xfrm>
            <a:off x="406400" y="4038600"/>
            <a:ext cx="4606925" cy="224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先左旋：先对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的左孩子</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进行逆时针</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                左旋处理，即变为右面的样子：</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后右旋：然后对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进行顺时针右旋处理，</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                即变为右面的样子：</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这里还需要考虑一种情况：即</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a:latin typeface="Times New Roman" panose="02020603050405020304" pitchFamily="18" charset="0"/>
                <a:ea typeface="幼圆" panose="02010509060101010101" pitchFamily="49" charset="-122"/>
                <a:cs typeface="Times New Roman" panose="02020603050405020304" pitchFamily="18" charset="0"/>
              </a:rPr>
              <a:t>和</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为空的情况。</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3060" name="Group 116"/>
          <p:cNvGrpSpPr/>
          <p:nvPr/>
        </p:nvGrpSpPr>
        <p:grpSpPr bwMode="auto">
          <a:xfrm>
            <a:off x="7024211" y="3383280"/>
            <a:ext cx="1371600" cy="1314450"/>
            <a:chOff x="4306" y="2016"/>
            <a:chExt cx="1152" cy="1104"/>
          </a:xfrm>
        </p:grpSpPr>
        <p:cxnSp>
          <p:nvCxnSpPr>
            <p:cNvPr id="83035" name="AutoShape 91"/>
            <p:cNvCxnSpPr>
              <a:cxnSpLocks noChangeShapeType="1"/>
              <a:stCxn id="83033" idx="3"/>
              <a:endCxn id="83034" idx="7"/>
            </p:cNvCxnSpPr>
            <p:nvPr/>
          </p:nvCxnSpPr>
          <p:spPr bwMode="auto">
            <a:xfrm flipH="1">
              <a:off x="5001" y="2312"/>
              <a:ext cx="170" cy="12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033" name="Oval 89"/>
            <p:cNvSpPr>
              <a:spLocks noChangeArrowheads="1"/>
            </p:cNvSpPr>
            <p:nvPr/>
          </p:nvSpPr>
          <p:spPr bwMode="auto">
            <a:xfrm>
              <a:off x="5122" y="201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34" name="Oval 90"/>
            <p:cNvSpPr>
              <a:spLocks noChangeArrowheads="1"/>
            </p:cNvSpPr>
            <p:nvPr/>
          </p:nvSpPr>
          <p:spPr bwMode="auto">
            <a:xfrm>
              <a:off x="4714" y="2400"/>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36" name="Oval 92"/>
            <p:cNvSpPr>
              <a:spLocks noChangeArrowheads="1"/>
            </p:cNvSpPr>
            <p:nvPr/>
          </p:nvSpPr>
          <p:spPr bwMode="auto">
            <a:xfrm>
              <a:off x="4306" y="2784"/>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037" name="AutoShape 93"/>
            <p:cNvCxnSpPr>
              <a:cxnSpLocks noChangeShapeType="1"/>
              <a:stCxn id="83034" idx="3"/>
              <a:endCxn id="83036" idx="7"/>
            </p:cNvCxnSpPr>
            <p:nvPr/>
          </p:nvCxnSpPr>
          <p:spPr bwMode="auto">
            <a:xfrm flipH="1">
              <a:off x="4593" y="2696"/>
              <a:ext cx="170" cy="12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3059" name="Group 115"/>
          <p:cNvGrpSpPr/>
          <p:nvPr/>
        </p:nvGrpSpPr>
        <p:grpSpPr bwMode="auto">
          <a:xfrm>
            <a:off x="6259671" y="5082540"/>
            <a:ext cx="1543050" cy="857250"/>
            <a:chOff x="4306" y="3168"/>
            <a:chExt cx="1296" cy="720"/>
          </a:xfrm>
        </p:grpSpPr>
        <p:sp>
          <p:nvSpPr>
            <p:cNvPr id="83039" name="Oval 95"/>
            <p:cNvSpPr>
              <a:spLocks noChangeArrowheads="1"/>
            </p:cNvSpPr>
            <p:nvPr/>
          </p:nvSpPr>
          <p:spPr bwMode="auto">
            <a:xfrm>
              <a:off x="5266" y="355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40" name="Oval 96"/>
            <p:cNvSpPr>
              <a:spLocks noChangeArrowheads="1"/>
            </p:cNvSpPr>
            <p:nvPr/>
          </p:nvSpPr>
          <p:spPr bwMode="auto">
            <a:xfrm>
              <a:off x="4786" y="3168"/>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41" name="Oval 97"/>
            <p:cNvSpPr>
              <a:spLocks noChangeArrowheads="1"/>
            </p:cNvSpPr>
            <p:nvPr/>
          </p:nvSpPr>
          <p:spPr bwMode="auto">
            <a:xfrm>
              <a:off x="4306" y="355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042" name="AutoShape 98"/>
            <p:cNvCxnSpPr>
              <a:cxnSpLocks noChangeShapeType="1"/>
              <a:stCxn id="83040" idx="3"/>
              <a:endCxn id="83041" idx="7"/>
            </p:cNvCxnSpPr>
            <p:nvPr/>
          </p:nvCxnSpPr>
          <p:spPr bwMode="auto">
            <a:xfrm flipH="1">
              <a:off x="4593" y="3464"/>
              <a:ext cx="242" cy="12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043" name="AutoShape 99"/>
            <p:cNvCxnSpPr>
              <a:cxnSpLocks noChangeShapeType="1"/>
              <a:stCxn id="83040" idx="5"/>
              <a:endCxn id="83039" idx="1"/>
            </p:cNvCxnSpPr>
            <p:nvPr/>
          </p:nvCxnSpPr>
          <p:spPr bwMode="auto">
            <a:xfrm>
              <a:off x="5073" y="3464"/>
              <a:ext cx="242" cy="12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3045" name="Text Box 101"/>
          <p:cNvSpPr txBox="1">
            <a:spLocks noChangeArrowheads="1"/>
          </p:cNvSpPr>
          <p:nvPr/>
        </p:nvSpPr>
        <p:spPr bwMode="auto">
          <a:xfrm>
            <a:off x="7670959" y="4345067"/>
            <a:ext cx="10210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左旋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46" name="Text Box 102"/>
          <p:cNvSpPr txBox="1">
            <a:spLocks noChangeArrowheads="1"/>
          </p:cNvSpPr>
          <p:nvPr/>
        </p:nvSpPr>
        <p:spPr bwMode="auto">
          <a:xfrm>
            <a:off x="6559709" y="5969556"/>
            <a:ext cx="10337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右旋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3061" name="Group 117"/>
          <p:cNvGrpSpPr/>
          <p:nvPr/>
        </p:nvGrpSpPr>
        <p:grpSpPr bwMode="auto">
          <a:xfrm>
            <a:off x="5428695" y="3383518"/>
            <a:ext cx="831056" cy="1403747"/>
            <a:chOff x="3543" y="1933"/>
            <a:chExt cx="698" cy="1179"/>
          </a:xfrm>
        </p:grpSpPr>
        <p:sp>
          <p:nvSpPr>
            <p:cNvPr id="83048" name="Oval 104"/>
            <p:cNvSpPr>
              <a:spLocks noChangeArrowheads="1"/>
            </p:cNvSpPr>
            <p:nvPr/>
          </p:nvSpPr>
          <p:spPr bwMode="auto">
            <a:xfrm>
              <a:off x="3905" y="1933"/>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049" name="Oval 105"/>
            <p:cNvSpPr>
              <a:spLocks noChangeArrowheads="1"/>
            </p:cNvSpPr>
            <p:nvPr/>
          </p:nvSpPr>
          <p:spPr bwMode="auto">
            <a:xfrm>
              <a:off x="3543" y="2317"/>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050" name="AutoShape 106"/>
            <p:cNvCxnSpPr>
              <a:cxnSpLocks noChangeShapeType="1"/>
              <a:stCxn id="83048" idx="3"/>
              <a:endCxn id="83049" idx="7"/>
            </p:cNvCxnSpPr>
            <p:nvPr/>
          </p:nvCxnSpPr>
          <p:spPr bwMode="auto">
            <a:xfrm flipH="1">
              <a:off x="3830" y="2220"/>
              <a:ext cx="124" cy="146"/>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051" name="Oval 107"/>
            <p:cNvSpPr>
              <a:spLocks noChangeArrowheads="1"/>
            </p:cNvSpPr>
            <p:nvPr/>
          </p:nvSpPr>
          <p:spPr bwMode="auto">
            <a:xfrm>
              <a:off x="3904" y="277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052" name="AutoShape 108"/>
            <p:cNvCxnSpPr>
              <a:cxnSpLocks noChangeShapeType="1"/>
              <a:stCxn id="83049" idx="5"/>
              <a:endCxn id="83051" idx="0"/>
            </p:cNvCxnSpPr>
            <p:nvPr/>
          </p:nvCxnSpPr>
          <p:spPr bwMode="auto">
            <a:xfrm>
              <a:off x="3830" y="2604"/>
              <a:ext cx="242" cy="172"/>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2078" name="Rectangle 158"/>
          <p:cNvSpPr>
            <a:spLocks noChangeArrowheads="1"/>
          </p:cNvSpPr>
          <p:nvPr/>
        </p:nvSpPr>
        <p:spPr bwMode="auto">
          <a:xfrm>
            <a:off x="406559" y="1128345"/>
            <a:ext cx="864394" cy="41402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a:spAutoFit/>
          </a:bodyPr>
          <a:p>
            <a:r>
              <a:rPr lang="en-US" altLang="zh-CN" sz="2100" b="1" dirty="0" err="1">
                <a:solidFill>
                  <a:srgbClr val="CC0000"/>
                </a:solidFill>
                <a:ea typeface="幼圆" panose="02010509060101010101" pitchFamily="49" charset="-122"/>
              </a:rPr>
              <a:t>Fig.c</a:t>
            </a:r>
            <a:endParaRPr lang="en-US" altLang="zh-CN" sz="2100" b="1" dirty="0">
              <a:solidFill>
                <a:srgbClr val="CC0000"/>
              </a:solidFill>
              <a:ea typeface="幼圆" panose="02010509060101010101" pitchFamily="49" charset="-122"/>
            </a:endParaRPr>
          </a:p>
        </p:txBody>
      </p:sp>
      <p:sp>
        <p:nvSpPr>
          <p:cNvPr id="77" name="右弧形箭头 76">
            <a:hlinkClick r:id="rId1" action="ppaction://hlinksldjump"/>
          </p:cNvPr>
          <p:cNvSpPr/>
          <p:nvPr/>
        </p:nvSpPr>
        <p:spPr>
          <a:xfrm>
            <a:off x="8630285" y="6217920"/>
            <a:ext cx="240665" cy="354965"/>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29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0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30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0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0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0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0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0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304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3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2" grpId="0" bldLvl="0" animBg="1"/>
      <p:bldP spid="83030" grpId="0" bldLvl="0" animBg="1"/>
      <p:bldP spid="83045" grpId="0" bldLvl="0" animBg="1"/>
      <p:bldP spid="8304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dirty="0">
                <a:solidFill>
                  <a:schemeClr val="bg1"/>
                </a:solidFill>
                <a:effectLst>
                  <a:outerShdw blurRad="38100" dist="25400" dir="5400000" algn="ctr" rotWithShape="0">
                    <a:srgbClr val="6E747A">
                      <a:alpha val="43000"/>
                    </a:srgbClr>
                  </a:outerShdw>
                </a:effectLst>
                <a:sym typeface="+mn-ea"/>
              </a:rPr>
              <a:t>D. </a:t>
            </a:r>
            <a:r>
              <a:rPr lang="zh-CN" altLang="en-US" dirty="0">
                <a:solidFill>
                  <a:schemeClr val="bg1"/>
                </a:solidFill>
                <a:effectLst>
                  <a:outerShdw blurRad="38100" dist="25400" dir="5400000" algn="ctr" rotWithShape="0">
                    <a:srgbClr val="6E747A">
                      <a:alpha val="43000"/>
                    </a:srgbClr>
                  </a:outerShdw>
                </a:effectLst>
                <a:sym typeface="+mn-ea"/>
              </a:rPr>
              <a:t>双向右旋（右左）</a:t>
            </a:r>
            <a:endParaRPr lang="zh-CN" altLang="en-US" dirty="0">
              <a:solidFill>
                <a:schemeClr val="bg1"/>
              </a:solidFill>
              <a:effectLst>
                <a:outerShdw blurRad="38100" dist="25400" dir="5400000" algn="ctr" rotWithShape="0">
                  <a:srgbClr val="6E747A">
                    <a:alpha val="43000"/>
                  </a:srgbClr>
                </a:outerShdw>
              </a:effectLst>
              <a:sym typeface="+mn-ea"/>
            </a:endParaRPr>
          </a:p>
        </p:txBody>
      </p:sp>
      <p:grpSp>
        <p:nvGrpSpPr>
          <p:cNvPr id="83974" name="Group 6"/>
          <p:cNvGrpSpPr/>
          <p:nvPr/>
        </p:nvGrpSpPr>
        <p:grpSpPr bwMode="auto">
          <a:xfrm>
            <a:off x="4637485" y="2159049"/>
            <a:ext cx="628650" cy="514350"/>
            <a:chOff x="2208" y="480"/>
            <a:chExt cx="528" cy="432"/>
          </a:xfrm>
        </p:grpSpPr>
        <p:sp>
          <p:nvSpPr>
            <p:cNvPr id="83975" name="AutoShape 7"/>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3976" name="Text Box 8"/>
            <p:cNvSpPr txBox="1">
              <a:spLocks noChangeArrowheads="1"/>
            </p:cNvSpPr>
            <p:nvPr/>
          </p:nvSpPr>
          <p:spPr bwMode="auto">
            <a:xfrm>
              <a:off x="2256" y="480"/>
              <a:ext cx="39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RL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4083" name="Group 115"/>
          <p:cNvGrpSpPr/>
          <p:nvPr/>
        </p:nvGrpSpPr>
        <p:grpSpPr bwMode="auto">
          <a:xfrm>
            <a:off x="5323205" y="1644650"/>
            <a:ext cx="2803525" cy="1858010"/>
            <a:chOff x="3511" y="528"/>
            <a:chExt cx="1914" cy="1344"/>
          </a:xfrm>
        </p:grpSpPr>
        <p:sp>
          <p:nvSpPr>
            <p:cNvPr id="83978" name="Oval 10"/>
            <p:cNvSpPr>
              <a:spLocks noChangeArrowheads="1"/>
            </p:cNvSpPr>
            <p:nvPr/>
          </p:nvSpPr>
          <p:spPr bwMode="auto">
            <a:xfrm flipH="1">
              <a:off x="4711" y="864"/>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979" name="Oval 11"/>
            <p:cNvSpPr>
              <a:spLocks noChangeArrowheads="1"/>
            </p:cNvSpPr>
            <p:nvPr/>
          </p:nvSpPr>
          <p:spPr bwMode="auto">
            <a:xfrm flipH="1">
              <a:off x="4231" y="528"/>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3980" name="Group 12"/>
            <p:cNvGrpSpPr/>
            <p:nvPr/>
          </p:nvGrpSpPr>
          <p:grpSpPr bwMode="auto">
            <a:xfrm>
              <a:off x="3511" y="1344"/>
              <a:ext cx="382" cy="528"/>
              <a:chOff x="852" y="2976"/>
              <a:chExt cx="382" cy="528"/>
            </a:xfrm>
          </p:grpSpPr>
          <p:sp>
            <p:nvSpPr>
              <p:cNvPr id="83981" name="Rectangle 13"/>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982" name="Text Box 14"/>
              <p:cNvSpPr txBox="1">
                <a:spLocks noChangeArrowheads="1"/>
              </p:cNvSpPr>
              <p:nvPr/>
            </p:nvSpPr>
            <p:spPr bwMode="auto">
              <a:xfrm flipH="1">
                <a:off x="865" y="3120"/>
                <a:ext cx="369" cy="266"/>
              </a:xfrm>
              <a:prstGeom prst="rect">
                <a:avLst/>
              </a:prstGeom>
              <a:noFill/>
              <a:ln w="28575"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3983" name="Group 15"/>
            <p:cNvGrpSpPr/>
            <p:nvPr/>
          </p:nvGrpSpPr>
          <p:grpSpPr bwMode="auto">
            <a:xfrm>
              <a:off x="4501" y="1344"/>
              <a:ext cx="365" cy="384"/>
              <a:chOff x="834" y="2976"/>
              <a:chExt cx="365" cy="528"/>
            </a:xfrm>
          </p:grpSpPr>
          <p:sp>
            <p:nvSpPr>
              <p:cNvPr id="83984" name="Rectangle 16"/>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985" name="Text Box 17"/>
              <p:cNvSpPr txBox="1">
                <a:spLocks noChangeArrowheads="1"/>
              </p:cNvSpPr>
              <p:nvPr/>
            </p:nvSpPr>
            <p:spPr bwMode="auto">
              <a:xfrm flipH="1">
                <a:off x="834" y="3120"/>
                <a:ext cx="365" cy="366"/>
              </a:xfrm>
              <a:prstGeom prst="rect">
                <a:avLst/>
              </a:prstGeom>
              <a:noFill/>
              <a:ln w="28575"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3986" name="Group 18"/>
            <p:cNvGrpSpPr/>
            <p:nvPr/>
          </p:nvGrpSpPr>
          <p:grpSpPr bwMode="auto">
            <a:xfrm>
              <a:off x="5047" y="1344"/>
              <a:ext cx="378" cy="528"/>
              <a:chOff x="852" y="2976"/>
              <a:chExt cx="378" cy="528"/>
            </a:xfrm>
          </p:grpSpPr>
          <p:sp>
            <p:nvSpPr>
              <p:cNvPr id="83987" name="Rectangle 19"/>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988" name="Text Box 20"/>
              <p:cNvSpPr txBox="1">
                <a:spLocks noChangeArrowheads="1"/>
              </p:cNvSpPr>
              <p:nvPr/>
            </p:nvSpPr>
            <p:spPr bwMode="auto">
              <a:xfrm flipH="1">
                <a:off x="865" y="3120"/>
                <a:ext cx="365" cy="266"/>
              </a:xfrm>
              <a:prstGeom prst="rect">
                <a:avLst/>
              </a:prstGeom>
              <a:noFill/>
              <a:ln w="28575"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83989" name="AutoShape 21"/>
            <p:cNvCxnSpPr>
              <a:cxnSpLocks noChangeShapeType="1"/>
              <a:stCxn id="83978" idx="5"/>
              <a:endCxn id="83984" idx="0"/>
            </p:cNvCxnSpPr>
            <p:nvPr/>
          </p:nvCxnSpPr>
          <p:spPr bwMode="auto">
            <a:xfrm flipH="1">
              <a:off x="4663" y="1159"/>
              <a:ext cx="97" cy="185"/>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90" name="AutoShape 22"/>
            <p:cNvCxnSpPr>
              <a:cxnSpLocks noChangeShapeType="1"/>
              <a:stCxn id="83978" idx="3"/>
              <a:endCxn id="83987" idx="0"/>
            </p:cNvCxnSpPr>
            <p:nvPr/>
          </p:nvCxnSpPr>
          <p:spPr bwMode="auto">
            <a:xfrm>
              <a:off x="4997" y="1159"/>
              <a:ext cx="194" cy="185"/>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91" name="AutoShape 23"/>
            <p:cNvCxnSpPr>
              <a:cxnSpLocks noChangeShapeType="1"/>
              <a:stCxn id="83979" idx="2"/>
              <a:endCxn id="83978" idx="7"/>
            </p:cNvCxnSpPr>
            <p:nvPr/>
          </p:nvCxnSpPr>
          <p:spPr bwMode="auto">
            <a:xfrm>
              <a:off x="4576" y="696"/>
              <a:ext cx="184" cy="208"/>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992" name="Oval 24"/>
            <p:cNvSpPr>
              <a:spLocks noChangeArrowheads="1"/>
            </p:cNvSpPr>
            <p:nvPr/>
          </p:nvSpPr>
          <p:spPr bwMode="auto">
            <a:xfrm flipH="1">
              <a:off x="3751" y="864"/>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3993" name="AutoShape 25"/>
            <p:cNvCxnSpPr>
              <a:cxnSpLocks noChangeShapeType="1"/>
              <a:stCxn id="83979" idx="6"/>
              <a:endCxn id="83992" idx="1"/>
            </p:cNvCxnSpPr>
            <p:nvPr/>
          </p:nvCxnSpPr>
          <p:spPr bwMode="auto">
            <a:xfrm flipH="1">
              <a:off x="4037" y="696"/>
              <a:ext cx="185" cy="208"/>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3994" name="Group 26"/>
            <p:cNvGrpSpPr/>
            <p:nvPr/>
          </p:nvGrpSpPr>
          <p:grpSpPr bwMode="auto">
            <a:xfrm>
              <a:off x="4039" y="1344"/>
              <a:ext cx="370" cy="528"/>
              <a:chOff x="852" y="2976"/>
              <a:chExt cx="370" cy="528"/>
            </a:xfrm>
          </p:grpSpPr>
          <p:sp>
            <p:nvSpPr>
              <p:cNvPr id="83995" name="Rectangle 27"/>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3996" name="Text Box 28"/>
              <p:cNvSpPr txBox="1">
                <a:spLocks noChangeArrowheads="1"/>
              </p:cNvSpPr>
              <p:nvPr/>
            </p:nvSpPr>
            <p:spPr bwMode="auto">
              <a:xfrm flipH="1">
                <a:off x="864" y="3120"/>
                <a:ext cx="358" cy="266"/>
              </a:xfrm>
              <a:prstGeom prst="rect">
                <a:avLst/>
              </a:prstGeom>
              <a:noFill/>
              <a:ln w="28575"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83997" name="AutoShape 29"/>
            <p:cNvCxnSpPr>
              <a:cxnSpLocks noChangeShapeType="1"/>
              <a:stCxn id="83992" idx="5"/>
              <a:endCxn id="83981" idx="0"/>
            </p:cNvCxnSpPr>
            <p:nvPr/>
          </p:nvCxnSpPr>
          <p:spPr bwMode="auto">
            <a:xfrm flipH="1">
              <a:off x="3655" y="1159"/>
              <a:ext cx="145" cy="185"/>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98" name="AutoShape 30"/>
            <p:cNvCxnSpPr>
              <a:cxnSpLocks noChangeShapeType="1"/>
              <a:stCxn id="83992" idx="3"/>
              <a:endCxn id="83995" idx="0"/>
            </p:cNvCxnSpPr>
            <p:nvPr/>
          </p:nvCxnSpPr>
          <p:spPr bwMode="auto">
            <a:xfrm>
              <a:off x="4037" y="1159"/>
              <a:ext cx="146" cy="185"/>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999" name="Rectangle 31"/>
            <p:cNvSpPr>
              <a:spLocks noChangeArrowheads="1"/>
            </p:cNvSpPr>
            <p:nvPr/>
          </p:nvSpPr>
          <p:spPr bwMode="auto">
            <a:xfrm>
              <a:off x="4519" y="1728"/>
              <a:ext cx="288" cy="144"/>
            </a:xfrm>
            <a:prstGeom prst="rect">
              <a:avLst/>
            </a:prstGeom>
            <a:noFill/>
            <a:ln w="28575" cmpd="sng">
              <a:solidFill>
                <a:schemeClr val="accent1">
                  <a:shade val="50000"/>
                </a:schemeClr>
              </a:solidFill>
              <a:prstDash val="sys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84014" name="Text Box 46"/>
          <p:cNvSpPr txBox="1">
            <a:spLocks noChangeArrowheads="1"/>
          </p:cNvSpPr>
          <p:nvPr/>
        </p:nvSpPr>
        <p:spPr bwMode="auto">
          <a:xfrm flipH="1">
            <a:off x="1372315" y="3773219"/>
            <a:ext cx="10007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084" name="Group 116"/>
          <p:cNvGrpSpPr/>
          <p:nvPr/>
        </p:nvGrpSpPr>
        <p:grpSpPr bwMode="auto">
          <a:xfrm>
            <a:off x="936625" y="1244600"/>
            <a:ext cx="3687890" cy="2528570"/>
            <a:chOff x="257" y="192"/>
            <a:chExt cx="2660" cy="1824"/>
          </a:xfrm>
        </p:grpSpPr>
        <p:sp>
          <p:nvSpPr>
            <p:cNvPr id="84003" name="Oval 35"/>
            <p:cNvSpPr>
              <a:spLocks noChangeArrowheads="1"/>
            </p:cNvSpPr>
            <p:nvPr/>
          </p:nvSpPr>
          <p:spPr bwMode="auto">
            <a:xfrm flipH="1">
              <a:off x="1291" y="19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04" name="Oval 36"/>
            <p:cNvSpPr>
              <a:spLocks noChangeArrowheads="1"/>
            </p:cNvSpPr>
            <p:nvPr/>
          </p:nvSpPr>
          <p:spPr bwMode="auto">
            <a:xfrm flipH="1">
              <a:off x="1675" y="57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4005" name="AutoShape 37"/>
            <p:cNvCxnSpPr>
              <a:cxnSpLocks noChangeShapeType="1"/>
              <a:stCxn id="84003" idx="3"/>
              <a:endCxn id="84004" idx="7"/>
            </p:cNvCxnSpPr>
            <p:nvPr/>
          </p:nvCxnSpPr>
          <p:spPr bwMode="auto">
            <a:xfrm>
              <a:off x="1577" y="487"/>
              <a:ext cx="147" cy="129"/>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006" name="Oval 38"/>
            <p:cNvSpPr>
              <a:spLocks noChangeArrowheads="1"/>
            </p:cNvSpPr>
            <p:nvPr/>
          </p:nvSpPr>
          <p:spPr bwMode="auto">
            <a:xfrm flipH="1">
              <a:off x="1099" y="91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007" name="Group 39"/>
            <p:cNvGrpSpPr/>
            <p:nvPr/>
          </p:nvGrpSpPr>
          <p:grpSpPr bwMode="auto">
            <a:xfrm flipH="1">
              <a:off x="799" y="1344"/>
              <a:ext cx="394" cy="672"/>
              <a:chOff x="902" y="1728"/>
              <a:chExt cx="394" cy="672"/>
            </a:xfrm>
          </p:grpSpPr>
          <p:grpSp>
            <p:nvGrpSpPr>
              <p:cNvPr id="84008" name="Group 40"/>
              <p:cNvGrpSpPr/>
              <p:nvPr/>
            </p:nvGrpSpPr>
            <p:grpSpPr bwMode="auto">
              <a:xfrm>
                <a:off x="1008" y="1728"/>
                <a:ext cx="288" cy="672"/>
                <a:chOff x="1008" y="1728"/>
                <a:chExt cx="288" cy="672"/>
              </a:xfrm>
            </p:grpSpPr>
            <p:sp>
              <p:nvSpPr>
                <p:cNvPr id="84009" name="Rectangle 41"/>
                <p:cNvSpPr>
                  <a:spLocks noChangeArrowheads="1"/>
                </p:cNvSpPr>
                <p:nvPr/>
              </p:nvSpPr>
              <p:spPr bwMode="auto">
                <a:xfrm>
                  <a:off x="1008" y="1728"/>
                  <a:ext cx="288" cy="672"/>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4010" name="Line 42"/>
                <p:cNvSpPr>
                  <a:spLocks noChangeShapeType="1"/>
                </p:cNvSpPr>
                <p:nvPr/>
              </p:nvSpPr>
              <p:spPr bwMode="auto">
                <a:xfrm>
                  <a:off x="1008" y="2256"/>
                  <a:ext cx="288"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11" name="Line 43"/>
                <p:cNvSpPr>
                  <a:spLocks noChangeShapeType="1"/>
                </p:cNvSpPr>
                <p:nvPr/>
              </p:nvSpPr>
              <p:spPr bwMode="auto">
                <a:xfrm>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12" name="Line 44"/>
                <p:cNvSpPr>
                  <a:spLocks noChangeShapeType="1"/>
                </p:cNvSpPr>
                <p:nvPr/>
              </p:nvSpPr>
              <p:spPr bwMode="auto">
                <a:xfrm flipV="1">
                  <a:off x="1008" y="2256"/>
                  <a:ext cx="288" cy="1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
            <p:nvSpPr>
              <p:cNvPr id="84013" name="Text Box 45"/>
              <p:cNvSpPr txBox="1">
                <a:spLocks noChangeArrowheads="1"/>
              </p:cNvSpPr>
              <p:nvPr/>
            </p:nvSpPr>
            <p:spPr bwMode="auto">
              <a:xfrm>
                <a:off x="902" y="1850"/>
                <a:ext cx="344"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4015" name="Group 47"/>
            <p:cNvGrpSpPr/>
            <p:nvPr/>
          </p:nvGrpSpPr>
          <p:grpSpPr bwMode="auto">
            <a:xfrm flipH="1">
              <a:off x="471" y="1344"/>
              <a:ext cx="442" cy="672"/>
              <a:chOff x="618" y="1728"/>
              <a:chExt cx="442" cy="672"/>
            </a:xfrm>
          </p:grpSpPr>
          <p:sp>
            <p:nvSpPr>
              <p:cNvPr id="84016" name="Line 48"/>
              <p:cNvSpPr>
                <a:spLocks noChangeShapeType="1"/>
              </p:cNvSpPr>
              <p:nvPr/>
            </p:nvSpPr>
            <p:spPr bwMode="auto">
              <a:xfrm>
                <a:off x="720" y="1728"/>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17" name="Line 49"/>
              <p:cNvSpPr>
                <a:spLocks noChangeShapeType="1"/>
              </p:cNvSpPr>
              <p:nvPr/>
            </p:nvSpPr>
            <p:spPr bwMode="auto">
              <a:xfrm>
                <a:off x="720" y="2400"/>
                <a:ext cx="192"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18" name="Text Box 50"/>
              <p:cNvSpPr txBox="1">
                <a:spLocks noChangeArrowheads="1"/>
              </p:cNvSpPr>
              <p:nvPr/>
            </p:nvSpPr>
            <p:spPr bwMode="auto">
              <a:xfrm>
                <a:off x="618" y="1920"/>
                <a:ext cx="442"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19" name="Line 51"/>
              <p:cNvSpPr>
                <a:spLocks noChangeShapeType="1"/>
              </p:cNvSpPr>
              <p:nvPr/>
            </p:nvSpPr>
            <p:spPr bwMode="auto">
              <a:xfrm>
                <a:off x="816" y="2160"/>
                <a:ext cx="0" cy="24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20" name="Line 52"/>
              <p:cNvSpPr>
                <a:spLocks noChangeShapeType="1"/>
              </p:cNvSpPr>
              <p:nvPr/>
            </p:nvSpPr>
            <p:spPr bwMode="auto">
              <a:xfrm flipV="1">
                <a:off x="816" y="1728"/>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nvGrpSpPr>
            <p:cNvPr id="84021" name="Group 53"/>
            <p:cNvGrpSpPr/>
            <p:nvPr/>
          </p:nvGrpSpPr>
          <p:grpSpPr bwMode="auto">
            <a:xfrm flipH="1">
              <a:off x="1242" y="1344"/>
              <a:ext cx="719" cy="528"/>
              <a:chOff x="1249" y="3024"/>
              <a:chExt cx="719" cy="528"/>
            </a:xfrm>
          </p:grpSpPr>
          <p:grpSp>
            <p:nvGrpSpPr>
              <p:cNvPr id="84022" name="Group 54"/>
              <p:cNvGrpSpPr/>
              <p:nvPr/>
            </p:nvGrpSpPr>
            <p:grpSpPr bwMode="auto">
              <a:xfrm>
                <a:off x="1249" y="3024"/>
                <a:ext cx="393" cy="528"/>
                <a:chOff x="1527" y="1728"/>
                <a:chExt cx="393" cy="528"/>
              </a:xfrm>
            </p:grpSpPr>
            <p:sp>
              <p:nvSpPr>
                <p:cNvPr id="84023" name="Rectangle 55"/>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4024" name="Text Box 56"/>
                <p:cNvSpPr txBox="1">
                  <a:spLocks noChangeArrowheads="1"/>
                </p:cNvSpPr>
                <p:nvPr/>
              </p:nvSpPr>
              <p:spPr bwMode="auto">
                <a:xfrm>
                  <a:off x="1527" y="1850"/>
                  <a:ext cx="365"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en-US" altLang="zh-CN"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4025" name="Group 57"/>
              <p:cNvGrpSpPr/>
              <p:nvPr/>
            </p:nvGrpSpPr>
            <p:grpSpPr bwMode="auto">
              <a:xfrm>
                <a:off x="1535" y="3024"/>
                <a:ext cx="433" cy="528"/>
                <a:chOff x="1823" y="1728"/>
                <a:chExt cx="433" cy="528"/>
              </a:xfrm>
            </p:grpSpPr>
            <p:sp>
              <p:nvSpPr>
                <p:cNvPr id="84026" name="Line 58"/>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27" name="Line 59"/>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28" name="Text Box 60"/>
                <p:cNvSpPr txBox="1">
                  <a:spLocks noChangeArrowheads="1"/>
                </p:cNvSpPr>
                <p:nvPr/>
              </p:nvSpPr>
              <p:spPr bwMode="auto">
                <a:xfrm>
                  <a:off x="1823" y="1850"/>
                  <a:ext cx="433"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h-2</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29" name="Line 61"/>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30" name="Line 62"/>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grpSp>
        <p:grpSp>
          <p:nvGrpSpPr>
            <p:cNvPr id="84031" name="Group 63"/>
            <p:cNvGrpSpPr/>
            <p:nvPr/>
          </p:nvGrpSpPr>
          <p:grpSpPr bwMode="auto">
            <a:xfrm flipH="1">
              <a:off x="2202" y="1008"/>
              <a:ext cx="372" cy="528"/>
              <a:chOff x="1548" y="1728"/>
              <a:chExt cx="372" cy="528"/>
            </a:xfrm>
          </p:grpSpPr>
          <p:sp>
            <p:nvSpPr>
              <p:cNvPr id="84032" name="Rectangle 64"/>
              <p:cNvSpPr>
                <a:spLocks noChangeArrowheads="1"/>
              </p:cNvSpPr>
              <p:nvPr/>
            </p:nvSpPr>
            <p:spPr bwMode="auto">
              <a:xfrm>
                <a:off x="1632" y="17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4033" name="Text Box 65"/>
              <p:cNvSpPr txBox="1">
                <a:spLocks noChangeArrowheads="1"/>
              </p:cNvSpPr>
              <p:nvPr/>
            </p:nvSpPr>
            <p:spPr bwMode="auto">
              <a:xfrm>
                <a:off x="1548" y="1850"/>
                <a:ext cx="372"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4034" name="Group 66"/>
            <p:cNvGrpSpPr/>
            <p:nvPr/>
          </p:nvGrpSpPr>
          <p:grpSpPr bwMode="auto">
            <a:xfrm flipH="1">
              <a:off x="2555" y="1008"/>
              <a:ext cx="362" cy="528"/>
              <a:chOff x="1878" y="1728"/>
              <a:chExt cx="362" cy="528"/>
            </a:xfrm>
          </p:grpSpPr>
          <p:sp>
            <p:nvSpPr>
              <p:cNvPr id="84035" name="Line 67"/>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36" name="Line 68"/>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37" name="Text Box 69"/>
              <p:cNvSpPr txBox="1">
                <a:spLocks noChangeArrowheads="1"/>
              </p:cNvSpPr>
              <p:nvPr/>
            </p:nvSpPr>
            <p:spPr bwMode="auto">
              <a:xfrm>
                <a:off x="1878" y="1830"/>
                <a:ext cx="362" cy="292"/>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38" name="Line 70"/>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39" name="Line 71"/>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sp>
          <p:nvSpPr>
            <p:cNvPr id="84040" name="Rectangle 72"/>
            <p:cNvSpPr>
              <a:spLocks noChangeArrowheads="1"/>
            </p:cNvSpPr>
            <p:nvPr/>
          </p:nvSpPr>
          <p:spPr bwMode="auto">
            <a:xfrm flipH="1">
              <a:off x="657" y="528"/>
              <a:ext cx="288" cy="528"/>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84041" name="Text Box 73"/>
            <p:cNvSpPr txBox="1">
              <a:spLocks noChangeArrowheads="1"/>
            </p:cNvSpPr>
            <p:nvPr/>
          </p:nvSpPr>
          <p:spPr bwMode="auto">
            <a:xfrm flipH="1">
              <a:off x="632" y="576"/>
              <a:ext cx="369"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042" name="Group 74"/>
            <p:cNvGrpSpPr/>
            <p:nvPr/>
          </p:nvGrpSpPr>
          <p:grpSpPr bwMode="auto">
            <a:xfrm flipH="1">
              <a:off x="257" y="528"/>
              <a:ext cx="410" cy="528"/>
              <a:chOff x="1920" y="1728"/>
              <a:chExt cx="410" cy="528"/>
            </a:xfrm>
          </p:grpSpPr>
          <p:sp>
            <p:nvSpPr>
              <p:cNvPr id="84043" name="Line 75"/>
              <p:cNvSpPr>
                <a:spLocks noChangeShapeType="1"/>
              </p:cNvSpPr>
              <p:nvPr/>
            </p:nvSpPr>
            <p:spPr bwMode="auto">
              <a:xfrm>
                <a:off x="2016" y="1728"/>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44" name="Line 76"/>
              <p:cNvSpPr>
                <a:spLocks noChangeShapeType="1"/>
              </p:cNvSpPr>
              <p:nvPr/>
            </p:nvSpPr>
            <p:spPr bwMode="auto">
              <a:xfrm>
                <a:off x="2016" y="2256"/>
                <a:ext cx="144"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45" name="Text Box 77"/>
              <p:cNvSpPr txBox="1">
                <a:spLocks noChangeArrowheads="1"/>
              </p:cNvSpPr>
              <p:nvPr/>
            </p:nvSpPr>
            <p:spPr bwMode="auto">
              <a:xfrm>
                <a:off x="1920" y="1824"/>
                <a:ext cx="410" cy="266"/>
              </a:xfrm>
              <a:prstGeom prst="rect">
                <a:avLst/>
              </a:prstGeom>
              <a:noFill/>
              <a:ln w="2857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46" name="Line 78"/>
              <p:cNvSpPr>
                <a:spLocks noChangeShapeType="1"/>
              </p:cNvSpPr>
              <p:nvPr/>
            </p:nvSpPr>
            <p:spPr bwMode="auto">
              <a:xfrm>
                <a:off x="2064" y="2064"/>
                <a:ext cx="0" cy="19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4047" name="Line 79"/>
              <p:cNvSpPr>
                <a:spLocks noChangeShapeType="1"/>
              </p:cNvSpPr>
              <p:nvPr/>
            </p:nvSpPr>
            <p:spPr bwMode="auto">
              <a:xfrm flipV="1">
                <a:off x="2064" y="1728"/>
                <a:ext cx="0" cy="14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cxnSp>
          <p:nvCxnSpPr>
            <p:cNvPr id="84048" name="AutoShape 80"/>
            <p:cNvCxnSpPr>
              <a:cxnSpLocks noChangeShapeType="1"/>
              <a:stCxn id="84004" idx="5"/>
              <a:endCxn id="84006" idx="2"/>
            </p:cNvCxnSpPr>
            <p:nvPr/>
          </p:nvCxnSpPr>
          <p:spPr bwMode="auto">
            <a:xfrm flipH="1">
              <a:off x="1444" y="871"/>
              <a:ext cx="280" cy="209"/>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049" name="AutoShape 81"/>
            <p:cNvCxnSpPr>
              <a:cxnSpLocks noChangeShapeType="1"/>
              <a:stCxn id="84003" idx="6"/>
              <a:endCxn id="84040" idx="0"/>
            </p:cNvCxnSpPr>
            <p:nvPr/>
          </p:nvCxnSpPr>
          <p:spPr bwMode="auto">
            <a:xfrm flipH="1">
              <a:off x="801" y="360"/>
              <a:ext cx="481" cy="168"/>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050" name="AutoShape 82"/>
            <p:cNvCxnSpPr>
              <a:cxnSpLocks noChangeShapeType="1"/>
              <a:stCxn id="84004" idx="2"/>
              <a:endCxn id="84032" idx="0"/>
            </p:cNvCxnSpPr>
            <p:nvPr/>
          </p:nvCxnSpPr>
          <p:spPr bwMode="auto">
            <a:xfrm>
              <a:off x="2020" y="744"/>
              <a:ext cx="326" cy="264"/>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051" name="AutoShape 83"/>
            <p:cNvCxnSpPr>
              <a:cxnSpLocks noChangeShapeType="1"/>
              <a:stCxn id="84006" idx="5"/>
              <a:endCxn id="84009" idx="0"/>
            </p:cNvCxnSpPr>
            <p:nvPr/>
          </p:nvCxnSpPr>
          <p:spPr bwMode="auto">
            <a:xfrm flipH="1">
              <a:off x="943" y="1207"/>
              <a:ext cx="205" cy="13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052" name="AutoShape 84"/>
            <p:cNvCxnSpPr>
              <a:cxnSpLocks noChangeShapeType="1"/>
              <a:stCxn id="84006" idx="3"/>
              <a:endCxn id="84023" idx="0"/>
            </p:cNvCxnSpPr>
            <p:nvPr/>
          </p:nvCxnSpPr>
          <p:spPr bwMode="auto">
            <a:xfrm>
              <a:off x="1385" y="1207"/>
              <a:ext cx="327" cy="13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053" name="Text Box 85"/>
          <p:cNvSpPr txBox="1">
            <a:spLocks noChangeArrowheads="1"/>
          </p:cNvSpPr>
          <p:nvPr/>
        </p:nvSpPr>
        <p:spPr bwMode="auto">
          <a:xfrm>
            <a:off x="4200525" y="3317527"/>
            <a:ext cx="742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a:latin typeface="Times New Roman" panose="02020603050405020304" pitchFamily="18" charset="0"/>
                <a:ea typeface="幼圆" panose="02010509060101010101" pitchFamily="49" charset="-122"/>
                <a:cs typeface="Times New Roman" panose="02020603050405020304" pitchFamily="18" charset="0"/>
              </a:rPr>
              <a:t>(d)</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086" name="Group 118"/>
          <p:cNvGrpSpPr/>
          <p:nvPr/>
        </p:nvGrpSpPr>
        <p:grpSpPr bwMode="auto">
          <a:xfrm>
            <a:off x="3924538" y="4515534"/>
            <a:ext cx="1371600" cy="1314450"/>
            <a:chOff x="2269" y="2448"/>
            <a:chExt cx="1152" cy="1104"/>
          </a:xfrm>
        </p:grpSpPr>
        <p:cxnSp>
          <p:nvCxnSpPr>
            <p:cNvPr id="84058" name="AutoShape 90"/>
            <p:cNvCxnSpPr>
              <a:cxnSpLocks noChangeShapeType="1"/>
              <a:stCxn id="84056" idx="3"/>
              <a:endCxn id="84057" idx="7"/>
            </p:cNvCxnSpPr>
            <p:nvPr/>
          </p:nvCxnSpPr>
          <p:spPr bwMode="auto">
            <a:xfrm>
              <a:off x="2555" y="2734"/>
              <a:ext cx="171" cy="14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056" name="Oval 88"/>
            <p:cNvSpPr>
              <a:spLocks noChangeArrowheads="1"/>
            </p:cNvSpPr>
            <p:nvPr/>
          </p:nvSpPr>
          <p:spPr bwMode="auto">
            <a:xfrm flipH="1">
              <a:off x="2269" y="2448"/>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57" name="Oval 89"/>
            <p:cNvSpPr>
              <a:spLocks noChangeArrowheads="1"/>
            </p:cNvSpPr>
            <p:nvPr/>
          </p:nvSpPr>
          <p:spPr bwMode="auto">
            <a:xfrm flipH="1">
              <a:off x="2677" y="283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59" name="Oval 91"/>
            <p:cNvSpPr>
              <a:spLocks noChangeArrowheads="1"/>
            </p:cNvSpPr>
            <p:nvPr/>
          </p:nvSpPr>
          <p:spPr bwMode="auto">
            <a:xfrm flipH="1">
              <a:off x="3085" y="321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4060" name="AutoShape 92"/>
            <p:cNvCxnSpPr>
              <a:cxnSpLocks noChangeShapeType="1"/>
              <a:stCxn id="84057" idx="3"/>
              <a:endCxn id="84059" idx="7"/>
            </p:cNvCxnSpPr>
            <p:nvPr/>
          </p:nvCxnSpPr>
          <p:spPr bwMode="auto">
            <a:xfrm>
              <a:off x="2963" y="3118"/>
              <a:ext cx="171" cy="14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4087" name="Group 119"/>
          <p:cNvGrpSpPr/>
          <p:nvPr/>
        </p:nvGrpSpPr>
        <p:grpSpPr bwMode="auto">
          <a:xfrm>
            <a:off x="5647373" y="4744134"/>
            <a:ext cx="1543050" cy="857250"/>
            <a:chOff x="3716" y="2640"/>
            <a:chExt cx="1296" cy="720"/>
          </a:xfrm>
        </p:grpSpPr>
        <p:sp>
          <p:nvSpPr>
            <p:cNvPr id="84062" name="Oval 94"/>
            <p:cNvSpPr>
              <a:spLocks noChangeArrowheads="1"/>
            </p:cNvSpPr>
            <p:nvPr/>
          </p:nvSpPr>
          <p:spPr bwMode="auto">
            <a:xfrm flipH="1">
              <a:off x="3716" y="3024"/>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63" name="Oval 95"/>
            <p:cNvSpPr>
              <a:spLocks noChangeArrowheads="1"/>
            </p:cNvSpPr>
            <p:nvPr/>
          </p:nvSpPr>
          <p:spPr bwMode="auto">
            <a:xfrm flipH="1">
              <a:off x="4196" y="2640"/>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64" name="Oval 96"/>
            <p:cNvSpPr>
              <a:spLocks noChangeArrowheads="1"/>
            </p:cNvSpPr>
            <p:nvPr/>
          </p:nvSpPr>
          <p:spPr bwMode="auto">
            <a:xfrm flipH="1">
              <a:off x="4676" y="3024"/>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4065" name="AutoShape 97"/>
            <p:cNvCxnSpPr>
              <a:cxnSpLocks noChangeShapeType="1"/>
              <a:stCxn id="84063" idx="3"/>
              <a:endCxn id="84064" idx="7"/>
            </p:cNvCxnSpPr>
            <p:nvPr/>
          </p:nvCxnSpPr>
          <p:spPr bwMode="auto">
            <a:xfrm>
              <a:off x="4482" y="2926"/>
              <a:ext cx="243" cy="14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066" name="AutoShape 98"/>
            <p:cNvCxnSpPr>
              <a:cxnSpLocks noChangeShapeType="1"/>
              <a:stCxn id="84063" idx="5"/>
              <a:endCxn id="84062" idx="1"/>
            </p:cNvCxnSpPr>
            <p:nvPr/>
          </p:nvCxnSpPr>
          <p:spPr bwMode="auto">
            <a:xfrm flipH="1">
              <a:off x="4002" y="2926"/>
              <a:ext cx="243" cy="147"/>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067" name="Text Box 99"/>
          <p:cNvSpPr txBox="1">
            <a:spLocks noChangeArrowheads="1"/>
          </p:cNvSpPr>
          <p:nvPr/>
        </p:nvSpPr>
        <p:spPr bwMode="auto">
          <a:xfrm>
            <a:off x="4122182" y="5812125"/>
            <a:ext cx="10210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右旋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68" name="Text Box 100"/>
          <p:cNvSpPr txBox="1">
            <a:spLocks noChangeArrowheads="1"/>
          </p:cNvSpPr>
          <p:nvPr/>
        </p:nvSpPr>
        <p:spPr bwMode="auto">
          <a:xfrm>
            <a:off x="5933123" y="5812125"/>
            <a:ext cx="10337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对</a:t>
            </a:r>
            <a:r>
              <a:rPr kumimoji="1" lang="en-US" altLang="zh-CN">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a:latin typeface="Times New Roman" panose="02020603050405020304" pitchFamily="18" charset="0"/>
                <a:ea typeface="幼圆" panose="02010509060101010101" pitchFamily="49" charset="-122"/>
                <a:cs typeface="Times New Roman" panose="02020603050405020304" pitchFamily="18" charset="0"/>
              </a:rPr>
              <a:t>左旋</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84085" name="Group 117"/>
          <p:cNvGrpSpPr/>
          <p:nvPr/>
        </p:nvGrpSpPr>
        <p:grpSpPr bwMode="auto">
          <a:xfrm>
            <a:off x="2163604" y="4496484"/>
            <a:ext cx="841772" cy="1314450"/>
            <a:chOff x="790" y="2432"/>
            <a:chExt cx="707" cy="1104"/>
          </a:xfrm>
        </p:grpSpPr>
        <p:sp>
          <p:nvSpPr>
            <p:cNvPr id="84071" name="Oval 103"/>
            <p:cNvSpPr>
              <a:spLocks noChangeArrowheads="1"/>
            </p:cNvSpPr>
            <p:nvPr/>
          </p:nvSpPr>
          <p:spPr bwMode="auto">
            <a:xfrm flipH="1">
              <a:off x="790" y="2432"/>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4072" name="Oval 104"/>
            <p:cNvSpPr>
              <a:spLocks noChangeArrowheads="1"/>
            </p:cNvSpPr>
            <p:nvPr/>
          </p:nvSpPr>
          <p:spPr bwMode="auto">
            <a:xfrm flipH="1">
              <a:off x="1161" y="2816"/>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FF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4073" name="AutoShape 105"/>
            <p:cNvCxnSpPr>
              <a:cxnSpLocks noChangeShapeType="1"/>
              <a:stCxn id="84071" idx="3"/>
              <a:endCxn id="84072" idx="7"/>
            </p:cNvCxnSpPr>
            <p:nvPr/>
          </p:nvCxnSpPr>
          <p:spPr bwMode="auto">
            <a:xfrm>
              <a:off x="1076" y="2727"/>
              <a:ext cx="134" cy="129"/>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074" name="Oval 106"/>
            <p:cNvSpPr>
              <a:spLocks noChangeArrowheads="1"/>
            </p:cNvSpPr>
            <p:nvPr/>
          </p:nvSpPr>
          <p:spPr bwMode="auto">
            <a:xfrm flipH="1">
              <a:off x="791" y="3200"/>
              <a:ext cx="336" cy="336"/>
            </a:xfrm>
            <a:prstGeom prst="ellipse">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4075" name="AutoShape 107"/>
            <p:cNvCxnSpPr>
              <a:cxnSpLocks noChangeShapeType="1"/>
              <a:stCxn id="84072" idx="5"/>
              <a:endCxn id="84074" idx="0"/>
            </p:cNvCxnSpPr>
            <p:nvPr/>
          </p:nvCxnSpPr>
          <p:spPr bwMode="auto">
            <a:xfrm flipH="1">
              <a:off x="959" y="3111"/>
              <a:ext cx="251" cy="80"/>
            </a:xfrm>
            <a:prstGeom prst="straightConnector1">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076" name="Text Box 108"/>
          <p:cNvSpPr txBox="1">
            <a:spLocks noChangeArrowheads="1"/>
          </p:cNvSpPr>
          <p:nvPr/>
        </p:nvSpPr>
        <p:spPr bwMode="auto">
          <a:xfrm>
            <a:off x="2029064" y="5831175"/>
            <a:ext cx="8686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latin typeface="Times New Roman" panose="02020603050405020304" pitchFamily="18" charset="0"/>
                <a:ea typeface="幼圆" panose="02010509060101010101" pitchFamily="49" charset="-122"/>
                <a:cs typeface="Times New Roman" panose="02020603050405020304" pitchFamily="18" charset="0"/>
              </a:rPr>
              <a:t>插入后</a:t>
            </a:r>
            <a:endParaRPr kumimoji="1" lang="zh-CN" altLang="en-US">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2078" name="Rectangle 158"/>
          <p:cNvSpPr>
            <a:spLocks noChangeArrowheads="1"/>
          </p:cNvSpPr>
          <p:nvPr/>
        </p:nvSpPr>
        <p:spPr bwMode="auto">
          <a:xfrm>
            <a:off x="406559" y="1128345"/>
            <a:ext cx="864394" cy="41402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tx1"/>
          </a:fontRef>
        </p:style>
        <p:txBody>
          <a:bodyPr>
            <a:spAutoFit/>
          </a:bodyPr>
          <a:p>
            <a:r>
              <a:rPr lang="en-US" altLang="zh-CN" sz="2100" b="1" dirty="0" err="1">
                <a:solidFill>
                  <a:srgbClr val="CC0000"/>
                </a:solidFill>
                <a:ea typeface="幼圆" panose="02010509060101010101" pitchFamily="49" charset="-122"/>
              </a:rPr>
              <a:t>Fig.d</a:t>
            </a:r>
            <a:endParaRPr lang="en-US" altLang="zh-CN" sz="2100" b="1" dirty="0">
              <a:solidFill>
                <a:srgbClr val="CC0000"/>
              </a:solidFill>
              <a:ea typeface="幼圆" panose="02010509060101010101" pitchFamily="49" charset="-122"/>
            </a:endParaRPr>
          </a:p>
        </p:txBody>
      </p:sp>
      <p:sp>
        <p:nvSpPr>
          <p:cNvPr id="77" name="右弧形箭头 76">
            <a:hlinkClick r:id="rId1" action="ppaction://hlinksldjump"/>
          </p:cNvPr>
          <p:cNvSpPr/>
          <p:nvPr/>
        </p:nvSpPr>
        <p:spPr>
          <a:xfrm>
            <a:off x="8630285" y="6217920"/>
            <a:ext cx="240665" cy="354965"/>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39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0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40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0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0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0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0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40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406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40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14" grpId="0" bldLvl="0" animBg="1"/>
      <p:bldP spid="84053" grpId="0" bldLvl="0" animBg="1"/>
      <p:bldP spid="84067" grpId="0" bldLvl="0" animBg="1"/>
      <p:bldP spid="84068" grpId="0" bldLvl="0" animBg="1"/>
      <p:bldP spid="8407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graphicFrame>
        <p:nvGraphicFramePr>
          <p:cNvPr id="84995" name="Object 3"/>
          <p:cNvGraphicFramePr>
            <a:graphicFrameLocks noChangeAspect="1"/>
          </p:cNvGraphicFramePr>
          <p:nvPr/>
        </p:nvGraphicFramePr>
        <p:xfrm>
          <a:off x="835660" y="1085850"/>
          <a:ext cx="7814945" cy="2425065"/>
        </p:xfrm>
        <a:graphic>
          <a:graphicData uri="http://schemas.openxmlformats.org/presentationml/2006/ole">
            <mc:AlternateContent xmlns:mc="http://schemas.openxmlformats.org/markup-compatibility/2006">
              <mc:Choice xmlns:v="urn:schemas-microsoft-com:vml" Requires="v">
                <p:oleObj spid="_x0000_s85164" name="图片" r:id="rId1" imgW="5096510" imgH="1581785" progId="Word.Picture.8">
                  <p:embed/>
                </p:oleObj>
              </mc:Choice>
              <mc:Fallback>
                <p:oleObj name="图片" r:id="rId1" imgW="5096510" imgH="1581785"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660" y="1085850"/>
                        <a:ext cx="7814945" cy="2425065"/>
                      </a:xfrm>
                      <a:prstGeom prst="rect">
                        <a:avLst/>
                      </a:prstGeom>
                      <a:noFill/>
                    </p:spPr>
                  </p:pic>
                </p:oleObj>
              </mc:Fallback>
            </mc:AlternateContent>
          </a:graphicData>
        </a:graphic>
      </p:graphicFrame>
      <p:sp>
        <p:nvSpPr>
          <p:cNvPr id="84996" name="Rectangle 4"/>
          <p:cNvSpPr>
            <a:spLocks noChangeArrowheads="1"/>
          </p:cNvSpPr>
          <p:nvPr/>
        </p:nvSpPr>
        <p:spPr bwMode="auto">
          <a:xfrm>
            <a:off x="614045" y="3700780"/>
            <a:ext cx="7935595" cy="2096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LL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型调整操作示意图</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140000"/>
              </a:lnSpc>
              <a:spcBef>
                <a:spcPct val="20000"/>
              </a:spcBef>
              <a:spcAft>
                <a:spcPct val="20000"/>
              </a:spcAft>
            </a:pPr>
            <a:r>
              <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(αBβ)A(γ)= (α)B(β</a:t>
            </a:r>
            <a:r>
              <a:rPr kumimoji="1" lang="en-US" altLang="zh-CN" sz="28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Aγ</a:t>
            </a:r>
            <a:r>
              <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调整规则∶将</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的左子女</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提升为新二叉树的根；原来的根</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连同其右子树</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γ</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向右下旋转成为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的原右子树</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β</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作为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 </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graphicFrame>
        <p:nvGraphicFramePr>
          <p:cNvPr id="86018" name="Object 2"/>
          <p:cNvGraphicFramePr>
            <a:graphicFrameLocks noChangeAspect="1"/>
          </p:cNvGraphicFramePr>
          <p:nvPr/>
        </p:nvGraphicFramePr>
        <p:xfrm>
          <a:off x="812165" y="1094740"/>
          <a:ext cx="7519670" cy="2511425"/>
        </p:xfrm>
        <a:graphic>
          <a:graphicData uri="http://schemas.openxmlformats.org/presentationml/2006/ole">
            <mc:AlternateContent xmlns:mc="http://schemas.openxmlformats.org/markup-compatibility/2006">
              <mc:Choice xmlns:v="urn:schemas-microsoft-com:vml" Requires="v">
                <p:oleObj spid="_x0000_s86186" name="" r:id="rId1" imgW="4705985" imgH="1570990" progId="Word.Picture.8">
                  <p:embed/>
                </p:oleObj>
              </mc:Choice>
              <mc:Fallback>
                <p:oleObj name="" r:id="rId1" imgW="4705985" imgH="1570990"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165" y="1094740"/>
                        <a:ext cx="7519670" cy="2511425"/>
                      </a:xfrm>
                      <a:prstGeom prst="rect">
                        <a:avLst/>
                      </a:prstGeom>
                      <a:noFill/>
                    </p:spPr>
                  </p:pic>
                </p:oleObj>
              </mc:Fallback>
            </mc:AlternateContent>
          </a:graphicData>
        </a:graphic>
      </p:graphicFrame>
      <p:sp>
        <p:nvSpPr>
          <p:cNvPr id="86019" name="Rectangle 3"/>
          <p:cNvSpPr>
            <a:spLocks noChangeArrowheads="1"/>
          </p:cNvSpPr>
          <p:nvPr/>
        </p:nvSpPr>
        <p:spPr bwMode="auto">
          <a:xfrm>
            <a:off x="594836" y="3830479"/>
            <a:ext cx="7994809" cy="216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RR</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型调整操作示意图</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140000"/>
              </a:lnSpc>
              <a:spcBef>
                <a:spcPct val="20000"/>
              </a:spcBef>
              <a:spcAft>
                <a:spcPct val="20000"/>
              </a:spcAft>
            </a:pPr>
            <a:r>
              <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(α)A(β</a:t>
            </a:r>
            <a:r>
              <a:rPr kumimoji="1" lang="en-US" altLang="zh-CN" sz="28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Bγ</a:t>
            </a:r>
            <a:r>
              <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(αAβ)B(γ)</a:t>
            </a:r>
            <a:endParaRPr kumimoji="1" lang="en-US" altLang="zh-CN" sz="28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调整规则：将</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的右子女</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提升为新二叉树的根；原来的根</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连同其左子树向左下旋转成为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的原左子树作为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 </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graphicFrame>
        <p:nvGraphicFramePr>
          <p:cNvPr id="87043" name="Object 3"/>
          <p:cNvGraphicFramePr>
            <a:graphicFrameLocks noChangeAspect="1"/>
          </p:cNvGraphicFramePr>
          <p:nvPr/>
        </p:nvGraphicFramePr>
        <p:xfrm>
          <a:off x="1079500" y="944245"/>
          <a:ext cx="6737985" cy="2704465"/>
        </p:xfrm>
        <a:graphic>
          <a:graphicData uri="http://schemas.openxmlformats.org/presentationml/2006/ole">
            <mc:AlternateContent xmlns:mc="http://schemas.openxmlformats.org/markup-compatibility/2006">
              <mc:Choice xmlns:v="urn:schemas-microsoft-com:vml" Requires="v">
                <p:oleObj spid="_x0000_s87211" name="" r:id="rId1" imgW="5076190" imgH="2038985" progId="Word.Picture.8">
                  <p:embed/>
                </p:oleObj>
              </mc:Choice>
              <mc:Fallback>
                <p:oleObj name="" r:id="rId1" imgW="5076190" imgH="2038985"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0" y="944245"/>
                        <a:ext cx="6737985" cy="2704465"/>
                      </a:xfrm>
                      <a:prstGeom prst="rect">
                        <a:avLst/>
                      </a:prstGeom>
                      <a:noFill/>
                    </p:spPr>
                  </p:pic>
                </p:oleObj>
              </mc:Fallback>
            </mc:AlternateContent>
          </a:graphicData>
        </a:graphic>
      </p:graphicFrame>
      <p:sp>
        <p:nvSpPr>
          <p:cNvPr id="87044" name="Rectangle 4"/>
          <p:cNvSpPr>
            <a:spLocks noChangeArrowheads="1"/>
          </p:cNvSpPr>
          <p:nvPr/>
        </p:nvSpPr>
        <p:spPr bwMode="auto">
          <a:xfrm>
            <a:off x="624840" y="3645535"/>
            <a:ext cx="8061960" cy="263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rPr>
              <a:t>LR</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型调整操作示意图</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130000"/>
              </a:lnSpc>
            </a:pP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((α)B(β</a:t>
            </a:r>
            <a:r>
              <a:rPr kumimoji="1" lang="en-US" altLang="zh-CN" sz="24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Cγ</a:t>
            </a: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))A(δ)= (αBβ)C(</a:t>
            </a:r>
            <a:r>
              <a:rPr kumimoji="1" lang="en-US" altLang="zh-CN" sz="24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γAδ</a:t>
            </a: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调整规则：</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三种情况</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设</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的左子女的右子女，将</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的孙子结点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提升为新二叉树的根；原</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的父结点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连同其左子树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α</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向左下旋转成为新根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的左子树，原</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β</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成为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的右子树；原根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连同其右子树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δ</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向右下旋转成为新根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的右子树，原</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γ</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成为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 </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graphicFrame>
        <p:nvGraphicFramePr>
          <p:cNvPr id="88067" name="Object 3"/>
          <p:cNvGraphicFramePr>
            <a:graphicFrameLocks noChangeAspect="1"/>
          </p:cNvGraphicFramePr>
          <p:nvPr/>
        </p:nvGraphicFramePr>
        <p:xfrm>
          <a:off x="1126490" y="926465"/>
          <a:ext cx="6986270" cy="2690495"/>
        </p:xfrm>
        <a:graphic>
          <a:graphicData uri="http://schemas.openxmlformats.org/presentationml/2006/ole">
            <mc:AlternateContent xmlns:mc="http://schemas.openxmlformats.org/markup-compatibility/2006">
              <mc:Choice xmlns:v="urn:schemas-microsoft-com:vml" Requires="v">
                <p:oleObj spid="_x0000_s88235" name="" r:id="rId1" imgW="5096510" imgH="1962785" progId="Word.Picture.8">
                  <p:embed/>
                </p:oleObj>
              </mc:Choice>
              <mc:Fallback>
                <p:oleObj name="" r:id="rId1" imgW="5096510" imgH="1962785"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490" y="926465"/>
                        <a:ext cx="6986270" cy="2690495"/>
                      </a:xfrm>
                      <a:prstGeom prst="rect">
                        <a:avLst/>
                      </a:prstGeom>
                      <a:noFill/>
                    </p:spPr>
                  </p:pic>
                </p:oleObj>
              </mc:Fallback>
            </mc:AlternateContent>
          </a:graphicData>
        </a:graphic>
      </p:graphicFrame>
      <p:sp>
        <p:nvSpPr>
          <p:cNvPr id="88068" name="Rectangle 4"/>
          <p:cNvSpPr>
            <a:spLocks noChangeArrowheads="1"/>
          </p:cNvSpPr>
          <p:nvPr/>
        </p:nvSpPr>
        <p:spPr bwMode="auto">
          <a:xfrm>
            <a:off x="507365" y="3646170"/>
            <a:ext cx="8179435" cy="276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err="1">
                <a:latin typeface="Times New Roman" panose="02020603050405020304" pitchFamily="18" charset="0"/>
                <a:ea typeface="幼圆" panose="02010509060101010101" pitchFamily="49" charset="-122"/>
                <a:cs typeface="Times New Roman" panose="02020603050405020304" pitchFamily="18" charset="0"/>
              </a:rPr>
              <a:t>RL</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型调整操作示意图</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130000"/>
              </a:lnSpc>
            </a:pP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(α)A((β</a:t>
            </a:r>
            <a:r>
              <a:rPr kumimoji="1" lang="en-US" altLang="zh-CN" sz="24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Cγ</a:t>
            </a: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)B(δ))= (αAβ)C(</a:t>
            </a:r>
            <a:r>
              <a:rPr kumimoji="1" lang="en-US" altLang="zh-CN" sz="2400" b="1" dirty="0" err="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γBδ</a:t>
            </a:r>
            <a:r>
              <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调整规则：</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三种情况</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30000"/>
              </a:lnSpc>
            </a:pP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设</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的右子女的左子女，将</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的孙子结点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提升为新二叉树的根；原</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的父结点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连同其右子树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δ</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向右下旋转成为新根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的原右子树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γ</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成为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B</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的左子树；原根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连同其左子树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α</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向左下旋转成为新根</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的左子树，原</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C</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的左子树</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β</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成为</a:t>
            </a:r>
            <a:r>
              <a:rPr kumimoji="1" lang="en-US" altLang="zh-CN" dirty="0">
                <a:latin typeface="Times New Roman" panose="02020603050405020304" pitchFamily="18" charset="0"/>
                <a:ea typeface="幼圆" panose="02010509060101010101" pitchFamily="49" charset="-122"/>
                <a:cs typeface="Times New Roman" panose="02020603050405020304" pitchFamily="18" charset="0"/>
              </a:rPr>
              <a:t>A</a:t>
            </a:r>
            <a:r>
              <a:rPr kumimoji="1" lang="zh-CN" altLang="en-US" dirty="0">
                <a:latin typeface="Times New Roman" panose="02020603050405020304" pitchFamily="18" charset="0"/>
                <a:ea typeface="幼圆" panose="02010509060101010101" pitchFamily="49" charset="-122"/>
                <a:cs typeface="Times New Roman" panose="02020603050405020304" pitchFamily="18" charset="0"/>
              </a:rPr>
              <a:t>的右子树。 </a:t>
            </a:r>
            <a:endParaRPr kumimoji="1" lang="zh-CN" altLang="en-US"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ltLang="zh-CN">
                <a:sym typeface="+mn-ea"/>
              </a:rPr>
              <a:t>Example</a:t>
            </a:r>
            <a:endParaRPr lang="zh-CN" altLang="en-US" dirty="0">
              <a:solidFill>
                <a:srgbClr val="FF0000"/>
              </a:solidFill>
            </a:endParaRPr>
          </a:p>
        </p:txBody>
      </p:sp>
      <p:sp>
        <p:nvSpPr>
          <p:cNvPr id="203812" name="Oval 36"/>
          <p:cNvSpPr>
            <a:spLocks noChangeArrowheads="1"/>
          </p:cNvSpPr>
          <p:nvPr/>
        </p:nvSpPr>
        <p:spPr bwMode="auto">
          <a:xfrm>
            <a:off x="2272665" y="22051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3813" name="Oval 37"/>
          <p:cNvSpPr>
            <a:spLocks noChangeArrowheads="1"/>
          </p:cNvSpPr>
          <p:nvPr/>
        </p:nvSpPr>
        <p:spPr bwMode="auto">
          <a:xfrm>
            <a:off x="1415415" y="22051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3814" name="Line 38"/>
          <p:cNvSpPr>
            <a:spLocks noChangeShapeType="1"/>
          </p:cNvSpPr>
          <p:nvPr/>
        </p:nvSpPr>
        <p:spPr bwMode="auto">
          <a:xfrm flipH="1">
            <a:off x="204406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15" name="Oval 39"/>
          <p:cNvSpPr>
            <a:spLocks noChangeArrowheads="1"/>
          </p:cNvSpPr>
          <p:nvPr/>
        </p:nvSpPr>
        <p:spPr bwMode="auto">
          <a:xfrm>
            <a:off x="181546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3816" name="Oval 40"/>
          <p:cNvSpPr>
            <a:spLocks noChangeArrowheads="1"/>
          </p:cNvSpPr>
          <p:nvPr/>
        </p:nvSpPr>
        <p:spPr bwMode="auto">
          <a:xfrm>
            <a:off x="3129915" y="22051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16</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3817" name="Line 41"/>
          <p:cNvSpPr>
            <a:spLocks noChangeShapeType="1"/>
          </p:cNvSpPr>
          <p:nvPr/>
        </p:nvSpPr>
        <p:spPr bwMode="auto">
          <a:xfrm flipH="1">
            <a:off x="290131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18" name="Oval 42"/>
          <p:cNvSpPr>
            <a:spLocks noChangeArrowheads="1"/>
          </p:cNvSpPr>
          <p:nvPr/>
        </p:nvSpPr>
        <p:spPr bwMode="auto">
          <a:xfrm>
            <a:off x="267271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3819" name="Text Box 43"/>
          <p:cNvSpPr txBox="1">
            <a:spLocks noChangeArrowheads="1"/>
          </p:cNvSpPr>
          <p:nvPr/>
        </p:nvSpPr>
        <p:spPr bwMode="auto">
          <a:xfrm>
            <a:off x="1905953" y="243379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20" name="Line 44"/>
          <p:cNvSpPr>
            <a:spLocks noChangeShapeType="1"/>
          </p:cNvSpPr>
          <p:nvPr/>
        </p:nvSpPr>
        <p:spPr bwMode="auto">
          <a:xfrm>
            <a:off x="2958465" y="300529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21" name="Oval 45"/>
          <p:cNvSpPr>
            <a:spLocks noChangeArrowheads="1"/>
          </p:cNvSpPr>
          <p:nvPr/>
        </p:nvSpPr>
        <p:spPr bwMode="auto">
          <a:xfrm>
            <a:off x="3129915" y="32338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3822" name="Text Box 46"/>
          <p:cNvSpPr txBox="1">
            <a:spLocks noChangeArrowheads="1"/>
          </p:cNvSpPr>
          <p:nvPr/>
        </p:nvSpPr>
        <p:spPr bwMode="auto">
          <a:xfrm>
            <a:off x="3277553" y="294814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23" name="Text Box 47"/>
          <p:cNvSpPr txBox="1">
            <a:spLocks noChangeArrowheads="1"/>
          </p:cNvSpPr>
          <p:nvPr/>
        </p:nvSpPr>
        <p:spPr bwMode="auto">
          <a:xfrm>
            <a:off x="2717959" y="2407603"/>
            <a:ext cx="3733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24" name="AutoShape 48"/>
          <p:cNvSpPr>
            <a:spLocks noChangeArrowheads="1"/>
          </p:cNvSpPr>
          <p:nvPr/>
        </p:nvSpPr>
        <p:spPr bwMode="auto">
          <a:xfrm>
            <a:off x="3587115" y="2776696"/>
            <a:ext cx="914400" cy="171450"/>
          </a:xfrm>
          <a:prstGeom prst="rightArrow">
            <a:avLst>
              <a:gd name="adj1" fmla="val 50000"/>
              <a:gd name="adj2" fmla="val 133333"/>
            </a:avLst>
          </a:prstGeom>
          <a:solidFill>
            <a:srgbClr val="CCECFF"/>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3825" name="Text Box 49"/>
          <p:cNvSpPr txBox="1">
            <a:spLocks noChangeArrowheads="1"/>
          </p:cNvSpPr>
          <p:nvPr/>
        </p:nvSpPr>
        <p:spPr bwMode="auto">
          <a:xfrm>
            <a:off x="3529965" y="2429034"/>
            <a:ext cx="1024255" cy="3219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Left Right</a:t>
            </a:r>
            <a:endPar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203826" name="Oval 50"/>
          <p:cNvSpPr>
            <a:spLocks noChangeArrowheads="1"/>
          </p:cNvSpPr>
          <p:nvPr/>
        </p:nvSpPr>
        <p:spPr bwMode="auto">
          <a:xfrm>
            <a:off x="5130165" y="22051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3827" name="Oval 51"/>
          <p:cNvSpPr>
            <a:spLocks noChangeArrowheads="1"/>
          </p:cNvSpPr>
          <p:nvPr/>
        </p:nvSpPr>
        <p:spPr bwMode="auto">
          <a:xfrm>
            <a:off x="461581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3828" name="Line 52"/>
          <p:cNvSpPr>
            <a:spLocks noChangeShapeType="1"/>
          </p:cNvSpPr>
          <p:nvPr/>
        </p:nvSpPr>
        <p:spPr bwMode="auto">
          <a:xfrm flipH="1">
            <a:off x="490156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29" name="Line 53"/>
          <p:cNvSpPr>
            <a:spLocks noChangeShapeType="1"/>
          </p:cNvSpPr>
          <p:nvPr/>
        </p:nvSpPr>
        <p:spPr bwMode="auto">
          <a:xfrm>
            <a:off x="541591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30" name="Oval 54"/>
          <p:cNvSpPr>
            <a:spLocks noChangeArrowheads="1"/>
          </p:cNvSpPr>
          <p:nvPr/>
        </p:nvSpPr>
        <p:spPr bwMode="auto">
          <a:xfrm>
            <a:off x="558736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3831" name="Text Box 55"/>
          <p:cNvSpPr txBox="1">
            <a:spLocks noChangeArrowheads="1"/>
          </p:cNvSpPr>
          <p:nvPr/>
        </p:nvSpPr>
        <p:spPr bwMode="auto">
          <a:xfrm>
            <a:off x="4661059" y="240760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32" name="Text Box 56"/>
          <p:cNvSpPr txBox="1">
            <a:spLocks noChangeArrowheads="1"/>
          </p:cNvSpPr>
          <p:nvPr/>
        </p:nvSpPr>
        <p:spPr bwMode="auto">
          <a:xfrm>
            <a:off x="5632609" y="240760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33" name="Oval 57"/>
          <p:cNvSpPr>
            <a:spLocks noChangeArrowheads="1"/>
          </p:cNvSpPr>
          <p:nvPr/>
        </p:nvSpPr>
        <p:spPr bwMode="auto">
          <a:xfrm>
            <a:off x="6730365" y="22051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3834" name="Line 58"/>
          <p:cNvSpPr>
            <a:spLocks noChangeShapeType="1"/>
          </p:cNvSpPr>
          <p:nvPr/>
        </p:nvSpPr>
        <p:spPr bwMode="auto">
          <a:xfrm flipH="1">
            <a:off x="650176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35" name="Oval 59"/>
          <p:cNvSpPr>
            <a:spLocks noChangeArrowheads="1"/>
          </p:cNvSpPr>
          <p:nvPr/>
        </p:nvSpPr>
        <p:spPr bwMode="auto">
          <a:xfrm>
            <a:off x="621601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3836" name="Line 60"/>
          <p:cNvSpPr>
            <a:spLocks noChangeShapeType="1"/>
          </p:cNvSpPr>
          <p:nvPr/>
        </p:nvSpPr>
        <p:spPr bwMode="auto">
          <a:xfrm>
            <a:off x="7016115" y="249094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37" name="Line 61"/>
          <p:cNvSpPr>
            <a:spLocks noChangeShapeType="1"/>
          </p:cNvSpPr>
          <p:nvPr/>
        </p:nvSpPr>
        <p:spPr bwMode="auto">
          <a:xfrm flipH="1">
            <a:off x="7016115" y="300529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3838" name="Oval 62"/>
          <p:cNvSpPr>
            <a:spLocks noChangeArrowheads="1"/>
          </p:cNvSpPr>
          <p:nvPr/>
        </p:nvSpPr>
        <p:spPr bwMode="auto">
          <a:xfrm>
            <a:off x="6730365" y="323389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3839" name="Text Box 63"/>
          <p:cNvSpPr txBox="1">
            <a:spLocks noChangeArrowheads="1"/>
          </p:cNvSpPr>
          <p:nvPr/>
        </p:nvSpPr>
        <p:spPr bwMode="auto">
          <a:xfrm>
            <a:off x="6775609" y="292195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40" name="Text Box 64"/>
          <p:cNvSpPr txBox="1">
            <a:spLocks noChangeArrowheads="1"/>
          </p:cNvSpPr>
          <p:nvPr/>
        </p:nvSpPr>
        <p:spPr bwMode="auto">
          <a:xfrm>
            <a:off x="7347109" y="240760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41" name="Oval 65"/>
          <p:cNvSpPr>
            <a:spLocks noChangeArrowheads="1"/>
          </p:cNvSpPr>
          <p:nvPr/>
        </p:nvSpPr>
        <p:spPr bwMode="auto">
          <a:xfrm>
            <a:off x="7187565" y="271954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3842" name="Text Box 66"/>
          <p:cNvSpPr txBox="1">
            <a:spLocks noChangeArrowheads="1"/>
          </p:cNvSpPr>
          <p:nvPr/>
        </p:nvSpPr>
        <p:spPr bwMode="auto">
          <a:xfrm>
            <a:off x="2284571" y="1850390"/>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3843" name="Text Box 67"/>
          <p:cNvSpPr txBox="1">
            <a:spLocks noChangeArrowheads="1"/>
          </p:cNvSpPr>
          <p:nvPr/>
        </p:nvSpPr>
        <p:spPr bwMode="auto">
          <a:xfrm>
            <a:off x="3147775" y="1850390"/>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908" name="Rectangle 84"/>
          <p:cNvSpPr>
            <a:spLocks noChangeArrowheads="1"/>
          </p:cNvSpPr>
          <p:nvPr/>
        </p:nvSpPr>
        <p:spPr bwMode="auto">
          <a:xfrm>
            <a:off x="2355056" y="942194"/>
            <a:ext cx="44665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spcBef>
                <a:spcPct val="20000"/>
              </a:spcBef>
              <a:buClr>
                <a:schemeClr val="hlink"/>
              </a:buClr>
              <a:buSzPct val="75000"/>
              <a:buFont typeface="Wingdings" panose="05000000000000000000" pitchFamily="2" charset="2"/>
              <a:buNone/>
            </a:pPr>
            <a:r>
              <a:rPr kumimoji="1" lang="en-US" altLang="zh-CN" sz="2400" b="1" dirty="0">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 16, 3, 7, 11, 9, 26, 18, 14, 15 }</a:t>
            </a:r>
            <a:endParaRPr kumimoji="1" lang="en-US" altLang="zh-CN" sz="2400" b="1" dirty="0">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Example</a:t>
            </a:r>
            <a:endParaRPr lang="zh-CN" altLang="en-US"/>
          </a:p>
        </p:txBody>
      </p:sp>
      <p:sp>
        <p:nvSpPr>
          <p:cNvPr id="205828" name="Line 4"/>
          <p:cNvSpPr>
            <a:spLocks noChangeShapeType="1"/>
          </p:cNvSpPr>
          <p:nvPr/>
        </p:nvSpPr>
        <p:spPr bwMode="auto">
          <a:xfrm flipH="1">
            <a:off x="417195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29" name="Oval 5"/>
          <p:cNvSpPr>
            <a:spLocks noChangeArrowheads="1"/>
          </p:cNvSpPr>
          <p:nvPr/>
        </p:nvSpPr>
        <p:spPr bwMode="auto">
          <a:xfrm>
            <a:off x="1771650" y="17740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30" name="Line 6"/>
          <p:cNvSpPr>
            <a:spLocks noChangeShapeType="1"/>
          </p:cNvSpPr>
          <p:nvPr/>
        </p:nvSpPr>
        <p:spPr bwMode="auto">
          <a:xfrm flipH="1">
            <a:off x="154305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31" name="Oval 7"/>
          <p:cNvSpPr>
            <a:spLocks noChangeArrowheads="1"/>
          </p:cNvSpPr>
          <p:nvPr/>
        </p:nvSpPr>
        <p:spPr bwMode="auto">
          <a:xfrm>
            <a:off x="131445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32" name="Line 8"/>
          <p:cNvSpPr>
            <a:spLocks noChangeShapeType="1"/>
          </p:cNvSpPr>
          <p:nvPr/>
        </p:nvSpPr>
        <p:spPr bwMode="auto">
          <a:xfrm>
            <a:off x="205740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33" name="Oval 9"/>
          <p:cNvSpPr>
            <a:spLocks noChangeArrowheads="1"/>
          </p:cNvSpPr>
          <p:nvPr/>
        </p:nvSpPr>
        <p:spPr bwMode="auto">
          <a:xfrm>
            <a:off x="228600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16</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5834" name="Line 10"/>
          <p:cNvSpPr>
            <a:spLocks noChangeShapeType="1"/>
          </p:cNvSpPr>
          <p:nvPr/>
        </p:nvSpPr>
        <p:spPr bwMode="auto">
          <a:xfrm flipH="1">
            <a:off x="2000250" y="2574131"/>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35" name="Oval 11"/>
          <p:cNvSpPr>
            <a:spLocks noChangeArrowheads="1"/>
          </p:cNvSpPr>
          <p:nvPr/>
        </p:nvSpPr>
        <p:spPr bwMode="auto">
          <a:xfrm>
            <a:off x="1771650" y="28027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11</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5836" name="Line 12"/>
          <p:cNvSpPr>
            <a:spLocks noChangeShapeType="1"/>
          </p:cNvSpPr>
          <p:nvPr/>
        </p:nvSpPr>
        <p:spPr bwMode="auto">
          <a:xfrm flipH="1">
            <a:off x="1485900" y="3088481"/>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37" name="Oval 13"/>
          <p:cNvSpPr>
            <a:spLocks noChangeArrowheads="1"/>
          </p:cNvSpPr>
          <p:nvPr/>
        </p:nvSpPr>
        <p:spPr bwMode="auto">
          <a:xfrm>
            <a:off x="1314450" y="32599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5838" name="Text Box 14"/>
          <p:cNvSpPr txBox="1">
            <a:spLocks noChangeArrowheads="1"/>
          </p:cNvSpPr>
          <p:nvPr/>
        </p:nvSpPr>
        <p:spPr bwMode="auto">
          <a:xfrm>
            <a:off x="1359694" y="294798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39" name="Text Box 15"/>
          <p:cNvSpPr txBox="1">
            <a:spLocks noChangeArrowheads="1"/>
          </p:cNvSpPr>
          <p:nvPr/>
        </p:nvSpPr>
        <p:spPr bwMode="auto">
          <a:xfrm>
            <a:off x="1816894" y="249078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40" name="Text Box 16"/>
          <p:cNvSpPr txBox="1">
            <a:spLocks noChangeArrowheads="1"/>
          </p:cNvSpPr>
          <p:nvPr/>
        </p:nvSpPr>
        <p:spPr bwMode="auto">
          <a:xfrm>
            <a:off x="2400300" y="197643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41" name="AutoShape 17"/>
          <p:cNvSpPr>
            <a:spLocks noChangeArrowheads="1"/>
          </p:cNvSpPr>
          <p:nvPr/>
        </p:nvSpPr>
        <p:spPr bwMode="auto">
          <a:xfrm>
            <a:off x="2800350" y="2631281"/>
            <a:ext cx="914400" cy="171450"/>
          </a:xfrm>
          <a:prstGeom prst="rightArrow">
            <a:avLst>
              <a:gd name="adj1" fmla="val 50000"/>
              <a:gd name="adj2" fmla="val 133333"/>
            </a:avLst>
          </a:prstGeom>
          <a:solidFill>
            <a:srgbClr val="CCECFF"/>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5842" name="Text Box 18"/>
          <p:cNvSpPr txBox="1">
            <a:spLocks noChangeArrowheads="1"/>
          </p:cNvSpPr>
          <p:nvPr/>
        </p:nvSpPr>
        <p:spPr bwMode="auto">
          <a:xfrm>
            <a:off x="2788444" y="2297906"/>
            <a:ext cx="638175" cy="3219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Right</a:t>
            </a:r>
            <a:endPar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205843" name="Oval 19"/>
          <p:cNvSpPr>
            <a:spLocks noChangeArrowheads="1"/>
          </p:cNvSpPr>
          <p:nvPr/>
        </p:nvSpPr>
        <p:spPr bwMode="auto">
          <a:xfrm>
            <a:off x="394335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44" name="Line 20"/>
          <p:cNvSpPr>
            <a:spLocks noChangeShapeType="1"/>
          </p:cNvSpPr>
          <p:nvPr/>
        </p:nvSpPr>
        <p:spPr bwMode="auto">
          <a:xfrm>
            <a:off x="462915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45" name="Oval 21"/>
          <p:cNvSpPr>
            <a:spLocks noChangeArrowheads="1"/>
          </p:cNvSpPr>
          <p:nvPr/>
        </p:nvSpPr>
        <p:spPr bwMode="auto">
          <a:xfrm>
            <a:off x="4400550" y="17740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46" name="Line 22"/>
          <p:cNvSpPr>
            <a:spLocks noChangeShapeType="1"/>
          </p:cNvSpPr>
          <p:nvPr/>
        </p:nvSpPr>
        <p:spPr bwMode="auto">
          <a:xfrm>
            <a:off x="5086350" y="2574131"/>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47" name="Oval 23"/>
          <p:cNvSpPr>
            <a:spLocks noChangeArrowheads="1"/>
          </p:cNvSpPr>
          <p:nvPr/>
        </p:nvSpPr>
        <p:spPr bwMode="auto">
          <a:xfrm>
            <a:off x="5314950" y="28027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48" name="Line 24"/>
          <p:cNvSpPr>
            <a:spLocks noChangeShapeType="1"/>
          </p:cNvSpPr>
          <p:nvPr/>
        </p:nvSpPr>
        <p:spPr bwMode="auto">
          <a:xfrm flipH="1">
            <a:off x="4572000" y="2574131"/>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49" name="Oval 25"/>
          <p:cNvSpPr>
            <a:spLocks noChangeArrowheads="1"/>
          </p:cNvSpPr>
          <p:nvPr/>
        </p:nvSpPr>
        <p:spPr bwMode="auto">
          <a:xfrm>
            <a:off x="4400550" y="28027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50" name="Text Box 26"/>
          <p:cNvSpPr txBox="1">
            <a:spLocks noChangeArrowheads="1"/>
          </p:cNvSpPr>
          <p:nvPr/>
        </p:nvSpPr>
        <p:spPr bwMode="auto">
          <a:xfrm>
            <a:off x="4445794" y="249078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51" name="Text Box 27"/>
          <p:cNvSpPr txBox="1">
            <a:spLocks noChangeArrowheads="1"/>
          </p:cNvSpPr>
          <p:nvPr/>
        </p:nvSpPr>
        <p:spPr bwMode="auto">
          <a:xfrm>
            <a:off x="5360194" y="249078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52" name="Text Box 28"/>
          <p:cNvSpPr txBox="1">
            <a:spLocks noChangeArrowheads="1"/>
          </p:cNvSpPr>
          <p:nvPr/>
        </p:nvSpPr>
        <p:spPr bwMode="auto">
          <a:xfrm>
            <a:off x="4902994" y="197643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53" name="Text Box 29"/>
          <p:cNvSpPr txBox="1">
            <a:spLocks noChangeArrowheads="1"/>
          </p:cNvSpPr>
          <p:nvPr/>
        </p:nvSpPr>
        <p:spPr bwMode="auto">
          <a:xfrm>
            <a:off x="4502944" y="1431131"/>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54" name="Line 30"/>
          <p:cNvSpPr>
            <a:spLocks noChangeShapeType="1"/>
          </p:cNvSpPr>
          <p:nvPr/>
        </p:nvSpPr>
        <p:spPr bwMode="auto">
          <a:xfrm flipH="1">
            <a:off x="605790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55" name="Oval 31"/>
          <p:cNvSpPr>
            <a:spLocks noChangeArrowheads="1"/>
          </p:cNvSpPr>
          <p:nvPr/>
        </p:nvSpPr>
        <p:spPr bwMode="auto">
          <a:xfrm>
            <a:off x="582930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56" name="Oval 32"/>
          <p:cNvSpPr>
            <a:spLocks noChangeArrowheads="1"/>
          </p:cNvSpPr>
          <p:nvPr/>
        </p:nvSpPr>
        <p:spPr bwMode="auto">
          <a:xfrm>
            <a:off x="6286500" y="17740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5857" name="Line 33"/>
          <p:cNvSpPr>
            <a:spLocks noChangeShapeType="1"/>
          </p:cNvSpPr>
          <p:nvPr/>
        </p:nvSpPr>
        <p:spPr bwMode="auto">
          <a:xfrm>
            <a:off x="6572250" y="205978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58" name="Oval 34"/>
          <p:cNvSpPr>
            <a:spLocks noChangeArrowheads="1"/>
          </p:cNvSpPr>
          <p:nvPr/>
        </p:nvSpPr>
        <p:spPr bwMode="auto">
          <a:xfrm>
            <a:off x="674370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11</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5859" name="Line 35"/>
          <p:cNvSpPr>
            <a:spLocks noChangeShapeType="1"/>
          </p:cNvSpPr>
          <p:nvPr/>
        </p:nvSpPr>
        <p:spPr bwMode="auto">
          <a:xfrm>
            <a:off x="7029450" y="2574131"/>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60" name="Line 36"/>
          <p:cNvSpPr>
            <a:spLocks noChangeShapeType="1"/>
          </p:cNvSpPr>
          <p:nvPr/>
        </p:nvSpPr>
        <p:spPr bwMode="auto">
          <a:xfrm>
            <a:off x="7429500" y="3088481"/>
            <a:ext cx="342900" cy="34290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61" name="Oval 37"/>
          <p:cNvSpPr>
            <a:spLocks noChangeArrowheads="1"/>
          </p:cNvSpPr>
          <p:nvPr/>
        </p:nvSpPr>
        <p:spPr bwMode="auto">
          <a:xfrm>
            <a:off x="7600950" y="33170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62" name="Line 38"/>
          <p:cNvSpPr>
            <a:spLocks noChangeShapeType="1"/>
          </p:cNvSpPr>
          <p:nvPr/>
        </p:nvSpPr>
        <p:spPr bwMode="auto">
          <a:xfrm flipH="1">
            <a:off x="6457950" y="2574131"/>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63" name="Oval 39"/>
          <p:cNvSpPr>
            <a:spLocks noChangeArrowheads="1"/>
          </p:cNvSpPr>
          <p:nvPr/>
        </p:nvSpPr>
        <p:spPr bwMode="auto">
          <a:xfrm>
            <a:off x="6286500" y="28027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64" name="Oval 40"/>
          <p:cNvSpPr>
            <a:spLocks noChangeArrowheads="1"/>
          </p:cNvSpPr>
          <p:nvPr/>
        </p:nvSpPr>
        <p:spPr bwMode="auto">
          <a:xfrm>
            <a:off x="7200900" y="280273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16</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5865" name="Oval 41"/>
          <p:cNvSpPr>
            <a:spLocks noChangeArrowheads="1"/>
          </p:cNvSpPr>
          <p:nvPr/>
        </p:nvSpPr>
        <p:spPr bwMode="auto">
          <a:xfrm>
            <a:off x="4800600" y="2288381"/>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66" name="Text Box 42"/>
          <p:cNvSpPr txBox="1">
            <a:spLocks noChangeArrowheads="1"/>
          </p:cNvSpPr>
          <p:nvPr/>
        </p:nvSpPr>
        <p:spPr bwMode="auto">
          <a:xfrm>
            <a:off x="7703344" y="3005138"/>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67" name="Text Box 43"/>
          <p:cNvSpPr txBox="1">
            <a:spLocks noChangeArrowheads="1"/>
          </p:cNvSpPr>
          <p:nvPr/>
        </p:nvSpPr>
        <p:spPr bwMode="auto">
          <a:xfrm>
            <a:off x="7303294" y="2490788"/>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68" name="Text Box 44"/>
          <p:cNvSpPr txBox="1">
            <a:spLocks noChangeArrowheads="1"/>
          </p:cNvSpPr>
          <p:nvPr/>
        </p:nvSpPr>
        <p:spPr bwMode="auto">
          <a:xfrm>
            <a:off x="6846094" y="1976438"/>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69" name="Text Box 45"/>
          <p:cNvSpPr txBox="1">
            <a:spLocks noChangeArrowheads="1"/>
          </p:cNvSpPr>
          <p:nvPr/>
        </p:nvSpPr>
        <p:spPr bwMode="auto">
          <a:xfrm>
            <a:off x="6388894" y="1462088"/>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70" name="Text Box 46"/>
          <p:cNvSpPr txBox="1">
            <a:spLocks noChangeArrowheads="1"/>
          </p:cNvSpPr>
          <p:nvPr/>
        </p:nvSpPr>
        <p:spPr bwMode="auto">
          <a:xfrm>
            <a:off x="1988344" y="1462088"/>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71" name="Line 47"/>
          <p:cNvSpPr>
            <a:spLocks noChangeShapeType="1"/>
          </p:cNvSpPr>
          <p:nvPr/>
        </p:nvSpPr>
        <p:spPr bwMode="auto">
          <a:xfrm>
            <a:off x="5143500" y="448508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72" name="Line 48"/>
          <p:cNvSpPr>
            <a:spLocks noChangeShapeType="1"/>
          </p:cNvSpPr>
          <p:nvPr/>
        </p:nvSpPr>
        <p:spPr bwMode="auto">
          <a:xfrm flipH="1">
            <a:off x="4686300" y="4427935"/>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73" name="Line 49"/>
          <p:cNvSpPr>
            <a:spLocks noChangeShapeType="1"/>
          </p:cNvSpPr>
          <p:nvPr/>
        </p:nvSpPr>
        <p:spPr bwMode="auto">
          <a:xfrm>
            <a:off x="3143250" y="3913585"/>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74" name="Line 50"/>
          <p:cNvSpPr>
            <a:spLocks noChangeShapeType="1"/>
          </p:cNvSpPr>
          <p:nvPr/>
        </p:nvSpPr>
        <p:spPr bwMode="auto">
          <a:xfrm>
            <a:off x="3600450" y="4427935"/>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75" name="Text Box 51"/>
          <p:cNvSpPr txBox="1">
            <a:spLocks noChangeArrowheads="1"/>
          </p:cNvSpPr>
          <p:nvPr/>
        </p:nvSpPr>
        <p:spPr bwMode="auto">
          <a:xfrm>
            <a:off x="2343150" y="3913585"/>
            <a:ext cx="2971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76" name="Line 52"/>
          <p:cNvSpPr>
            <a:spLocks noChangeShapeType="1"/>
          </p:cNvSpPr>
          <p:nvPr/>
        </p:nvSpPr>
        <p:spPr bwMode="auto">
          <a:xfrm flipH="1">
            <a:off x="2228850" y="448508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77" name="Oval 53"/>
          <p:cNvSpPr>
            <a:spLocks noChangeArrowheads="1"/>
          </p:cNvSpPr>
          <p:nvPr/>
        </p:nvSpPr>
        <p:spPr bwMode="auto">
          <a:xfrm>
            <a:off x="194310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78" name="Oval 54"/>
          <p:cNvSpPr>
            <a:spLocks noChangeArrowheads="1"/>
          </p:cNvSpPr>
          <p:nvPr/>
        </p:nvSpPr>
        <p:spPr bwMode="auto">
          <a:xfrm>
            <a:off x="3371850" y="419933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79" name="Text Box 55"/>
          <p:cNvSpPr txBox="1">
            <a:spLocks noChangeArrowheads="1"/>
          </p:cNvSpPr>
          <p:nvPr/>
        </p:nvSpPr>
        <p:spPr bwMode="auto">
          <a:xfrm>
            <a:off x="3200400" y="3513535"/>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80" name="Text Box 56"/>
          <p:cNvSpPr txBox="1">
            <a:spLocks noChangeArrowheads="1"/>
          </p:cNvSpPr>
          <p:nvPr/>
        </p:nvSpPr>
        <p:spPr bwMode="auto">
          <a:xfrm>
            <a:off x="6148388" y="3913585"/>
            <a:ext cx="3733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81" name="AutoShape 57"/>
          <p:cNvSpPr>
            <a:spLocks noChangeArrowheads="1"/>
          </p:cNvSpPr>
          <p:nvPr/>
        </p:nvSpPr>
        <p:spPr bwMode="auto">
          <a:xfrm>
            <a:off x="6743700" y="4256485"/>
            <a:ext cx="914400" cy="171450"/>
          </a:xfrm>
          <a:prstGeom prst="rightArrow">
            <a:avLst>
              <a:gd name="adj1" fmla="val 50000"/>
              <a:gd name="adj2" fmla="val 133333"/>
            </a:avLst>
          </a:prstGeom>
          <a:solidFill>
            <a:srgbClr val="CCECFF"/>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5882" name="Text Box 58"/>
          <p:cNvSpPr txBox="1">
            <a:spLocks noChangeArrowheads="1"/>
          </p:cNvSpPr>
          <p:nvPr/>
        </p:nvSpPr>
        <p:spPr bwMode="auto">
          <a:xfrm>
            <a:off x="6686550" y="3908822"/>
            <a:ext cx="1024255" cy="3219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Right Left</a:t>
            </a:r>
            <a:endPar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205883" name="Oval 59"/>
          <p:cNvSpPr>
            <a:spLocks noChangeArrowheads="1"/>
          </p:cNvSpPr>
          <p:nvPr/>
        </p:nvSpPr>
        <p:spPr bwMode="auto">
          <a:xfrm>
            <a:off x="4914900" y="419933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84" name="Oval 60"/>
          <p:cNvSpPr>
            <a:spLocks noChangeArrowheads="1"/>
          </p:cNvSpPr>
          <p:nvPr/>
        </p:nvSpPr>
        <p:spPr bwMode="auto">
          <a:xfrm>
            <a:off x="445770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85" name="Oval 61"/>
          <p:cNvSpPr>
            <a:spLocks noChangeArrowheads="1"/>
          </p:cNvSpPr>
          <p:nvPr/>
        </p:nvSpPr>
        <p:spPr bwMode="auto">
          <a:xfrm>
            <a:off x="531495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9</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86" name="Text Box 62"/>
          <p:cNvSpPr txBox="1">
            <a:spLocks noChangeArrowheads="1"/>
          </p:cNvSpPr>
          <p:nvPr/>
        </p:nvSpPr>
        <p:spPr bwMode="auto">
          <a:xfrm>
            <a:off x="6034088" y="4942285"/>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87" name="Oval 63"/>
          <p:cNvSpPr>
            <a:spLocks noChangeArrowheads="1"/>
          </p:cNvSpPr>
          <p:nvPr/>
        </p:nvSpPr>
        <p:spPr bwMode="auto">
          <a:xfrm>
            <a:off x="5943600" y="522803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18</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5888" name="Line 64"/>
          <p:cNvSpPr>
            <a:spLocks noChangeShapeType="1"/>
          </p:cNvSpPr>
          <p:nvPr/>
        </p:nvSpPr>
        <p:spPr bwMode="auto">
          <a:xfrm flipH="1">
            <a:off x="6229350" y="499943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89" name="Oval 65"/>
          <p:cNvSpPr>
            <a:spLocks noChangeArrowheads="1"/>
          </p:cNvSpPr>
          <p:nvPr/>
        </p:nvSpPr>
        <p:spPr bwMode="auto">
          <a:xfrm>
            <a:off x="645795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rPr>
              <a:t>26</a:t>
            </a:r>
            <a:endParaRPr lang="en-US" altLang="zh-CN" sz="2100" b="1">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5890" name="Line 66"/>
          <p:cNvSpPr>
            <a:spLocks noChangeShapeType="1"/>
          </p:cNvSpPr>
          <p:nvPr/>
        </p:nvSpPr>
        <p:spPr bwMode="auto">
          <a:xfrm>
            <a:off x="5715000" y="397073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91" name="Line 67"/>
          <p:cNvSpPr>
            <a:spLocks noChangeShapeType="1"/>
          </p:cNvSpPr>
          <p:nvPr/>
        </p:nvSpPr>
        <p:spPr bwMode="auto">
          <a:xfrm flipH="1">
            <a:off x="5200650" y="397073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92" name="Oval 68"/>
          <p:cNvSpPr>
            <a:spLocks noChangeArrowheads="1"/>
          </p:cNvSpPr>
          <p:nvPr/>
        </p:nvSpPr>
        <p:spPr bwMode="auto">
          <a:xfrm>
            <a:off x="5429250" y="36849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893" name="Text Box 69"/>
          <p:cNvSpPr txBox="1">
            <a:spLocks noChangeArrowheads="1"/>
          </p:cNvSpPr>
          <p:nvPr/>
        </p:nvSpPr>
        <p:spPr bwMode="auto">
          <a:xfrm>
            <a:off x="6572250" y="4427935"/>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894" name="Line 70"/>
          <p:cNvSpPr>
            <a:spLocks noChangeShapeType="1"/>
          </p:cNvSpPr>
          <p:nvPr/>
        </p:nvSpPr>
        <p:spPr bwMode="auto">
          <a:xfrm>
            <a:off x="2686050" y="4485085"/>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895" name="Oval 71"/>
          <p:cNvSpPr>
            <a:spLocks noChangeArrowheads="1"/>
          </p:cNvSpPr>
          <p:nvPr/>
        </p:nvSpPr>
        <p:spPr bwMode="auto">
          <a:xfrm>
            <a:off x="5943600" y="419933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16</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5896" name="Oval 72"/>
          <p:cNvSpPr>
            <a:spLocks noChangeArrowheads="1"/>
          </p:cNvSpPr>
          <p:nvPr/>
        </p:nvSpPr>
        <p:spPr bwMode="auto">
          <a:xfrm>
            <a:off x="285750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897" name="AutoShape 73"/>
          <p:cNvSpPr>
            <a:spLocks noChangeArrowheads="1"/>
          </p:cNvSpPr>
          <p:nvPr/>
        </p:nvSpPr>
        <p:spPr bwMode="auto">
          <a:xfrm>
            <a:off x="1371600" y="4256485"/>
            <a:ext cx="914400" cy="171450"/>
          </a:xfrm>
          <a:prstGeom prst="rightArrow">
            <a:avLst>
              <a:gd name="adj1" fmla="val 50000"/>
              <a:gd name="adj2" fmla="val 133333"/>
            </a:avLst>
          </a:prstGeom>
          <a:solidFill>
            <a:srgbClr val="CCECFF"/>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5898" name="Text Box 74"/>
          <p:cNvSpPr txBox="1">
            <a:spLocks noChangeArrowheads="1"/>
          </p:cNvSpPr>
          <p:nvPr/>
        </p:nvSpPr>
        <p:spPr bwMode="auto">
          <a:xfrm>
            <a:off x="1371600" y="3908822"/>
            <a:ext cx="521335" cy="3219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Left</a:t>
            </a:r>
            <a:endPar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205900" name="Text Box 76"/>
          <p:cNvSpPr txBox="1">
            <a:spLocks noChangeArrowheads="1"/>
          </p:cNvSpPr>
          <p:nvPr/>
        </p:nvSpPr>
        <p:spPr bwMode="auto">
          <a:xfrm>
            <a:off x="3576638" y="3913585"/>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901" name="Line 77"/>
          <p:cNvSpPr>
            <a:spLocks noChangeShapeType="1"/>
          </p:cNvSpPr>
          <p:nvPr/>
        </p:nvSpPr>
        <p:spPr bwMode="auto">
          <a:xfrm flipH="1">
            <a:off x="2686050" y="397073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902" name="Oval 78"/>
          <p:cNvSpPr>
            <a:spLocks noChangeArrowheads="1"/>
          </p:cNvSpPr>
          <p:nvPr/>
        </p:nvSpPr>
        <p:spPr bwMode="auto">
          <a:xfrm>
            <a:off x="2457450" y="419933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903" name="Oval 79"/>
          <p:cNvSpPr>
            <a:spLocks noChangeArrowheads="1"/>
          </p:cNvSpPr>
          <p:nvPr/>
        </p:nvSpPr>
        <p:spPr bwMode="auto">
          <a:xfrm>
            <a:off x="2914650" y="36849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11</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5904" name="Line 80"/>
          <p:cNvSpPr>
            <a:spLocks noChangeShapeType="1"/>
          </p:cNvSpPr>
          <p:nvPr/>
        </p:nvSpPr>
        <p:spPr bwMode="auto">
          <a:xfrm>
            <a:off x="6229350" y="4485085"/>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5905" name="Oval 81"/>
          <p:cNvSpPr>
            <a:spLocks noChangeArrowheads="1"/>
          </p:cNvSpPr>
          <p:nvPr/>
        </p:nvSpPr>
        <p:spPr bwMode="auto">
          <a:xfrm>
            <a:off x="3829050" y="4713685"/>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5906" name="Text Box 82"/>
          <p:cNvSpPr txBox="1">
            <a:spLocks noChangeArrowheads="1"/>
          </p:cNvSpPr>
          <p:nvPr/>
        </p:nvSpPr>
        <p:spPr bwMode="auto">
          <a:xfrm>
            <a:off x="5748338" y="3456385"/>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5908" name="Rectangle 84"/>
          <p:cNvSpPr>
            <a:spLocks noChangeArrowheads="1"/>
          </p:cNvSpPr>
          <p:nvPr/>
        </p:nvSpPr>
        <p:spPr bwMode="auto">
          <a:xfrm>
            <a:off x="2355056" y="942194"/>
            <a:ext cx="44665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hlink"/>
              </a:buClr>
              <a:buSzPct val="75000"/>
              <a:buFont typeface="Wingdings" panose="05000000000000000000" pitchFamily="2" charset="2"/>
              <a:buNone/>
            </a:pPr>
            <a:r>
              <a:rPr kumimoji="1" lang="en-US" altLang="zh-CN" sz="2400" b="1" dirty="0">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 16, 3, 7, 11, 9, 26, 18, 14, 15 }</a:t>
            </a:r>
            <a:endParaRPr kumimoji="1" lang="en-US" altLang="zh-CN" sz="2400" b="1" dirty="0">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sym typeface="+mn-ea"/>
              </a:rPr>
              <a:t>Example</a:t>
            </a:r>
            <a:endParaRPr lang="zh-CN" altLang="en-US"/>
          </a:p>
        </p:txBody>
      </p:sp>
      <p:sp>
        <p:nvSpPr>
          <p:cNvPr id="206852" name="Line 4"/>
          <p:cNvSpPr>
            <a:spLocks noChangeShapeType="1"/>
          </p:cNvSpPr>
          <p:nvPr/>
        </p:nvSpPr>
        <p:spPr bwMode="auto">
          <a:xfrm flipH="1">
            <a:off x="5595938" y="3021330"/>
            <a:ext cx="22860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3" name="Line 5"/>
          <p:cNvSpPr>
            <a:spLocks noChangeShapeType="1"/>
          </p:cNvSpPr>
          <p:nvPr/>
        </p:nvSpPr>
        <p:spPr bwMode="auto">
          <a:xfrm>
            <a:off x="5253038" y="2449830"/>
            <a:ext cx="11430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4" name="Line 6"/>
          <p:cNvSpPr>
            <a:spLocks noChangeShapeType="1"/>
          </p:cNvSpPr>
          <p:nvPr/>
        </p:nvSpPr>
        <p:spPr bwMode="auto">
          <a:xfrm flipH="1">
            <a:off x="5995988" y="2449830"/>
            <a:ext cx="1714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5" name="Line 7"/>
          <p:cNvSpPr>
            <a:spLocks noChangeShapeType="1"/>
          </p:cNvSpPr>
          <p:nvPr/>
        </p:nvSpPr>
        <p:spPr bwMode="auto">
          <a:xfrm>
            <a:off x="5824538" y="1935480"/>
            <a:ext cx="40005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6" name="Line 8"/>
          <p:cNvSpPr>
            <a:spLocks noChangeShapeType="1"/>
          </p:cNvSpPr>
          <p:nvPr/>
        </p:nvSpPr>
        <p:spPr bwMode="auto">
          <a:xfrm flipH="1">
            <a:off x="5253038" y="1935480"/>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7" name="Line 9"/>
          <p:cNvSpPr>
            <a:spLocks noChangeShapeType="1"/>
          </p:cNvSpPr>
          <p:nvPr/>
        </p:nvSpPr>
        <p:spPr bwMode="auto">
          <a:xfrm>
            <a:off x="2452688" y="2556986"/>
            <a:ext cx="11430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8" name="Line 10"/>
          <p:cNvSpPr>
            <a:spLocks noChangeShapeType="1"/>
          </p:cNvSpPr>
          <p:nvPr/>
        </p:nvSpPr>
        <p:spPr bwMode="auto">
          <a:xfrm flipH="1">
            <a:off x="3138488" y="2556986"/>
            <a:ext cx="1714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59" name="Line 11"/>
          <p:cNvSpPr>
            <a:spLocks noChangeShapeType="1"/>
          </p:cNvSpPr>
          <p:nvPr/>
        </p:nvSpPr>
        <p:spPr bwMode="auto">
          <a:xfrm>
            <a:off x="3481388" y="2556986"/>
            <a:ext cx="40005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60" name="Line 12"/>
          <p:cNvSpPr>
            <a:spLocks noChangeShapeType="1"/>
          </p:cNvSpPr>
          <p:nvPr/>
        </p:nvSpPr>
        <p:spPr bwMode="auto">
          <a:xfrm>
            <a:off x="2967038" y="2042636"/>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61" name="Oval 13"/>
          <p:cNvSpPr>
            <a:spLocks noChangeArrowheads="1"/>
          </p:cNvSpPr>
          <p:nvPr/>
        </p:nvSpPr>
        <p:spPr bwMode="auto">
          <a:xfrm>
            <a:off x="3195638" y="22712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18</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62" name="Oval 14"/>
          <p:cNvSpPr>
            <a:spLocks noChangeArrowheads="1"/>
          </p:cNvSpPr>
          <p:nvPr/>
        </p:nvSpPr>
        <p:spPr bwMode="auto">
          <a:xfrm>
            <a:off x="6053138" y="21640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18</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63" name="Line 15"/>
          <p:cNvSpPr>
            <a:spLocks noChangeShapeType="1"/>
          </p:cNvSpPr>
          <p:nvPr/>
        </p:nvSpPr>
        <p:spPr bwMode="auto">
          <a:xfrm flipH="1">
            <a:off x="4624388" y="2392680"/>
            <a:ext cx="514350" cy="5143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64" name="Oval 16"/>
          <p:cNvSpPr>
            <a:spLocks noChangeArrowheads="1"/>
          </p:cNvSpPr>
          <p:nvPr/>
        </p:nvSpPr>
        <p:spPr bwMode="auto">
          <a:xfrm>
            <a:off x="4452938" y="27355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65" name="Text Box 17"/>
          <p:cNvSpPr txBox="1">
            <a:spLocks noChangeArrowheads="1"/>
          </p:cNvSpPr>
          <p:nvPr/>
        </p:nvSpPr>
        <p:spPr bwMode="auto">
          <a:xfrm>
            <a:off x="5595938" y="2449830"/>
            <a:ext cx="2971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66" name="Oval 18"/>
          <p:cNvSpPr>
            <a:spLocks noChangeArrowheads="1"/>
          </p:cNvSpPr>
          <p:nvPr/>
        </p:nvSpPr>
        <p:spPr bwMode="auto">
          <a:xfrm>
            <a:off x="2909888" y="28427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16</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67" name="Text Box 19"/>
          <p:cNvSpPr txBox="1">
            <a:spLocks noChangeArrowheads="1"/>
          </p:cNvSpPr>
          <p:nvPr/>
        </p:nvSpPr>
        <p:spPr bwMode="auto">
          <a:xfrm>
            <a:off x="2852738" y="255698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68" name="Text Box 20"/>
          <p:cNvSpPr txBox="1">
            <a:spLocks noChangeArrowheads="1"/>
          </p:cNvSpPr>
          <p:nvPr/>
        </p:nvSpPr>
        <p:spPr bwMode="auto">
          <a:xfrm>
            <a:off x="3914775" y="255698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69" name="Text Box 21"/>
          <p:cNvSpPr txBox="1">
            <a:spLocks noChangeArrowheads="1"/>
          </p:cNvSpPr>
          <p:nvPr/>
        </p:nvSpPr>
        <p:spPr bwMode="auto">
          <a:xfrm>
            <a:off x="3424238" y="198548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70" name="Oval 22"/>
          <p:cNvSpPr>
            <a:spLocks noChangeArrowheads="1"/>
          </p:cNvSpPr>
          <p:nvPr/>
        </p:nvSpPr>
        <p:spPr bwMode="auto">
          <a:xfrm>
            <a:off x="2224088" y="22712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71" name="Line 23"/>
          <p:cNvSpPr>
            <a:spLocks noChangeShapeType="1"/>
          </p:cNvSpPr>
          <p:nvPr/>
        </p:nvSpPr>
        <p:spPr bwMode="auto">
          <a:xfrm flipH="1">
            <a:off x="1938338" y="2556986"/>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72" name="Oval 24"/>
          <p:cNvSpPr>
            <a:spLocks noChangeArrowheads="1"/>
          </p:cNvSpPr>
          <p:nvPr/>
        </p:nvSpPr>
        <p:spPr bwMode="auto">
          <a:xfrm>
            <a:off x="1709738" y="28427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73" name="Oval 25"/>
          <p:cNvSpPr>
            <a:spLocks noChangeArrowheads="1"/>
          </p:cNvSpPr>
          <p:nvPr/>
        </p:nvSpPr>
        <p:spPr bwMode="auto">
          <a:xfrm>
            <a:off x="3767138" y="28427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74" name="Line 26"/>
          <p:cNvSpPr>
            <a:spLocks noChangeShapeType="1"/>
          </p:cNvSpPr>
          <p:nvPr/>
        </p:nvSpPr>
        <p:spPr bwMode="auto">
          <a:xfrm flipH="1">
            <a:off x="2509838" y="2042636"/>
            <a:ext cx="2857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75" name="Oval 27"/>
          <p:cNvSpPr>
            <a:spLocks noChangeArrowheads="1"/>
          </p:cNvSpPr>
          <p:nvPr/>
        </p:nvSpPr>
        <p:spPr bwMode="auto">
          <a:xfrm>
            <a:off x="2738438" y="175688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76" name="Text Box 28"/>
          <p:cNvSpPr txBox="1">
            <a:spLocks noChangeArrowheads="1"/>
          </p:cNvSpPr>
          <p:nvPr/>
        </p:nvSpPr>
        <p:spPr bwMode="auto">
          <a:xfrm>
            <a:off x="6200775" y="1878330"/>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77" name="Oval 29"/>
          <p:cNvSpPr>
            <a:spLocks noChangeArrowheads="1"/>
          </p:cNvSpPr>
          <p:nvPr/>
        </p:nvSpPr>
        <p:spPr bwMode="auto">
          <a:xfrm>
            <a:off x="2452688" y="2842736"/>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78" name="Oval 30"/>
          <p:cNvSpPr>
            <a:spLocks noChangeArrowheads="1"/>
          </p:cNvSpPr>
          <p:nvPr/>
        </p:nvSpPr>
        <p:spPr bwMode="auto">
          <a:xfrm>
            <a:off x="5024438" y="21640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79" name="Oval 31"/>
          <p:cNvSpPr>
            <a:spLocks noChangeArrowheads="1"/>
          </p:cNvSpPr>
          <p:nvPr/>
        </p:nvSpPr>
        <p:spPr bwMode="auto">
          <a:xfrm>
            <a:off x="5767388" y="27355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80" name="Oval 32"/>
          <p:cNvSpPr>
            <a:spLocks noChangeArrowheads="1"/>
          </p:cNvSpPr>
          <p:nvPr/>
        </p:nvSpPr>
        <p:spPr bwMode="auto">
          <a:xfrm>
            <a:off x="5367338" y="336423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dirty="0">
                <a:solidFill>
                  <a:srgbClr val="CC3300"/>
                </a:solidFill>
                <a:latin typeface="Times New Roman" panose="02020603050405020304" pitchFamily="18" charset="0"/>
                <a:ea typeface="MS Hei" pitchFamily="49" charset="-122"/>
                <a:cs typeface="Times New Roman" panose="02020603050405020304" pitchFamily="18" charset="0"/>
              </a:rPr>
              <a:t>14</a:t>
            </a:r>
            <a:endParaRPr lang="en-US" altLang="zh-CN" sz="2100" b="1" dirty="0">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881" name="Text Box 33"/>
          <p:cNvSpPr txBox="1">
            <a:spLocks noChangeArrowheads="1"/>
          </p:cNvSpPr>
          <p:nvPr/>
        </p:nvSpPr>
        <p:spPr bwMode="auto">
          <a:xfrm>
            <a:off x="2909888" y="1471136"/>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82" name="Text Box 34"/>
          <p:cNvSpPr txBox="1">
            <a:spLocks noChangeArrowheads="1"/>
          </p:cNvSpPr>
          <p:nvPr/>
        </p:nvSpPr>
        <p:spPr bwMode="auto">
          <a:xfrm>
            <a:off x="5253038" y="3078480"/>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83" name="Line 35"/>
          <p:cNvSpPr>
            <a:spLocks noChangeShapeType="1"/>
          </p:cNvSpPr>
          <p:nvPr/>
        </p:nvSpPr>
        <p:spPr bwMode="auto">
          <a:xfrm>
            <a:off x="6338888" y="2449830"/>
            <a:ext cx="40005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84" name="Oval 36"/>
          <p:cNvSpPr>
            <a:spLocks noChangeArrowheads="1"/>
          </p:cNvSpPr>
          <p:nvPr/>
        </p:nvSpPr>
        <p:spPr bwMode="auto">
          <a:xfrm>
            <a:off x="6624638" y="27355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85" name="Oval 37"/>
          <p:cNvSpPr>
            <a:spLocks noChangeArrowheads="1"/>
          </p:cNvSpPr>
          <p:nvPr/>
        </p:nvSpPr>
        <p:spPr bwMode="auto">
          <a:xfrm>
            <a:off x="5253038" y="273558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9</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86" name="Text Box 38"/>
          <p:cNvSpPr txBox="1">
            <a:spLocks noChangeArrowheads="1"/>
          </p:cNvSpPr>
          <p:nvPr/>
        </p:nvSpPr>
        <p:spPr bwMode="auto">
          <a:xfrm>
            <a:off x="5824538" y="1511618"/>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887" name="Oval 39"/>
          <p:cNvSpPr>
            <a:spLocks noChangeArrowheads="1"/>
          </p:cNvSpPr>
          <p:nvPr/>
        </p:nvSpPr>
        <p:spPr bwMode="auto">
          <a:xfrm>
            <a:off x="5538788" y="1649730"/>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888" name="Line 40"/>
          <p:cNvSpPr>
            <a:spLocks noChangeShapeType="1"/>
          </p:cNvSpPr>
          <p:nvPr/>
        </p:nvSpPr>
        <p:spPr bwMode="auto">
          <a:xfrm flipH="1">
            <a:off x="6401991" y="4379834"/>
            <a:ext cx="22860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89" name="Line 41"/>
          <p:cNvSpPr>
            <a:spLocks noChangeShapeType="1"/>
          </p:cNvSpPr>
          <p:nvPr/>
        </p:nvSpPr>
        <p:spPr bwMode="auto">
          <a:xfrm>
            <a:off x="6287691" y="3865483"/>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0" name="Line 42"/>
          <p:cNvSpPr>
            <a:spLocks noChangeShapeType="1"/>
          </p:cNvSpPr>
          <p:nvPr/>
        </p:nvSpPr>
        <p:spPr bwMode="auto">
          <a:xfrm flipH="1">
            <a:off x="5659041" y="3808333"/>
            <a:ext cx="40005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1" name="Line 43"/>
          <p:cNvSpPr>
            <a:spLocks noChangeShapeType="1"/>
          </p:cNvSpPr>
          <p:nvPr/>
        </p:nvSpPr>
        <p:spPr bwMode="auto">
          <a:xfrm>
            <a:off x="2744391" y="3865483"/>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2" name="Line 44"/>
          <p:cNvSpPr>
            <a:spLocks noChangeShapeType="1"/>
          </p:cNvSpPr>
          <p:nvPr/>
        </p:nvSpPr>
        <p:spPr bwMode="auto">
          <a:xfrm flipH="1">
            <a:off x="2458641" y="4894184"/>
            <a:ext cx="22860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3" name="Line 45"/>
          <p:cNvSpPr>
            <a:spLocks noChangeShapeType="1"/>
          </p:cNvSpPr>
          <p:nvPr/>
        </p:nvSpPr>
        <p:spPr bwMode="auto">
          <a:xfrm>
            <a:off x="6459141" y="4951334"/>
            <a:ext cx="285750" cy="5143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4" name="Line 46"/>
          <p:cNvSpPr>
            <a:spLocks noChangeShapeType="1"/>
          </p:cNvSpPr>
          <p:nvPr/>
        </p:nvSpPr>
        <p:spPr bwMode="auto">
          <a:xfrm>
            <a:off x="5659041" y="4379834"/>
            <a:ext cx="1714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5" name="Line 47"/>
          <p:cNvSpPr>
            <a:spLocks noChangeShapeType="1"/>
          </p:cNvSpPr>
          <p:nvPr/>
        </p:nvSpPr>
        <p:spPr bwMode="auto">
          <a:xfrm flipH="1">
            <a:off x="6001941" y="4951334"/>
            <a:ext cx="228600" cy="457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6" name="Line 48"/>
          <p:cNvSpPr>
            <a:spLocks noChangeShapeType="1"/>
          </p:cNvSpPr>
          <p:nvPr/>
        </p:nvSpPr>
        <p:spPr bwMode="auto">
          <a:xfrm>
            <a:off x="2115741" y="4379834"/>
            <a:ext cx="1714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7" name="Line 49"/>
          <p:cNvSpPr>
            <a:spLocks noChangeShapeType="1"/>
          </p:cNvSpPr>
          <p:nvPr/>
        </p:nvSpPr>
        <p:spPr bwMode="auto">
          <a:xfrm flipH="1">
            <a:off x="2858691" y="4379834"/>
            <a:ext cx="171450" cy="2857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8" name="Line 50"/>
          <p:cNvSpPr>
            <a:spLocks noChangeShapeType="1"/>
          </p:cNvSpPr>
          <p:nvPr/>
        </p:nvSpPr>
        <p:spPr bwMode="auto">
          <a:xfrm>
            <a:off x="2515791" y="5522834"/>
            <a:ext cx="342900" cy="457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899" name="Line 51"/>
          <p:cNvSpPr>
            <a:spLocks noChangeShapeType="1"/>
          </p:cNvSpPr>
          <p:nvPr/>
        </p:nvSpPr>
        <p:spPr bwMode="auto">
          <a:xfrm flipH="1">
            <a:off x="5144691" y="4379834"/>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900" name="Line 52"/>
          <p:cNvSpPr>
            <a:spLocks noChangeShapeType="1"/>
          </p:cNvSpPr>
          <p:nvPr/>
        </p:nvSpPr>
        <p:spPr bwMode="auto">
          <a:xfrm>
            <a:off x="3258741" y="4379834"/>
            <a:ext cx="342900" cy="342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901" name="Oval 53"/>
          <p:cNvSpPr>
            <a:spLocks noChangeArrowheads="1"/>
          </p:cNvSpPr>
          <p:nvPr/>
        </p:nvSpPr>
        <p:spPr bwMode="auto">
          <a:xfrm>
            <a:off x="2687241" y="58657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15</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6902" name="Oval 54"/>
          <p:cNvSpPr>
            <a:spLocks noChangeArrowheads="1"/>
          </p:cNvSpPr>
          <p:nvPr/>
        </p:nvSpPr>
        <p:spPr bwMode="auto">
          <a:xfrm>
            <a:off x="6516291" y="409408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18</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03" name="Text Box 55"/>
          <p:cNvSpPr txBox="1">
            <a:spLocks noChangeArrowheads="1"/>
          </p:cNvSpPr>
          <p:nvPr/>
        </p:nvSpPr>
        <p:spPr bwMode="auto">
          <a:xfrm>
            <a:off x="2565797" y="3274933"/>
            <a:ext cx="3733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04" name="Line 56"/>
          <p:cNvSpPr>
            <a:spLocks noChangeShapeType="1"/>
          </p:cNvSpPr>
          <p:nvPr/>
        </p:nvSpPr>
        <p:spPr bwMode="auto">
          <a:xfrm flipH="1">
            <a:off x="1544241" y="4322684"/>
            <a:ext cx="457200" cy="457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905" name="Oval 57"/>
          <p:cNvSpPr>
            <a:spLocks noChangeArrowheads="1"/>
          </p:cNvSpPr>
          <p:nvPr/>
        </p:nvSpPr>
        <p:spPr bwMode="auto">
          <a:xfrm>
            <a:off x="1372791" y="46084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dirty="0">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dirty="0">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06" name="Oval 58"/>
          <p:cNvSpPr>
            <a:spLocks noChangeArrowheads="1"/>
          </p:cNvSpPr>
          <p:nvPr/>
        </p:nvSpPr>
        <p:spPr bwMode="auto">
          <a:xfrm>
            <a:off x="2972991" y="409408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18</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07" name="Oval 59"/>
          <p:cNvSpPr>
            <a:spLocks noChangeArrowheads="1"/>
          </p:cNvSpPr>
          <p:nvPr/>
        </p:nvSpPr>
        <p:spPr bwMode="auto">
          <a:xfrm>
            <a:off x="2630091" y="46084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dirty="0">
                <a:solidFill>
                  <a:srgbClr val="010000"/>
                </a:solidFill>
                <a:latin typeface="Times New Roman" panose="02020603050405020304" pitchFamily="18" charset="0"/>
                <a:ea typeface="MS Hei" pitchFamily="49" charset="-122"/>
                <a:cs typeface="Times New Roman" panose="02020603050405020304" pitchFamily="18" charset="0"/>
              </a:rPr>
              <a:t>16</a:t>
            </a:r>
            <a:endParaRPr lang="en-US" altLang="zh-CN" sz="2100" b="1" dirty="0">
              <a:solidFill>
                <a:srgbClr val="010000"/>
              </a:solidFill>
              <a:latin typeface="Times New Roman" panose="02020603050405020304" pitchFamily="18" charset="0"/>
              <a:ea typeface="MS Hei" pitchFamily="49" charset="-122"/>
              <a:cs typeface="Times New Roman" panose="02020603050405020304" pitchFamily="18" charset="0"/>
            </a:endParaRPr>
          </a:p>
        </p:txBody>
      </p:sp>
      <p:sp>
        <p:nvSpPr>
          <p:cNvPr id="206908" name="Text Box 60"/>
          <p:cNvSpPr txBox="1">
            <a:spLocks noChangeArrowheads="1"/>
          </p:cNvSpPr>
          <p:nvPr/>
        </p:nvSpPr>
        <p:spPr bwMode="auto">
          <a:xfrm>
            <a:off x="2572941" y="4265534"/>
            <a:ext cx="297180" cy="36830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09" name="AutoShape 61"/>
          <p:cNvSpPr>
            <a:spLocks noChangeArrowheads="1"/>
          </p:cNvSpPr>
          <p:nvPr/>
        </p:nvSpPr>
        <p:spPr bwMode="auto">
          <a:xfrm>
            <a:off x="4001691" y="4265534"/>
            <a:ext cx="914400" cy="171450"/>
          </a:xfrm>
          <a:prstGeom prst="rightArrow">
            <a:avLst>
              <a:gd name="adj1" fmla="val 50000"/>
              <a:gd name="adj2" fmla="val 133333"/>
            </a:avLst>
          </a:prstGeom>
          <a:solidFill>
            <a:srgbClr val="CCECFF"/>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latin typeface="Times New Roman" panose="02020603050405020304" pitchFamily="18" charset="0"/>
              <a:cs typeface="Times New Roman" panose="02020603050405020304" pitchFamily="18" charset="0"/>
            </a:endParaRPr>
          </a:p>
        </p:txBody>
      </p:sp>
      <p:sp>
        <p:nvSpPr>
          <p:cNvPr id="206910" name="Text Box 62"/>
          <p:cNvSpPr txBox="1">
            <a:spLocks noChangeArrowheads="1"/>
          </p:cNvSpPr>
          <p:nvPr/>
        </p:nvSpPr>
        <p:spPr bwMode="auto">
          <a:xfrm>
            <a:off x="3944541" y="3860721"/>
            <a:ext cx="1024255" cy="3219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Left Right</a:t>
            </a:r>
            <a:endParaRPr lang="en-US" altLang="zh-CN" sz="15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206911" name="Oval 63"/>
          <p:cNvSpPr>
            <a:spLocks noChangeArrowheads="1"/>
          </p:cNvSpPr>
          <p:nvPr/>
        </p:nvSpPr>
        <p:spPr bwMode="auto">
          <a:xfrm>
            <a:off x="5430441" y="409408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12" name="Oval 64"/>
          <p:cNvSpPr>
            <a:spLocks noChangeArrowheads="1"/>
          </p:cNvSpPr>
          <p:nvPr/>
        </p:nvSpPr>
        <p:spPr bwMode="auto">
          <a:xfrm>
            <a:off x="4858941" y="466558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3</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13" name="Text Box 65"/>
          <p:cNvSpPr txBox="1">
            <a:spLocks noChangeArrowheads="1"/>
          </p:cNvSpPr>
          <p:nvPr/>
        </p:nvSpPr>
        <p:spPr bwMode="auto">
          <a:xfrm>
            <a:off x="5716191" y="5008484"/>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14" name="Text Box 66"/>
          <p:cNvSpPr txBox="1">
            <a:spLocks noChangeArrowheads="1"/>
          </p:cNvSpPr>
          <p:nvPr/>
        </p:nvSpPr>
        <p:spPr bwMode="auto">
          <a:xfrm>
            <a:off x="6116241" y="4379834"/>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15" name="Text Box 67"/>
          <p:cNvSpPr txBox="1">
            <a:spLocks noChangeArrowheads="1"/>
          </p:cNvSpPr>
          <p:nvPr/>
        </p:nvSpPr>
        <p:spPr bwMode="auto">
          <a:xfrm>
            <a:off x="2858691" y="5579984"/>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16" name="Oval 68"/>
          <p:cNvSpPr>
            <a:spLocks noChangeArrowheads="1"/>
          </p:cNvSpPr>
          <p:nvPr/>
        </p:nvSpPr>
        <p:spPr bwMode="auto">
          <a:xfrm>
            <a:off x="6001941" y="357973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11</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17" name="Oval 69"/>
          <p:cNvSpPr>
            <a:spLocks noChangeArrowheads="1"/>
          </p:cNvSpPr>
          <p:nvPr/>
        </p:nvSpPr>
        <p:spPr bwMode="auto">
          <a:xfrm>
            <a:off x="1887141" y="409408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7</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18" name="Oval 70"/>
          <p:cNvSpPr>
            <a:spLocks noChangeArrowheads="1"/>
          </p:cNvSpPr>
          <p:nvPr/>
        </p:nvSpPr>
        <p:spPr bwMode="auto">
          <a:xfrm>
            <a:off x="2287191" y="523708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010000"/>
                </a:solidFill>
                <a:latin typeface="Times New Roman" panose="02020603050405020304" pitchFamily="18" charset="0"/>
                <a:cs typeface="Times New Roman" panose="02020603050405020304" pitchFamily="18" charset="0"/>
              </a:rPr>
              <a:t>14</a:t>
            </a:r>
            <a:endParaRPr lang="en-US" altLang="zh-CN" sz="2100" b="1">
              <a:solidFill>
                <a:srgbClr val="010000"/>
              </a:solidFill>
              <a:latin typeface="Times New Roman" panose="02020603050405020304" pitchFamily="18" charset="0"/>
              <a:cs typeface="Times New Roman" panose="02020603050405020304" pitchFamily="18" charset="0"/>
            </a:endParaRPr>
          </a:p>
        </p:txBody>
      </p:sp>
      <p:sp>
        <p:nvSpPr>
          <p:cNvPr id="206919" name="Oval 71"/>
          <p:cNvSpPr>
            <a:spLocks noChangeArrowheads="1"/>
          </p:cNvSpPr>
          <p:nvPr/>
        </p:nvSpPr>
        <p:spPr bwMode="auto">
          <a:xfrm>
            <a:off x="2172891" y="46084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9</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20" name="Text Box 72"/>
          <p:cNvSpPr txBox="1">
            <a:spLocks noChangeArrowheads="1"/>
          </p:cNvSpPr>
          <p:nvPr/>
        </p:nvSpPr>
        <p:spPr bwMode="auto">
          <a:xfrm>
            <a:off x="6573441" y="380833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21" name="Oval 73"/>
          <p:cNvSpPr>
            <a:spLocks noChangeArrowheads="1"/>
          </p:cNvSpPr>
          <p:nvPr/>
        </p:nvSpPr>
        <p:spPr bwMode="auto">
          <a:xfrm>
            <a:off x="6516291" y="52942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16</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22" name="Oval 74"/>
          <p:cNvSpPr>
            <a:spLocks noChangeArrowheads="1"/>
          </p:cNvSpPr>
          <p:nvPr/>
        </p:nvSpPr>
        <p:spPr bwMode="auto">
          <a:xfrm>
            <a:off x="6173391" y="466558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15</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23" name="Text Box 75"/>
          <p:cNvSpPr txBox="1">
            <a:spLocks noChangeArrowheads="1"/>
          </p:cNvSpPr>
          <p:nvPr/>
        </p:nvSpPr>
        <p:spPr bwMode="auto">
          <a:xfrm>
            <a:off x="6663929" y="5008484"/>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0</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24" name="Text Box 76"/>
          <p:cNvSpPr txBox="1">
            <a:spLocks noChangeArrowheads="1"/>
          </p:cNvSpPr>
          <p:nvPr/>
        </p:nvSpPr>
        <p:spPr bwMode="auto">
          <a:xfrm>
            <a:off x="6206729" y="3383280"/>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25" name="Line 77"/>
          <p:cNvSpPr>
            <a:spLocks noChangeShapeType="1"/>
          </p:cNvSpPr>
          <p:nvPr/>
        </p:nvSpPr>
        <p:spPr bwMode="auto">
          <a:xfrm flipH="1">
            <a:off x="2172891" y="3751183"/>
            <a:ext cx="400050" cy="4000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926" name="Oval 78"/>
          <p:cNvSpPr>
            <a:spLocks noChangeArrowheads="1"/>
          </p:cNvSpPr>
          <p:nvPr/>
        </p:nvSpPr>
        <p:spPr bwMode="auto">
          <a:xfrm>
            <a:off x="2458641" y="3579733"/>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rPr>
              <a:t>11</a:t>
            </a:r>
            <a:endParaRPr lang="en-US" altLang="zh-CN" sz="2100" b="1">
              <a:solidFill>
                <a:srgbClr val="CC3300"/>
              </a:solidFill>
              <a:latin typeface="Times New Roman" panose="02020603050405020304" pitchFamily="18" charset="0"/>
              <a:ea typeface="MS Hei" pitchFamily="49" charset="-122"/>
              <a:cs typeface="Times New Roman" panose="02020603050405020304" pitchFamily="18" charset="0"/>
            </a:endParaRPr>
          </a:p>
        </p:txBody>
      </p:sp>
      <p:sp>
        <p:nvSpPr>
          <p:cNvPr id="206927" name="Line 79"/>
          <p:cNvSpPr>
            <a:spLocks noChangeShapeType="1"/>
          </p:cNvSpPr>
          <p:nvPr/>
        </p:nvSpPr>
        <p:spPr bwMode="auto">
          <a:xfrm>
            <a:off x="6802041" y="4379834"/>
            <a:ext cx="514350" cy="5143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06928" name="Oval 80"/>
          <p:cNvSpPr>
            <a:spLocks noChangeArrowheads="1"/>
          </p:cNvSpPr>
          <p:nvPr/>
        </p:nvSpPr>
        <p:spPr bwMode="auto">
          <a:xfrm>
            <a:off x="3487341" y="46084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29" name="Oval 81"/>
          <p:cNvSpPr>
            <a:spLocks noChangeArrowheads="1"/>
          </p:cNvSpPr>
          <p:nvPr/>
        </p:nvSpPr>
        <p:spPr bwMode="auto">
          <a:xfrm>
            <a:off x="7087791" y="466558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26</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30" name="Oval 82"/>
          <p:cNvSpPr>
            <a:spLocks noChangeArrowheads="1"/>
          </p:cNvSpPr>
          <p:nvPr/>
        </p:nvSpPr>
        <p:spPr bwMode="auto">
          <a:xfrm>
            <a:off x="5830491" y="529423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14</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31" name="Text Box 83"/>
          <p:cNvSpPr txBox="1">
            <a:spLocks noChangeArrowheads="1"/>
          </p:cNvSpPr>
          <p:nvPr/>
        </p:nvSpPr>
        <p:spPr bwMode="auto">
          <a:xfrm>
            <a:off x="2572941" y="5065634"/>
            <a:ext cx="373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-1</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32" name="Text Box 84"/>
          <p:cNvSpPr txBox="1">
            <a:spLocks noChangeArrowheads="1"/>
          </p:cNvSpPr>
          <p:nvPr/>
        </p:nvSpPr>
        <p:spPr bwMode="auto">
          <a:xfrm>
            <a:off x="3087291" y="3808333"/>
            <a:ext cx="297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latin typeface="Times New Roman" panose="02020603050405020304" pitchFamily="18" charset="0"/>
                <a:cs typeface="Times New Roman" panose="02020603050405020304" pitchFamily="18" charset="0"/>
              </a:rPr>
              <a:t>2</a:t>
            </a:r>
            <a:endParaRPr lang="en-US" altLang="zh-CN" b="1">
              <a:solidFill>
                <a:srgbClr val="FF0000"/>
              </a:solidFill>
              <a:latin typeface="Times New Roman" panose="02020603050405020304" pitchFamily="18" charset="0"/>
              <a:cs typeface="Times New Roman" panose="02020603050405020304" pitchFamily="18" charset="0"/>
            </a:endParaRPr>
          </a:p>
        </p:txBody>
      </p:sp>
      <p:sp>
        <p:nvSpPr>
          <p:cNvPr id="206933" name="Oval 85"/>
          <p:cNvSpPr>
            <a:spLocks noChangeArrowheads="1"/>
          </p:cNvSpPr>
          <p:nvPr/>
        </p:nvSpPr>
        <p:spPr bwMode="auto">
          <a:xfrm>
            <a:off x="5716191" y="4665584"/>
            <a:ext cx="342900" cy="342900"/>
          </a:xfrm>
          <a:prstGeom prst="ellipse">
            <a:avLst/>
          </a:prstGeom>
          <a:solidFill>
            <a:srgbClr val="FFFFCC"/>
          </a:solidFill>
          <a:ln w="2857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100" b="1">
                <a:solidFill>
                  <a:srgbClr val="CC3300"/>
                </a:solidFill>
                <a:latin typeface="Times New Roman" panose="02020603050405020304" pitchFamily="18" charset="0"/>
                <a:cs typeface="Times New Roman" panose="02020603050405020304" pitchFamily="18" charset="0"/>
              </a:rPr>
              <a:t>9</a:t>
            </a:r>
            <a:endParaRPr lang="en-US" altLang="zh-CN" sz="2100" b="1">
              <a:solidFill>
                <a:srgbClr val="CC3300"/>
              </a:solidFill>
              <a:latin typeface="Times New Roman" panose="02020603050405020304" pitchFamily="18" charset="0"/>
              <a:cs typeface="Times New Roman" panose="02020603050405020304" pitchFamily="18" charset="0"/>
            </a:endParaRPr>
          </a:p>
        </p:txBody>
      </p:sp>
      <p:sp>
        <p:nvSpPr>
          <p:cNvPr id="206935" name="Rectangle 87"/>
          <p:cNvSpPr>
            <a:spLocks noChangeArrowheads="1"/>
          </p:cNvSpPr>
          <p:nvPr/>
        </p:nvSpPr>
        <p:spPr bwMode="auto">
          <a:xfrm>
            <a:off x="2355056" y="942194"/>
            <a:ext cx="44665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hlink"/>
              </a:buClr>
              <a:buSzPct val="75000"/>
              <a:buFont typeface="Wingdings" panose="05000000000000000000" pitchFamily="2" charset="2"/>
              <a:buNone/>
            </a:pPr>
            <a:r>
              <a:rPr kumimoji="1" lang="en-US" altLang="zh-CN" sz="24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rPr>
              <a:t>{ 16, 3, 7, 11, 9, 26, 18, 14, 15 }</a:t>
            </a:r>
            <a:endParaRPr kumimoji="1" lang="en-US" altLang="zh-CN" sz="2400" b="1">
              <a:solidFill>
                <a:srgbClr val="FF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89093" name="Text Box 5"/>
          <p:cNvSpPr txBox="1">
            <a:spLocks noChangeArrowheads="1"/>
          </p:cNvSpPr>
          <p:nvPr/>
        </p:nvSpPr>
        <p:spPr bwMode="auto">
          <a:xfrm>
            <a:off x="466090" y="1092200"/>
            <a:ext cx="8221980" cy="549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20000"/>
              </a:lnSpc>
              <a:buClr>
                <a:srgbClr val="00B0F0"/>
              </a:buClr>
              <a:buFont typeface="Wingdings" panose="05000000000000000000" charset="0"/>
              <a:buChar char="l"/>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在平衡二叉树</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上插入一个新的数据元素</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的递归算法如下：</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457200" indent="-457200">
              <a:lnSpc>
                <a:spcPct val="130000"/>
              </a:lnSpc>
              <a:spcBef>
                <a:spcPts val="1200"/>
              </a:spcBef>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为空树，则插入一个数据元素为</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的新结点作为</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树的深度</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457200" indent="-457200">
              <a:lnSpc>
                <a:spcPct val="120000"/>
              </a:lnSpc>
              <a:spcBef>
                <a:spcPts val="1200"/>
              </a:spcBef>
              <a:buClr>
                <a:srgbClr val="00B0F0"/>
              </a:buClr>
              <a:buFont typeface="+mj-ea"/>
              <a:buAutoNum type="circleNumDbPlain"/>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的关键字和</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的根结点的关键字相等，则不进行插入；</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457200" indent="-457200">
              <a:lnSpc>
                <a:spcPct val="140000"/>
              </a:lnSpc>
              <a:spcBef>
                <a:spcPts val="1200"/>
              </a:spcBef>
              <a:buClr>
                <a:srgbClr val="00B0F0"/>
              </a:buClr>
              <a:buFont typeface="+mj-ea"/>
              <a:buAutoNum type="circleNumDbPlain"/>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的关键字小于</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的根结点的关键字，而且在</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的左子树中不存在和</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有相同关键字的结点，则将</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插入到</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的左子树上。并且当插入之后的</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左子树深度增加（</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）时</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，分别就下列不同情况处理：</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40000"/>
              </a:lnSpc>
              <a:spcBef>
                <a:spcPts val="600"/>
              </a:spcBef>
              <a:buClr>
                <a:srgbClr val="00B0F0"/>
              </a:buClr>
              <a:buFont typeface="+mj-lt"/>
              <a:buAutoNum type="alphaLcParenR"/>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的根结点的平衡因子为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，则将根结点的平衡因子改为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0</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的深度不变；</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40000"/>
              </a:lnSpc>
              <a:spcBef>
                <a:spcPts val="600"/>
              </a:spcBef>
              <a:buClr>
                <a:srgbClr val="00B0F0"/>
              </a:buClr>
              <a:buFont typeface="+mj-lt"/>
              <a:buAutoNum type="alphaLcParenR"/>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的根结点的平衡因子为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0</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，则将根结点的平衡因子改为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的深度增</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9093">
                                            <p:txEl>
                                              <p:pRg st="1" end="1"/>
                                            </p:txEl>
                                          </p:spTgt>
                                        </p:tgtEl>
                                        <p:attrNameLst>
                                          <p:attrName>style.visibility</p:attrName>
                                        </p:attrNameLst>
                                      </p:cBhvr>
                                      <p:to>
                                        <p:strVal val="visible"/>
                                      </p:to>
                                    </p:set>
                                    <p:animEffect transition="in" filter="fade">
                                      <p:cBhvr>
                                        <p:cTn id="7" dur="1000"/>
                                        <p:tgtEl>
                                          <p:spTgt spid="89093">
                                            <p:txEl>
                                              <p:pRg st="1" end="1"/>
                                            </p:txEl>
                                          </p:spTgt>
                                        </p:tgtEl>
                                      </p:cBhvr>
                                    </p:animEffect>
                                    <p:anim calcmode="lin" valueType="num">
                                      <p:cBhvr>
                                        <p:cTn id="8" dur="1000" fill="hold"/>
                                        <p:tgtEl>
                                          <p:spTgt spid="8909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909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9093">
                                            <p:txEl>
                                              <p:pRg st="2" end="2"/>
                                            </p:txEl>
                                          </p:spTgt>
                                        </p:tgtEl>
                                        <p:attrNameLst>
                                          <p:attrName>style.visibility</p:attrName>
                                        </p:attrNameLst>
                                      </p:cBhvr>
                                      <p:to>
                                        <p:strVal val="visible"/>
                                      </p:to>
                                    </p:set>
                                    <p:animEffect transition="in" filter="fade">
                                      <p:cBhvr>
                                        <p:cTn id="14" dur="1000"/>
                                        <p:tgtEl>
                                          <p:spTgt spid="89093">
                                            <p:txEl>
                                              <p:pRg st="2" end="2"/>
                                            </p:txEl>
                                          </p:spTgt>
                                        </p:tgtEl>
                                      </p:cBhvr>
                                    </p:animEffect>
                                    <p:anim calcmode="lin" valueType="num">
                                      <p:cBhvr>
                                        <p:cTn id="15" dur="1000" fill="hold"/>
                                        <p:tgtEl>
                                          <p:spTgt spid="8909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909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9093">
                                            <p:txEl>
                                              <p:pRg st="3" end="3"/>
                                            </p:txEl>
                                          </p:spTgt>
                                        </p:tgtEl>
                                        <p:attrNameLst>
                                          <p:attrName>style.visibility</p:attrName>
                                        </p:attrNameLst>
                                      </p:cBhvr>
                                      <p:to>
                                        <p:strVal val="visible"/>
                                      </p:to>
                                    </p:set>
                                    <p:animEffect transition="in" filter="fade">
                                      <p:cBhvr>
                                        <p:cTn id="21" dur="1000"/>
                                        <p:tgtEl>
                                          <p:spTgt spid="89093">
                                            <p:txEl>
                                              <p:pRg st="3" end="3"/>
                                            </p:txEl>
                                          </p:spTgt>
                                        </p:tgtEl>
                                      </p:cBhvr>
                                    </p:animEffect>
                                    <p:anim calcmode="lin" valueType="num">
                                      <p:cBhvr>
                                        <p:cTn id="22" dur="1000" fill="hold"/>
                                        <p:tgtEl>
                                          <p:spTgt spid="8909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909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9093">
                                            <p:txEl>
                                              <p:pRg st="4" end="4"/>
                                            </p:txEl>
                                          </p:spTgt>
                                        </p:tgtEl>
                                        <p:attrNameLst>
                                          <p:attrName>style.visibility</p:attrName>
                                        </p:attrNameLst>
                                      </p:cBhvr>
                                      <p:to>
                                        <p:strVal val="visible"/>
                                      </p:to>
                                    </p:set>
                                    <p:animEffect transition="in" filter="fade">
                                      <p:cBhvr>
                                        <p:cTn id="28" dur="1000"/>
                                        <p:tgtEl>
                                          <p:spTgt spid="89093">
                                            <p:txEl>
                                              <p:pRg st="4" end="4"/>
                                            </p:txEl>
                                          </p:spTgt>
                                        </p:tgtEl>
                                      </p:cBhvr>
                                    </p:animEffect>
                                    <p:anim calcmode="lin" valueType="num">
                                      <p:cBhvr>
                                        <p:cTn id="29" dur="1000" fill="hold"/>
                                        <p:tgtEl>
                                          <p:spTgt spid="8909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909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9093">
                                            <p:txEl>
                                              <p:pRg st="5" end="5"/>
                                            </p:txEl>
                                          </p:spTgt>
                                        </p:tgtEl>
                                        <p:attrNameLst>
                                          <p:attrName>style.visibility</p:attrName>
                                        </p:attrNameLst>
                                      </p:cBhvr>
                                      <p:to>
                                        <p:strVal val="visible"/>
                                      </p:to>
                                    </p:set>
                                    <p:animEffect transition="in" filter="fade">
                                      <p:cBhvr>
                                        <p:cTn id="35" dur="1000"/>
                                        <p:tgtEl>
                                          <p:spTgt spid="89093">
                                            <p:txEl>
                                              <p:pRg st="5" end="5"/>
                                            </p:txEl>
                                          </p:spTgt>
                                        </p:tgtEl>
                                      </p:cBhvr>
                                    </p:animEffect>
                                    <p:anim calcmode="lin" valueType="num">
                                      <p:cBhvr>
                                        <p:cTn id="36" dur="1000" fill="hold"/>
                                        <p:tgtEl>
                                          <p:spTgt spid="8909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909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0117" name="Text Box 5"/>
          <p:cNvSpPr txBox="1">
            <a:spLocks noChangeArrowheads="1"/>
          </p:cNvSpPr>
          <p:nvPr/>
        </p:nvSpPr>
        <p:spPr bwMode="auto">
          <a:xfrm>
            <a:off x="372745" y="1106170"/>
            <a:ext cx="8314690" cy="5194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914400" lvl="1" indent="-457200">
              <a:lnSpc>
                <a:spcPct val="140000"/>
              </a:lnSpc>
              <a:buClr>
                <a:srgbClr val="00B0F0"/>
              </a:buClr>
              <a:buFont typeface="+mj-lt"/>
              <a:buAutoNum type="alphaLcParenR" startAt="3"/>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的根结点的平衡因子为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，则</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spcBef>
                <a:spcPts val="600"/>
              </a:spcBef>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        若</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的左子树根结点的平衡因子为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，需进行单向右旋平衡处理，并且在</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右旋处理后</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，将根结点和其右子树根结点的平衡因子更改为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0</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树的深度不变</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a:lnSpc>
                <a:spcPct val="140000"/>
              </a:lnSpc>
              <a:spcBef>
                <a:spcPts val="600"/>
              </a:spcBef>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的左子树根结点的平衡因子为</a:t>
            </a: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，需进行先向左、后向右的</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双向旋转</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平衡处理，并且的旋转后，修改根结点和其左右子树根结点的平衡因子，</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树的深度不变</a:t>
            </a:r>
            <a:r>
              <a:rPr kumimoji="1" lang="zh-CN" altLang="en-US" sz="2000" b="1" dirty="0">
                <a:solidFill>
                  <a:schemeClr val="tx1"/>
                </a:solidFill>
                <a:latin typeface="Times New Roman" panose="02020603050405020304" pitchFamily="18" charset="0"/>
                <a:ea typeface="幼圆" panose="02010509060101010101" pitchFamily="49" charset="-122"/>
                <a:cs typeface="Times New Roman" panose="02020603050405020304" pitchFamily="18" charset="0"/>
              </a:rPr>
              <a:t>。</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marL="914400" lvl="1" indent="-457200">
              <a:lnSpc>
                <a:spcPct val="140000"/>
              </a:lnSpc>
              <a:spcBef>
                <a:spcPts val="1200"/>
              </a:spcBef>
              <a:buClr>
                <a:srgbClr val="00B0F0"/>
              </a:buClr>
              <a:buFont typeface="+mj-lt"/>
              <a:buAutoNum type="alphaLcParenR" startAt="4"/>
            </a:pP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若</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的关键字大于</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的根结点的关键字，而且</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a:p>
            <a:pPr lvl="0" indent="0">
              <a:lnSpc>
                <a:spcPct val="140000"/>
              </a:lnSpc>
              <a:spcBef>
                <a:spcPts val="1200"/>
              </a:spcBef>
              <a:buClr>
                <a:srgbClr val="00B0F0"/>
              </a:buClr>
              <a:buFont typeface="+mj-lt"/>
              <a:buNone/>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在</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的右子树中不存在和</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有相同关键字的结点，则将</a:t>
            </a:r>
            <a:r>
              <a:rPr kumimoji="1" lang="en-US" altLang="zh-CN" sz="2000" i="1" dirty="0">
                <a:latin typeface="Times New Roman" panose="02020603050405020304" pitchFamily="18" charset="0"/>
                <a:ea typeface="幼圆" panose="02010509060101010101" pitchFamily="49" charset="-122"/>
                <a:cs typeface="Times New Roman" panose="02020603050405020304" pitchFamily="18" charset="0"/>
              </a:rPr>
              <a:t>e</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插入在</a:t>
            </a:r>
            <a:r>
              <a:rPr kumimoji="1" lang="en-US" altLang="zh-CN" sz="2000" dirty="0" err="1">
                <a:latin typeface="Times New Roman" panose="02020603050405020304" pitchFamily="18" charset="0"/>
                <a:ea typeface="幼圆" panose="02010509060101010101" pitchFamily="49" charset="-122"/>
                <a:cs typeface="Times New Roman" panose="02020603050405020304" pitchFamily="18" charset="0"/>
              </a:rPr>
              <a:t>AVL</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的右子树上，并且</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当插入之后的右子树深度增加（</a:t>
            </a:r>
            <a:r>
              <a:rPr kumimoji="1" lang="en-US" altLang="zh-CN"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r>
              <a:rPr kumimoji="1" lang="zh-CN" altLang="en-US" sz="20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时，分别就不同情况处理之。其处理操作和</a:t>
            </a:r>
            <a:r>
              <a:rPr kumimoji="1" lang="en-US" altLang="zh-CN" sz="2000" dirty="0">
                <a:solidFill>
                  <a:srgbClr val="00B0F0"/>
                </a:solidFill>
                <a:latin typeface="Times New Roman" panose="02020603050405020304" pitchFamily="18" charset="0"/>
                <a:ea typeface="幼圆" panose="02010509060101010101" pitchFamily="49" charset="-122"/>
                <a:cs typeface="Times New Roman" panose="02020603050405020304" pitchFamily="18" charset="0"/>
              </a:rPr>
              <a:t> c) </a:t>
            </a:r>
            <a:r>
              <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rPr>
              <a:t>中所述对称。</a:t>
            </a:r>
            <a:endParaRPr kumimoji="1" lang="zh-CN" altLang="en-US" sz="2000" dirty="0">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0117">
                                            <p:txEl>
                                              <p:pRg st="1" end="1"/>
                                            </p:txEl>
                                          </p:spTgt>
                                        </p:tgtEl>
                                        <p:attrNameLst>
                                          <p:attrName>style.visibility</p:attrName>
                                        </p:attrNameLst>
                                      </p:cBhvr>
                                      <p:to>
                                        <p:strVal val="visible"/>
                                      </p:to>
                                    </p:set>
                                    <p:animEffect transition="in" filter="fade">
                                      <p:cBhvr>
                                        <p:cTn id="7" dur="1000"/>
                                        <p:tgtEl>
                                          <p:spTgt spid="90117">
                                            <p:txEl>
                                              <p:pRg st="1" end="1"/>
                                            </p:txEl>
                                          </p:spTgt>
                                        </p:tgtEl>
                                      </p:cBhvr>
                                    </p:animEffect>
                                    <p:anim calcmode="lin" valueType="num">
                                      <p:cBhvr>
                                        <p:cTn id="8" dur="1000" fill="hold"/>
                                        <p:tgtEl>
                                          <p:spTgt spid="901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01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0117">
                                            <p:txEl>
                                              <p:pRg st="2" end="2"/>
                                            </p:txEl>
                                          </p:spTgt>
                                        </p:tgtEl>
                                        <p:attrNameLst>
                                          <p:attrName>style.visibility</p:attrName>
                                        </p:attrNameLst>
                                      </p:cBhvr>
                                      <p:to>
                                        <p:strVal val="visible"/>
                                      </p:to>
                                    </p:set>
                                    <p:animEffect transition="in" filter="fade">
                                      <p:cBhvr>
                                        <p:cTn id="14" dur="1000"/>
                                        <p:tgtEl>
                                          <p:spTgt spid="90117">
                                            <p:txEl>
                                              <p:pRg st="2" end="2"/>
                                            </p:txEl>
                                          </p:spTgt>
                                        </p:tgtEl>
                                      </p:cBhvr>
                                    </p:animEffect>
                                    <p:anim calcmode="lin" valueType="num">
                                      <p:cBhvr>
                                        <p:cTn id="15" dur="1000" fill="hold"/>
                                        <p:tgtEl>
                                          <p:spTgt spid="9011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01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0117">
                                            <p:txEl>
                                              <p:pRg st="3" end="3"/>
                                            </p:txEl>
                                          </p:spTgt>
                                        </p:tgtEl>
                                        <p:attrNameLst>
                                          <p:attrName>style.visibility</p:attrName>
                                        </p:attrNameLst>
                                      </p:cBhvr>
                                      <p:to>
                                        <p:strVal val="visible"/>
                                      </p:to>
                                    </p:set>
                                    <p:animEffect transition="in" filter="fade">
                                      <p:cBhvr>
                                        <p:cTn id="21" dur="1000"/>
                                        <p:tgtEl>
                                          <p:spTgt spid="90117">
                                            <p:txEl>
                                              <p:pRg st="3" end="3"/>
                                            </p:txEl>
                                          </p:spTgt>
                                        </p:tgtEl>
                                      </p:cBhvr>
                                    </p:animEffect>
                                    <p:anim calcmode="lin" valueType="num">
                                      <p:cBhvr>
                                        <p:cTn id="22" dur="1000" fill="hold"/>
                                        <p:tgtEl>
                                          <p:spTgt spid="9011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901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0117">
                                            <p:txEl>
                                              <p:pRg st="4" end="4"/>
                                            </p:txEl>
                                          </p:spTgt>
                                        </p:tgtEl>
                                        <p:attrNameLst>
                                          <p:attrName>style.visibility</p:attrName>
                                        </p:attrNameLst>
                                      </p:cBhvr>
                                      <p:to>
                                        <p:strVal val="visible"/>
                                      </p:to>
                                    </p:set>
                                    <p:animEffect transition="in" filter="fade">
                                      <p:cBhvr>
                                        <p:cTn id="28" dur="1000"/>
                                        <p:tgtEl>
                                          <p:spTgt spid="90117">
                                            <p:txEl>
                                              <p:pRg st="4" end="4"/>
                                            </p:txEl>
                                          </p:spTgt>
                                        </p:tgtEl>
                                      </p:cBhvr>
                                    </p:animEffect>
                                    <p:anim calcmode="lin" valueType="num">
                                      <p:cBhvr>
                                        <p:cTn id="29" dur="1000" fill="hold"/>
                                        <p:tgtEl>
                                          <p:spTgt spid="9011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9011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282626" name="Rectangle 2"/>
          <p:cNvSpPr>
            <a:spLocks noChangeArrowheads="1"/>
          </p:cNvSpPr>
          <p:nvPr/>
        </p:nvSpPr>
        <p:spPr bwMode="auto">
          <a:xfrm>
            <a:off x="582930" y="1733550"/>
            <a:ext cx="8104505" cy="425450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5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AVLNode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AVLNode</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KeyType</a:t>
            </a:r>
            <a:r>
              <a:rPr kumimoji="1" lang="en-US" altLang="zh-CN" dirty="0">
                <a:latin typeface="Consolas" panose="020B0609020204030204" charset="0"/>
                <a:ea typeface="幼圆" panose="02010509060101010101" pitchFamily="49" charset="-122"/>
                <a:cs typeface="Consolas" panose="020B0609020204030204" charset="0"/>
              </a:rPr>
              <a:t> key;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结点的关键码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DataType</a:t>
            </a:r>
            <a:r>
              <a:rPr kumimoji="1" lang="en-US" altLang="zh-CN" dirty="0">
                <a:latin typeface="Consolas" panose="020B0609020204030204" charset="0"/>
                <a:ea typeface="幼圆" panose="02010509060101010101" pitchFamily="49" charset="-122"/>
                <a:cs typeface="Consolas" panose="020B0609020204030204" charset="0"/>
              </a:rPr>
              <a:t> other;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结点的其它信息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bf;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结点的平衡因子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分别指向结点的左、右子女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50000"/>
              </a:lnSpc>
            </a:pP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AVLTree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PAVLTree</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
        <p:nvSpPr>
          <p:cNvPr id="282627" name="Rectangle 3"/>
          <p:cNvSpPr>
            <a:spLocks noChangeArrowheads="1"/>
          </p:cNvSpPr>
          <p:nvPr/>
        </p:nvSpPr>
        <p:spPr bwMode="auto">
          <a:xfrm>
            <a:off x="623411" y="1232535"/>
            <a:ext cx="3712369" cy="46037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a:solidFill>
                  <a:srgbClr val="FF0000"/>
                </a:solidFill>
                <a:ea typeface="幼圆" panose="02010509060101010101" pitchFamily="49" charset="-122"/>
              </a:rPr>
              <a:t>Structure declaration</a:t>
            </a:r>
            <a:endParaRPr kumimoji="1" lang="en-US" altLang="zh-CN" sz="2400">
              <a:solidFill>
                <a:srgbClr val="FF0000"/>
              </a:solidFill>
              <a:ea typeface="幼圆" panose="020105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2162" name="Rectangle 2"/>
          <p:cNvSpPr>
            <a:spLocks noChangeArrowheads="1"/>
          </p:cNvSpPr>
          <p:nvPr/>
        </p:nvSpPr>
        <p:spPr bwMode="auto">
          <a:xfrm>
            <a:off x="673100" y="1051560"/>
            <a:ext cx="8013700" cy="230695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LL</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b = a-&gt;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lvl="1" algn="just" eaLnBrk="0" hangingPunct="0"/>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 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 a;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b</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指向调整后的子树的根结点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latin typeface="Consolas" panose="020B0609020204030204" charset="0"/>
                <a:ea typeface="幼圆" panose="02010509060101010101" pitchFamily="49" charset="-122"/>
                <a:cs typeface="Consolas" panose="020B0609020204030204" charset="0"/>
                <a:sym typeface="+mn-ea"/>
              </a:rPr>
              <a:t>a-&gt;bf = 0; </a:t>
            </a:r>
            <a:endParaRPr kumimoji="1" lang="en-US" altLang="zh-CN" dirty="0">
              <a:latin typeface="Consolas" panose="020B0609020204030204" charset="0"/>
              <a:ea typeface="幼圆" panose="02010509060101010101" pitchFamily="49" charset="-122"/>
              <a:cs typeface="Consolas" panose="020B0609020204030204" charset="0"/>
              <a:sym typeface="+mn-ea"/>
            </a:endParaRPr>
          </a:p>
          <a:p>
            <a:pPr indent="457200" algn="just" eaLnBrk="0" hangingPunct="0"/>
            <a:r>
              <a:rPr kumimoji="1" lang="en-US" altLang="zh-CN" dirty="0">
                <a:latin typeface="Consolas" panose="020B0609020204030204" charset="0"/>
                <a:ea typeface="幼圆" panose="02010509060101010101" pitchFamily="49" charset="-122"/>
                <a:cs typeface="Consolas" panose="020B0609020204030204" charset="0"/>
                <a:sym typeface="+mn-ea"/>
              </a:rPr>
              <a:t>b-&gt;bf = 0;</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b;</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grpSp>
        <p:nvGrpSpPr>
          <p:cNvPr id="5" name="Group 31"/>
          <p:cNvGrpSpPr/>
          <p:nvPr/>
        </p:nvGrpSpPr>
        <p:grpSpPr bwMode="auto">
          <a:xfrm>
            <a:off x="688658" y="3543300"/>
            <a:ext cx="3255963" cy="2882901"/>
            <a:chOff x="720" y="816"/>
            <a:chExt cx="2051" cy="1816"/>
          </a:xfrm>
        </p:grpSpPr>
        <p:sp>
          <p:nvSpPr>
            <p:cNvPr id="6" name="Oval 32"/>
            <p:cNvSpPr>
              <a:spLocks noChangeArrowheads="1"/>
            </p:cNvSpPr>
            <p:nvPr/>
          </p:nvSpPr>
          <p:spPr bwMode="auto">
            <a:xfrm>
              <a:off x="1680" y="816"/>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Oval 33"/>
            <p:cNvSpPr>
              <a:spLocks noChangeArrowheads="1"/>
            </p:cNvSpPr>
            <p:nvPr/>
          </p:nvSpPr>
          <p:spPr bwMode="auto">
            <a:xfrm>
              <a:off x="1296" y="1200"/>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8" name="AutoShape 34"/>
            <p:cNvCxnSpPr>
              <a:cxnSpLocks noChangeShapeType="1"/>
              <a:stCxn id="6" idx="2"/>
              <a:endCxn id="7" idx="0"/>
            </p:cNvCxnSpPr>
            <p:nvPr/>
          </p:nvCxnSpPr>
          <p:spPr bwMode="auto">
            <a:xfrm flipH="1">
              <a:off x="1464" y="984"/>
              <a:ext cx="216" cy="216"/>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 name="Group 35"/>
            <p:cNvGrpSpPr/>
            <p:nvPr/>
          </p:nvGrpSpPr>
          <p:grpSpPr bwMode="auto">
            <a:xfrm>
              <a:off x="998" y="1728"/>
              <a:ext cx="320" cy="672"/>
              <a:chOff x="998" y="1728"/>
              <a:chExt cx="320" cy="672"/>
            </a:xfrm>
          </p:grpSpPr>
          <p:grpSp>
            <p:nvGrpSpPr>
              <p:cNvPr id="10" name="Group 36"/>
              <p:cNvGrpSpPr/>
              <p:nvPr/>
            </p:nvGrpSpPr>
            <p:grpSpPr bwMode="auto">
              <a:xfrm>
                <a:off x="1008" y="1728"/>
                <a:ext cx="288" cy="672"/>
                <a:chOff x="1008" y="1728"/>
                <a:chExt cx="288" cy="672"/>
              </a:xfrm>
            </p:grpSpPr>
            <p:sp>
              <p:nvSpPr>
                <p:cNvPr id="11" name="Rectangle 37"/>
                <p:cNvSpPr>
                  <a:spLocks noChangeArrowheads="1"/>
                </p:cNvSpPr>
                <p:nvPr/>
              </p:nvSpPr>
              <p:spPr bwMode="auto">
                <a:xfrm>
                  <a:off x="1008" y="1728"/>
                  <a:ext cx="288" cy="672"/>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2" name="Line 38"/>
                <p:cNvSpPr>
                  <a:spLocks noChangeShapeType="1"/>
                </p:cNvSpPr>
                <p:nvPr/>
              </p:nvSpPr>
              <p:spPr bwMode="auto">
                <a:xfrm>
                  <a:off x="1008" y="2256"/>
                  <a:ext cx="288"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3" name="Line 39"/>
                <p:cNvSpPr>
                  <a:spLocks noChangeShapeType="1"/>
                </p:cNvSpPr>
                <p:nvPr/>
              </p:nvSpPr>
              <p:spPr bwMode="auto">
                <a:xfrm>
                  <a:off x="1008" y="2256"/>
                  <a:ext cx="288" cy="144"/>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4" name="Line 40"/>
                <p:cNvSpPr>
                  <a:spLocks noChangeShapeType="1"/>
                </p:cNvSpPr>
                <p:nvPr/>
              </p:nvSpPr>
              <p:spPr bwMode="auto">
                <a:xfrm flipV="1">
                  <a:off x="1008" y="2256"/>
                  <a:ext cx="288" cy="144"/>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sp>
            <p:nvSpPr>
              <p:cNvPr id="15" name="Text Box 41"/>
              <p:cNvSpPr txBox="1">
                <a:spLocks noChangeArrowheads="1"/>
              </p:cNvSpPr>
              <p:nvPr/>
            </p:nvSpPr>
            <p:spPr bwMode="auto">
              <a:xfrm>
                <a:off x="998" y="1850"/>
                <a:ext cx="320"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6" name="Group 42"/>
            <p:cNvGrpSpPr/>
            <p:nvPr/>
          </p:nvGrpSpPr>
          <p:grpSpPr bwMode="auto">
            <a:xfrm>
              <a:off x="1648" y="1728"/>
              <a:ext cx="326" cy="528"/>
              <a:chOff x="1648" y="1728"/>
              <a:chExt cx="326" cy="528"/>
            </a:xfrm>
          </p:grpSpPr>
          <p:sp>
            <p:nvSpPr>
              <p:cNvPr id="17" name="Rectangle 43"/>
              <p:cNvSpPr>
                <a:spLocks noChangeArrowheads="1"/>
              </p:cNvSpPr>
              <p:nvPr/>
            </p:nvSpPr>
            <p:spPr bwMode="auto">
              <a:xfrm>
                <a:off x="1648" y="1728"/>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8" name="Text Box 44"/>
              <p:cNvSpPr txBox="1">
                <a:spLocks noChangeArrowheads="1"/>
              </p:cNvSpPr>
              <p:nvPr/>
            </p:nvSpPr>
            <p:spPr bwMode="auto">
              <a:xfrm>
                <a:off x="1648" y="1850"/>
                <a:ext cx="326"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9" name="Group 45"/>
            <p:cNvGrpSpPr/>
            <p:nvPr/>
          </p:nvGrpSpPr>
          <p:grpSpPr bwMode="auto">
            <a:xfrm>
              <a:off x="720" y="1728"/>
              <a:ext cx="211" cy="672"/>
              <a:chOff x="720" y="1728"/>
              <a:chExt cx="211" cy="672"/>
            </a:xfrm>
          </p:grpSpPr>
          <p:sp>
            <p:nvSpPr>
              <p:cNvPr id="20" name="Line 46"/>
              <p:cNvSpPr>
                <a:spLocks noChangeShapeType="1"/>
              </p:cNvSpPr>
              <p:nvPr/>
            </p:nvSpPr>
            <p:spPr bwMode="auto">
              <a:xfrm>
                <a:off x="720" y="1728"/>
                <a:ext cx="192"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1" name="Line 47"/>
              <p:cNvSpPr>
                <a:spLocks noChangeShapeType="1"/>
              </p:cNvSpPr>
              <p:nvPr/>
            </p:nvSpPr>
            <p:spPr bwMode="auto">
              <a:xfrm>
                <a:off x="720" y="2400"/>
                <a:ext cx="192"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2" name="Text Box 48"/>
              <p:cNvSpPr txBox="1">
                <a:spLocks noChangeArrowheads="1"/>
              </p:cNvSpPr>
              <p:nvPr/>
            </p:nvSpPr>
            <p:spPr bwMode="auto">
              <a:xfrm>
                <a:off x="720" y="1920"/>
                <a:ext cx="21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3" name="Line 49"/>
              <p:cNvSpPr>
                <a:spLocks noChangeShapeType="1"/>
              </p:cNvSpPr>
              <p:nvPr/>
            </p:nvSpPr>
            <p:spPr bwMode="auto">
              <a:xfrm>
                <a:off x="816" y="2160"/>
                <a:ext cx="0" cy="240"/>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4" name="Line 50"/>
              <p:cNvSpPr>
                <a:spLocks noChangeShapeType="1"/>
              </p:cNvSpPr>
              <p:nvPr/>
            </p:nvSpPr>
            <p:spPr bwMode="auto">
              <a:xfrm flipV="1">
                <a:off x="816" y="1728"/>
                <a:ext cx="0" cy="192"/>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25" name="Group 51"/>
            <p:cNvGrpSpPr/>
            <p:nvPr/>
          </p:nvGrpSpPr>
          <p:grpSpPr bwMode="auto">
            <a:xfrm>
              <a:off x="1344" y="1728"/>
              <a:ext cx="371" cy="528"/>
              <a:chOff x="1920" y="1728"/>
              <a:chExt cx="371" cy="528"/>
            </a:xfrm>
          </p:grpSpPr>
          <p:sp>
            <p:nvSpPr>
              <p:cNvPr id="26" name="Line 52"/>
              <p:cNvSpPr>
                <a:spLocks noChangeShapeType="1"/>
              </p:cNvSpPr>
              <p:nvPr/>
            </p:nvSpPr>
            <p:spPr bwMode="auto">
              <a:xfrm>
                <a:off x="2016" y="1728"/>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7" name="Line 53"/>
              <p:cNvSpPr>
                <a:spLocks noChangeShapeType="1"/>
              </p:cNvSpPr>
              <p:nvPr/>
            </p:nvSpPr>
            <p:spPr bwMode="auto">
              <a:xfrm>
                <a:off x="2016" y="2256"/>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8" name="Text Box 54"/>
              <p:cNvSpPr txBox="1">
                <a:spLocks noChangeArrowheads="1"/>
              </p:cNvSpPr>
              <p:nvPr/>
            </p:nvSpPr>
            <p:spPr bwMode="auto">
              <a:xfrm>
                <a:off x="1920" y="1824"/>
                <a:ext cx="37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9" name="Line 55"/>
              <p:cNvSpPr>
                <a:spLocks noChangeShapeType="1"/>
              </p:cNvSpPr>
              <p:nvPr/>
            </p:nvSpPr>
            <p:spPr bwMode="auto">
              <a:xfrm>
                <a:off x="2064" y="2064"/>
                <a:ext cx="0" cy="192"/>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0" name="Line 56"/>
              <p:cNvSpPr>
                <a:spLocks noChangeShapeType="1"/>
              </p:cNvSpPr>
              <p:nvPr/>
            </p:nvSpPr>
            <p:spPr bwMode="auto">
              <a:xfrm flipV="1">
                <a:off x="2064" y="1728"/>
                <a:ext cx="0" cy="144"/>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31" name="Group 57"/>
            <p:cNvGrpSpPr/>
            <p:nvPr/>
          </p:nvGrpSpPr>
          <p:grpSpPr bwMode="auto">
            <a:xfrm>
              <a:off x="2122" y="1200"/>
              <a:ext cx="343" cy="528"/>
              <a:chOff x="1632" y="1728"/>
              <a:chExt cx="343" cy="528"/>
            </a:xfrm>
          </p:grpSpPr>
          <p:sp>
            <p:nvSpPr>
              <p:cNvPr id="32" name="Rectangle 58"/>
              <p:cNvSpPr>
                <a:spLocks noChangeArrowheads="1"/>
              </p:cNvSpPr>
              <p:nvPr/>
            </p:nvSpPr>
            <p:spPr bwMode="auto">
              <a:xfrm>
                <a:off x="1632" y="1728"/>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3" name="Text Box 59"/>
              <p:cNvSpPr txBox="1">
                <a:spLocks noChangeArrowheads="1"/>
              </p:cNvSpPr>
              <p:nvPr/>
            </p:nvSpPr>
            <p:spPr bwMode="auto">
              <a:xfrm>
                <a:off x="1677" y="1850"/>
                <a:ext cx="298"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400" baseline="-2500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4" name="Group 60"/>
            <p:cNvGrpSpPr/>
            <p:nvPr/>
          </p:nvGrpSpPr>
          <p:grpSpPr bwMode="auto">
            <a:xfrm>
              <a:off x="2400" y="1200"/>
              <a:ext cx="371" cy="528"/>
              <a:chOff x="1920" y="1728"/>
              <a:chExt cx="371" cy="528"/>
            </a:xfrm>
          </p:grpSpPr>
          <p:sp>
            <p:nvSpPr>
              <p:cNvPr id="35" name="Line 61"/>
              <p:cNvSpPr>
                <a:spLocks noChangeShapeType="1"/>
              </p:cNvSpPr>
              <p:nvPr/>
            </p:nvSpPr>
            <p:spPr bwMode="auto">
              <a:xfrm>
                <a:off x="2016" y="1728"/>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6" name="Line 62"/>
              <p:cNvSpPr>
                <a:spLocks noChangeShapeType="1"/>
              </p:cNvSpPr>
              <p:nvPr/>
            </p:nvSpPr>
            <p:spPr bwMode="auto">
              <a:xfrm>
                <a:off x="2016" y="2256"/>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7" name="Text Box 63"/>
              <p:cNvSpPr txBox="1">
                <a:spLocks noChangeArrowheads="1"/>
              </p:cNvSpPr>
              <p:nvPr/>
            </p:nvSpPr>
            <p:spPr bwMode="auto">
              <a:xfrm>
                <a:off x="1920" y="1824"/>
                <a:ext cx="37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 name="Line 64"/>
              <p:cNvSpPr>
                <a:spLocks noChangeShapeType="1"/>
              </p:cNvSpPr>
              <p:nvPr/>
            </p:nvSpPr>
            <p:spPr bwMode="auto">
              <a:xfrm>
                <a:off x="2064" y="2064"/>
                <a:ext cx="0" cy="192"/>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9" name="Line 65"/>
              <p:cNvSpPr>
                <a:spLocks noChangeShapeType="1"/>
              </p:cNvSpPr>
              <p:nvPr/>
            </p:nvSpPr>
            <p:spPr bwMode="auto">
              <a:xfrm flipV="1">
                <a:off x="2064" y="1728"/>
                <a:ext cx="0" cy="144"/>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cxnSp>
          <p:nvCxnSpPr>
            <p:cNvPr id="40" name="AutoShape 66"/>
            <p:cNvCxnSpPr>
              <a:cxnSpLocks noChangeShapeType="1"/>
              <a:stCxn id="6" idx="6"/>
              <a:endCxn id="32" idx="0"/>
            </p:cNvCxnSpPr>
            <p:nvPr/>
          </p:nvCxnSpPr>
          <p:spPr bwMode="auto">
            <a:xfrm>
              <a:off x="2016" y="984"/>
              <a:ext cx="250" cy="216"/>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67"/>
            <p:cNvCxnSpPr>
              <a:cxnSpLocks noChangeShapeType="1"/>
              <a:stCxn id="7" idx="2"/>
              <a:endCxn id="11" idx="0"/>
            </p:cNvCxnSpPr>
            <p:nvPr/>
          </p:nvCxnSpPr>
          <p:spPr bwMode="auto">
            <a:xfrm flipH="1">
              <a:off x="1152" y="1368"/>
              <a:ext cx="144" cy="360"/>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AutoShape 68"/>
            <p:cNvCxnSpPr>
              <a:cxnSpLocks noChangeShapeType="1"/>
              <a:stCxn id="7" idx="6"/>
              <a:endCxn id="17" idx="0"/>
            </p:cNvCxnSpPr>
            <p:nvPr/>
          </p:nvCxnSpPr>
          <p:spPr bwMode="auto">
            <a:xfrm>
              <a:off x="1632" y="1368"/>
              <a:ext cx="151" cy="360"/>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Text Box 69"/>
            <p:cNvSpPr txBox="1">
              <a:spLocks noChangeArrowheads="1"/>
            </p:cNvSpPr>
            <p:nvPr/>
          </p:nvSpPr>
          <p:spPr bwMode="auto">
            <a:xfrm>
              <a:off x="816" y="2400"/>
              <a:ext cx="694" cy="232"/>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zh-CN" altLang="en-US"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sz="24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4" name="Group 70"/>
          <p:cNvGrpSpPr/>
          <p:nvPr/>
        </p:nvGrpSpPr>
        <p:grpSpPr bwMode="auto">
          <a:xfrm>
            <a:off x="4177983" y="4076700"/>
            <a:ext cx="838200" cy="685800"/>
            <a:chOff x="2208" y="480"/>
            <a:chExt cx="528" cy="432"/>
          </a:xfrm>
        </p:grpSpPr>
        <p:sp>
          <p:nvSpPr>
            <p:cNvPr id="45" name="AutoShape 71"/>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46" name="Text Box 72"/>
            <p:cNvSpPr txBox="1">
              <a:spLocks noChangeArrowheads="1"/>
            </p:cNvSpPr>
            <p:nvPr/>
          </p:nvSpPr>
          <p:spPr bwMode="auto">
            <a:xfrm>
              <a:off x="2256" y="480"/>
              <a:ext cx="35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LL</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7" name="Group 73"/>
          <p:cNvGrpSpPr/>
          <p:nvPr/>
        </p:nvGrpSpPr>
        <p:grpSpPr bwMode="auto">
          <a:xfrm>
            <a:off x="6006783" y="3730625"/>
            <a:ext cx="2749550" cy="2341563"/>
            <a:chOff x="3360" y="262"/>
            <a:chExt cx="1732" cy="1475"/>
          </a:xfrm>
        </p:grpSpPr>
        <p:sp>
          <p:nvSpPr>
            <p:cNvPr id="48" name="Oval 74"/>
            <p:cNvSpPr>
              <a:spLocks noChangeArrowheads="1"/>
            </p:cNvSpPr>
            <p:nvPr/>
          </p:nvSpPr>
          <p:spPr bwMode="auto">
            <a:xfrm flipH="1">
              <a:off x="4320" y="672"/>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20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9" name="Oval 75"/>
            <p:cNvSpPr>
              <a:spLocks noChangeArrowheads="1"/>
            </p:cNvSpPr>
            <p:nvPr/>
          </p:nvSpPr>
          <p:spPr bwMode="auto">
            <a:xfrm flipH="1">
              <a:off x="3951" y="262"/>
              <a:ext cx="336" cy="336"/>
            </a:xfrm>
            <a:prstGeom prst="ellipse">
              <a:avLst/>
            </a:prstGeom>
            <a:noFill/>
            <a:ln w="28575" cmpd="sng">
              <a:solidFill>
                <a:schemeClr val="accent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20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50" name="Group 76"/>
            <p:cNvGrpSpPr/>
            <p:nvPr/>
          </p:nvGrpSpPr>
          <p:grpSpPr bwMode="auto">
            <a:xfrm>
              <a:off x="3360" y="1152"/>
              <a:ext cx="332" cy="528"/>
              <a:chOff x="852" y="2976"/>
              <a:chExt cx="332" cy="528"/>
            </a:xfrm>
          </p:grpSpPr>
          <p:sp>
            <p:nvSpPr>
              <p:cNvPr id="51" name="Rectangle 77"/>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52" name="Text Box 78"/>
              <p:cNvSpPr txBox="1">
                <a:spLocks noChangeArrowheads="1"/>
              </p:cNvSpPr>
              <p:nvPr/>
            </p:nvSpPr>
            <p:spPr bwMode="auto">
              <a:xfrm flipH="1">
                <a:off x="864" y="3120"/>
                <a:ext cx="320"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3" name="Group 79"/>
            <p:cNvGrpSpPr/>
            <p:nvPr/>
          </p:nvGrpSpPr>
          <p:grpSpPr bwMode="auto">
            <a:xfrm>
              <a:off x="4020" y="1152"/>
              <a:ext cx="355" cy="585"/>
              <a:chOff x="888" y="2976"/>
              <a:chExt cx="355" cy="585"/>
            </a:xfrm>
          </p:grpSpPr>
          <p:sp>
            <p:nvSpPr>
              <p:cNvPr id="54" name="Rectangle 80"/>
              <p:cNvSpPr>
                <a:spLocks noChangeArrowheads="1"/>
              </p:cNvSpPr>
              <p:nvPr/>
            </p:nvSpPr>
            <p:spPr bwMode="auto">
              <a:xfrm flipH="1">
                <a:off x="900"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55" name="Text Box 81"/>
              <p:cNvSpPr txBox="1">
                <a:spLocks noChangeArrowheads="1"/>
              </p:cNvSpPr>
              <p:nvPr/>
            </p:nvSpPr>
            <p:spPr bwMode="auto">
              <a:xfrm flipH="1">
                <a:off x="888" y="3120"/>
                <a:ext cx="355" cy="441"/>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6" name="Group 82"/>
            <p:cNvGrpSpPr/>
            <p:nvPr/>
          </p:nvGrpSpPr>
          <p:grpSpPr bwMode="auto">
            <a:xfrm>
              <a:off x="4728" y="1152"/>
              <a:ext cx="364" cy="528"/>
              <a:chOff x="828" y="2976"/>
              <a:chExt cx="364" cy="528"/>
            </a:xfrm>
          </p:grpSpPr>
          <p:sp>
            <p:nvSpPr>
              <p:cNvPr id="57" name="Rectangle 83"/>
              <p:cNvSpPr>
                <a:spLocks noChangeArrowheads="1"/>
              </p:cNvSpPr>
              <p:nvPr/>
            </p:nvSpPr>
            <p:spPr bwMode="auto">
              <a:xfrm flipH="1">
                <a:off x="852" y="2976"/>
                <a:ext cx="288" cy="528"/>
              </a:xfrm>
              <a:prstGeom prst="rect">
                <a:avLst/>
              </a:prstGeom>
              <a:noFill/>
              <a:ln w="28575" cmpd="sng">
                <a:solidFill>
                  <a:schemeClr val="accent1"/>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58" name="Text Box 84"/>
              <p:cNvSpPr txBox="1">
                <a:spLocks noChangeArrowheads="1"/>
              </p:cNvSpPr>
              <p:nvPr/>
            </p:nvSpPr>
            <p:spPr bwMode="auto">
              <a:xfrm flipH="1">
                <a:off x="828" y="3120"/>
                <a:ext cx="364" cy="262"/>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59" name="AutoShape 85"/>
            <p:cNvCxnSpPr>
              <a:cxnSpLocks noChangeShapeType="1"/>
              <a:stCxn id="49" idx="6"/>
              <a:endCxn id="51" idx="0"/>
            </p:cNvCxnSpPr>
            <p:nvPr/>
          </p:nvCxnSpPr>
          <p:spPr bwMode="auto">
            <a:xfrm flipH="1">
              <a:off x="3504" y="430"/>
              <a:ext cx="447" cy="722"/>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AutoShape 86"/>
            <p:cNvCxnSpPr>
              <a:cxnSpLocks noChangeShapeType="1"/>
              <a:stCxn id="48" idx="6"/>
              <a:endCxn id="54" idx="0"/>
            </p:cNvCxnSpPr>
            <p:nvPr/>
          </p:nvCxnSpPr>
          <p:spPr bwMode="auto">
            <a:xfrm flipH="1">
              <a:off x="4170" y="840"/>
              <a:ext cx="150" cy="312"/>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AutoShape 87"/>
            <p:cNvCxnSpPr>
              <a:cxnSpLocks noChangeShapeType="1"/>
              <a:stCxn id="48" idx="2"/>
              <a:endCxn id="57" idx="0"/>
            </p:cNvCxnSpPr>
            <p:nvPr/>
          </p:nvCxnSpPr>
          <p:spPr bwMode="auto">
            <a:xfrm>
              <a:off x="4656" y="840"/>
              <a:ext cx="240" cy="312"/>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AutoShape 88"/>
            <p:cNvCxnSpPr>
              <a:cxnSpLocks noChangeShapeType="1"/>
              <a:stCxn id="49" idx="2"/>
              <a:endCxn id="48" idx="0"/>
            </p:cNvCxnSpPr>
            <p:nvPr/>
          </p:nvCxnSpPr>
          <p:spPr bwMode="auto">
            <a:xfrm>
              <a:off x="4287" y="430"/>
              <a:ext cx="201" cy="242"/>
            </a:xfrm>
            <a:prstGeom prst="straightConnector1">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3" name="Text Box 89"/>
          <p:cNvSpPr txBox="1">
            <a:spLocks noChangeArrowheads="1"/>
          </p:cNvSpPr>
          <p:nvPr/>
        </p:nvSpPr>
        <p:spPr bwMode="auto">
          <a:xfrm>
            <a:off x="4552633" y="5794375"/>
            <a:ext cx="5213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64" name="Group 90"/>
          <p:cNvGrpSpPr/>
          <p:nvPr/>
        </p:nvGrpSpPr>
        <p:grpSpPr bwMode="auto">
          <a:xfrm flipH="1">
            <a:off x="5670233" y="5143500"/>
            <a:ext cx="336550" cy="838200"/>
            <a:chOff x="1948" y="1728"/>
            <a:chExt cx="212" cy="528"/>
          </a:xfrm>
        </p:grpSpPr>
        <p:sp>
          <p:nvSpPr>
            <p:cNvPr id="65" name="Line 91"/>
            <p:cNvSpPr>
              <a:spLocks noChangeShapeType="1"/>
            </p:cNvSpPr>
            <p:nvPr/>
          </p:nvSpPr>
          <p:spPr bwMode="auto">
            <a:xfrm>
              <a:off x="2016" y="1728"/>
              <a:ext cx="144" cy="0"/>
            </a:xfrm>
            <a:prstGeom prst="line">
              <a:avLst/>
            </a:prstGeom>
            <a:noFill/>
            <a:ln w="28575" cmpd="sng">
              <a:no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6" name="Line 92"/>
            <p:cNvSpPr>
              <a:spLocks noChangeShapeType="1"/>
            </p:cNvSpPr>
            <p:nvPr/>
          </p:nvSpPr>
          <p:spPr bwMode="auto">
            <a:xfrm>
              <a:off x="2016" y="2256"/>
              <a:ext cx="144" cy="0"/>
            </a:xfrm>
            <a:prstGeom prst="line">
              <a:avLst/>
            </a:prstGeom>
            <a:noFill/>
            <a:ln w="28575" cmpd="sng">
              <a:no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7" name="Text Box 93"/>
            <p:cNvSpPr txBox="1">
              <a:spLocks noChangeArrowheads="1"/>
            </p:cNvSpPr>
            <p:nvPr/>
          </p:nvSpPr>
          <p:spPr bwMode="auto">
            <a:xfrm>
              <a:off x="1948" y="1824"/>
              <a:ext cx="21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8" name="Line 94"/>
            <p:cNvSpPr>
              <a:spLocks noChangeShapeType="1"/>
            </p:cNvSpPr>
            <p:nvPr/>
          </p:nvSpPr>
          <p:spPr bwMode="auto">
            <a:xfrm>
              <a:off x="2064" y="2064"/>
              <a:ext cx="0" cy="192"/>
            </a:xfrm>
            <a:prstGeom prst="line">
              <a:avLst/>
            </a:prstGeom>
            <a:noFill/>
            <a:ln w="28575" cmpd="sng">
              <a:no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9" name="Line 95"/>
            <p:cNvSpPr>
              <a:spLocks noChangeShapeType="1"/>
            </p:cNvSpPr>
            <p:nvPr/>
          </p:nvSpPr>
          <p:spPr bwMode="auto">
            <a:xfrm flipV="1">
              <a:off x="2064" y="1728"/>
              <a:ext cx="0" cy="144"/>
            </a:xfrm>
            <a:prstGeom prst="line">
              <a:avLst/>
            </a:prstGeom>
            <a:noFill/>
            <a:ln w="28575" cmpd="sng">
              <a:no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70" name="Group 96"/>
          <p:cNvGrpSpPr/>
          <p:nvPr/>
        </p:nvGrpSpPr>
        <p:grpSpPr bwMode="auto">
          <a:xfrm flipH="1">
            <a:off x="6541771" y="5143500"/>
            <a:ext cx="588963" cy="838200"/>
            <a:chOff x="1920" y="1728"/>
            <a:chExt cx="371" cy="528"/>
          </a:xfrm>
        </p:grpSpPr>
        <p:sp>
          <p:nvSpPr>
            <p:cNvPr id="71" name="Line 97"/>
            <p:cNvSpPr>
              <a:spLocks noChangeShapeType="1"/>
            </p:cNvSpPr>
            <p:nvPr/>
          </p:nvSpPr>
          <p:spPr bwMode="auto">
            <a:xfrm>
              <a:off x="2016" y="1728"/>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2" name="Line 98"/>
            <p:cNvSpPr>
              <a:spLocks noChangeShapeType="1"/>
            </p:cNvSpPr>
            <p:nvPr/>
          </p:nvSpPr>
          <p:spPr bwMode="auto">
            <a:xfrm>
              <a:off x="2016" y="2256"/>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3" name="Text Box 99"/>
            <p:cNvSpPr txBox="1">
              <a:spLocks noChangeArrowheads="1"/>
            </p:cNvSpPr>
            <p:nvPr/>
          </p:nvSpPr>
          <p:spPr bwMode="auto">
            <a:xfrm>
              <a:off x="1920" y="1824"/>
              <a:ext cx="37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4" name="Line 100"/>
            <p:cNvSpPr>
              <a:spLocks noChangeShapeType="1"/>
            </p:cNvSpPr>
            <p:nvPr/>
          </p:nvSpPr>
          <p:spPr bwMode="auto">
            <a:xfrm>
              <a:off x="2109" y="2064"/>
              <a:ext cx="0" cy="192"/>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5" name="Line 101"/>
            <p:cNvSpPr>
              <a:spLocks noChangeShapeType="1"/>
            </p:cNvSpPr>
            <p:nvPr/>
          </p:nvSpPr>
          <p:spPr bwMode="auto">
            <a:xfrm flipV="1">
              <a:off x="2109" y="1728"/>
              <a:ext cx="0" cy="144"/>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76" name="Group 102"/>
          <p:cNvGrpSpPr/>
          <p:nvPr/>
        </p:nvGrpSpPr>
        <p:grpSpPr bwMode="auto">
          <a:xfrm flipH="1">
            <a:off x="7684771" y="5143500"/>
            <a:ext cx="588963" cy="838200"/>
            <a:chOff x="1920" y="1728"/>
            <a:chExt cx="371" cy="528"/>
          </a:xfrm>
        </p:grpSpPr>
        <p:sp>
          <p:nvSpPr>
            <p:cNvPr id="77" name="Line 103"/>
            <p:cNvSpPr>
              <a:spLocks noChangeShapeType="1"/>
            </p:cNvSpPr>
            <p:nvPr/>
          </p:nvSpPr>
          <p:spPr bwMode="auto">
            <a:xfrm>
              <a:off x="2016" y="1728"/>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8" name="Line 104"/>
            <p:cNvSpPr>
              <a:spLocks noChangeShapeType="1"/>
            </p:cNvSpPr>
            <p:nvPr/>
          </p:nvSpPr>
          <p:spPr bwMode="auto">
            <a:xfrm>
              <a:off x="2016" y="2256"/>
              <a:ext cx="144" cy="0"/>
            </a:xfrm>
            <a:prstGeom prst="line">
              <a:avLst/>
            </a:prstGeom>
            <a:noFill/>
            <a:ln w="28575" cmpd="sng">
              <a:solidFill>
                <a:schemeClr val="accent1"/>
              </a:solidFill>
              <a:prstDash val="solid"/>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 name="Text Box 105"/>
            <p:cNvSpPr txBox="1">
              <a:spLocks noChangeArrowheads="1"/>
            </p:cNvSpPr>
            <p:nvPr/>
          </p:nvSpPr>
          <p:spPr bwMode="auto">
            <a:xfrm>
              <a:off x="1920" y="1824"/>
              <a:ext cx="371" cy="290"/>
            </a:xfrm>
            <a:prstGeom prst="rect">
              <a:avLst/>
            </a:prstGeom>
            <a:noFill/>
            <a:ln w="28575" cmpd="sng">
              <a:no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0" name="Line 106"/>
            <p:cNvSpPr>
              <a:spLocks noChangeShapeType="1"/>
            </p:cNvSpPr>
            <p:nvPr/>
          </p:nvSpPr>
          <p:spPr bwMode="auto">
            <a:xfrm>
              <a:off x="2064" y="2064"/>
              <a:ext cx="0" cy="192"/>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81" name="Line 107"/>
            <p:cNvSpPr>
              <a:spLocks noChangeShapeType="1"/>
            </p:cNvSpPr>
            <p:nvPr/>
          </p:nvSpPr>
          <p:spPr bwMode="auto">
            <a:xfrm flipV="1">
              <a:off x="2064" y="1728"/>
              <a:ext cx="0" cy="144"/>
            </a:xfrm>
            <a:prstGeom prst="line">
              <a:avLst/>
            </a:prstGeom>
            <a:noFill/>
            <a:ln w="28575" cmpd="sng">
              <a:solidFill>
                <a:schemeClr val="accent1"/>
              </a:solidFill>
              <a:prstDash val="solid"/>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253954" name="Rectangle 2"/>
          <p:cNvSpPr>
            <a:spLocks noChangeArrowheads="1"/>
          </p:cNvSpPr>
          <p:nvPr/>
        </p:nvSpPr>
        <p:spPr bwMode="auto">
          <a:xfrm>
            <a:off x="485775" y="1051560"/>
            <a:ext cx="8202295" cy="230695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RR</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b = a-&gt;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 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b</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指向调整后的子树的根结点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latin typeface="Consolas" panose="020B0609020204030204" charset="0"/>
                <a:ea typeface="幼圆" panose="02010509060101010101" pitchFamily="49" charset="-122"/>
                <a:cs typeface="Consolas" panose="020B0609020204030204" charset="0"/>
                <a:sym typeface="+mn-ea"/>
              </a:rPr>
              <a:t>a-&gt;bf = 0;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latin typeface="Consolas" panose="020B0609020204030204" charset="0"/>
                <a:ea typeface="幼圆" panose="02010509060101010101" pitchFamily="49" charset="-122"/>
                <a:cs typeface="Consolas" panose="020B0609020204030204" charset="0"/>
                <a:sym typeface="+mn-ea"/>
              </a:rPr>
              <a:t>b-&gt;bf = 0;  </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indent="457200" algn="just" eaLnBrk="0" hangingPunct="0"/>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b;</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grpSp>
        <p:nvGrpSpPr>
          <p:cNvPr id="78" name="组合 77"/>
          <p:cNvGrpSpPr/>
          <p:nvPr/>
        </p:nvGrpSpPr>
        <p:grpSpPr>
          <a:xfrm>
            <a:off x="409575" y="3724275"/>
            <a:ext cx="3408680" cy="2882900"/>
            <a:chOff x="645" y="5865"/>
            <a:chExt cx="5368" cy="4540"/>
          </a:xfrm>
        </p:grpSpPr>
        <p:sp>
          <p:nvSpPr>
            <p:cNvPr id="4" name="Oval 31"/>
            <p:cNvSpPr>
              <a:spLocks noChangeArrowheads="1"/>
            </p:cNvSpPr>
            <p:nvPr/>
          </p:nvSpPr>
          <p:spPr bwMode="auto">
            <a:xfrm flipH="1">
              <a:off x="2773" y="5865"/>
              <a:ext cx="840" cy="840"/>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20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 name="Oval 32"/>
            <p:cNvSpPr>
              <a:spLocks noChangeArrowheads="1"/>
            </p:cNvSpPr>
            <p:nvPr/>
          </p:nvSpPr>
          <p:spPr bwMode="auto">
            <a:xfrm flipH="1">
              <a:off x="3733" y="6825"/>
              <a:ext cx="840" cy="840"/>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20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6" name="AutoShape 33"/>
            <p:cNvCxnSpPr>
              <a:cxnSpLocks noChangeShapeType="1"/>
              <a:stCxn id="4" idx="2"/>
              <a:endCxn id="5" idx="0"/>
            </p:cNvCxnSpPr>
            <p:nvPr/>
          </p:nvCxnSpPr>
          <p:spPr bwMode="auto">
            <a:xfrm>
              <a:off x="3613" y="6285"/>
              <a:ext cx="540" cy="540"/>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 name="Group 34"/>
            <p:cNvGrpSpPr/>
            <p:nvPr/>
          </p:nvGrpSpPr>
          <p:grpSpPr bwMode="auto">
            <a:xfrm flipH="1">
              <a:off x="4573" y="8145"/>
              <a:ext cx="720" cy="1680"/>
              <a:chOff x="1008" y="1728"/>
              <a:chExt cx="288" cy="672"/>
            </a:xfrm>
          </p:grpSpPr>
          <p:sp>
            <p:nvSpPr>
              <p:cNvPr id="8" name="Rectangle 35"/>
              <p:cNvSpPr>
                <a:spLocks noChangeArrowheads="1"/>
              </p:cNvSpPr>
              <p:nvPr/>
            </p:nvSpPr>
            <p:spPr bwMode="auto">
              <a:xfrm>
                <a:off x="1008" y="1728"/>
                <a:ext cx="288" cy="672"/>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9" name="Line 36"/>
              <p:cNvSpPr>
                <a:spLocks noChangeShapeType="1"/>
              </p:cNvSpPr>
              <p:nvPr/>
            </p:nvSpPr>
            <p:spPr bwMode="auto">
              <a:xfrm>
                <a:off x="1008" y="2256"/>
                <a:ext cx="288"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0" name="Line 37"/>
              <p:cNvSpPr>
                <a:spLocks noChangeShapeType="1"/>
              </p:cNvSpPr>
              <p:nvPr/>
            </p:nvSpPr>
            <p:spPr bwMode="auto">
              <a:xfrm>
                <a:off x="1008" y="2256"/>
                <a:ext cx="288" cy="144"/>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1" name="Line 38"/>
              <p:cNvSpPr>
                <a:spLocks noChangeShapeType="1"/>
              </p:cNvSpPr>
              <p:nvPr/>
            </p:nvSpPr>
            <p:spPr bwMode="auto">
              <a:xfrm flipV="1">
                <a:off x="1008" y="2256"/>
                <a:ext cx="288" cy="144"/>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sp>
          <p:nvSpPr>
            <p:cNvPr id="12" name="Text Box 39"/>
            <p:cNvSpPr txBox="1">
              <a:spLocks noChangeArrowheads="1"/>
            </p:cNvSpPr>
            <p:nvPr/>
          </p:nvSpPr>
          <p:spPr bwMode="auto">
            <a:xfrm flipH="1">
              <a:off x="4533" y="8505"/>
              <a:ext cx="816" cy="72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3" name="Group 40"/>
            <p:cNvGrpSpPr/>
            <p:nvPr/>
          </p:nvGrpSpPr>
          <p:grpSpPr bwMode="auto">
            <a:xfrm>
              <a:off x="3013" y="8145"/>
              <a:ext cx="830" cy="1320"/>
              <a:chOff x="852" y="2976"/>
              <a:chExt cx="332" cy="528"/>
            </a:xfrm>
          </p:grpSpPr>
          <p:sp>
            <p:nvSpPr>
              <p:cNvPr id="14" name="Rectangle 41"/>
              <p:cNvSpPr>
                <a:spLocks noChangeArrowheads="1"/>
              </p:cNvSpPr>
              <p:nvPr/>
            </p:nvSpPr>
            <p:spPr bwMode="auto">
              <a:xfrm flipH="1">
                <a:off x="852" y="2976"/>
                <a:ext cx="288" cy="528"/>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5" name="Text Box 42"/>
              <p:cNvSpPr txBox="1">
                <a:spLocks noChangeArrowheads="1"/>
              </p:cNvSpPr>
              <p:nvPr/>
            </p:nvSpPr>
            <p:spPr bwMode="auto">
              <a:xfrm flipH="1">
                <a:off x="864" y="3120"/>
                <a:ext cx="320"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6" name="Group 43"/>
            <p:cNvGrpSpPr/>
            <p:nvPr/>
          </p:nvGrpSpPr>
          <p:grpSpPr bwMode="auto">
            <a:xfrm flipH="1">
              <a:off x="5485" y="8145"/>
              <a:ext cx="528" cy="1680"/>
              <a:chOff x="720" y="1728"/>
              <a:chExt cx="211" cy="672"/>
            </a:xfrm>
          </p:grpSpPr>
          <p:sp>
            <p:nvSpPr>
              <p:cNvPr id="17" name="Line 44"/>
              <p:cNvSpPr>
                <a:spLocks noChangeShapeType="1"/>
              </p:cNvSpPr>
              <p:nvPr/>
            </p:nvSpPr>
            <p:spPr bwMode="auto">
              <a:xfrm>
                <a:off x="720" y="1728"/>
                <a:ext cx="192"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8" name="Line 45"/>
              <p:cNvSpPr>
                <a:spLocks noChangeShapeType="1"/>
              </p:cNvSpPr>
              <p:nvPr/>
            </p:nvSpPr>
            <p:spPr bwMode="auto">
              <a:xfrm>
                <a:off x="720" y="2400"/>
                <a:ext cx="192"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9" name="Text Box 46"/>
              <p:cNvSpPr txBox="1">
                <a:spLocks noChangeArrowheads="1"/>
              </p:cNvSpPr>
              <p:nvPr/>
            </p:nvSpPr>
            <p:spPr bwMode="auto">
              <a:xfrm>
                <a:off x="720" y="1920"/>
                <a:ext cx="21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0" name="Line 47"/>
              <p:cNvSpPr>
                <a:spLocks noChangeShapeType="1"/>
              </p:cNvSpPr>
              <p:nvPr/>
            </p:nvSpPr>
            <p:spPr bwMode="auto">
              <a:xfrm>
                <a:off x="816" y="2160"/>
                <a:ext cx="0" cy="240"/>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1" name="Line 48"/>
              <p:cNvSpPr>
                <a:spLocks noChangeShapeType="1"/>
              </p:cNvSpPr>
              <p:nvPr/>
            </p:nvSpPr>
            <p:spPr bwMode="auto">
              <a:xfrm flipV="1">
                <a:off x="816" y="1728"/>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22" name="Group 49"/>
            <p:cNvGrpSpPr/>
            <p:nvPr/>
          </p:nvGrpSpPr>
          <p:grpSpPr bwMode="auto">
            <a:xfrm flipH="1">
              <a:off x="2190" y="8145"/>
              <a:ext cx="928" cy="1320"/>
              <a:chOff x="1974" y="1728"/>
              <a:chExt cx="371" cy="528"/>
            </a:xfrm>
          </p:grpSpPr>
          <p:sp>
            <p:nvSpPr>
              <p:cNvPr id="23" name="Line 50"/>
              <p:cNvSpPr>
                <a:spLocks noChangeShapeType="1"/>
              </p:cNvSpPr>
              <p:nvPr/>
            </p:nvSpPr>
            <p:spPr bwMode="auto">
              <a:xfrm>
                <a:off x="2016" y="1728"/>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4" name="Line 51"/>
              <p:cNvSpPr>
                <a:spLocks noChangeShapeType="1"/>
              </p:cNvSpPr>
              <p:nvPr/>
            </p:nvSpPr>
            <p:spPr bwMode="auto">
              <a:xfrm>
                <a:off x="2016" y="2256"/>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5" name="Text Box 52"/>
              <p:cNvSpPr txBox="1">
                <a:spLocks noChangeArrowheads="1"/>
              </p:cNvSpPr>
              <p:nvPr/>
            </p:nvSpPr>
            <p:spPr bwMode="auto">
              <a:xfrm>
                <a:off x="1974" y="1824"/>
                <a:ext cx="37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6" name="Line 53"/>
              <p:cNvSpPr>
                <a:spLocks noChangeShapeType="1"/>
              </p:cNvSpPr>
              <p:nvPr/>
            </p:nvSpPr>
            <p:spPr bwMode="auto">
              <a:xfrm>
                <a:off x="2119" y="2064"/>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7" name="Line 54"/>
              <p:cNvSpPr>
                <a:spLocks noChangeShapeType="1"/>
              </p:cNvSpPr>
              <p:nvPr/>
            </p:nvSpPr>
            <p:spPr bwMode="auto">
              <a:xfrm flipV="1">
                <a:off x="2119" y="1728"/>
                <a:ext cx="0" cy="14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sp>
          <p:nvSpPr>
            <p:cNvPr id="28" name="Rectangle 55"/>
            <p:cNvSpPr>
              <a:spLocks noChangeArrowheads="1"/>
            </p:cNvSpPr>
            <p:nvPr/>
          </p:nvSpPr>
          <p:spPr bwMode="auto">
            <a:xfrm flipH="1">
              <a:off x="1603" y="6825"/>
              <a:ext cx="720" cy="1320"/>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29" name="Text Box 56"/>
            <p:cNvSpPr txBox="1">
              <a:spLocks noChangeArrowheads="1"/>
            </p:cNvSpPr>
            <p:nvPr/>
          </p:nvSpPr>
          <p:spPr bwMode="auto">
            <a:xfrm flipH="1">
              <a:off x="1605" y="7065"/>
              <a:ext cx="826" cy="72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30" name="Group 57"/>
            <p:cNvGrpSpPr/>
            <p:nvPr/>
          </p:nvGrpSpPr>
          <p:grpSpPr bwMode="auto">
            <a:xfrm flipH="1">
              <a:off x="645" y="6825"/>
              <a:ext cx="928" cy="1320"/>
              <a:chOff x="1920" y="1728"/>
              <a:chExt cx="371" cy="528"/>
            </a:xfrm>
          </p:grpSpPr>
          <p:sp>
            <p:nvSpPr>
              <p:cNvPr id="31" name="Line 58"/>
              <p:cNvSpPr>
                <a:spLocks noChangeShapeType="1"/>
              </p:cNvSpPr>
              <p:nvPr/>
            </p:nvSpPr>
            <p:spPr bwMode="auto">
              <a:xfrm>
                <a:off x="2016" y="1728"/>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2" name="Line 59"/>
              <p:cNvSpPr>
                <a:spLocks noChangeShapeType="1"/>
              </p:cNvSpPr>
              <p:nvPr/>
            </p:nvSpPr>
            <p:spPr bwMode="auto">
              <a:xfrm>
                <a:off x="2016" y="2256"/>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3" name="Text Box 60"/>
              <p:cNvSpPr txBox="1">
                <a:spLocks noChangeArrowheads="1"/>
              </p:cNvSpPr>
              <p:nvPr/>
            </p:nvSpPr>
            <p:spPr bwMode="auto">
              <a:xfrm>
                <a:off x="1920" y="1824"/>
                <a:ext cx="37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4" name="Line 61"/>
              <p:cNvSpPr>
                <a:spLocks noChangeShapeType="1"/>
              </p:cNvSpPr>
              <p:nvPr/>
            </p:nvSpPr>
            <p:spPr bwMode="auto">
              <a:xfrm>
                <a:off x="2088" y="2064"/>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35" name="Line 62"/>
              <p:cNvSpPr>
                <a:spLocks noChangeShapeType="1"/>
              </p:cNvSpPr>
              <p:nvPr/>
            </p:nvSpPr>
            <p:spPr bwMode="auto">
              <a:xfrm flipV="1">
                <a:off x="2088" y="1728"/>
                <a:ext cx="0" cy="14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cxnSp>
          <p:nvCxnSpPr>
            <p:cNvPr id="36" name="AutoShape 63"/>
            <p:cNvCxnSpPr>
              <a:cxnSpLocks noChangeShapeType="1"/>
              <a:stCxn id="4" idx="6"/>
              <a:endCxn id="28" idx="0"/>
            </p:cNvCxnSpPr>
            <p:nvPr/>
          </p:nvCxnSpPr>
          <p:spPr bwMode="auto">
            <a:xfrm flipH="1">
              <a:off x="1963" y="6285"/>
              <a:ext cx="810" cy="540"/>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64"/>
            <p:cNvCxnSpPr>
              <a:cxnSpLocks noChangeShapeType="1"/>
              <a:stCxn id="5" idx="2"/>
            </p:cNvCxnSpPr>
            <p:nvPr/>
          </p:nvCxnSpPr>
          <p:spPr bwMode="auto">
            <a:xfrm>
              <a:off x="4573" y="7245"/>
              <a:ext cx="360" cy="900"/>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65"/>
            <p:cNvCxnSpPr>
              <a:cxnSpLocks noChangeShapeType="1"/>
            </p:cNvCxnSpPr>
            <p:nvPr/>
          </p:nvCxnSpPr>
          <p:spPr bwMode="auto">
            <a:xfrm flipH="1">
              <a:off x="3260" y="7365"/>
              <a:ext cx="473" cy="792"/>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 Box 66"/>
            <p:cNvSpPr txBox="1">
              <a:spLocks noChangeArrowheads="1"/>
            </p:cNvSpPr>
            <p:nvPr/>
          </p:nvSpPr>
          <p:spPr bwMode="auto">
            <a:xfrm flipH="1">
              <a:off x="4043" y="9825"/>
              <a:ext cx="1736" cy="58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zh-CN" altLang="en-US"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插入结点</a:t>
              </a:r>
              <a:endParaRPr kumimoji="1" lang="zh-CN" altLang="en-US" sz="24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6" name="Group 83"/>
          <p:cNvGrpSpPr/>
          <p:nvPr/>
        </p:nvGrpSpPr>
        <p:grpSpPr bwMode="auto">
          <a:xfrm>
            <a:off x="4065588" y="4714875"/>
            <a:ext cx="838200" cy="685800"/>
            <a:chOff x="2208" y="480"/>
            <a:chExt cx="528" cy="432"/>
          </a:xfrm>
        </p:grpSpPr>
        <p:sp>
          <p:nvSpPr>
            <p:cNvPr id="57" name="AutoShape 84"/>
            <p:cNvSpPr>
              <a:spLocks noChangeArrowheads="1"/>
            </p:cNvSpPr>
            <p:nvPr/>
          </p:nvSpPr>
          <p:spPr bwMode="auto">
            <a:xfrm>
              <a:off x="2208" y="672"/>
              <a:ext cx="528" cy="24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58" name="Text Box 85"/>
            <p:cNvSpPr txBox="1">
              <a:spLocks noChangeArrowheads="1"/>
            </p:cNvSpPr>
            <p:nvPr/>
          </p:nvSpPr>
          <p:spPr bwMode="auto">
            <a:xfrm>
              <a:off x="2256" y="480"/>
              <a:ext cx="3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RR</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59" name="Text Box 86"/>
          <p:cNvSpPr txBox="1">
            <a:spLocks noChangeArrowheads="1"/>
          </p:cNvSpPr>
          <p:nvPr/>
        </p:nvSpPr>
        <p:spPr bwMode="auto">
          <a:xfrm>
            <a:off x="4432300" y="6086475"/>
            <a:ext cx="5384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79" name="组合 78"/>
          <p:cNvGrpSpPr/>
          <p:nvPr/>
        </p:nvGrpSpPr>
        <p:grpSpPr>
          <a:xfrm>
            <a:off x="5362575" y="3768725"/>
            <a:ext cx="3215640" cy="2241550"/>
            <a:chOff x="8445" y="5935"/>
            <a:chExt cx="5064" cy="3530"/>
          </a:xfrm>
        </p:grpSpPr>
        <p:grpSp>
          <p:nvGrpSpPr>
            <p:cNvPr id="40" name="Group 67"/>
            <p:cNvGrpSpPr/>
            <p:nvPr/>
          </p:nvGrpSpPr>
          <p:grpSpPr bwMode="auto">
            <a:xfrm flipH="1">
              <a:off x="9265" y="5935"/>
              <a:ext cx="4245" cy="3530"/>
              <a:chOff x="3342" y="268"/>
              <a:chExt cx="1698" cy="1412"/>
            </a:xfrm>
          </p:grpSpPr>
          <p:sp>
            <p:nvSpPr>
              <p:cNvPr id="41" name="Oval 68"/>
              <p:cNvSpPr>
                <a:spLocks noChangeArrowheads="1"/>
              </p:cNvSpPr>
              <p:nvPr/>
            </p:nvSpPr>
            <p:spPr bwMode="auto">
              <a:xfrm flipH="1">
                <a:off x="4320" y="672"/>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20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sz="240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2" name="Oval 69"/>
              <p:cNvSpPr>
                <a:spLocks noChangeArrowheads="1"/>
              </p:cNvSpPr>
              <p:nvPr/>
            </p:nvSpPr>
            <p:spPr bwMode="auto">
              <a:xfrm flipH="1">
                <a:off x="3970" y="268"/>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lnSpc>
                    <a:spcPct val="75000"/>
                  </a:lnSpc>
                </a:pPr>
                <a:r>
                  <a:rPr kumimoji="1" lang="en-US" altLang="zh-CN" sz="2000"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2000" dirty="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43" name="Group 70"/>
              <p:cNvGrpSpPr/>
              <p:nvPr/>
            </p:nvGrpSpPr>
            <p:grpSpPr bwMode="auto">
              <a:xfrm>
                <a:off x="3342" y="1152"/>
                <a:ext cx="326" cy="528"/>
                <a:chOff x="834" y="2976"/>
                <a:chExt cx="326" cy="528"/>
              </a:xfrm>
            </p:grpSpPr>
            <p:sp>
              <p:nvSpPr>
                <p:cNvPr id="44" name="Rectangle 71"/>
                <p:cNvSpPr>
                  <a:spLocks noChangeArrowheads="1"/>
                </p:cNvSpPr>
                <p:nvPr/>
              </p:nvSpPr>
              <p:spPr bwMode="auto">
                <a:xfrm flipH="1">
                  <a:off x="852" y="2976"/>
                  <a:ext cx="288" cy="528"/>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45" name="Text Box 72"/>
                <p:cNvSpPr txBox="1">
                  <a:spLocks noChangeArrowheads="1"/>
                </p:cNvSpPr>
                <p:nvPr/>
              </p:nvSpPr>
              <p:spPr bwMode="auto">
                <a:xfrm flipH="1">
                  <a:off x="834" y="3120"/>
                  <a:ext cx="326"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R</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6" name="Group 73"/>
              <p:cNvGrpSpPr/>
              <p:nvPr/>
            </p:nvGrpSpPr>
            <p:grpSpPr bwMode="auto">
              <a:xfrm>
                <a:off x="3931" y="1152"/>
                <a:ext cx="341" cy="528"/>
                <a:chOff x="799" y="2976"/>
                <a:chExt cx="341" cy="528"/>
              </a:xfrm>
            </p:grpSpPr>
            <p:sp>
              <p:nvSpPr>
                <p:cNvPr id="47" name="Rectangle 74"/>
                <p:cNvSpPr>
                  <a:spLocks noChangeArrowheads="1"/>
                </p:cNvSpPr>
                <p:nvPr/>
              </p:nvSpPr>
              <p:spPr bwMode="auto">
                <a:xfrm flipH="1">
                  <a:off x="852" y="2976"/>
                  <a:ext cx="288" cy="528"/>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48" name="Text Box 75"/>
                <p:cNvSpPr txBox="1">
                  <a:spLocks noChangeArrowheads="1"/>
                </p:cNvSpPr>
                <p:nvPr/>
              </p:nvSpPr>
              <p:spPr bwMode="auto">
                <a:xfrm flipH="1">
                  <a:off x="799" y="3120"/>
                  <a:ext cx="320"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B</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9" name="Group 76"/>
              <p:cNvGrpSpPr/>
              <p:nvPr/>
            </p:nvGrpSpPr>
            <p:grpSpPr bwMode="auto">
              <a:xfrm>
                <a:off x="4706" y="1152"/>
                <a:ext cx="334" cy="528"/>
                <a:chOff x="806" y="2976"/>
                <a:chExt cx="334" cy="528"/>
              </a:xfrm>
            </p:grpSpPr>
            <p:sp>
              <p:nvSpPr>
                <p:cNvPr id="50" name="Rectangle 77"/>
                <p:cNvSpPr>
                  <a:spLocks noChangeArrowheads="1"/>
                </p:cNvSpPr>
                <p:nvPr/>
              </p:nvSpPr>
              <p:spPr bwMode="auto">
                <a:xfrm flipH="1">
                  <a:off x="852" y="2976"/>
                  <a:ext cx="288" cy="528"/>
                </a:xfrm>
                <a:prstGeom prst="rect">
                  <a:avLst/>
                </a:prstGeom>
                <a:noFill/>
                <a:ln w="38100">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51" name="Text Box 78"/>
                <p:cNvSpPr txBox="1">
                  <a:spLocks noChangeArrowheads="1"/>
                </p:cNvSpPr>
                <p:nvPr/>
              </p:nvSpPr>
              <p:spPr bwMode="auto">
                <a:xfrm flipH="1">
                  <a:off x="806" y="3120"/>
                  <a:ext cx="330"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A</a:t>
                  </a:r>
                  <a:r>
                    <a:rPr kumimoji="1" lang="en-US" altLang="zh-CN" sz="2400" baseline="-25000" dirty="0">
                      <a:latin typeface="Times New Roman" panose="02020603050405020304" pitchFamily="18" charset="0"/>
                      <a:ea typeface="幼圆" panose="02010509060101010101" pitchFamily="49" charset="-122"/>
                      <a:cs typeface="Times New Roman" panose="02020603050405020304" pitchFamily="18" charset="0"/>
                    </a:rPr>
                    <a:t>L</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grpSp>
          <p:cxnSp>
            <p:nvCxnSpPr>
              <p:cNvPr id="52" name="AutoShape 79"/>
              <p:cNvCxnSpPr>
                <a:cxnSpLocks noChangeShapeType="1"/>
                <a:stCxn id="42" idx="6"/>
                <a:endCxn id="44" idx="0"/>
              </p:cNvCxnSpPr>
              <p:nvPr/>
            </p:nvCxnSpPr>
            <p:spPr bwMode="auto">
              <a:xfrm flipH="1">
                <a:off x="3504" y="436"/>
                <a:ext cx="466" cy="716"/>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AutoShape 80"/>
              <p:cNvCxnSpPr>
                <a:cxnSpLocks noChangeShapeType="1"/>
                <a:stCxn id="41" idx="6"/>
                <a:endCxn id="47" idx="0"/>
              </p:cNvCxnSpPr>
              <p:nvPr/>
            </p:nvCxnSpPr>
            <p:spPr bwMode="auto">
              <a:xfrm flipH="1">
                <a:off x="4128" y="840"/>
                <a:ext cx="192" cy="312"/>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AutoShape 81"/>
              <p:cNvCxnSpPr>
                <a:cxnSpLocks noChangeShapeType="1"/>
                <a:stCxn id="41" idx="2"/>
                <a:endCxn id="50" idx="0"/>
              </p:cNvCxnSpPr>
              <p:nvPr/>
            </p:nvCxnSpPr>
            <p:spPr bwMode="auto">
              <a:xfrm>
                <a:off x="4656" y="840"/>
                <a:ext cx="240" cy="312"/>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AutoShape 82"/>
              <p:cNvCxnSpPr>
                <a:cxnSpLocks noChangeShapeType="1"/>
                <a:stCxn id="42" idx="2"/>
                <a:endCxn id="41" idx="0"/>
              </p:cNvCxnSpPr>
              <p:nvPr/>
            </p:nvCxnSpPr>
            <p:spPr bwMode="auto">
              <a:xfrm>
                <a:off x="4306" y="436"/>
                <a:ext cx="182" cy="236"/>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0" name="Group 87"/>
            <p:cNvGrpSpPr/>
            <p:nvPr/>
          </p:nvGrpSpPr>
          <p:grpSpPr bwMode="auto">
            <a:xfrm flipH="1">
              <a:off x="12283" y="8145"/>
              <a:ext cx="528" cy="1320"/>
              <a:chOff x="1977" y="1728"/>
              <a:chExt cx="211" cy="528"/>
            </a:xfrm>
          </p:grpSpPr>
          <p:sp>
            <p:nvSpPr>
              <p:cNvPr id="61" name="Line 88"/>
              <p:cNvSpPr>
                <a:spLocks noChangeShapeType="1"/>
              </p:cNvSpPr>
              <p:nvPr/>
            </p:nvSpPr>
            <p:spPr bwMode="auto">
              <a:xfrm>
                <a:off x="2016" y="1728"/>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2" name="Line 89"/>
              <p:cNvSpPr>
                <a:spLocks noChangeShapeType="1"/>
              </p:cNvSpPr>
              <p:nvPr/>
            </p:nvSpPr>
            <p:spPr bwMode="auto">
              <a:xfrm>
                <a:off x="2016" y="2256"/>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3" name="Text Box 90"/>
              <p:cNvSpPr txBox="1">
                <a:spLocks noChangeArrowheads="1"/>
              </p:cNvSpPr>
              <p:nvPr/>
            </p:nvSpPr>
            <p:spPr bwMode="auto">
              <a:xfrm>
                <a:off x="1977" y="1824"/>
                <a:ext cx="21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4" name="Line 91"/>
              <p:cNvSpPr>
                <a:spLocks noChangeShapeType="1"/>
              </p:cNvSpPr>
              <p:nvPr/>
            </p:nvSpPr>
            <p:spPr bwMode="auto">
              <a:xfrm>
                <a:off x="2088" y="2064"/>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5" name="Line 92"/>
              <p:cNvSpPr>
                <a:spLocks noChangeShapeType="1"/>
              </p:cNvSpPr>
              <p:nvPr/>
            </p:nvSpPr>
            <p:spPr bwMode="auto">
              <a:xfrm flipV="1">
                <a:off x="2088" y="1728"/>
                <a:ext cx="0" cy="14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66" name="Group 93"/>
            <p:cNvGrpSpPr/>
            <p:nvPr/>
          </p:nvGrpSpPr>
          <p:grpSpPr bwMode="auto">
            <a:xfrm flipH="1">
              <a:off x="10245" y="8145"/>
              <a:ext cx="928" cy="1320"/>
              <a:chOff x="1920" y="1728"/>
              <a:chExt cx="371" cy="528"/>
            </a:xfrm>
          </p:grpSpPr>
          <p:sp>
            <p:nvSpPr>
              <p:cNvPr id="67" name="Line 94"/>
              <p:cNvSpPr>
                <a:spLocks noChangeShapeType="1"/>
              </p:cNvSpPr>
              <p:nvPr/>
            </p:nvSpPr>
            <p:spPr bwMode="auto">
              <a:xfrm>
                <a:off x="2016" y="1728"/>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8" name="Line 95"/>
              <p:cNvSpPr>
                <a:spLocks noChangeShapeType="1"/>
              </p:cNvSpPr>
              <p:nvPr/>
            </p:nvSpPr>
            <p:spPr bwMode="auto">
              <a:xfrm>
                <a:off x="2016" y="2256"/>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69" name="Text Box 96"/>
              <p:cNvSpPr txBox="1">
                <a:spLocks noChangeArrowheads="1"/>
              </p:cNvSpPr>
              <p:nvPr/>
            </p:nvSpPr>
            <p:spPr bwMode="auto">
              <a:xfrm>
                <a:off x="1920" y="1824"/>
                <a:ext cx="37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0" name="Line 97"/>
              <p:cNvSpPr>
                <a:spLocks noChangeShapeType="1"/>
              </p:cNvSpPr>
              <p:nvPr/>
            </p:nvSpPr>
            <p:spPr bwMode="auto">
              <a:xfrm>
                <a:off x="2088" y="2064"/>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1" name="Line 98"/>
              <p:cNvSpPr>
                <a:spLocks noChangeShapeType="1"/>
              </p:cNvSpPr>
              <p:nvPr/>
            </p:nvSpPr>
            <p:spPr bwMode="auto">
              <a:xfrm flipV="1">
                <a:off x="2088" y="1728"/>
                <a:ext cx="0" cy="14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nvGrpSpPr>
            <p:cNvPr id="72" name="Group 99"/>
            <p:cNvGrpSpPr/>
            <p:nvPr/>
          </p:nvGrpSpPr>
          <p:grpSpPr bwMode="auto">
            <a:xfrm flipH="1">
              <a:off x="8445" y="8145"/>
              <a:ext cx="928" cy="1320"/>
              <a:chOff x="1920" y="1728"/>
              <a:chExt cx="371" cy="528"/>
            </a:xfrm>
          </p:grpSpPr>
          <p:sp>
            <p:nvSpPr>
              <p:cNvPr id="73" name="Line 100"/>
              <p:cNvSpPr>
                <a:spLocks noChangeShapeType="1"/>
              </p:cNvSpPr>
              <p:nvPr/>
            </p:nvSpPr>
            <p:spPr bwMode="auto">
              <a:xfrm>
                <a:off x="2016" y="1728"/>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4" name="Line 101"/>
              <p:cNvSpPr>
                <a:spLocks noChangeShapeType="1"/>
              </p:cNvSpPr>
              <p:nvPr/>
            </p:nvSpPr>
            <p:spPr bwMode="auto">
              <a:xfrm>
                <a:off x="2016" y="2256"/>
                <a:ext cx="144" cy="0"/>
              </a:xfrm>
              <a:prstGeom prst="line">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5" name="Text Box 102"/>
              <p:cNvSpPr txBox="1">
                <a:spLocks noChangeArrowheads="1"/>
              </p:cNvSpPr>
              <p:nvPr/>
            </p:nvSpPr>
            <p:spPr bwMode="auto">
              <a:xfrm>
                <a:off x="1920" y="1824"/>
                <a:ext cx="371" cy="2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r>
                  <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rPr>
                  <a:t>h-1</a:t>
                </a:r>
                <a:endParaRPr kumimoji="1" lang="en-US" altLang="zh-CN" sz="2400"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6" name="Line 103"/>
              <p:cNvSpPr>
                <a:spLocks noChangeShapeType="1"/>
              </p:cNvSpPr>
              <p:nvPr/>
            </p:nvSpPr>
            <p:spPr bwMode="auto">
              <a:xfrm>
                <a:off x="2088" y="2064"/>
                <a:ext cx="0" cy="192"/>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7" name="Line 104"/>
              <p:cNvSpPr>
                <a:spLocks noChangeShapeType="1"/>
              </p:cNvSpPr>
              <p:nvPr/>
            </p:nvSpPr>
            <p:spPr bwMode="auto">
              <a:xfrm flipV="1">
                <a:off x="2088" y="1728"/>
                <a:ext cx="0" cy="14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3186" name="Rectangle 2"/>
          <p:cNvSpPr>
            <a:spLocks noChangeArrowheads="1"/>
          </p:cNvSpPr>
          <p:nvPr/>
        </p:nvSpPr>
        <p:spPr bwMode="auto">
          <a:xfrm>
            <a:off x="395605" y="1052830"/>
            <a:ext cx="8291830" cy="529018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10000"/>
              </a:lnSpc>
            </a:pP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LR</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b, c;</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b = a-&gt;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c = b-&gt;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FF00"/>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=b;  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switch </a:t>
            </a:r>
            <a:r>
              <a:rPr kumimoji="1" lang="en-US" altLang="zh-CN" dirty="0">
                <a:latin typeface="Consolas" panose="020B0609020204030204" charset="0"/>
                <a:ea typeface="幼圆" panose="02010509060101010101" pitchFamily="49" charset="-122"/>
                <a:cs typeface="Consolas" panose="020B0609020204030204" charset="0"/>
              </a:rPr>
              <a:t>(c-&gt;bf) {</a:t>
            </a:r>
            <a:endParaRPr kumimoji="1" lang="en-US" altLang="zh-CN" dirty="0">
              <a:latin typeface="Consolas" panose="020B0609020204030204" charset="0"/>
              <a:ea typeface="幼圆" panose="02010509060101010101" pitchFamily="49" charset="-122"/>
              <a:cs typeface="Consolas" panose="020B0609020204030204" charset="0"/>
            </a:endParaRPr>
          </a:p>
          <a:p>
            <a:pPr lvl="1"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0:  a-&gt;bf=0;  b-&gt;bf=0;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LR(0)</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型调整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新结点插在*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c</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的左子树中，</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LR(L)</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型调整 </a:t>
            </a:r>
            <a:endParaRPr kumimoji="1" lang="en-US" altLang="zh-CN" dirty="0">
              <a:latin typeface="Consolas" panose="020B0609020204030204" charset="0"/>
              <a:ea typeface="幼圆" panose="02010509060101010101" pitchFamily="49" charset="-122"/>
              <a:cs typeface="Consolas" panose="020B0609020204030204" charset="0"/>
            </a:endParaRPr>
          </a:p>
          <a:p>
            <a:pPr marL="0" lvl="1" indent="457200"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1:  a-&gt;bf=-1;  b-&gt;bf=0;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marL="0" lvl="1" indent="457200"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新结点插在*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c</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的右子树中，</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LR(R)</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型调整 </a:t>
            </a:r>
            <a:endParaRPr kumimoji="1" lang="en-US" altLang="zh-CN" dirty="0">
              <a:latin typeface="Consolas" panose="020B0609020204030204" charset="0"/>
              <a:ea typeface="幼圆" panose="02010509060101010101" pitchFamily="49" charset="-122"/>
              <a:cs typeface="Consolas" panose="020B0609020204030204" charset="0"/>
            </a:endParaRPr>
          </a:p>
          <a:p>
            <a:pPr marL="457200" lvl="1" indent="457200" algn="just" eaLnBrk="0" hangingPunct="0">
              <a:lnSpc>
                <a:spcPct val="11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–1: a-&gt;bf=0;  b-&gt;bf=1;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c-&gt;bf=0;</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c;</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grpSp>
        <p:nvGrpSpPr>
          <p:cNvPr id="93210" name="Group 26"/>
          <p:cNvGrpSpPr/>
          <p:nvPr/>
        </p:nvGrpSpPr>
        <p:grpSpPr bwMode="auto">
          <a:xfrm>
            <a:off x="6300788" y="1255792"/>
            <a:ext cx="1371600" cy="1314450"/>
            <a:chOff x="4332" y="107"/>
            <a:chExt cx="1152" cy="1104"/>
          </a:xfrm>
        </p:grpSpPr>
        <p:sp>
          <p:nvSpPr>
            <p:cNvPr id="93190" name="Oval 6"/>
            <p:cNvSpPr>
              <a:spLocks noChangeArrowheads="1"/>
            </p:cNvSpPr>
            <p:nvPr/>
          </p:nvSpPr>
          <p:spPr bwMode="auto">
            <a:xfrm>
              <a:off x="5148" y="107"/>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3191" name="Oval 7"/>
            <p:cNvSpPr>
              <a:spLocks noChangeArrowheads="1"/>
            </p:cNvSpPr>
            <p:nvPr/>
          </p:nvSpPr>
          <p:spPr bwMode="auto">
            <a:xfrm>
              <a:off x="4740" y="491"/>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3192" name="AutoShape 8"/>
            <p:cNvCxnSpPr>
              <a:cxnSpLocks noChangeShapeType="1"/>
              <a:stCxn id="93190" idx="3"/>
              <a:endCxn id="93191" idx="7"/>
            </p:cNvCxnSpPr>
            <p:nvPr/>
          </p:nvCxnSpPr>
          <p:spPr bwMode="auto">
            <a:xfrm flipH="1">
              <a:off x="5027" y="394"/>
              <a:ext cx="170" cy="146"/>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193" name="Oval 9"/>
            <p:cNvSpPr>
              <a:spLocks noChangeArrowheads="1"/>
            </p:cNvSpPr>
            <p:nvPr/>
          </p:nvSpPr>
          <p:spPr bwMode="auto">
            <a:xfrm>
              <a:off x="4332" y="875"/>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3194" name="AutoShape 10"/>
            <p:cNvCxnSpPr>
              <a:cxnSpLocks noChangeShapeType="1"/>
              <a:stCxn id="93191" idx="3"/>
              <a:endCxn id="93193" idx="7"/>
            </p:cNvCxnSpPr>
            <p:nvPr/>
          </p:nvCxnSpPr>
          <p:spPr bwMode="auto">
            <a:xfrm flipH="1">
              <a:off x="4619" y="778"/>
              <a:ext cx="170" cy="146"/>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3209" name="Group 25"/>
          <p:cNvGrpSpPr/>
          <p:nvPr/>
        </p:nvGrpSpPr>
        <p:grpSpPr bwMode="auto">
          <a:xfrm>
            <a:off x="6300788" y="2627392"/>
            <a:ext cx="1543050" cy="857250"/>
            <a:chOff x="4332" y="1259"/>
            <a:chExt cx="1296" cy="720"/>
          </a:xfrm>
        </p:grpSpPr>
        <p:sp>
          <p:nvSpPr>
            <p:cNvPr id="93196" name="Oval 12"/>
            <p:cNvSpPr>
              <a:spLocks noChangeArrowheads="1"/>
            </p:cNvSpPr>
            <p:nvPr/>
          </p:nvSpPr>
          <p:spPr bwMode="auto">
            <a:xfrm>
              <a:off x="5292" y="1643"/>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3197" name="Oval 13"/>
            <p:cNvSpPr>
              <a:spLocks noChangeArrowheads="1"/>
            </p:cNvSpPr>
            <p:nvPr/>
          </p:nvSpPr>
          <p:spPr bwMode="auto">
            <a:xfrm>
              <a:off x="4812" y="1259"/>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3198" name="Oval 14"/>
            <p:cNvSpPr>
              <a:spLocks noChangeArrowheads="1"/>
            </p:cNvSpPr>
            <p:nvPr/>
          </p:nvSpPr>
          <p:spPr bwMode="auto">
            <a:xfrm>
              <a:off x="4332" y="1643"/>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3199" name="AutoShape 15"/>
            <p:cNvCxnSpPr>
              <a:cxnSpLocks noChangeShapeType="1"/>
              <a:stCxn id="93197" idx="2"/>
              <a:endCxn id="93198" idx="7"/>
            </p:cNvCxnSpPr>
            <p:nvPr/>
          </p:nvCxnSpPr>
          <p:spPr bwMode="auto">
            <a:xfrm flipH="1">
              <a:off x="4619" y="1427"/>
              <a:ext cx="193" cy="265"/>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200" name="AutoShape 16"/>
            <p:cNvCxnSpPr>
              <a:cxnSpLocks noChangeShapeType="1"/>
              <a:stCxn id="93197" idx="6"/>
              <a:endCxn id="93196" idx="1"/>
            </p:cNvCxnSpPr>
            <p:nvPr/>
          </p:nvCxnSpPr>
          <p:spPr bwMode="auto">
            <a:xfrm>
              <a:off x="5148" y="1427"/>
              <a:ext cx="193" cy="265"/>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3208" name="Group 24"/>
          <p:cNvGrpSpPr/>
          <p:nvPr/>
        </p:nvGrpSpPr>
        <p:grpSpPr bwMode="auto">
          <a:xfrm>
            <a:off x="5086350" y="1270080"/>
            <a:ext cx="831056" cy="1403747"/>
            <a:chOff x="3312" y="119"/>
            <a:chExt cx="698" cy="1179"/>
          </a:xfrm>
        </p:grpSpPr>
        <p:sp>
          <p:nvSpPr>
            <p:cNvPr id="93203" name="Oval 19"/>
            <p:cNvSpPr>
              <a:spLocks noChangeArrowheads="1"/>
            </p:cNvSpPr>
            <p:nvPr/>
          </p:nvSpPr>
          <p:spPr bwMode="auto">
            <a:xfrm>
              <a:off x="3674" y="119"/>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3204" name="Oval 20"/>
            <p:cNvSpPr>
              <a:spLocks noChangeArrowheads="1"/>
            </p:cNvSpPr>
            <p:nvPr/>
          </p:nvSpPr>
          <p:spPr bwMode="auto">
            <a:xfrm>
              <a:off x="3312" y="503"/>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3205" name="AutoShape 21"/>
            <p:cNvCxnSpPr>
              <a:cxnSpLocks noChangeShapeType="1"/>
              <a:stCxn id="93203" idx="3"/>
              <a:endCxn id="93204" idx="7"/>
            </p:cNvCxnSpPr>
            <p:nvPr/>
          </p:nvCxnSpPr>
          <p:spPr bwMode="auto">
            <a:xfrm flipH="1">
              <a:off x="3599" y="406"/>
              <a:ext cx="124" cy="146"/>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206" name="Oval 22"/>
            <p:cNvSpPr>
              <a:spLocks noChangeArrowheads="1"/>
            </p:cNvSpPr>
            <p:nvPr/>
          </p:nvSpPr>
          <p:spPr bwMode="auto">
            <a:xfrm>
              <a:off x="3673" y="962"/>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3207" name="AutoShape 23"/>
            <p:cNvCxnSpPr>
              <a:cxnSpLocks noChangeShapeType="1"/>
              <a:stCxn id="93204" idx="5"/>
              <a:endCxn id="93206" idx="0"/>
            </p:cNvCxnSpPr>
            <p:nvPr/>
          </p:nvCxnSpPr>
          <p:spPr bwMode="auto">
            <a:xfrm>
              <a:off x="3599" y="790"/>
              <a:ext cx="242" cy="172"/>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4210" name="Rectangle 2"/>
          <p:cNvSpPr>
            <a:spLocks noChangeArrowheads="1"/>
          </p:cNvSpPr>
          <p:nvPr/>
        </p:nvSpPr>
        <p:spPr bwMode="auto">
          <a:xfrm>
            <a:off x="351790" y="1052830"/>
            <a:ext cx="8335645" cy="557339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10000"/>
              </a:lnSpc>
            </a:pP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RL</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a)</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PAVLNode</a:t>
            </a:r>
            <a:r>
              <a:rPr kumimoji="1" lang="en-US" altLang="zh-CN" dirty="0">
                <a:latin typeface="Consolas" panose="020B0609020204030204" charset="0"/>
                <a:ea typeface="幼圆" panose="02010509060101010101" pitchFamily="49" charset="-122"/>
                <a:cs typeface="Consolas" panose="020B0609020204030204" charset="0"/>
              </a:rPr>
              <a:t> b, c;</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b = a-&gt;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c = b-&gt;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FF00"/>
                </a:solidFill>
                <a:latin typeface="Consolas" panose="020B0609020204030204" charset="0"/>
                <a:ea typeface="幼圆" panose="02010509060101010101" pitchFamily="49" charset="-122"/>
                <a:cs typeface="Consolas" panose="020B0609020204030204" charset="0"/>
              </a:rPr>
              <a:t>    </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b-&gt;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=a;  c-&gt;</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rlink</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=b;</a:t>
            </a:r>
            <a:endParaRPr kumimoji="1" lang="en-US" altLang="zh-CN" dirty="0">
              <a:solidFill>
                <a:srgbClr val="FF00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switch</a:t>
            </a:r>
            <a:r>
              <a:rPr kumimoji="1" lang="en-US" altLang="zh-CN" dirty="0">
                <a:latin typeface="Consolas" panose="020B0609020204030204" charset="0"/>
                <a:ea typeface="幼圆" panose="02010509060101010101" pitchFamily="49" charset="-122"/>
                <a:cs typeface="Consolas" panose="020B0609020204030204" charset="0"/>
              </a:rPr>
              <a:t>(c-&gt;bf) {</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//c</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本身就是插入结点</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RL(0)</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型调整</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0:  a-&gt;bf=0;  b-&gt;bf=0;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//插在*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c</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的左子树中</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RL(L)</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型调整 </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1:  a-&gt;bf=0;  b-&gt;bf=-1;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marL="457200" lvl="1" indent="457200"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插在*</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c</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的右子树中</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sym typeface="+mn-ea"/>
              </a:rPr>
              <a:t>, RL(R)</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sym typeface="+mn-ea"/>
              </a:rPr>
              <a:t>型调整</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–1: a-&gt;bf=1;  b-&gt;bf=0;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c-&gt;bf=0;</a:t>
            </a:r>
            <a:endParaRPr kumimoji="1" lang="en-US" altLang="zh-CN" dirty="0">
              <a:latin typeface="Consolas" panose="020B0609020204030204" charset="0"/>
              <a:ea typeface="幼圆" panose="02010509060101010101" pitchFamily="49" charset="-122"/>
              <a:cs typeface="Consolas" panose="020B0609020204030204" charset="0"/>
            </a:endParaRPr>
          </a:p>
          <a:p>
            <a:pPr algn="just"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return </a:t>
            </a:r>
            <a:r>
              <a:rPr kumimoji="1" lang="en-US" altLang="zh-CN" dirty="0">
                <a:latin typeface="Consolas" panose="020B0609020204030204" charset="0"/>
                <a:ea typeface="幼圆" panose="02010509060101010101" pitchFamily="49" charset="-122"/>
                <a:cs typeface="Consolas" panose="020B0609020204030204" charset="0"/>
              </a:rPr>
              <a:t>c</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eaLnBrk="0" hangingPunct="0">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p:txBody>
      </p:sp>
      <p:grpSp>
        <p:nvGrpSpPr>
          <p:cNvPr id="94234" name="Group 26"/>
          <p:cNvGrpSpPr/>
          <p:nvPr/>
        </p:nvGrpSpPr>
        <p:grpSpPr bwMode="auto">
          <a:xfrm>
            <a:off x="6640354" y="1632189"/>
            <a:ext cx="1371600" cy="1314450"/>
            <a:chOff x="4150" y="149"/>
            <a:chExt cx="1152" cy="1104"/>
          </a:xfrm>
        </p:grpSpPr>
        <p:sp>
          <p:nvSpPr>
            <p:cNvPr id="94214" name="Oval 6"/>
            <p:cNvSpPr>
              <a:spLocks noChangeArrowheads="1"/>
            </p:cNvSpPr>
            <p:nvPr/>
          </p:nvSpPr>
          <p:spPr bwMode="auto">
            <a:xfrm flipH="1">
              <a:off x="4150" y="149"/>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4215" name="Oval 7"/>
            <p:cNvSpPr>
              <a:spLocks noChangeArrowheads="1"/>
            </p:cNvSpPr>
            <p:nvPr/>
          </p:nvSpPr>
          <p:spPr bwMode="auto">
            <a:xfrm flipH="1">
              <a:off x="4558" y="533"/>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4216" name="AutoShape 8"/>
            <p:cNvCxnSpPr>
              <a:cxnSpLocks noChangeShapeType="1"/>
              <a:stCxn id="94214" idx="3"/>
              <a:endCxn id="94215" idx="7"/>
            </p:cNvCxnSpPr>
            <p:nvPr/>
          </p:nvCxnSpPr>
          <p:spPr bwMode="auto">
            <a:xfrm>
              <a:off x="4436" y="435"/>
              <a:ext cx="171" cy="147"/>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217" name="Oval 9"/>
            <p:cNvSpPr>
              <a:spLocks noChangeArrowheads="1"/>
            </p:cNvSpPr>
            <p:nvPr/>
          </p:nvSpPr>
          <p:spPr bwMode="auto">
            <a:xfrm flipH="1">
              <a:off x="4966" y="917"/>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4218" name="AutoShape 10"/>
            <p:cNvCxnSpPr>
              <a:cxnSpLocks noChangeShapeType="1"/>
              <a:stCxn id="94215" idx="3"/>
              <a:endCxn id="94217" idx="7"/>
            </p:cNvCxnSpPr>
            <p:nvPr/>
          </p:nvCxnSpPr>
          <p:spPr bwMode="auto">
            <a:xfrm>
              <a:off x="4844" y="819"/>
              <a:ext cx="171" cy="147"/>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4233" name="Group 25"/>
          <p:cNvGrpSpPr/>
          <p:nvPr/>
        </p:nvGrpSpPr>
        <p:grpSpPr bwMode="auto">
          <a:xfrm>
            <a:off x="6424851" y="3000216"/>
            <a:ext cx="1543050" cy="857250"/>
            <a:chOff x="3969" y="1298"/>
            <a:chExt cx="1296" cy="720"/>
          </a:xfrm>
        </p:grpSpPr>
        <p:sp>
          <p:nvSpPr>
            <p:cNvPr id="94220" name="Oval 12"/>
            <p:cNvSpPr>
              <a:spLocks noChangeArrowheads="1"/>
            </p:cNvSpPr>
            <p:nvPr/>
          </p:nvSpPr>
          <p:spPr bwMode="auto">
            <a:xfrm flipH="1">
              <a:off x="3969" y="1682"/>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4221" name="Oval 13"/>
            <p:cNvSpPr>
              <a:spLocks noChangeArrowheads="1"/>
            </p:cNvSpPr>
            <p:nvPr/>
          </p:nvSpPr>
          <p:spPr bwMode="auto">
            <a:xfrm flipH="1">
              <a:off x="4449" y="1298"/>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0</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4222" name="Oval 14"/>
            <p:cNvSpPr>
              <a:spLocks noChangeArrowheads="1"/>
            </p:cNvSpPr>
            <p:nvPr/>
          </p:nvSpPr>
          <p:spPr bwMode="auto">
            <a:xfrm flipH="1">
              <a:off x="4929" y="1682"/>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4223" name="AutoShape 15"/>
            <p:cNvCxnSpPr>
              <a:cxnSpLocks noChangeShapeType="1"/>
              <a:stCxn id="94221" idx="2"/>
              <a:endCxn id="94222" idx="7"/>
            </p:cNvCxnSpPr>
            <p:nvPr/>
          </p:nvCxnSpPr>
          <p:spPr bwMode="auto">
            <a:xfrm>
              <a:off x="4785" y="1466"/>
              <a:ext cx="193" cy="265"/>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24" name="AutoShape 16"/>
            <p:cNvCxnSpPr>
              <a:cxnSpLocks noChangeShapeType="1"/>
              <a:stCxn id="94221" idx="6"/>
              <a:endCxn id="94220" idx="1"/>
            </p:cNvCxnSpPr>
            <p:nvPr/>
          </p:nvCxnSpPr>
          <p:spPr bwMode="auto">
            <a:xfrm flipH="1">
              <a:off x="4256" y="1466"/>
              <a:ext cx="193" cy="265"/>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4232" name="Group 24"/>
          <p:cNvGrpSpPr/>
          <p:nvPr/>
        </p:nvGrpSpPr>
        <p:grpSpPr bwMode="auto">
          <a:xfrm>
            <a:off x="5421154" y="1632189"/>
            <a:ext cx="841772" cy="1314450"/>
            <a:chOff x="2757" y="28"/>
            <a:chExt cx="707" cy="1104"/>
          </a:xfrm>
        </p:grpSpPr>
        <p:sp>
          <p:nvSpPr>
            <p:cNvPr id="94227" name="Oval 19"/>
            <p:cNvSpPr>
              <a:spLocks noChangeArrowheads="1"/>
            </p:cNvSpPr>
            <p:nvPr/>
          </p:nvSpPr>
          <p:spPr bwMode="auto">
            <a:xfrm flipH="1">
              <a:off x="2757" y="28"/>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-2</a:t>
              </a:r>
              <a:endPar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A</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4228" name="Oval 20"/>
            <p:cNvSpPr>
              <a:spLocks noChangeArrowheads="1"/>
            </p:cNvSpPr>
            <p:nvPr/>
          </p:nvSpPr>
          <p:spPr bwMode="auto">
            <a:xfrm flipH="1">
              <a:off x="3128" y="412"/>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B</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4229" name="AutoShape 21"/>
            <p:cNvCxnSpPr>
              <a:cxnSpLocks noChangeShapeType="1"/>
              <a:stCxn id="94227" idx="3"/>
              <a:endCxn id="94228" idx="7"/>
            </p:cNvCxnSpPr>
            <p:nvPr/>
          </p:nvCxnSpPr>
          <p:spPr bwMode="auto">
            <a:xfrm>
              <a:off x="3043" y="314"/>
              <a:ext cx="134" cy="147"/>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230" name="Oval 22"/>
            <p:cNvSpPr>
              <a:spLocks noChangeArrowheads="1"/>
            </p:cNvSpPr>
            <p:nvPr/>
          </p:nvSpPr>
          <p:spPr bwMode="auto">
            <a:xfrm flipH="1">
              <a:off x="2758" y="796"/>
              <a:ext cx="336" cy="336"/>
            </a:xfrm>
            <a:prstGeom prst="ellipse">
              <a:avLst/>
            </a:prstGeom>
            <a:noFill/>
            <a:ln w="3810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75000"/>
                </a:lnSpc>
              </a:pPr>
              <a:r>
                <a:rPr kumimoji="1" lang="en-US" altLang="zh-CN" sz="150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1</a:t>
              </a:r>
              <a:endParaRPr kumimoji="1" lang="en-US" altLang="zh-CN" sz="1500">
                <a:latin typeface="Times New Roman" panose="02020603050405020304" pitchFamily="18" charset="0"/>
                <a:ea typeface="幼圆" panose="02010509060101010101" pitchFamily="49" charset="-122"/>
                <a:cs typeface="Times New Roman" panose="02020603050405020304" pitchFamily="18" charset="0"/>
              </a:endParaRPr>
            </a:p>
            <a:p>
              <a:pPr algn="ctr">
                <a:lnSpc>
                  <a:spcPct val="75000"/>
                </a:lnSpc>
              </a:pPr>
              <a:r>
                <a:rPr kumimoji="1" lang="en-US" altLang="zh-CN" sz="1500">
                  <a:latin typeface="Times New Roman" panose="02020603050405020304" pitchFamily="18" charset="0"/>
                  <a:ea typeface="幼圆" panose="02010509060101010101" pitchFamily="49" charset="-122"/>
                  <a:cs typeface="Times New Roman" panose="02020603050405020304" pitchFamily="18" charset="0"/>
                </a:rPr>
                <a:t>C</a:t>
              </a:r>
              <a:endParaRPr kumimoji="1" lang="en-US" altLang="zh-CN">
                <a:latin typeface="Times New Roman" panose="02020603050405020304" pitchFamily="18" charset="0"/>
                <a:ea typeface="幼圆" panose="02010509060101010101" pitchFamily="49" charset="-122"/>
                <a:cs typeface="Times New Roman" panose="02020603050405020304" pitchFamily="18" charset="0"/>
              </a:endParaRPr>
            </a:p>
          </p:txBody>
        </p:sp>
        <p:cxnSp>
          <p:nvCxnSpPr>
            <p:cNvPr id="94231" name="AutoShape 23"/>
            <p:cNvCxnSpPr>
              <a:cxnSpLocks noChangeShapeType="1"/>
              <a:stCxn id="94228" idx="5"/>
              <a:endCxn id="94230" idx="0"/>
            </p:cNvCxnSpPr>
            <p:nvPr/>
          </p:nvCxnSpPr>
          <p:spPr bwMode="auto">
            <a:xfrm flipH="1">
              <a:off x="2926" y="698"/>
              <a:ext cx="251" cy="98"/>
            </a:xfrm>
            <a:prstGeom prst="straightConnector1">
              <a:avLst/>
            </a:prstGeom>
            <a:noFill/>
            <a:ln w="381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5237" name="Rectangle 5"/>
          <p:cNvSpPr>
            <a:spLocks noChangeArrowheads="1"/>
          </p:cNvSpPr>
          <p:nvPr/>
        </p:nvSpPr>
        <p:spPr bwMode="auto">
          <a:xfrm>
            <a:off x="426720" y="1016635"/>
            <a:ext cx="8260715" cy="558927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void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R_Rotate</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PAVLTree</a:t>
            </a:r>
            <a:r>
              <a:rPr kumimoji="1" lang="en-US" altLang="zh-CN" dirty="0">
                <a:latin typeface="Consolas" panose="020B0609020204030204" charset="0"/>
                <a:ea typeface="幼圆" panose="02010509060101010101" pitchFamily="49" charset="-122"/>
                <a:cs typeface="Consolas" panose="020B0609020204030204" charset="0"/>
              </a:rPr>
              <a:t> *T)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/*Right Rotation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BSTree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 = (*T)-&gt;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 =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原来的根的左孩子结点作为新的根结点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End of </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R_Rotate</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void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L_Rotate</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PAVLTree</a:t>
            </a:r>
            <a:r>
              <a:rPr kumimoji="1" lang="en-US" altLang="zh-CN" dirty="0">
                <a:latin typeface="Consolas" panose="020B0609020204030204" charset="0"/>
                <a:ea typeface="幼圆" panose="02010509060101010101" pitchFamily="49" charset="-122"/>
                <a:cs typeface="Consolas" panose="020B0609020204030204" charset="0"/>
              </a:rPr>
              <a:t> *T)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Left Rotation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BSTree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rc</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rc</a:t>
            </a:r>
            <a:r>
              <a:rPr kumimoji="1" lang="en-US" altLang="zh-CN" dirty="0">
                <a:latin typeface="Consolas" panose="020B0609020204030204" charset="0"/>
                <a:ea typeface="幼圆" panose="02010509060101010101" pitchFamily="49" charset="-122"/>
                <a:cs typeface="Consolas" panose="020B0609020204030204" charset="0"/>
              </a:rPr>
              <a:t> = (*T)-&gt;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err="1">
                <a:latin typeface="Consolas" panose="020B0609020204030204" charset="0"/>
                <a:ea typeface="幼圆" panose="02010509060101010101" pitchFamily="49" charset="-122"/>
                <a:cs typeface="Consolas" panose="020B0609020204030204" charset="0"/>
              </a:rPr>
              <a:t>rc</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rc</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 = *T;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 = </a:t>
            </a:r>
            <a:r>
              <a:rPr kumimoji="1" lang="en-US" altLang="zh-CN" dirty="0" err="1">
                <a:latin typeface="Consolas" panose="020B0609020204030204" charset="0"/>
                <a:ea typeface="幼圆" panose="02010509060101010101" pitchFamily="49" charset="-122"/>
                <a:cs typeface="Consolas" panose="020B0609020204030204" charset="0"/>
              </a:rPr>
              <a:t>rc</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原来的根的右孩子结点作为新的根结点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End of </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L_Rotate</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96261" name="Rectangle 5"/>
          <p:cNvSpPr>
            <a:spLocks noChangeArrowheads="1"/>
          </p:cNvSpPr>
          <p:nvPr/>
        </p:nvSpPr>
        <p:spPr bwMode="auto">
          <a:xfrm>
            <a:off x="440055" y="1044575"/>
            <a:ext cx="8247380" cy="534035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10000"/>
              </a:lnSpc>
            </a:pP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void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LeftBalance</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PAVLTree</a:t>
            </a:r>
            <a:r>
              <a:rPr kumimoji="1" lang="en-US" altLang="zh-CN" dirty="0">
                <a:latin typeface="Consolas" panose="020B0609020204030204" charset="0"/>
                <a:ea typeface="幼圆" panose="02010509060101010101" pitchFamily="49" charset="-122"/>
                <a:cs typeface="Consolas" panose="020B0609020204030204" charset="0"/>
              </a:rPr>
              <a:t> *T)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BSTree</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rd</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 = (*T)-&gt;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switch</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-&gt;bf)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LH:</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(*T)-&gt;bf =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-&gt;bf = EH;	 </a:t>
            </a:r>
            <a:r>
              <a:rPr kumimoji="1" lang="en-US" altLang="zh-CN" dirty="0" err="1">
                <a:latin typeface="Consolas" panose="020B0609020204030204" charset="0"/>
                <a:ea typeface="幼圆" panose="02010509060101010101" pitchFamily="49" charset="-122"/>
                <a:cs typeface="Consolas" panose="020B0609020204030204" charset="0"/>
              </a:rPr>
              <a:t>R_Rotate</a:t>
            </a:r>
            <a:r>
              <a:rPr kumimoji="1" lang="en-US" altLang="zh-CN" dirty="0">
                <a:latin typeface="Consolas" panose="020B0609020204030204" charset="0"/>
                <a:ea typeface="幼圆" panose="02010509060101010101" pitchFamily="49" charset="-122"/>
                <a:cs typeface="Consolas" panose="020B0609020204030204" charset="0"/>
              </a:rPr>
              <a:t>(T);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RH:</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rd</a:t>
            </a: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a:t>
            </a:r>
            <a:r>
              <a:rPr kumimoji="1" lang="en-US" altLang="zh-CN" dirty="0" err="1">
                <a:latin typeface="Consolas" panose="020B0609020204030204" charset="0"/>
                <a:ea typeface="幼圆" panose="02010509060101010101" pitchFamily="49" charset="-122"/>
                <a:cs typeface="Consolas" panose="020B0609020204030204" charset="0"/>
              </a:rPr>
              <a:t>rlink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switch</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rd</a:t>
            </a:r>
            <a:r>
              <a:rPr kumimoji="1" lang="en-US" altLang="zh-CN" dirty="0">
                <a:latin typeface="Consolas" panose="020B0609020204030204" charset="0"/>
                <a:ea typeface="幼圆" panose="02010509060101010101" pitchFamily="49" charset="-122"/>
                <a:cs typeface="Consolas" panose="020B0609020204030204" charset="0"/>
              </a:rPr>
              <a:t>-&gt;bf)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LH:</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(*T)-&gt;bf = RH;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-&gt;bf  = EH;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EH: </a:t>
            </a:r>
            <a:endParaRPr kumimoji="1" lang="en-US" altLang="zh-CN" dirty="0">
              <a:latin typeface="Consolas" panose="020B0609020204030204" charset="0"/>
              <a:ea typeface="幼圆" panose="02010509060101010101" pitchFamily="49" charset="-122"/>
              <a:cs typeface="Consolas" panose="020B0609020204030204" charset="0"/>
            </a:endParaRPr>
          </a:p>
          <a:p>
            <a:pPr marL="1371600" lvl="3" indent="457200">
              <a:lnSpc>
                <a:spcPct val="110000"/>
              </a:lnSpc>
            </a:pP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a:t>
            </a:r>
            <a:r>
              <a:rPr kumimoji="1" lang="zh-CN" altLang="en-US" dirty="0">
                <a:solidFill>
                  <a:srgbClr val="00CC00"/>
                </a:solidFill>
                <a:latin typeface="Consolas" panose="020B0609020204030204" charset="0"/>
                <a:ea typeface="幼圆" panose="02010509060101010101" pitchFamily="49" charset="-122"/>
                <a:cs typeface="Consolas" panose="020B0609020204030204" charset="0"/>
              </a:rPr>
              <a:t>针对左子树的根结点的右子树只有刚插入的一个结点的情况</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(*T)-&gt;bf =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-&gt;bf = EH;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case </a:t>
            </a:r>
            <a:r>
              <a:rPr kumimoji="1" lang="en-US" altLang="zh-CN" dirty="0">
                <a:latin typeface="Consolas" panose="020B0609020204030204" charset="0"/>
                <a:ea typeface="幼圆" panose="02010509060101010101" pitchFamily="49" charset="-122"/>
                <a:cs typeface="Consolas" panose="020B0609020204030204" charset="0"/>
              </a:rPr>
              <a:t>RH:</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(*T)-&gt;bf = EH;	</a:t>
            </a:r>
            <a:r>
              <a:rPr kumimoji="1" lang="en-US" altLang="zh-CN" dirty="0" err="1">
                <a:latin typeface="Consolas" panose="020B0609020204030204" charset="0"/>
                <a:ea typeface="幼圆" panose="02010509060101010101" pitchFamily="49" charset="-122"/>
                <a:cs typeface="Consolas" panose="020B0609020204030204" charset="0"/>
              </a:rPr>
              <a:t>lc</a:t>
            </a:r>
            <a:r>
              <a:rPr kumimoji="1" lang="en-US" altLang="zh-CN" dirty="0">
                <a:latin typeface="Consolas" panose="020B0609020204030204" charset="0"/>
                <a:ea typeface="幼圆" panose="02010509060101010101" pitchFamily="49" charset="-122"/>
                <a:cs typeface="Consolas" panose="020B0609020204030204" charset="0"/>
              </a:rPr>
              <a:t>-&gt;bf  = LH; </a:t>
            </a:r>
            <a:r>
              <a:rPr kumimoji="1" lang="en-US" altLang="zh-CN"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break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1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switch(</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rd</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-&gt;bf)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p:txBody>
      </p:sp>
      <p:sp>
        <p:nvSpPr>
          <p:cNvPr id="2" name="文本框 1"/>
          <p:cNvSpPr txBox="1"/>
          <p:nvPr/>
        </p:nvSpPr>
        <p:spPr>
          <a:xfrm>
            <a:off x="5339715" y="1196340"/>
            <a:ext cx="3168650" cy="975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20000"/>
              </a:lnSpc>
            </a:pPr>
            <a:r>
              <a:rPr lang="en-US" altLang="zh-CN" sz="1600" dirty="0">
                <a:latin typeface="Consolas" panose="020B0609020204030204" charset="0"/>
                <a:cs typeface="Consolas" panose="020B0609020204030204" charset="0"/>
              </a:rPr>
              <a:t>#define LH   +1     //</a:t>
            </a:r>
            <a:r>
              <a:rPr lang="zh-CN" altLang="en-US" sz="1600" dirty="0">
                <a:latin typeface="Consolas" panose="020B0609020204030204" charset="0"/>
                <a:cs typeface="Consolas" panose="020B0609020204030204" charset="0"/>
              </a:rPr>
              <a:t>左高</a:t>
            </a:r>
            <a:endParaRPr lang="en-US" altLang="zh-CN" sz="1600" dirty="0">
              <a:latin typeface="Consolas" panose="020B0609020204030204" charset="0"/>
              <a:cs typeface="Consolas" panose="020B0609020204030204" charset="0"/>
            </a:endParaRPr>
          </a:p>
          <a:p>
            <a:pPr>
              <a:lnSpc>
                <a:spcPct val="120000"/>
              </a:lnSpc>
            </a:pPr>
            <a:r>
              <a:rPr lang="en-US" altLang="zh-CN" sz="1600" dirty="0">
                <a:latin typeface="Consolas" panose="020B0609020204030204" charset="0"/>
                <a:cs typeface="Consolas" panose="020B0609020204030204" charset="0"/>
              </a:rPr>
              <a:t>#define EH    0     //</a:t>
            </a:r>
            <a:r>
              <a:rPr lang="zh-CN" altLang="en-US" sz="1600" dirty="0">
                <a:latin typeface="Consolas" panose="020B0609020204030204" charset="0"/>
                <a:cs typeface="Consolas" panose="020B0609020204030204" charset="0"/>
              </a:rPr>
              <a:t>等高</a:t>
            </a:r>
            <a:endParaRPr lang="en-US" altLang="zh-CN" sz="1600" dirty="0">
              <a:latin typeface="Consolas" panose="020B0609020204030204" charset="0"/>
              <a:cs typeface="Consolas" panose="020B0609020204030204" charset="0"/>
            </a:endParaRPr>
          </a:p>
          <a:p>
            <a:pPr>
              <a:lnSpc>
                <a:spcPct val="120000"/>
              </a:lnSpc>
            </a:pPr>
            <a:r>
              <a:rPr lang="en-US" altLang="zh-CN" sz="1600" dirty="0">
                <a:latin typeface="Consolas" panose="020B0609020204030204" charset="0"/>
                <a:cs typeface="Consolas" panose="020B0609020204030204" charset="0"/>
              </a:rPr>
              <a:t>#define RH   -1     //</a:t>
            </a:r>
            <a:r>
              <a:rPr lang="zh-CN" altLang="en-US" sz="1600" dirty="0">
                <a:latin typeface="Consolas" panose="020B0609020204030204" charset="0"/>
                <a:cs typeface="Consolas" panose="020B0609020204030204" charset="0"/>
              </a:rPr>
              <a:t>右高</a:t>
            </a:r>
            <a:endParaRPr lang="zh-CN" altLang="en-US" sz="1600" dirty="0">
              <a:latin typeface="Consolas" panose="020B0609020204030204" charset="0"/>
              <a:cs typeface="Consolas" panose="020B0609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8.4 </a:t>
            </a:r>
            <a:r>
              <a:rPr lang="zh-CN" altLang="en-US">
                <a:effectLst>
                  <a:outerShdw blurRad="38100" dist="25400" dir="5400000" algn="ctr" rotWithShape="0">
                    <a:srgbClr val="6E747A">
                      <a:alpha val="43000"/>
                    </a:srgbClr>
                  </a:outerShdw>
                </a:effectLst>
                <a:sym typeface="+mn-ea"/>
              </a:rPr>
              <a:t>平衡二叉树</a:t>
            </a:r>
            <a:endParaRPr lang="zh-CN" altLang="en-US"/>
          </a:p>
        </p:txBody>
      </p:sp>
      <p:sp>
        <p:nvSpPr>
          <p:cNvPr id="143362" name="Rectangle 2"/>
          <p:cNvSpPr>
            <a:spLocks noChangeArrowheads="1"/>
          </p:cNvSpPr>
          <p:nvPr/>
        </p:nvSpPr>
        <p:spPr bwMode="auto">
          <a:xfrm>
            <a:off x="448310" y="1101090"/>
            <a:ext cx="8239125" cy="209169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rd</a:t>
            </a:r>
            <a:r>
              <a:rPr kumimoji="1" lang="en-US" altLang="zh-CN" dirty="0">
                <a:latin typeface="Consolas" panose="020B0609020204030204" charset="0"/>
                <a:ea typeface="幼圆" panose="02010509060101010101" pitchFamily="49" charset="-122"/>
                <a:cs typeface="Consolas" panose="020B0609020204030204" charset="0"/>
              </a:rPr>
              <a:t>-&gt;bf = EH;</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L_Rotate</a:t>
            </a:r>
            <a:r>
              <a:rPr kumimoji="1" lang="en-US" altLang="zh-CN" dirty="0">
                <a:latin typeface="Consolas" panose="020B0609020204030204" charset="0"/>
                <a:ea typeface="幼圆" panose="02010509060101010101" pitchFamily="49" charset="-122"/>
                <a:cs typeface="Consolas" panose="020B0609020204030204" charset="0"/>
              </a:rPr>
              <a:t>(&amp;(*T)-&gt;</a:t>
            </a:r>
            <a:r>
              <a:rPr kumimoji="1" lang="en-US" altLang="zh-CN" dirty="0" err="1">
                <a:latin typeface="Consolas" panose="020B0609020204030204" charset="0"/>
                <a:ea typeface="幼圆" panose="02010509060101010101" pitchFamily="49" charset="-122"/>
                <a:cs typeface="Consolas" panose="020B0609020204030204" charset="0"/>
              </a:rPr>
              <a:t>llink</a:t>
            </a: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err="1">
                <a:latin typeface="Consolas" panose="020B0609020204030204" charset="0"/>
                <a:ea typeface="幼圆" panose="02010509060101010101" pitchFamily="49" charset="-122"/>
                <a:cs typeface="Consolas" panose="020B0609020204030204" charset="0"/>
              </a:rPr>
              <a:t>R_Rotate</a:t>
            </a:r>
            <a:r>
              <a:rPr kumimoji="1" lang="en-US" altLang="zh-CN" dirty="0">
                <a:latin typeface="Consolas" panose="020B0609020204030204" charset="0"/>
                <a:ea typeface="幼圆" panose="02010509060101010101" pitchFamily="49" charset="-122"/>
                <a:cs typeface="Consolas" panose="020B0609020204030204" charset="0"/>
              </a:rPr>
              <a:t>(T);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switch(</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lc</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-&gt;bf)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a:p>
            <a:pPr>
              <a:lnSpc>
                <a:spcPct val="140000"/>
              </a:lnSpc>
            </a:pPr>
            <a:r>
              <a:rPr kumimoji="1" lang="en-US" altLang="zh-CN" dirty="0">
                <a:latin typeface="Consolas" panose="020B0609020204030204" charset="0"/>
                <a:ea typeface="幼圆" panose="02010509060101010101" pitchFamily="49" charset="-122"/>
                <a:cs typeface="Consolas" panose="020B0609020204030204" charset="0"/>
              </a:rPr>
              <a:t>}	</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End of </a:t>
            </a:r>
            <a:r>
              <a:rPr kumimoji="1" lang="en-US" altLang="zh-CN" dirty="0" err="1">
                <a:solidFill>
                  <a:srgbClr val="00CC00"/>
                </a:solidFill>
                <a:latin typeface="Consolas" panose="020B0609020204030204" charset="0"/>
                <a:ea typeface="幼圆" panose="02010509060101010101" pitchFamily="49" charset="-122"/>
                <a:cs typeface="Consolas" panose="020B0609020204030204" charset="0"/>
              </a:rPr>
              <a:t>LeftBalance</a:t>
            </a:r>
            <a:r>
              <a:rPr kumimoji="1" lang="en-US" altLang="zh-CN" dirty="0">
                <a:solidFill>
                  <a:srgbClr val="00CC00"/>
                </a:solidFill>
                <a:latin typeface="Consolas" panose="020B0609020204030204" charset="0"/>
                <a:ea typeface="幼圆" panose="02010509060101010101" pitchFamily="49" charset="-122"/>
                <a:cs typeface="Consolas" panose="020B0609020204030204" charset="0"/>
              </a:rPr>
              <a:t>() */</a:t>
            </a:r>
            <a:endParaRPr kumimoji="1" lang="en-US" altLang="zh-CN" dirty="0">
              <a:solidFill>
                <a:srgbClr val="00CC00"/>
              </a:solidFill>
              <a:latin typeface="Consolas" panose="020B0609020204030204" charset="0"/>
              <a:ea typeface="幼圆" panose="02010509060101010101" pitchFamily="49" charset="-122"/>
              <a:cs typeface="Consolas" panose="020B0609020204030204" charset="0"/>
            </a:endParaRPr>
          </a:p>
        </p:txBody>
      </p:sp>
      <p:sp>
        <p:nvSpPr>
          <p:cNvPr id="143364" name="Rectangle 4"/>
          <p:cNvSpPr>
            <a:spLocks noChangeArrowheads="1"/>
          </p:cNvSpPr>
          <p:nvPr/>
        </p:nvSpPr>
        <p:spPr bwMode="auto">
          <a:xfrm>
            <a:off x="447675" y="3481705"/>
            <a:ext cx="8239125" cy="199644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void </a:t>
            </a:r>
            <a:r>
              <a:rPr kumimoji="1" lang="en-US" altLang="zh-CN" dirty="0" err="1">
                <a:solidFill>
                  <a:srgbClr val="FF0000"/>
                </a:solidFill>
                <a:latin typeface="Consolas" panose="020B0609020204030204" charset="0"/>
                <a:ea typeface="幼圆" panose="02010509060101010101" pitchFamily="49" charset="-122"/>
                <a:cs typeface="Consolas" panose="020B0609020204030204" charset="0"/>
              </a:rPr>
              <a:t>RightBalance</a:t>
            </a:r>
            <a:r>
              <a:rPr kumimoji="1" lang="en-US" altLang="zh-CN" dirty="0">
                <a:solidFill>
                  <a:srgbClr val="FF0000"/>
                </a:solidFill>
                <a:latin typeface="Consolas" panose="020B0609020204030204" charset="0"/>
                <a:ea typeface="幼圆" panose="02010509060101010101" pitchFamily="49" charset="-122"/>
                <a:cs typeface="Consolas" panose="020B0609020204030204" charset="0"/>
              </a:rPr>
              <a:t> </a:t>
            </a:r>
            <a:r>
              <a:rPr kumimoji="1" lang="en-US" altLang="zh-CN" dirty="0">
                <a:latin typeface="Consolas" panose="020B0609020204030204" charset="0"/>
                <a:ea typeface="幼圆" panose="02010509060101010101" pitchFamily="49" charset="-122"/>
                <a:cs typeface="Consolas" panose="020B0609020204030204" charset="0"/>
              </a:rPr>
              <a:t>(</a:t>
            </a:r>
            <a:r>
              <a:rPr kumimoji="1" lang="en-US" altLang="zh-CN" dirty="0" err="1">
                <a:latin typeface="Consolas" panose="020B0609020204030204" charset="0"/>
                <a:ea typeface="幼圆" panose="02010509060101010101" pitchFamily="49" charset="-122"/>
                <a:cs typeface="Consolas" panose="020B0609020204030204" charset="0"/>
              </a:rPr>
              <a:t>PAVLTree</a:t>
            </a:r>
            <a:r>
              <a:rPr kumimoji="1" lang="en-US" altLang="zh-CN" dirty="0">
                <a:latin typeface="Consolas" panose="020B0609020204030204" charset="0"/>
                <a:ea typeface="幼圆" panose="02010509060101010101" pitchFamily="49" charset="-122"/>
                <a:cs typeface="Consolas" panose="020B0609020204030204" charset="0"/>
              </a:rPr>
              <a:t> *T) {</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a:p>
            <a:pPr>
              <a:lnSpc>
                <a:spcPct val="120000"/>
              </a:lnSpc>
            </a:pPr>
            <a:r>
              <a:rPr kumimoji="1" lang="en-US" altLang="zh-CN" dirty="0">
                <a:latin typeface="Consolas" panose="020B0609020204030204" charset="0"/>
                <a:ea typeface="幼圆" panose="02010509060101010101" pitchFamily="49" charset="-122"/>
                <a:cs typeface="Consolas" panose="020B0609020204030204" charset="0"/>
              </a:rPr>
              <a:t>}</a:t>
            </a:r>
            <a:endParaRPr kumimoji="1" lang="en-US" altLang="zh-CN" dirty="0">
              <a:latin typeface="Consolas" panose="020B0609020204030204" charset="0"/>
              <a:ea typeface="幼圆" panose="02010509060101010101" pitchFamily="49" charset="-122"/>
              <a:cs typeface="Consolas" panose="020B0609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scene3d>
              <a:camera prst="orthographicFront"/>
              <a:lightRig rig="threePt" dir="t"/>
            </a:scene3d>
          </a:bodyPr>
          <a:lstStyle/>
          <a:p>
            <a:r>
              <a:rPr lang="zh-CN" altLang="en-US">
                <a:solidFill>
                  <a:schemeClr val="bg1"/>
                </a:solidFill>
                <a:effectLst>
                  <a:outerShdw blurRad="38100" dist="25400" dir="5400000" algn="ctr" rotWithShape="0">
                    <a:srgbClr val="6E747A">
                      <a:alpha val="43000"/>
                    </a:srgbClr>
                  </a:outerShdw>
                </a:effectLst>
              </a:rPr>
              <a:t>平衡二叉树查找的分析</a:t>
            </a:r>
            <a:endParaRPr lang="zh-CN" altLang="en-US">
              <a:solidFill>
                <a:schemeClr val="bg1"/>
              </a:solidFill>
              <a:effectLst>
                <a:outerShdw blurRad="38100" dist="25400" dir="5400000" algn="ctr" rotWithShape="0">
                  <a:srgbClr val="6E747A">
                    <a:alpha val="43000"/>
                  </a:srgbClr>
                </a:outerShdw>
              </a:effectLst>
            </a:endParaRPr>
          </a:p>
        </p:txBody>
      </p:sp>
      <p:sp>
        <p:nvSpPr>
          <p:cNvPr id="250883" name="Rectangle 3"/>
          <p:cNvSpPr>
            <a:spLocks noGrp="1" noChangeArrowheads="1"/>
          </p:cNvSpPr>
          <p:nvPr>
            <p:ph type="body" sz="half" idx="4294967295"/>
          </p:nvPr>
        </p:nvSpPr>
        <p:spPr>
          <a:xfrm>
            <a:off x="437515" y="1049020"/>
            <a:ext cx="8275320" cy="5162550"/>
          </a:xfrm>
        </p:spPr>
        <p:txBody>
          <a:bodyPr/>
          <a:lstStyle/>
          <a:p>
            <a:pPr>
              <a:lnSpc>
                <a:spcPct val="120000"/>
              </a:lnSpc>
            </a:pPr>
            <a:r>
              <a:rPr lang="zh-CN" altLang="en-US" sz="2400">
                <a:latin typeface="Times New Roman" panose="02020603050405020304" pitchFamily="18" charset="0"/>
                <a:cs typeface="Times New Roman" panose="02020603050405020304" pitchFamily="18" charset="0"/>
              </a:rPr>
              <a:t>在查找过程中和给定值进行比较的关键字个数不超过树的深度。关键问题：</a:t>
            </a:r>
            <a:endParaRPr lang="zh-CN" altLang="en-US" sz="2400">
              <a:latin typeface="Times New Roman" panose="02020603050405020304" pitchFamily="18" charset="0"/>
              <a:cs typeface="Times New Roman" panose="02020603050405020304" pitchFamily="18" charset="0"/>
            </a:endParaRPr>
          </a:p>
          <a:p>
            <a:pPr>
              <a:lnSpc>
                <a:spcPct val="120000"/>
              </a:lnSpc>
            </a:pPr>
            <a:r>
              <a:rPr lang="zh-CN" altLang="en-US" sz="2400">
                <a:latin typeface="Times New Roman" panose="02020603050405020304" pitchFamily="18" charset="0"/>
                <a:cs typeface="Times New Roman" panose="02020603050405020304" pitchFamily="18" charset="0"/>
              </a:rPr>
              <a:t>含有</a:t>
            </a:r>
            <a:r>
              <a:rPr lang="en-US" altLang="zh-CN" sz="2400" i="1">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cs typeface="Times New Roman" panose="02020603050405020304" pitchFamily="18" charset="0"/>
              </a:rPr>
              <a:t>个关键字的平衡树的最大深度</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深度为</a:t>
            </a:r>
            <a:r>
              <a:rPr lang="en-US" altLang="zh-CN" sz="2400" i="1">
                <a:latin typeface="Times New Roman" panose="02020603050405020304" pitchFamily="18" charset="0"/>
                <a:cs typeface="Times New Roman" panose="02020603050405020304" pitchFamily="18" charset="0"/>
                <a:sym typeface="Wingdings" panose="05000000000000000000" pitchFamily="2" charset="2"/>
              </a:rPr>
              <a:t>h</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的平衡树中含有的最少结点数</a:t>
            </a:r>
            <a:endParaRPr lang="zh-CN" altLang="en-US" sz="240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None/>
            </a:pPr>
            <a:r>
              <a:rPr lang="zh-CN" altLang="en-US" sz="24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N</a:t>
            </a:r>
            <a:r>
              <a:rPr lang="en-US" altLang="zh-CN" sz="2400" baseline="-25000">
                <a:latin typeface="Times New Roman" panose="02020603050405020304" pitchFamily="18" charset="0"/>
                <a:cs typeface="Times New Roman" panose="02020603050405020304" pitchFamily="18" charset="0"/>
              </a:rPr>
              <a:t>0</a:t>
            </a:r>
            <a:r>
              <a:rPr lang="en-US" altLang="zh-CN" sz="2400">
                <a:latin typeface="Times New Roman" panose="02020603050405020304" pitchFamily="18" charset="0"/>
                <a:cs typeface="Times New Roman" panose="02020603050405020304" pitchFamily="18" charset="0"/>
              </a:rPr>
              <a:t>=0, N</a:t>
            </a:r>
            <a:r>
              <a:rPr lang="en-US" altLang="zh-CN" sz="2400" baseline="-25000">
                <a:latin typeface="Times New Roman" panose="02020603050405020304" pitchFamily="18" charset="0"/>
                <a:cs typeface="Times New Roman" panose="02020603050405020304" pitchFamily="18" charset="0"/>
              </a:rPr>
              <a:t>1</a:t>
            </a:r>
            <a:r>
              <a:rPr lang="en-US" altLang="zh-CN" sz="2400">
                <a:latin typeface="Times New Roman" panose="02020603050405020304" pitchFamily="18" charset="0"/>
                <a:cs typeface="Times New Roman" panose="02020603050405020304" pitchFamily="18" charset="0"/>
              </a:rPr>
              <a:t>=1, N</a:t>
            </a:r>
            <a:r>
              <a:rPr lang="en-US" altLang="zh-CN" sz="2400" baseline="-25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=2</a:t>
            </a:r>
            <a:endParaRPr lang="en-US" altLang="zh-CN" sz="240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None/>
            </a:pPr>
            <a:r>
              <a:rPr lang="en-US" altLang="zh-CN" sz="2400">
                <a:latin typeface="Times New Roman" panose="02020603050405020304" pitchFamily="18" charset="0"/>
                <a:cs typeface="Times New Roman" panose="02020603050405020304" pitchFamily="18" charset="0"/>
              </a:rPr>
              <a:t>	N</a:t>
            </a:r>
            <a:r>
              <a:rPr lang="en-US" altLang="zh-CN" sz="2400" i="1" baseline="-25000">
                <a:latin typeface="Times New Roman" panose="02020603050405020304" pitchFamily="18" charset="0"/>
                <a:cs typeface="Times New Roman" panose="02020603050405020304" pitchFamily="18" charset="0"/>
              </a:rPr>
              <a:t>h</a:t>
            </a:r>
            <a:r>
              <a:rPr lang="en-US" altLang="zh-CN" sz="2400">
                <a:latin typeface="Times New Roman" panose="02020603050405020304" pitchFamily="18" charset="0"/>
                <a:cs typeface="Times New Roman" panose="02020603050405020304" pitchFamily="18" charset="0"/>
              </a:rPr>
              <a:t>=N</a:t>
            </a:r>
            <a:r>
              <a:rPr lang="en-US" altLang="zh-CN" sz="2400" i="1" baseline="-25000">
                <a:latin typeface="Times New Roman" panose="02020603050405020304" pitchFamily="18" charset="0"/>
                <a:cs typeface="Times New Roman" panose="02020603050405020304" pitchFamily="18" charset="0"/>
              </a:rPr>
              <a:t>h</a:t>
            </a:r>
            <a:r>
              <a:rPr lang="en-US" altLang="zh-CN" sz="2400" baseline="-25000">
                <a:latin typeface="Times New Roman" panose="02020603050405020304" pitchFamily="18" charset="0"/>
                <a:cs typeface="Times New Roman" panose="02020603050405020304" pitchFamily="18" charset="0"/>
              </a:rPr>
              <a:t>-1</a:t>
            </a:r>
            <a:r>
              <a:rPr lang="en-US" altLang="zh-CN" sz="2400">
                <a:latin typeface="Times New Roman" panose="02020603050405020304" pitchFamily="18" charset="0"/>
                <a:cs typeface="Times New Roman" panose="02020603050405020304" pitchFamily="18" charset="0"/>
              </a:rPr>
              <a:t>+N</a:t>
            </a:r>
            <a:r>
              <a:rPr lang="en-US" altLang="zh-CN" sz="2400" i="1" baseline="-25000">
                <a:latin typeface="Times New Roman" panose="02020603050405020304" pitchFamily="18" charset="0"/>
                <a:cs typeface="Times New Roman" panose="02020603050405020304" pitchFamily="18" charset="0"/>
              </a:rPr>
              <a:t>h</a:t>
            </a:r>
            <a:r>
              <a:rPr lang="en-US" altLang="zh-CN" sz="2400" baseline="-25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+1</a:t>
            </a:r>
            <a:endParaRPr lang="en-US" altLang="zh-CN" sz="240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None/>
            </a:pPr>
            <a:r>
              <a:rPr lang="en-US" altLang="zh-CN" sz="24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 </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当</a:t>
            </a:r>
            <a:r>
              <a:rPr lang="en-US" altLang="zh-CN" sz="2400" i="1">
                <a:latin typeface="Times New Roman" panose="02020603050405020304" pitchFamily="18" charset="0"/>
                <a:cs typeface="Times New Roman" panose="02020603050405020304" pitchFamily="18" charset="0"/>
                <a:sym typeface="Wingdings" panose="05000000000000000000" pitchFamily="2" charset="2"/>
              </a:rPr>
              <a:t>h</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&gt;0</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时，</a:t>
            </a:r>
            <a:r>
              <a:rPr lang="en-US" altLang="zh-CN" sz="2400">
                <a:latin typeface="Times New Roman" panose="02020603050405020304" pitchFamily="18" charset="0"/>
                <a:cs typeface="Times New Roman" panose="02020603050405020304" pitchFamily="18" charset="0"/>
              </a:rPr>
              <a:t>N</a:t>
            </a:r>
            <a:r>
              <a:rPr lang="en-US" altLang="zh-CN" sz="2400" i="1" baseline="-25000">
                <a:latin typeface="Times New Roman" panose="02020603050405020304" pitchFamily="18" charset="0"/>
                <a:cs typeface="Times New Roman" panose="02020603050405020304" pitchFamily="18" charset="0"/>
              </a:rPr>
              <a:t>h</a:t>
            </a:r>
            <a:r>
              <a:rPr lang="en-US" altLang="zh-CN" sz="2400">
                <a:latin typeface="Times New Roman" panose="02020603050405020304" pitchFamily="18" charset="0"/>
                <a:cs typeface="Times New Roman" panose="02020603050405020304" pitchFamily="18" charset="0"/>
              </a:rPr>
              <a:t>=F</a:t>
            </a:r>
            <a:r>
              <a:rPr lang="en-US" altLang="zh-CN" sz="2400" i="1" baseline="-25000">
                <a:latin typeface="Times New Roman" panose="02020603050405020304" pitchFamily="18" charset="0"/>
                <a:cs typeface="Times New Roman" panose="02020603050405020304" pitchFamily="18" charset="0"/>
              </a:rPr>
              <a:t>h</a:t>
            </a:r>
            <a:r>
              <a:rPr lang="en-US" altLang="zh-CN" sz="2400" baseline="-25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-1</a:t>
            </a:r>
            <a:endParaRPr lang="en-US" altLang="zh-CN" sz="2400">
              <a:latin typeface="Times New Roman" panose="02020603050405020304" pitchFamily="18" charset="0"/>
              <a:cs typeface="Times New Roman" panose="02020603050405020304" pitchFamily="18" charset="0"/>
            </a:endParaRPr>
          </a:p>
          <a:p>
            <a:pPr>
              <a:lnSpc>
                <a:spcPct val="120000"/>
              </a:lnSpc>
            </a:pPr>
            <a:r>
              <a:rPr lang="zh-CN" altLang="en-US" sz="2400">
                <a:latin typeface="Times New Roman" panose="02020603050405020304" pitchFamily="18" charset="0"/>
                <a:cs typeface="Times New Roman" panose="02020603050405020304" pitchFamily="18" charset="0"/>
              </a:rPr>
              <a:t>时间复杂度：</a:t>
            </a:r>
            <a:r>
              <a:rPr lang="en-US" altLang="zh-CN" sz="2400">
                <a:latin typeface="Times New Roman" panose="02020603050405020304" pitchFamily="18" charset="0"/>
                <a:cs typeface="Times New Roman" panose="02020603050405020304" pitchFamily="18" charset="0"/>
              </a:rPr>
              <a:t>O(log</a:t>
            </a:r>
            <a:r>
              <a:rPr lang="en-US" altLang="zh-CN" sz="2400" i="1">
                <a:latin typeface="Times New Roman" panose="02020603050405020304" pitchFamily="18" charset="0"/>
                <a:cs typeface="Times New Roman" panose="02020603050405020304" pitchFamily="18" charset="0"/>
              </a:rPr>
              <a:t>n</a:t>
            </a:r>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p:txBody>
      </p:sp>
      <p:graphicFrame>
        <p:nvGraphicFramePr>
          <p:cNvPr id="250884" name="Object 4"/>
          <p:cNvGraphicFramePr>
            <a:graphicFrameLocks noGrp="1" noChangeAspect="1"/>
          </p:cNvGraphicFramePr>
          <p:nvPr>
            <p:ph idx="1"/>
          </p:nvPr>
        </p:nvGraphicFramePr>
        <p:xfrm>
          <a:off x="5150485" y="2921635"/>
          <a:ext cx="2736850" cy="798195"/>
        </p:xfrm>
        <a:graphic>
          <a:graphicData uri="http://schemas.openxmlformats.org/presentationml/2006/ole">
            <mc:AlternateContent xmlns:mc="http://schemas.openxmlformats.org/markup-compatibility/2006">
              <mc:Choice xmlns:v="urn:schemas-microsoft-com:vml" Requires="v">
                <p:oleObj spid="_x0000_s251384" name="Equation" r:id="rId1" imgW="1308100" imgH="381000" progId="Equation.DSMT4">
                  <p:embed/>
                </p:oleObj>
              </mc:Choice>
              <mc:Fallback>
                <p:oleObj name="Equation" r:id="rId1" imgW="1308100" imgH="381000" progId="Equation.DSMT4">
                  <p:embed/>
                  <p:pic>
                    <p:nvPicPr>
                      <p:cNvPr id="0" name="Object 4"/>
                      <p:cNvPicPr>
                        <a:picLocks noChangeAspect="1" noChangeArrowheads="1"/>
                      </p:cNvPicPr>
                      <p:nvPr/>
                    </p:nvPicPr>
                    <p:blipFill>
                      <a:blip r:embed="rId2"/>
                      <a:srcRect/>
                      <a:stretch>
                        <a:fillRect/>
                      </a:stretch>
                    </p:blipFill>
                    <p:spPr bwMode="auto">
                      <a:xfrm>
                        <a:off x="5150485" y="2921635"/>
                        <a:ext cx="2736850" cy="798195"/>
                      </a:xfrm>
                      <a:prstGeom prst="rect">
                        <a:avLst/>
                      </a:prstGeom>
                      <a:solidFill>
                        <a:schemeClr val="accent1"/>
                      </a:solid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87" name="Object 7"/>
          <p:cNvGraphicFramePr>
            <a:graphicFrameLocks noChangeAspect="1"/>
          </p:cNvGraphicFramePr>
          <p:nvPr/>
        </p:nvGraphicFramePr>
        <p:xfrm>
          <a:off x="5150485" y="3834130"/>
          <a:ext cx="1503045" cy="712470"/>
        </p:xfrm>
        <a:graphic>
          <a:graphicData uri="http://schemas.openxmlformats.org/presentationml/2006/ole">
            <mc:AlternateContent xmlns:mc="http://schemas.openxmlformats.org/markup-compatibility/2006">
              <mc:Choice xmlns:v="urn:schemas-microsoft-com:vml" Requires="v">
                <p:oleObj spid="_x0000_s251385" name="Equation" r:id="rId3" imgW="723900" imgH="342900" progId="Equation.DSMT4">
                  <p:embed/>
                </p:oleObj>
              </mc:Choice>
              <mc:Fallback>
                <p:oleObj name="Equation" r:id="rId3" imgW="723900" imgH="342900" progId="Equation.DSMT4">
                  <p:embed/>
                  <p:pic>
                    <p:nvPicPr>
                      <p:cNvPr id="0" name="Object 7"/>
                      <p:cNvPicPr>
                        <a:picLocks noChangeAspect="1" noChangeArrowheads="1"/>
                      </p:cNvPicPr>
                      <p:nvPr/>
                    </p:nvPicPr>
                    <p:blipFill>
                      <a:blip r:embed="rId4"/>
                      <a:srcRect/>
                      <a:stretch>
                        <a:fillRect/>
                      </a:stretch>
                    </p:blipFill>
                    <p:spPr bwMode="auto">
                      <a:xfrm>
                        <a:off x="5150485" y="3834130"/>
                        <a:ext cx="1503045" cy="712470"/>
                      </a:xfrm>
                      <a:prstGeom prst="rect">
                        <a:avLst/>
                      </a:prstGeom>
                      <a:solidFill>
                        <a:schemeClr val="accent1"/>
                      </a:solid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88" name="Object 8"/>
          <p:cNvGraphicFramePr>
            <a:graphicFrameLocks noChangeAspect="1"/>
          </p:cNvGraphicFramePr>
          <p:nvPr/>
        </p:nvGraphicFramePr>
        <p:xfrm>
          <a:off x="5150485" y="4761230"/>
          <a:ext cx="3386455" cy="737870"/>
        </p:xfrm>
        <a:graphic>
          <a:graphicData uri="http://schemas.openxmlformats.org/presentationml/2006/ole">
            <mc:AlternateContent xmlns:mc="http://schemas.openxmlformats.org/markup-compatibility/2006">
              <mc:Choice xmlns:v="urn:schemas-microsoft-com:vml" Requires="v">
                <p:oleObj spid="_x0000_s251386" name="Equation" r:id="rId5" imgW="1219200" imgH="266700" progId="Equation.DSMT4">
                  <p:embed/>
                </p:oleObj>
              </mc:Choice>
              <mc:Fallback>
                <p:oleObj name="Equation" r:id="rId5" imgW="1219200" imgH="266700" progId="Equation.DSMT4">
                  <p:embed/>
                  <p:pic>
                    <p:nvPicPr>
                      <p:cNvPr id="0" name="Object 8"/>
                      <p:cNvPicPr>
                        <a:picLocks noChangeAspect="1" noChangeArrowheads="1"/>
                      </p:cNvPicPr>
                      <p:nvPr/>
                    </p:nvPicPr>
                    <p:blipFill>
                      <a:blip r:embed="rId6"/>
                      <a:srcRect/>
                      <a:stretch>
                        <a:fillRect/>
                      </a:stretch>
                    </p:blipFill>
                    <p:spPr bwMode="auto">
                      <a:xfrm>
                        <a:off x="5150485" y="4761230"/>
                        <a:ext cx="3386455" cy="737870"/>
                      </a:xfrm>
                      <a:prstGeom prst="rect">
                        <a:avLst/>
                      </a:prstGeom>
                      <a:solidFill>
                        <a:schemeClr val="accent1"/>
                      </a:solidFill>
                      <a:ln w="38100">
                        <a:solidFill>
                          <a:srgbClr val="FFFF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883">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50883">
                                            <p:txEl>
                                              <p:pRg st="3" end="3"/>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5088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088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08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0888"/>
                                        </p:tgtEl>
                                        <p:attrNameLst>
                                          <p:attrName>style.visibility</p:attrName>
                                        </p:attrNameLst>
                                      </p:cBhvr>
                                      <p:to>
                                        <p:strVal val="visible"/>
                                      </p:to>
                                    </p:set>
                                  </p:childTnLst>
                                </p:cTn>
                              </p:par>
                            </p:childTnLst>
                          </p:cTn>
                        </p:par>
                        <p:par>
                          <p:cTn id="23" fill="hold">
                            <p:stCondLst>
                              <p:cond delay="0"/>
                            </p:stCondLst>
                            <p:childTnLst>
                              <p:par>
                                <p:cTn id="24" presetID="35" presetClass="emph" presetSubtype="0" repeatCount="3000" fill="hold" nodeType="afterEffect">
                                  <p:stCondLst>
                                    <p:cond delay="0"/>
                                  </p:stCondLst>
                                  <p:childTnLst>
                                    <p:anim calcmode="discrete" valueType="str">
                                      <p:cBhvr>
                                        <p:cTn id="25" dur="1000" fill="hold"/>
                                        <p:tgtEl>
                                          <p:spTgt spid="250888"/>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508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2" name="Rectangle 4"/>
          <p:cNvSpPr>
            <a:spLocks noGrp="1" noChangeArrowheads="1"/>
          </p:cNvSpPr>
          <p:nvPr>
            <p:ph type="title"/>
          </p:nvPr>
        </p:nvSpPr>
        <p:spPr>
          <a:noFill/>
        </p:spPr>
        <p:txBody>
          <a:bodyPr anchorCtr="0">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Quiz</a:t>
            </a:r>
            <a:endParaRPr lang="en-US" altLang="zh-CN">
              <a:solidFill>
                <a:schemeClr val="bg1"/>
              </a:solidFill>
              <a:effectLst>
                <a:outerShdw blurRad="38100" dist="25400" dir="5400000" algn="ctr" rotWithShape="0">
                  <a:srgbClr val="6E747A">
                    <a:alpha val="43000"/>
                  </a:srgbClr>
                </a:outerShdw>
              </a:effectLst>
            </a:endParaRPr>
          </a:p>
        </p:txBody>
      </p:sp>
      <p:sp>
        <p:nvSpPr>
          <p:cNvPr id="252933" name="Rectangle 5"/>
          <p:cNvSpPr>
            <a:spLocks noGrp="1" noChangeArrowheads="1"/>
          </p:cNvSpPr>
          <p:nvPr>
            <p:ph idx="1"/>
          </p:nvPr>
        </p:nvSpPr>
        <p:spPr>
          <a:noFill/>
        </p:spPr>
        <p:txBody>
          <a:bodyPr/>
          <a:lstStyle/>
          <a:p>
            <a:pPr marL="0" indent="0">
              <a:lnSpc>
                <a:spcPct val="110000"/>
              </a:lnSpc>
              <a:buFont typeface="Wingdings" panose="05000000000000000000" pitchFamily="2" charset="2"/>
              <a:buNone/>
            </a:pPr>
            <a:r>
              <a:rPr lang="en-US" altLang="zh-CN" sz="2400" dirty="0"/>
              <a:t>For input : </a:t>
            </a:r>
            <a:r>
              <a:rPr lang="en-US" altLang="zh-CN" sz="2400" b="1" dirty="0">
                <a:solidFill>
                  <a:srgbClr val="FF0000"/>
                </a:solidFill>
              </a:rPr>
              <a:t>{</a:t>
            </a:r>
            <a:r>
              <a:rPr lang="en-US" altLang="zh-CN" sz="2400" b="1" dirty="0">
                <a:solidFill>
                  <a:srgbClr val="FF0000"/>
                </a:solidFill>
                <a:latin typeface="Times New Roman" panose="02020603050405020304"/>
              </a:rPr>
              <a:t>‘</a:t>
            </a:r>
            <a:r>
              <a:rPr lang="en-US" altLang="zh-CN" sz="2400" b="1" dirty="0">
                <a:solidFill>
                  <a:srgbClr val="FF0000"/>
                </a:solidFill>
              </a:rPr>
              <a:t>Jan</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Feb</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Mar</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Apr</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May</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Jun</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Jul</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Aug</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Sep</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Oct</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Nov</a:t>
            </a:r>
            <a:r>
              <a:rPr lang="en-US" altLang="zh-CN" sz="2400" b="1" dirty="0">
                <a:solidFill>
                  <a:srgbClr val="FF0000"/>
                </a:solidFill>
                <a:latin typeface="Times New Roman" panose="02020603050405020304"/>
              </a:rPr>
              <a:t>’</a:t>
            </a:r>
            <a:r>
              <a:rPr lang="en-US" altLang="zh-CN" sz="2400" b="1" dirty="0">
                <a:solidFill>
                  <a:srgbClr val="FF0000"/>
                </a:solidFill>
              </a:rPr>
              <a:t>, </a:t>
            </a:r>
            <a:r>
              <a:rPr lang="en-US" altLang="zh-CN" sz="2400" b="1" dirty="0">
                <a:solidFill>
                  <a:srgbClr val="FF0000"/>
                </a:solidFill>
                <a:latin typeface="Times New Roman" panose="02020603050405020304"/>
              </a:rPr>
              <a:t>‘</a:t>
            </a:r>
            <a:r>
              <a:rPr lang="en-US" altLang="zh-CN" sz="2400" b="1" dirty="0">
                <a:solidFill>
                  <a:srgbClr val="FF0000"/>
                </a:solidFill>
              </a:rPr>
              <a:t>Dec</a:t>
            </a:r>
            <a:r>
              <a:rPr lang="en-US" altLang="zh-CN" sz="2400" b="1" dirty="0">
                <a:solidFill>
                  <a:srgbClr val="FF0000"/>
                </a:solidFill>
                <a:latin typeface="Times New Roman" panose="02020603050405020304"/>
              </a:rPr>
              <a:t>’</a:t>
            </a:r>
            <a:r>
              <a:rPr lang="en-US" altLang="zh-CN" sz="2400" b="1" dirty="0">
                <a:solidFill>
                  <a:srgbClr val="FF0000"/>
                </a:solidFill>
              </a:rPr>
              <a:t>}</a:t>
            </a:r>
            <a:r>
              <a:rPr lang="en-US" altLang="zh-CN" sz="2400" dirty="0">
                <a:solidFill>
                  <a:srgbClr val="FF0000"/>
                </a:solidFill>
              </a:rPr>
              <a:t> </a:t>
            </a:r>
            <a:endParaRPr lang="en-US" altLang="zh-CN" sz="2400" dirty="0">
              <a:solidFill>
                <a:srgbClr val="FF0000"/>
              </a:solidFill>
            </a:endParaRPr>
          </a:p>
          <a:p>
            <a:pPr marL="514350" indent="-514350">
              <a:lnSpc>
                <a:spcPct val="110000"/>
              </a:lnSpc>
              <a:buFont typeface="+mj-ea"/>
              <a:buAutoNum type="circleNumDbPlain"/>
            </a:pPr>
            <a:r>
              <a:rPr lang="en-US" altLang="zh-CN" sz="2400" dirty="0"/>
              <a:t>Create a BST with the sequential input, and compute the ASL of the BST.</a:t>
            </a:r>
            <a:endParaRPr lang="en-US" altLang="zh-CN" sz="2400" dirty="0"/>
          </a:p>
          <a:p>
            <a:pPr marL="514350" indent="-514350">
              <a:lnSpc>
                <a:spcPct val="110000"/>
              </a:lnSpc>
              <a:buFont typeface="+mj-ea"/>
              <a:buAutoNum type="circleNumDbPlain"/>
            </a:pPr>
            <a:r>
              <a:rPr lang="en-US" altLang="zh-CN" sz="2400" dirty="0"/>
              <a:t>After sorting, draw out the binary decision tree and compute the ASL.</a:t>
            </a:r>
            <a:endParaRPr lang="en-US" altLang="zh-CN" sz="2400" dirty="0"/>
          </a:p>
          <a:p>
            <a:pPr marL="514350" indent="-514350">
              <a:lnSpc>
                <a:spcPct val="110000"/>
              </a:lnSpc>
              <a:buFont typeface="+mj-ea"/>
              <a:buAutoNum type="circleNumDbPlain"/>
            </a:pPr>
            <a:r>
              <a:rPr lang="en-US" altLang="zh-CN" sz="2400" dirty="0"/>
              <a:t>Setup a Balanced BST while inserting the node, and compute the ASL of the AVL.</a:t>
            </a:r>
            <a:endParaRPr lang="en-US" altLang="zh-CN" sz="2400" dirty="0"/>
          </a:p>
          <a:p>
            <a:pPr marL="514350" indent="-514350">
              <a:lnSpc>
                <a:spcPct val="110000"/>
              </a:lnSpc>
              <a:buFont typeface="+mj-ea"/>
              <a:buAutoNum type="circleNumDbPlain"/>
            </a:pPr>
            <a:r>
              <a:rPr lang="en-US" altLang="zh-CN" sz="2400" dirty="0"/>
              <a:t>Analyze the difference of ASL.</a:t>
            </a:r>
            <a:endParaRPr lang="en-US" altLang="zh-C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BST</a:t>
            </a:r>
            <a:endParaRPr lang="en-US" altLang="zh-CN">
              <a:solidFill>
                <a:schemeClr val="bg1"/>
              </a:solidFill>
              <a:effectLst>
                <a:outerShdw blurRad="38100" dist="25400" dir="5400000" algn="ctr" rotWithShape="0">
                  <a:srgbClr val="6E747A">
                    <a:alpha val="43000"/>
                  </a:srgbClr>
                </a:outerShdw>
              </a:effectLst>
            </a:endParaRPr>
          </a:p>
        </p:txBody>
      </p:sp>
      <p:sp>
        <p:nvSpPr>
          <p:cNvPr id="285700" name="Oval 4"/>
          <p:cNvSpPr>
            <a:spLocks noChangeArrowheads="1"/>
          </p:cNvSpPr>
          <p:nvPr/>
        </p:nvSpPr>
        <p:spPr bwMode="auto">
          <a:xfrm>
            <a:off x="3194447" y="202525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Jan</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sp>
        <p:nvSpPr>
          <p:cNvPr id="285701" name="Oval 5"/>
          <p:cNvSpPr>
            <a:spLocks noChangeArrowheads="1"/>
          </p:cNvSpPr>
          <p:nvPr/>
        </p:nvSpPr>
        <p:spPr bwMode="auto">
          <a:xfrm>
            <a:off x="2789635" y="264556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Feb</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02" name="AutoShape 6"/>
          <p:cNvCxnSpPr>
            <a:cxnSpLocks noChangeShapeType="1"/>
            <a:stCxn id="285700" idx="3"/>
            <a:endCxn id="285701" idx="0"/>
          </p:cNvCxnSpPr>
          <p:nvPr/>
        </p:nvCxnSpPr>
        <p:spPr bwMode="auto">
          <a:xfrm flipH="1">
            <a:off x="2978349" y="2347409"/>
            <a:ext cx="271371" cy="29816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03" name="Oval 7"/>
          <p:cNvSpPr>
            <a:spLocks noChangeArrowheads="1"/>
          </p:cNvSpPr>
          <p:nvPr/>
        </p:nvSpPr>
        <p:spPr bwMode="auto">
          <a:xfrm>
            <a:off x="3600450"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Mar</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04" name="AutoShape 8"/>
          <p:cNvCxnSpPr>
            <a:cxnSpLocks noChangeShapeType="1"/>
            <a:stCxn id="285700" idx="5"/>
            <a:endCxn id="285703" idx="0"/>
          </p:cNvCxnSpPr>
          <p:nvPr/>
        </p:nvCxnSpPr>
        <p:spPr bwMode="auto">
          <a:xfrm>
            <a:off x="3516602" y="2347409"/>
            <a:ext cx="272562"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14" name="Oval 18"/>
          <p:cNvSpPr>
            <a:spLocks noChangeArrowheads="1"/>
          </p:cNvSpPr>
          <p:nvPr/>
        </p:nvSpPr>
        <p:spPr bwMode="auto">
          <a:xfrm>
            <a:off x="2412206" y="329326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Apr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5715" name="AutoShape 19"/>
          <p:cNvCxnSpPr>
            <a:cxnSpLocks noChangeShapeType="1"/>
            <a:stCxn id="285701" idx="3"/>
            <a:endCxn id="285714" idx="0"/>
          </p:cNvCxnSpPr>
          <p:nvPr/>
        </p:nvCxnSpPr>
        <p:spPr bwMode="auto">
          <a:xfrm flipH="1">
            <a:off x="2600921" y="2967725"/>
            <a:ext cx="243987" cy="3255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16" name="Oval 20"/>
          <p:cNvSpPr>
            <a:spLocks noChangeArrowheads="1"/>
          </p:cNvSpPr>
          <p:nvPr/>
        </p:nvSpPr>
        <p:spPr bwMode="auto">
          <a:xfrm>
            <a:off x="3924300"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May</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17" name="AutoShape 21"/>
          <p:cNvCxnSpPr>
            <a:cxnSpLocks noChangeShapeType="1"/>
            <a:stCxn id="285703" idx="5"/>
            <a:endCxn id="285716" idx="0"/>
          </p:cNvCxnSpPr>
          <p:nvPr/>
        </p:nvCxnSpPr>
        <p:spPr bwMode="auto">
          <a:xfrm>
            <a:off x="3923110" y="2969419"/>
            <a:ext cx="19050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18" name="Oval 22"/>
          <p:cNvSpPr>
            <a:spLocks noChangeArrowheads="1"/>
          </p:cNvSpPr>
          <p:nvPr/>
        </p:nvSpPr>
        <p:spPr bwMode="auto">
          <a:xfrm>
            <a:off x="3276600"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Jun</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19" name="AutoShape 23"/>
          <p:cNvCxnSpPr>
            <a:cxnSpLocks noChangeShapeType="1"/>
            <a:stCxn id="285703" idx="3"/>
            <a:endCxn id="285718" idx="0"/>
          </p:cNvCxnSpPr>
          <p:nvPr/>
        </p:nvCxnSpPr>
        <p:spPr bwMode="auto">
          <a:xfrm flipH="1">
            <a:off x="3465910" y="2969419"/>
            <a:ext cx="18930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0" name="Oval 24"/>
          <p:cNvSpPr>
            <a:spLocks noChangeArrowheads="1"/>
          </p:cNvSpPr>
          <p:nvPr/>
        </p:nvSpPr>
        <p:spPr bwMode="auto">
          <a:xfrm>
            <a:off x="3546872" y="5264944"/>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Nov</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5721" name="AutoShape 25"/>
          <p:cNvCxnSpPr>
            <a:cxnSpLocks noChangeShapeType="1"/>
            <a:stCxn id="285722" idx="3"/>
            <a:endCxn id="285720" idx="0"/>
          </p:cNvCxnSpPr>
          <p:nvPr/>
        </p:nvCxnSpPr>
        <p:spPr bwMode="auto">
          <a:xfrm flipH="1">
            <a:off x="3735587" y="4940590"/>
            <a:ext cx="190409" cy="32435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2" name="Oval 26"/>
          <p:cNvSpPr>
            <a:spLocks noChangeArrowheads="1"/>
          </p:cNvSpPr>
          <p:nvPr/>
        </p:nvSpPr>
        <p:spPr bwMode="auto">
          <a:xfrm>
            <a:off x="3870722" y="4618435"/>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Oct</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23" name="AutoShape 27"/>
          <p:cNvCxnSpPr>
            <a:cxnSpLocks noChangeShapeType="1"/>
            <a:stCxn id="285724" idx="3"/>
            <a:endCxn id="285722" idx="0"/>
          </p:cNvCxnSpPr>
          <p:nvPr/>
        </p:nvCxnSpPr>
        <p:spPr bwMode="auto">
          <a:xfrm flipH="1">
            <a:off x="4060031" y="4319588"/>
            <a:ext cx="188119"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4" name="Oval 28"/>
          <p:cNvSpPr>
            <a:spLocks noChangeArrowheads="1"/>
          </p:cNvSpPr>
          <p:nvPr/>
        </p:nvSpPr>
        <p:spPr bwMode="auto">
          <a:xfrm>
            <a:off x="4193381" y="3996929"/>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Sep</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25" name="AutoShape 29"/>
          <p:cNvCxnSpPr>
            <a:cxnSpLocks noChangeShapeType="1"/>
            <a:stCxn id="285716" idx="5"/>
            <a:endCxn id="285724" idx="0"/>
          </p:cNvCxnSpPr>
          <p:nvPr/>
        </p:nvCxnSpPr>
        <p:spPr bwMode="auto">
          <a:xfrm>
            <a:off x="4246960" y="3617119"/>
            <a:ext cx="135731" cy="37981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6" name="Oval 30"/>
          <p:cNvSpPr>
            <a:spLocks noChangeArrowheads="1"/>
          </p:cNvSpPr>
          <p:nvPr/>
        </p:nvSpPr>
        <p:spPr bwMode="auto">
          <a:xfrm>
            <a:off x="3003947"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Jul</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27" name="AutoShape 31"/>
          <p:cNvCxnSpPr>
            <a:cxnSpLocks noChangeShapeType="1"/>
            <a:stCxn id="285718" idx="3"/>
            <a:endCxn id="285726" idx="0"/>
          </p:cNvCxnSpPr>
          <p:nvPr/>
        </p:nvCxnSpPr>
        <p:spPr bwMode="auto">
          <a:xfrm flipH="1">
            <a:off x="3193256" y="3617119"/>
            <a:ext cx="138113" cy="37861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8" name="Oval 32"/>
          <p:cNvSpPr>
            <a:spLocks noChangeArrowheads="1"/>
          </p:cNvSpPr>
          <p:nvPr/>
        </p:nvSpPr>
        <p:spPr bwMode="auto">
          <a:xfrm>
            <a:off x="2519363"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Aug</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5729" name="AutoShape 33"/>
          <p:cNvCxnSpPr>
            <a:cxnSpLocks noChangeShapeType="1"/>
            <a:endCxn id="285728" idx="0"/>
          </p:cNvCxnSpPr>
          <p:nvPr/>
        </p:nvCxnSpPr>
        <p:spPr bwMode="auto">
          <a:xfrm>
            <a:off x="2572941" y="3670697"/>
            <a:ext cx="135136" cy="32504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30" name="Oval 34"/>
          <p:cNvSpPr>
            <a:spLocks noChangeArrowheads="1"/>
          </p:cNvSpPr>
          <p:nvPr/>
        </p:nvSpPr>
        <p:spPr bwMode="auto">
          <a:xfrm>
            <a:off x="2789635" y="4617244"/>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Dec</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5731" name="AutoShape 35"/>
          <p:cNvCxnSpPr>
            <a:cxnSpLocks noChangeShapeType="1"/>
            <a:stCxn id="285728" idx="5"/>
            <a:endCxn id="285730" idx="0"/>
          </p:cNvCxnSpPr>
          <p:nvPr/>
        </p:nvCxnSpPr>
        <p:spPr bwMode="auto">
          <a:xfrm>
            <a:off x="2841518" y="4317893"/>
            <a:ext cx="136831"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32" name="Text Box 36"/>
          <p:cNvSpPr txBox="1">
            <a:spLocks noChangeArrowheads="1"/>
          </p:cNvSpPr>
          <p:nvPr/>
        </p:nvSpPr>
        <p:spPr bwMode="auto">
          <a:xfrm>
            <a:off x="4961811" y="2034520"/>
            <a:ext cx="3456940" cy="39878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1+2*2+3*3+4*3+5*2+6*1 = 42</a:t>
            </a:r>
            <a:endParaRPr lang="en-US" altLang="zh-CN" sz="2000" dirty="0">
              <a:latin typeface="Times New Roman" panose="02020603050405020304" pitchFamily="18" charset="0"/>
              <a:cs typeface="Times New Roman" panose="02020603050405020304" pitchFamily="18" charset="0"/>
            </a:endParaRPr>
          </a:p>
        </p:txBody>
      </p:sp>
      <p:sp>
        <p:nvSpPr>
          <p:cNvPr id="285733" name="Text Box 37"/>
          <p:cNvSpPr txBox="1">
            <a:spLocks noChangeArrowheads="1"/>
          </p:cNvSpPr>
          <p:nvPr/>
        </p:nvSpPr>
        <p:spPr bwMode="auto">
          <a:xfrm>
            <a:off x="1899047" y="2065139"/>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1</a:t>
            </a:r>
            <a:endParaRPr lang="en-US" altLang="zh-CN" sz="1500" b="1">
              <a:latin typeface="Times New Roman" panose="02020603050405020304" pitchFamily="18" charset="0"/>
              <a:cs typeface="Times New Roman" panose="02020603050405020304" pitchFamily="18" charset="0"/>
            </a:endParaRPr>
          </a:p>
        </p:txBody>
      </p:sp>
      <p:sp>
        <p:nvSpPr>
          <p:cNvPr id="285734" name="Text Box 38"/>
          <p:cNvSpPr txBox="1">
            <a:spLocks noChangeArrowheads="1"/>
          </p:cNvSpPr>
          <p:nvPr/>
        </p:nvSpPr>
        <p:spPr bwMode="auto">
          <a:xfrm>
            <a:off x="1899047" y="2685455"/>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2</a:t>
            </a:r>
            <a:endParaRPr lang="en-US" altLang="zh-CN" sz="1500" b="1">
              <a:latin typeface="Times New Roman" panose="02020603050405020304" pitchFamily="18" charset="0"/>
              <a:cs typeface="Times New Roman" panose="02020603050405020304" pitchFamily="18" charset="0"/>
            </a:endParaRPr>
          </a:p>
        </p:txBody>
      </p:sp>
      <p:sp>
        <p:nvSpPr>
          <p:cNvPr id="285735" name="Text Box 39"/>
          <p:cNvSpPr txBox="1">
            <a:spLocks noChangeArrowheads="1"/>
          </p:cNvSpPr>
          <p:nvPr/>
        </p:nvSpPr>
        <p:spPr bwMode="auto">
          <a:xfrm>
            <a:off x="1899047" y="3333155"/>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3</a:t>
            </a:r>
            <a:endParaRPr lang="en-US" altLang="zh-CN" sz="1500" b="1">
              <a:latin typeface="Times New Roman" panose="02020603050405020304" pitchFamily="18" charset="0"/>
              <a:cs typeface="Times New Roman" panose="02020603050405020304" pitchFamily="18" charset="0"/>
            </a:endParaRPr>
          </a:p>
        </p:txBody>
      </p:sp>
      <p:sp>
        <p:nvSpPr>
          <p:cNvPr id="285736" name="Text Box 40"/>
          <p:cNvSpPr txBox="1">
            <a:spLocks noChangeArrowheads="1"/>
          </p:cNvSpPr>
          <p:nvPr/>
        </p:nvSpPr>
        <p:spPr bwMode="auto">
          <a:xfrm>
            <a:off x="1899047" y="4035624"/>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4</a:t>
            </a:r>
            <a:endParaRPr lang="en-US" altLang="zh-CN" sz="1500" b="1">
              <a:latin typeface="Times New Roman" panose="02020603050405020304" pitchFamily="18" charset="0"/>
              <a:cs typeface="Times New Roman" panose="02020603050405020304" pitchFamily="18" charset="0"/>
            </a:endParaRPr>
          </a:p>
        </p:txBody>
      </p:sp>
      <p:sp>
        <p:nvSpPr>
          <p:cNvPr id="285737" name="Text Box 41"/>
          <p:cNvSpPr txBox="1">
            <a:spLocks noChangeArrowheads="1"/>
          </p:cNvSpPr>
          <p:nvPr/>
        </p:nvSpPr>
        <p:spPr bwMode="auto">
          <a:xfrm>
            <a:off x="1897856" y="465713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5</a:t>
            </a:r>
            <a:endParaRPr lang="en-US" altLang="zh-CN" sz="1500" b="1">
              <a:latin typeface="Times New Roman" panose="02020603050405020304" pitchFamily="18" charset="0"/>
              <a:cs typeface="Times New Roman" panose="02020603050405020304" pitchFamily="18" charset="0"/>
            </a:endParaRPr>
          </a:p>
        </p:txBody>
      </p:sp>
      <p:sp>
        <p:nvSpPr>
          <p:cNvPr id="285738" name="Text Box 42"/>
          <p:cNvSpPr txBox="1">
            <a:spLocks noChangeArrowheads="1"/>
          </p:cNvSpPr>
          <p:nvPr/>
        </p:nvSpPr>
        <p:spPr bwMode="auto">
          <a:xfrm>
            <a:off x="1897856" y="530483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6</a:t>
            </a:r>
            <a:endParaRPr lang="en-US" altLang="zh-CN" sz="1500" b="1">
              <a:latin typeface="Times New Roman" panose="02020603050405020304" pitchFamily="18" charset="0"/>
              <a:cs typeface="Times New Roman" panose="02020603050405020304" pitchFamily="18" charset="0"/>
            </a:endParaRPr>
          </a:p>
        </p:txBody>
      </p: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5700"/>
                                        </p:tgtEl>
                                        <p:attrNameLst>
                                          <p:attrName>style.visibility</p:attrName>
                                        </p:attrNameLst>
                                      </p:cBhvr>
                                      <p:to>
                                        <p:strVal val="visible"/>
                                      </p:to>
                                    </p:set>
                                    <p:animEffect transition="in" filter="fade">
                                      <p:cBhvr>
                                        <p:cTn id="7" dur="500"/>
                                        <p:tgtEl>
                                          <p:spTgt spid="2857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5702"/>
                                        </p:tgtEl>
                                        <p:attrNameLst>
                                          <p:attrName>style.visibility</p:attrName>
                                        </p:attrNameLst>
                                      </p:cBhvr>
                                      <p:to>
                                        <p:strVal val="visible"/>
                                      </p:to>
                                    </p:set>
                                    <p:animEffect transition="in" filter="fade">
                                      <p:cBhvr>
                                        <p:cTn id="12" dur="500"/>
                                        <p:tgtEl>
                                          <p:spTgt spid="28570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5701"/>
                                        </p:tgtEl>
                                        <p:attrNameLst>
                                          <p:attrName>style.visibility</p:attrName>
                                        </p:attrNameLst>
                                      </p:cBhvr>
                                      <p:to>
                                        <p:strVal val="visible"/>
                                      </p:to>
                                    </p:set>
                                    <p:animEffect transition="in" filter="fade">
                                      <p:cBhvr>
                                        <p:cTn id="15" dur="500"/>
                                        <p:tgtEl>
                                          <p:spTgt spid="28570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5704"/>
                                        </p:tgtEl>
                                        <p:attrNameLst>
                                          <p:attrName>style.visibility</p:attrName>
                                        </p:attrNameLst>
                                      </p:cBhvr>
                                      <p:to>
                                        <p:strVal val="visible"/>
                                      </p:to>
                                    </p:set>
                                    <p:animEffect transition="in" filter="fade">
                                      <p:cBhvr>
                                        <p:cTn id="20" dur="500"/>
                                        <p:tgtEl>
                                          <p:spTgt spid="28570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5703"/>
                                        </p:tgtEl>
                                        <p:attrNameLst>
                                          <p:attrName>style.visibility</p:attrName>
                                        </p:attrNameLst>
                                      </p:cBhvr>
                                      <p:to>
                                        <p:strVal val="visible"/>
                                      </p:to>
                                    </p:set>
                                    <p:animEffect transition="in" filter="fade">
                                      <p:cBhvr>
                                        <p:cTn id="23" dur="500"/>
                                        <p:tgtEl>
                                          <p:spTgt spid="28570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5715"/>
                                        </p:tgtEl>
                                        <p:attrNameLst>
                                          <p:attrName>style.visibility</p:attrName>
                                        </p:attrNameLst>
                                      </p:cBhvr>
                                      <p:to>
                                        <p:strVal val="visible"/>
                                      </p:to>
                                    </p:set>
                                    <p:animEffect transition="in" filter="fade">
                                      <p:cBhvr>
                                        <p:cTn id="28" dur="500"/>
                                        <p:tgtEl>
                                          <p:spTgt spid="2857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5714"/>
                                        </p:tgtEl>
                                        <p:attrNameLst>
                                          <p:attrName>style.visibility</p:attrName>
                                        </p:attrNameLst>
                                      </p:cBhvr>
                                      <p:to>
                                        <p:strVal val="visible"/>
                                      </p:to>
                                    </p:set>
                                    <p:animEffect transition="in" filter="fade">
                                      <p:cBhvr>
                                        <p:cTn id="31" dur="500"/>
                                        <p:tgtEl>
                                          <p:spTgt spid="2857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5717"/>
                                        </p:tgtEl>
                                        <p:attrNameLst>
                                          <p:attrName>style.visibility</p:attrName>
                                        </p:attrNameLst>
                                      </p:cBhvr>
                                      <p:to>
                                        <p:strVal val="visible"/>
                                      </p:to>
                                    </p:set>
                                    <p:animEffect transition="in" filter="fade">
                                      <p:cBhvr>
                                        <p:cTn id="36" dur="500"/>
                                        <p:tgtEl>
                                          <p:spTgt spid="2857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5716"/>
                                        </p:tgtEl>
                                        <p:attrNameLst>
                                          <p:attrName>style.visibility</p:attrName>
                                        </p:attrNameLst>
                                      </p:cBhvr>
                                      <p:to>
                                        <p:strVal val="visible"/>
                                      </p:to>
                                    </p:set>
                                    <p:animEffect transition="in" filter="fade">
                                      <p:cBhvr>
                                        <p:cTn id="39" dur="500"/>
                                        <p:tgtEl>
                                          <p:spTgt spid="2857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85719"/>
                                        </p:tgtEl>
                                        <p:attrNameLst>
                                          <p:attrName>style.visibility</p:attrName>
                                        </p:attrNameLst>
                                      </p:cBhvr>
                                      <p:to>
                                        <p:strVal val="visible"/>
                                      </p:to>
                                    </p:set>
                                    <p:animEffect transition="in" filter="fade">
                                      <p:cBhvr>
                                        <p:cTn id="44" dur="500"/>
                                        <p:tgtEl>
                                          <p:spTgt spid="2857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5718"/>
                                        </p:tgtEl>
                                        <p:attrNameLst>
                                          <p:attrName>style.visibility</p:attrName>
                                        </p:attrNameLst>
                                      </p:cBhvr>
                                      <p:to>
                                        <p:strVal val="visible"/>
                                      </p:to>
                                    </p:set>
                                    <p:animEffect transition="in" filter="fade">
                                      <p:cBhvr>
                                        <p:cTn id="47" dur="500"/>
                                        <p:tgtEl>
                                          <p:spTgt spid="2857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5727"/>
                                        </p:tgtEl>
                                        <p:attrNameLst>
                                          <p:attrName>style.visibility</p:attrName>
                                        </p:attrNameLst>
                                      </p:cBhvr>
                                      <p:to>
                                        <p:strVal val="visible"/>
                                      </p:to>
                                    </p:set>
                                    <p:animEffect transition="in" filter="fade">
                                      <p:cBhvr>
                                        <p:cTn id="52" dur="500"/>
                                        <p:tgtEl>
                                          <p:spTgt spid="2857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5726"/>
                                        </p:tgtEl>
                                        <p:attrNameLst>
                                          <p:attrName>style.visibility</p:attrName>
                                        </p:attrNameLst>
                                      </p:cBhvr>
                                      <p:to>
                                        <p:strVal val="visible"/>
                                      </p:to>
                                    </p:set>
                                    <p:animEffect transition="in" filter="fade">
                                      <p:cBhvr>
                                        <p:cTn id="55" dur="500"/>
                                        <p:tgtEl>
                                          <p:spTgt spid="2857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85729"/>
                                        </p:tgtEl>
                                        <p:attrNameLst>
                                          <p:attrName>style.visibility</p:attrName>
                                        </p:attrNameLst>
                                      </p:cBhvr>
                                      <p:to>
                                        <p:strVal val="visible"/>
                                      </p:to>
                                    </p:set>
                                    <p:animEffect transition="in" filter="fade">
                                      <p:cBhvr>
                                        <p:cTn id="60" dur="500"/>
                                        <p:tgtEl>
                                          <p:spTgt spid="2857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5728"/>
                                        </p:tgtEl>
                                        <p:attrNameLst>
                                          <p:attrName>style.visibility</p:attrName>
                                        </p:attrNameLst>
                                      </p:cBhvr>
                                      <p:to>
                                        <p:strVal val="visible"/>
                                      </p:to>
                                    </p:set>
                                    <p:animEffect transition="in" filter="fade">
                                      <p:cBhvr>
                                        <p:cTn id="63" dur="500"/>
                                        <p:tgtEl>
                                          <p:spTgt spid="28572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85725"/>
                                        </p:tgtEl>
                                        <p:attrNameLst>
                                          <p:attrName>style.visibility</p:attrName>
                                        </p:attrNameLst>
                                      </p:cBhvr>
                                      <p:to>
                                        <p:strVal val="visible"/>
                                      </p:to>
                                    </p:set>
                                    <p:animEffect transition="in" filter="fade">
                                      <p:cBhvr>
                                        <p:cTn id="68" dur="500"/>
                                        <p:tgtEl>
                                          <p:spTgt spid="2857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85724"/>
                                        </p:tgtEl>
                                        <p:attrNameLst>
                                          <p:attrName>style.visibility</p:attrName>
                                        </p:attrNameLst>
                                      </p:cBhvr>
                                      <p:to>
                                        <p:strVal val="visible"/>
                                      </p:to>
                                    </p:set>
                                    <p:animEffect transition="in" filter="fade">
                                      <p:cBhvr>
                                        <p:cTn id="71" dur="500"/>
                                        <p:tgtEl>
                                          <p:spTgt spid="28572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85723"/>
                                        </p:tgtEl>
                                        <p:attrNameLst>
                                          <p:attrName>style.visibility</p:attrName>
                                        </p:attrNameLst>
                                      </p:cBhvr>
                                      <p:to>
                                        <p:strVal val="visible"/>
                                      </p:to>
                                    </p:set>
                                    <p:animEffect transition="in" filter="fade">
                                      <p:cBhvr>
                                        <p:cTn id="76" dur="500"/>
                                        <p:tgtEl>
                                          <p:spTgt spid="28572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5722"/>
                                        </p:tgtEl>
                                        <p:attrNameLst>
                                          <p:attrName>style.visibility</p:attrName>
                                        </p:attrNameLst>
                                      </p:cBhvr>
                                      <p:to>
                                        <p:strVal val="visible"/>
                                      </p:to>
                                    </p:set>
                                    <p:animEffect transition="in" filter="fade">
                                      <p:cBhvr>
                                        <p:cTn id="79" dur="500"/>
                                        <p:tgtEl>
                                          <p:spTgt spid="28572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85721"/>
                                        </p:tgtEl>
                                        <p:attrNameLst>
                                          <p:attrName>style.visibility</p:attrName>
                                        </p:attrNameLst>
                                      </p:cBhvr>
                                      <p:to>
                                        <p:strVal val="visible"/>
                                      </p:to>
                                    </p:set>
                                    <p:animEffect transition="in" filter="fade">
                                      <p:cBhvr>
                                        <p:cTn id="84" dur="500"/>
                                        <p:tgtEl>
                                          <p:spTgt spid="28572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5720"/>
                                        </p:tgtEl>
                                        <p:attrNameLst>
                                          <p:attrName>style.visibility</p:attrName>
                                        </p:attrNameLst>
                                      </p:cBhvr>
                                      <p:to>
                                        <p:strVal val="visible"/>
                                      </p:to>
                                    </p:set>
                                    <p:animEffect transition="in" filter="fade">
                                      <p:cBhvr>
                                        <p:cTn id="87" dur="500"/>
                                        <p:tgtEl>
                                          <p:spTgt spid="28572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85731"/>
                                        </p:tgtEl>
                                        <p:attrNameLst>
                                          <p:attrName>style.visibility</p:attrName>
                                        </p:attrNameLst>
                                      </p:cBhvr>
                                      <p:to>
                                        <p:strVal val="visible"/>
                                      </p:to>
                                    </p:set>
                                    <p:animEffect transition="in" filter="fade">
                                      <p:cBhvr>
                                        <p:cTn id="92" dur="500"/>
                                        <p:tgtEl>
                                          <p:spTgt spid="2857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5730"/>
                                        </p:tgtEl>
                                        <p:attrNameLst>
                                          <p:attrName>style.visibility</p:attrName>
                                        </p:attrNameLst>
                                      </p:cBhvr>
                                      <p:to>
                                        <p:strVal val="visible"/>
                                      </p:to>
                                    </p:set>
                                    <p:animEffect transition="in" filter="fade">
                                      <p:cBhvr>
                                        <p:cTn id="95" dur="500"/>
                                        <p:tgtEl>
                                          <p:spTgt spid="285730"/>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85732"/>
                                        </p:tgtEl>
                                        <p:attrNameLst>
                                          <p:attrName>style.visibility</p:attrName>
                                        </p:attrNameLst>
                                      </p:cBhvr>
                                      <p:to>
                                        <p:strVal val="visible"/>
                                      </p:to>
                                    </p:set>
                                    <p:animEffect transition="in" filter="fade">
                                      <p:cBhvr>
                                        <p:cTn id="100" dur="1000"/>
                                        <p:tgtEl>
                                          <p:spTgt spid="285732"/>
                                        </p:tgtEl>
                                      </p:cBhvr>
                                    </p:animEffect>
                                    <p:anim calcmode="lin" valueType="num">
                                      <p:cBhvr>
                                        <p:cTn id="101" dur="1000" fill="hold"/>
                                        <p:tgtEl>
                                          <p:spTgt spid="285732"/>
                                        </p:tgtEl>
                                        <p:attrNameLst>
                                          <p:attrName>ppt_x</p:attrName>
                                        </p:attrNameLst>
                                      </p:cBhvr>
                                      <p:tavLst>
                                        <p:tav tm="0">
                                          <p:val>
                                            <p:strVal val="#ppt_x"/>
                                          </p:val>
                                        </p:tav>
                                        <p:tav tm="100000">
                                          <p:val>
                                            <p:strVal val="#ppt_x"/>
                                          </p:val>
                                        </p:tav>
                                      </p:tavLst>
                                    </p:anim>
                                    <p:anim calcmode="lin" valueType="num">
                                      <p:cBhvr>
                                        <p:cTn id="102" dur="1000" fill="hold"/>
                                        <p:tgtEl>
                                          <p:spTgt spid="2857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0" grpId="0" bldLvl="0" animBg="1"/>
      <p:bldP spid="285701" grpId="0" bldLvl="0" animBg="1"/>
      <p:bldP spid="285703" grpId="0" bldLvl="0" animBg="1"/>
      <p:bldP spid="285714" grpId="0" bldLvl="0" animBg="1"/>
      <p:bldP spid="285716" grpId="0" bldLvl="0" animBg="1"/>
      <p:bldP spid="285718" grpId="0" bldLvl="0" animBg="1"/>
      <p:bldP spid="285720" grpId="0" bldLvl="0" animBg="1"/>
      <p:bldP spid="285722" grpId="0" bldLvl="0" animBg="1"/>
      <p:bldP spid="285724" grpId="0" bldLvl="0" animBg="1"/>
      <p:bldP spid="285726" grpId="0" bldLvl="0" animBg="1"/>
      <p:bldP spid="285728" grpId="0" bldLvl="0" animBg="1"/>
      <p:bldP spid="285730" grpId="0" bldLvl="0" animBg="1"/>
      <p:bldP spid="28573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AVL tree</a:t>
            </a:r>
            <a:endParaRPr lang="zh-CN" altLang="en-US"/>
          </a:p>
        </p:txBody>
      </p:sp>
      <p:sp>
        <p:nvSpPr>
          <p:cNvPr id="50" name="Oval 5"/>
          <p:cNvSpPr>
            <a:spLocks noChangeArrowheads="1"/>
          </p:cNvSpPr>
          <p:nvPr/>
        </p:nvSpPr>
        <p:spPr bwMode="auto">
          <a:xfrm>
            <a:off x="5544108" y="264515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Feb</a:t>
            </a:r>
            <a:endParaRPr lang="en-US" altLang="zh-CN" sz="1350" b="1" dirty="0">
              <a:solidFill>
                <a:srgbClr val="FFFF00"/>
              </a:solidFill>
            </a:endParaRPr>
          </a:p>
        </p:txBody>
      </p:sp>
      <p:sp>
        <p:nvSpPr>
          <p:cNvPr id="286724" name="Oval 4"/>
          <p:cNvSpPr>
            <a:spLocks noChangeArrowheads="1"/>
          </p:cNvSpPr>
          <p:nvPr/>
        </p:nvSpPr>
        <p:spPr bwMode="auto">
          <a:xfrm>
            <a:off x="2653904" y="202525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Jan</a:t>
            </a:r>
            <a:endParaRPr lang="en-US" altLang="zh-CN" sz="1350" b="1" dirty="0">
              <a:solidFill>
                <a:srgbClr val="FFFF00"/>
              </a:solidFill>
            </a:endParaRPr>
          </a:p>
        </p:txBody>
      </p:sp>
      <p:sp>
        <p:nvSpPr>
          <p:cNvPr id="286725" name="Oval 5"/>
          <p:cNvSpPr>
            <a:spLocks noChangeArrowheads="1"/>
          </p:cNvSpPr>
          <p:nvPr/>
        </p:nvSpPr>
        <p:spPr bwMode="auto">
          <a:xfrm>
            <a:off x="2249091" y="264556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Feb</a:t>
            </a:r>
            <a:endParaRPr lang="en-US" altLang="zh-CN" sz="1350" b="1" dirty="0">
              <a:solidFill>
                <a:srgbClr val="FFFF00"/>
              </a:solidFill>
            </a:endParaRPr>
          </a:p>
        </p:txBody>
      </p:sp>
      <p:cxnSp>
        <p:nvCxnSpPr>
          <p:cNvPr id="286726" name="AutoShape 6"/>
          <p:cNvCxnSpPr>
            <a:cxnSpLocks noChangeShapeType="1"/>
            <a:stCxn id="286724" idx="3"/>
            <a:endCxn id="286725" idx="0"/>
          </p:cNvCxnSpPr>
          <p:nvPr/>
        </p:nvCxnSpPr>
        <p:spPr bwMode="auto">
          <a:xfrm flipH="1">
            <a:off x="2438400" y="2347913"/>
            <a:ext cx="270272" cy="28336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27" name="Oval 7"/>
          <p:cNvSpPr>
            <a:spLocks noChangeArrowheads="1"/>
          </p:cNvSpPr>
          <p:nvPr/>
        </p:nvSpPr>
        <p:spPr bwMode="auto">
          <a:xfrm>
            <a:off x="3059906"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286728" name="AutoShape 8"/>
          <p:cNvCxnSpPr>
            <a:cxnSpLocks noChangeShapeType="1"/>
            <a:stCxn id="286724" idx="5"/>
            <a:endCxn id="286727" idx="0"/>
          </p:cNvCxnSpPr>
          <p:nvPr/>
        </p:nvCxnSpPr>
        <p:spPr bwMode="auto">
          <a:xfrm>
            <a:off x="2976563" y="2347913"/>
            <a:ext cx="272654"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29" name="Oval 9"/>
          <p:cNvSpPr>
            <a:spLocks noChangeArrowheads="1"/>
          </p:cNvSpPr>
          <p:nvPr/>
        </p:nvSpPr>
        <p:spPr bwMode="auto">
          <a:xfrm>
            <a:off x="1871663" y="329326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286730" name="AutoShape 10"/>
          <p:cNvCxnSpPr>
            <a:cxnSpLocks noChangeShapeType="1"/>
            <a:stCxn id="286725" idx="3"/>
            <a:endCxn id="286729" idx="0"/>
          </p:cNvCxnSpPr>
          <p:nvPr/>
        </p:nvCxnSpPr>
        <p:spPr bwMode="auto">
          <a:xfrm flipH="1">
            <a:off x="2060972" y="2982516"/>
            <a:ext cx="242888" cy="31075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31" name="Oval 11"/>
          <p:cNvSpPr>
            <a:spLocks noChangeArrowheads="1"/>
          </p:cNvSpPr>
          <p:nvPr/>
        </p:nvSpPr>
        <p:spPr bwMode="auto">
          <a:xfrm>
            <a:off x="3383756"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May</a:t>
            </a:r>
            <a:endParaRPr lang="en-US" altLang="zh-CN" sz="1350" b="1">
              <a:solidFill>
                <a:srgbClr val="FFFF00"/>
              </a:solidFill>
            </a:endParaRPr>
          </a:p>
        </p:txBody>
      </p:sp>
      <p:cxnSp>
        <p:nvCxnSpPr>
          <p:cNvPr id="286732" name="AutoShape 12"/>
          <p:cNvCxnSpPr>
            <a:cxnSpLocks noChangeShapeType="1"/>
            <a:stCxn id="286727" idx="5"/>
            <a:endCxn id="286731" idx="0"/>
          </p:cNvCxnSpPr>
          <p:nvPr/>
        </p:nvCxnSpPr>
        <p:spPr bwMode="auto">
          <a:xfrm>
            <a:off x="3382566" y="2969419"/>
            <a:ext cx="19050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33" name="Oval 13"/>
          <p:cNvSpPr>
            <a:spLocks noChangeArrowheads="1"/>
          </p:cNvSpPr>
          <p:nvPr/>
        </p:nvSpPr>
        <p:spPr bwMode="auto">
          <a:xfrm>
            <a:off x="2736056"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286734" name="AutoShape 14"/>
          <p:cNvCxnSpPr>
            <a:cxnSpLocks noChangeShapeType="1"/>
            <a:stCxn id="286727" idx="3"/>
            <a:endCxn id="286733" idx="0"/>
          </p:cNvCxnSpPr>
          <p:nvPr/>
        </p:nvCxnSpPr>
        <p:spPr bwMode="auto">
          <a:xfrm flipH="1">
            <a:off x="2925366" y="2969419"/>
            <a:ext cx="18930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41" name="Oval 21"/>
          <p:cNvSpPr>
            <a:spLocks noChangeArrowheads="1"/>
          </p:cNvSpPr>
          <p:nvPr/>
        </p:nvSpPr>
        <p:spPr bwMode="auto">
          <a:xfrm>
            <a:off x="2463404"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Jul</a:t>
            </a:r>
            <a:endParaRPr lang="en-US" altLang="zh-CN" sz="1350" b="1">
              <a:solidFill>
                <a:srgbClr val="FFFF00"/>
              </a:solidFill>
            </a:endParaRPr>
          </a:p>
        </p:txBody>
      </p:sp>
      <p:cxnSp>
        <p:nvCxnSpPr>
          <p:cNvPr id="286742" name="AutoShape 22"/>
          <p:cNvCxnSpPr>
            <a:cxnSpLocks noChangeShapeType="1"/>
            <a:stCxn id="286733" idx="3"/>
            <a:endCxn id="286741" idx="0"/>
          </p:cNvCxnSpPr>
          <p:nvPr/>
        </p:nvCxnSpPr>
        <p:spPr bwMode="auto">
          <a:xfrm flipH="1">
            <a:off x="2652713" y="3617119"/>
            <a:ext cx="138113" cy="37861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Oval 4"/>
          <p:cNvSpPr>
            <a:spLocks noChangeArrowheads="1"/>
          </p:cNvSpPr>
          <p:nvPr/>
        </p:nvSpPr>
        <p:spPr bwMode="auto">
          <a:xfrm>
            <a:off x="5948307" y="202484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Jan</a:t>
            </a:r>
            <a:endParaRPr lang="en-US" altLang="zh-CN" sz="1350" b="1">
              <a:solidFill>
                <a:srgbClr val="FFFF00"/>
              </a:solidFill>
            </a:endParaRPr>
          </a:p>
        </p:txBody>
      </p:sp>
      <p:sp>
        <p:nvSpPr>
          <p:cNvPr id="36" name="Oval 5"/>
          <p:cNvSpPr>
            <a:spLocks noChangeArrowheads="1"/>
          </p:cNvSpPr>
          <p:nvPr/>
        </p:nvSpPr>
        <p:spPr bwMode="auto">
          <a:xfrm>
            <a:off x="5543495" y="2645159"/>
            <a:ext cx="377428" cy="377429"/>
          </a:xfrm>
          <a:prstGeom prst="ellipse">
            <a:avLst/>
          </a:prstGeom>
          <a:solidFill>
            <a:srgbClr val="FF0000"/>
          </a:solidFill>
          <a:ln w="38100">
            <a:solidFill>
              <a:srgbClr val="FFFF00"/>
            </a:solidFill>
            <a:round/>
          </a:ln>
          <a:effectLst/>
        </p:spPr>
        <p:txBody>
          <a:bodyPr wrap="none" anchor="ctr"/>
          <a:lstStyle/>
          <a:p>
            <a:pPr algn="ctr"/>
            <a:r>
              <a:rPr lang="en-US" altLang="zh-CN" sz="1350" b="1" dirty="0">
                <a:solidFill>
                  <a:srgbClr val="FFFF00"/>
                </a:solidFill>
              </a:rPr>
              <a:t>Feb</a:t>
            </a:r>
            <a:endParaRPr lang="en-US" altLang="zh-CN" sz="1350" b="1" dirty="0">
              <a:solidFill>
                <a:srgbClr val="FFFF00"/>
              </a:solidFill>
            </a:endParaRPr>
          </a:p>
        </p:txBody>
      </p:sp>
      <p:cxnSp>
        <p:nvCxnSpPr>
          <p:cNvPr id="37" name="AutoShape 6"/>
          <p:cNvCxnSpPr>
            <a:cxnSpLocks noChangeShapeType="1"/>
            <a:stCxn id="35" idx="3"/>
            <a:endCxn id="36" idx="0"/>
          </p:cNvCxnSpPr>
          <p:nvPr/>
        </p:nvCxnSpPr>
        <p:spPr bwMode="auto">
          <a:xfrm flipH="1">
            <a:off x="5732209" y="2346999"/>
            <a:ext cx="271371" cy="29816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Oval 7"/>
          <p:cNvSpPr>
            <a:spLocks noChangeArrowheads="1"/>
          </p:cNvSpPr>
          <p:nvPr/>
        </p:nvSpPr>
        <p:spPr bwMode="auto">
          <a:xfrm>
            <a:off x="6354310" y="26463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39" name="AutoShape 8"/>
          <p:cNvCxnSpPr>
            <a:cxnSpLocks noChangeShapeType="1"/>
            <a:stCxn id="35" idx="5"/>
            <a:endCxn id="38" idx="0"/>
          </p:cNvCxnSpPr>
          <p:nvPr/>
        </p:nvCxnSpPr>
        <p:spPr bwMode="auto">
          <a:xfrm>
            <a:off x="6270966" y="2347503"/>
            <a:ext cx="272654"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Oval 9"/>
          <p:cNvSpPr>
            <a:spLocks noChangeArrowheads="1"/>
          </p:cNvSpPr>
          <p:nvPr/>
        </p:nvSpPr>
        <p:spPr bwMode="auto">
          <a:xfrm>
            <a:off x="5166066" y="329285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41" name="AutoShape 10"/>
          <p:cNvCxnSpPr>
            <a:cxnSpLocks noChangeShapeType="1"/>
            <a:stCxn id="36" idx="3"/>
            <a:endCxn id="40" idx="0"/>
          </p:cNvCxnSpPr>
          <p:nvPr/>
        </p:nvCxnSpPr>
        <p:spPr bwMode="auto">
          <a:xfrm flipH="1">
            <a:off x="5354780" y="2967315"/>
            <a:ext cx="243987" cy="3255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Oval 11"/>
          <p:cNvSpPr>
            <a:spLocks noChangeArrowheads="1"/>
          </p:cNvSpPr>
          <p:nvPr/>
        </p:nvSpPr>
        <p:spPr bwMode="auto">
          <a:xfrm>
            <a:off x="6678160" y="32940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May</a:t>
            </a:r>
            <a:endParaRPr lang="en-US" altLang="zh-CN" sz="1350" b="1">
              <a:solidFill>
                <a:srgbClr val="FFFF00"/>
              </a:solidFill>
            </a:endParaRPr>
          </a:p>
        </p:txBody>
      </p:sp>
      <p:cxnSp>
        <p:nvCxnSpPr>
          <p:cNvPr id="43" name="AutoShape 12"/>
          <p:cNvCxnSpPr>
            <a:cxnSpLocks noChangeShapeType="1"/>
            <a:stCxn id="38" idx="5"/>
            <a:endCxn id="42" idx="0"/>
          </p:cNvCxnSpPr>
          <p:nvPr/>
        </p:nvCxnSpPr>
        <p:spPr bwMode="auto">
          <a:xfrm>
            <a:off x="6676970" y="2969009"/>
            <a:ext cx="19050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Oval 13"/>
          <p:cNvSpPr>
            <a:spLocks noChangeArrowheads="1"/>
          </p:cNvSpPr>
          <p:nvPr/>
        </p:nvSpPr>
        <p:spPr bwMode="auto">
          <a:xfrm>
            <a:off x="6030460" y="32940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45" name="AutoShape 14"/>
          <p:cNvCxnSpPr>
            <a:cxnSpLocks noChangeShapeType="1"/>
            <a:stCxn id="38" idx="3"/>
            <a:endCxn id="44" idx="0"/>
          </p:cNvCxnSpPr>
          <p:nvPr/>
        </p:nvCxnSpPr>
        <p:spPr bwMode="auto">
          <a:xfrm flipH="1">
            <a:off x="6219770" y="2969009"/>
            <a:ext cx="18930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Oval 21"/>
          <p:cNvSpPr>
            <a:spLocks noChangeArrowheads="1"/>
          </p:cNvSpPr>
          <p:nvPr/>
        </p:nvSpPr>
        <p:spPr bwMode="auto">
          <a:xfrm>
            <a:off x="5757807" y="399532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Jul</a:t>
            </a:r>
            <a:endParaRPr lang="en-US" altLang="zh-CN" sz="1350" b="1">
              <a:solidFill>
                <a:srgbClr val="FFFF00"/>
              </a:solidFill>
            </a:endParaRPr>
          </a:p>
        </p:txBody>
      </p:sp>
      <p:cxnSp>
        <p:nvCxnSpPr>
          <p:cNvPr id="47" name="AutoShape 22"/>
          <p:cNvCxnSpPr>
            <a:cxnSpLocks noChangeShapeType="1"/>
            <a:stCxn id="44" idx="3"/>
            <a:endCxn id="46" idx="0"/>
          </p:cNvCxnSpPr>
          <p:nvPr/>
        </p:nvCxnSpPr>
        <p:spPr bwMode="auto">
          <a:xfrm flipH="1">
            <a:off x="5947116" y="3616709"/>
            <a:ext cx="138113" cy="37861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Oval 23"/>
          <p:cNvSpPr>
            <a:spLocks noChangeArrowheads="1"/>
          </p:cNvSpPr>
          <p:nvPr/>
        </p:nvSpPr>
        <p:spPr bwMode="auto">
          <a:xfrm>
            <a:off x="5273222" y="399532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Aug</a:t>
            </a:r>
            <a:endParaRPr lang="en-US" altLang="zh-CN" sz="1350" b="1">
              <a:solidFill>
                <a:srgbClr val="FFFF00"/>
              </a:solidFill>
            </a:endParaRPr>
          </a:p>
        </p:txBody>
      </p:sp>
      <p:cxnSp>
        <p:nvCxnSpPr>
          <p:cNvPr id="49" name="AutoShape 24"/>
          <p:cNvCxnSpPr>
            <a:cxnSpLocks noChangeShapeType="1"/>
            <a:endCxn id="48" idx="0"/>
          </p:cNvCxnSpPr>
          <p:nvPr/>
        </p:nvCxnSpPr>
        <p:spPr bwMode="auto">
          <a:xfrm>
            <a:off x="5326801" y="3670288"/>
            <a:ext cx="135731" cy="32504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86724"/>
                                        </p:tgtEl>
                                        <p:attrNameLst>
                                          <p:attrName>style.visibility</p:attrName>
                                        </p:attrNameLst>
                                      </p:cBhvr>
                                      <p:to>
                                        <p:strVal val="visible"/>
                                      </p:to>
                                    </p:set>
                                    <p:animEffect transition="in" filter="fade">
                                      <p:cBhvr>
                                        <p:cTn id="7" dur="1000"/>
                                        <p:tgtEl>
                                          <p:spTgt spid="286724"/>
                                        </p:tgtEl>
                                      </p:cBhvr>
                                    </p:animEffect>
                                    <p:anim calcmode="lin" valueType="num">
                                      <p:cBhvr>
                                        <p:cTn id="8" dur="1000" fill="hold"/>
                                        <p:tgtEl>
                                          <p:spTgt spid="286724"/>
                                        </p:tgtEl>
                                        <p:attrNameLst>
                                          <p:attrName>ppt_x</p:attrName>
                                        </p:attrNameLst>
                                      </p:cBhvr>
                                      <p:tavLst>
                                        <p:tav tm="0">
                                          <p:val>
                                            <p:strVal val="#ppt_x"/>
                                          </p:val>
                                        </p:tav>
                                        <p:tav tm="100000">
                                          <p:val>
                                            <p:strVal val="#ppt_x"/>
                                          </p:val>
                                        </p:tav>
                                      </p:tavLst>
                                    </p:anim>
                                    <p:anim calcmode="lin" valueType="num">
                                      <p:cBhvr>
                                        <p:cTn id="9" dur="1000" fill="hold"/>
                                        <p:tgtEl>
                                          <p:spTgt spid="2867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286726"/>
                                        </p:tgtEl>
                                        <p:attrNameLst>
                                          <p:attrName>style.visibility</p:attrName>
                                        </p:attrNameLst>
                                      </p:cBhvr>
                                      <p:to>
                                        <p:strVal val="visible"/>
                                      </p:to>
                                    </p:set>
                                    <p:animEffect transition="in" filter="fade">
                                      <p:cBhvr>
                                        <p:cTn id="14" dur="1000"/>
                                        <p:tgtEl>
                                          <p:spTgt spid="286726"/>
                                        </p:tgtEl>
                                      </p:cBhvr>
                                    </p:animEffect>
                                    <p:anim calcmode="lin" valueType="num">
                                      <p:cBhvr>
                                        <p:cTn id="15" dur="1000" fill="hold"/>
                                        <p:tgtEl>
                                          <p:spTgt spid="286726"/>
                                        </p:tgtEl>
                                        <p:attrNameLst>
                                          <p:attrName>ppt_x</p:attrName>
                                        </p:attrNameLst>
                                      </p:cBhvr>
                                      <p:tavLst>
                                        <p:tav tm="0">
                                          <p:val>
                                            <p:strVal val="#ppt_x"/>
                                          </p:val>
                                        </p:tav>
                                        <p:tav tm="100000">
                                          <p:val>
                                            <p:strVal val="#ppt_x"/>
                                          </p:val>
                                        </p:tav>
                                      </p:tavLst>
                                    </p:anim>
                                    <p:anim calcmode="lin" valueType="num">
                                      <p:cBhvr>
                                        <p:cTn id="16" dur="1000" fill="hold"/>
                                        <p:tgtEl>
                                          <p:spTgt spid="286726"/>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286725"/>
                                        </p:tgtEl>
                                        <p:attrNameLst>
                                          <p:attrName>style.visibility</p:attrName>
                                        </p:attrNameLst>
                                      </p:cBhvr>
                                      <p:to>
                                        <p:strVal val="visible"/>
                                      </p:to>
                                    </p:set>
                                    <p:animEffect transition="in" filter="fade">
                                      <p:cBhvr>
                                        <p:cTn id="19" dur="1000"/>
                                        <p:tgtEl>
                                          <p:spTgt spid="286725"/>
                                        </p:tgtEl>
                                      </p:cBhvr>
                                    </p:animEffect>
                                    <p:anim calcmode="lin" valueType="num">
                                      <p:cBhvr>
                                        <p:cTn id="20" dur="1000" fill="hold"/>
                                        <p:tgtEl>
                                          <p:spTgt spid="286725"/>
                                        </p:tgtEl>
                                        <p:attrNameLst>
                                          <p:attrName>ppt_x</p:attrName>
                                        </p:attrNameLst>
                                      </p:cBhvr>
                                      <p:tavLst>
                                        <p:tav tm="0">
                                          <p:val>
                                            <p:strVal val="#ppt_x"/>
                                          </p:val>
                                        </p:tav>
                                        <p:tav tm="100000">
                                          <p:val>
                                            <p:strVal val="#ppt_x"/>
                                          </p:val>
                                        </p:tav>
                                      </p:tavLst>
                                    </p:anim>
                                    <p:anim calcmode="lin" valueType="num">
                                      <p:cBhvr>
                                        <p:cTn id="21" dur="1000" fill="hold"/>
                                        <p:tgtEl>
                                          <p:spTgt spid="28672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nodeType="clickEffect">
                                  <p:stCondLst>
                                    <p:cond delay="0"/>
                                  </p:stCondLst>
                                  <p:childTnLst>
                                    <p:set>
                                      <p:cBhvr>
                                        <p:cTn id="25" dur="1" fill="hold">
                                          <p:stCondLst>
                                            <p:cond delay="0"/>
                                          </p:stCondLst>
                                        </p:cTn>
                                        <p:tgtEl>
                                          <p:spTgt spid="286728"/>
                                        </p:tgtEl>
                                        <p:attrNameLst>
                                          <p:attrName>style.visibility</p:attrName>
                                        </p:attrNameLst>
                                      </p:cBhvr>
                                      <p:to>
                                        <p:strVal val="visible"/>
                                      </p:to>
                                    </p:set>
                                    <p:animEffect transition="in" filter="fade">
                                      <p:cBhvr>
                                        <p:cTn id="26" dur="1000"/>
                                        <p:tgtEl>
                                          <p:spTgt spid="286728"/>
                                        </p:tgtEl>
                                      </p:cBhvr>
                                    </p:animEffect>
                                    <p:anim calcmode="lin" valueType="num">
                                      <p:cBhvr>
                                        <p:cTn id="27" dur="1000" fill="hold"/>
                                        <p:tgtEl>
                                          <p:spTgt spid="286728"/>
                                        </p:tgtEl>
                                        <p:attrNameLst>
                                          <p:attrName>ppt_x</p:attrName>
                                        </p:attrNameLst>
                                      </p:cBhvr>
                                      <p:tavLst>
                                        <p:tav tm="0">
                                          <p:val>
                                            <p:strVal val="#ppt_x"/>
                                          </p:val>
                                        </p:tav>
                                        <p:tav tm="100000">
                                          <p:val>
                                            <p:strVal val="#ppt_x"/>
                                          </p:val>
                                        </p:tav>
                                      </p:tavLst>
                                    </p:anim>
                                    <p:anim calcmode="lin" valueType="num">
                                      <p:cBhvr>
                                        <p:cTn id="28" dur="1000" fill="hold"/>
                                        <p:tgtEl>
                                          <p:spTgt spid="286728"/>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86727"/>
                                        </p:tgtEl>
                                        <p:attrNameLst>
                                          <p:attrName>style.visibility</p:attrName>
                                        </p:attrNameLst>
                                      </p:cBhvr>
                                      <p:to>
                                        <p:strVal val="visible"/>
                                      </p:to>
                                    </p:set>
                                    <p:animEffect transition="in" filter="fade">
                                      <p:cBhvr>
                                        <p:cTn id="31" dur="1000"/>
                                        <p:tgtEl>
                                          <p:spTgt spid="286727"/>
                                        </p:tgtEl>
                                      </p:cBhvr>
                                    </p:animEffect>
                                    <p:anim calcmode="lin" valueType="num">
                                      <p:cBhvr>
                                        <p:cTn id="32" dur="1000" fill="hold"/>
                                        <p:tgtEl>
                                          <p:spTgt spid="286727"/>
                                        </p:tgtEl>
                                        <p:attrNameLst>
                                          <p:attrName>ppt_x</p:attrName>
                                        </p:attrNameLst>
                                      </p:cBhvr>
                                      <p:tavLst>
                                        <p:tav tm="0">
                                          <p:val>
                                            <p:strVal val="#ppt_x"/>
                                          </p:val>
                                        </p:tav>
                                        <p:tav tm="100000">
                                          <p:val>
                                            <p:strVal val="#ppt_x"/>
                                          </p:val>
                                        </p:tav>
                                      </p:tavLst>
                                    </p:anim>
                                    <p:anim calcmode="lin" valueType="num">
                                      <p:cBhvr>
                                        <p:cTn id="33" dur="1000" fill="hold"/>
                                        <p:tgtEl>
                                          <p:spTgt spid="28672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7" presetClass="entr" presetSubtype="0" fill="hold" nodeType="clickEffect">
                                  <p:stCondLst>
                                    <p:cond delay="0"/>
                                  </p:stCondLst>
                                  <p:childTnLst>
                                    <p:set>
                                      <p:cBhvr>
                                        <p:cTn id="37" dur="1" fill="hold">
                                          <p:stCondLst>
                                            <p:cond delay="0"/>
                                          </p:stCondLst>
                                        </p:cTn>
                                        <p:tgtEl>
                                          <p:spTgt spid="286730"/>
                                        </p:tgtEl>
                                        <p:attrNameLst>
                                          <p:attrName>style.visibility</p:attrName>
                                        </p:attrNameLst>
                                      </p:cBhvr>
                                      <p:to>
                                        <p:strVal val="visible"/>
                                      </p:to>
                                    </p:set>
                                    <p:animEffect transition="in" filter="fade">
                                      <p:cBhvr>
                                        <p:cTn id="38" dur="1000"/>
                                        <p:tgtEl>
                                          <p:spTgt spid="286730"/>
                                        </p:tgtEl>
                                      </p:cBhvr>
                                    </p:animEffect>
                                    <p:anim calcmode="lin" valueType="num">
                                      <p:cBhvr>
                                        <p:cTn id="39" dur="1000" fill="hold"/>
                                        <p:tgtEl>
                                          <p:spTgt spid="286730"/>
                                        </p:tgtEl>
                                        <p:attrNameLst>
                                          <p:attrName>ppt_x</p:attrName>
                                        </p:attrNameLst>
                                      </p:cBhvr>
                                      <p:tavLst>
                                        <p:tav tm="0">
                                          <p:val>
                                            <p:strVal val="#ppt_x"/>
                                          </p:val>
                                        </p:tav>
                                        <p:tav tm="100000">
                                          <p:val>
                                            <p:strVal val="#ppt_x"/>
                                          </p:val>
                                        </p:tav>
                                      </p:tavLst>
                                    </p:anim>
                                    <p:anim calcmode="lin" valueType="num">
                                      <p:cBhvr>
                                        <p:cTn id="40" dur="1000" fill="hold"/>
                                        <p:tgtEl>
                                          <p:spTgt spid="286730"/>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286729"/>
                                        </p:tgtEl>
                                        <p:attrNameLst>
                                          <p:attrName>style.visibility</p:attrName>
                                        </p:attrNameLst>
                                      </p:cBhvr>
                                      <p:to>
                                        <p:strVal val="visible"/>
                                      </p:to>
                                    </p:set>
                                    <p:animEffect transition="in" filter="fade">
                                      <p:cBhvr>
                                        <p:cTn id="43" dur="1000"/>
                                        <p:tgtEl>
                                          <p:spTgt spid="286729"/>
                                        </p:tgtEl>
                                      </p:cBhvr>
                                    </p:animEffect>
                                    <p:anim calcmode="lin" valueType="num">
                                      <p:cBhvr>
                                        <p:cTn id="44" dur="1000" fill="hold"/>
                                        <p:tgtEl>
                                          <p:spTgt spid="286729"/>
                                        </p:tgtEl>
                                        <p:attrNameLst>
                                          <p:attrName>ppt_x</p:attrName>
                                        </p:attrNameLst>
                                      </p:cBhvr>
                                      <p:tavLst>
                                        <p:tav tm="0">
                                          <p:val>
                                            <p:strVal val="#ppt_x"/>
                                          </p:val>
                                        </p:tav>
                                        <p:tav tm="100000">
                                          <p:val>
                                            <p:strVal val="#ppt_x"/>
                                          </p:val>
                                        </p:tav>
                                      </p:tavLst>
                                    </p:anim>
                                    <p:anim calcmode="lin" valueType="num">
                                      <p:cBhvr>
                                        <p:cTn id="45" dur="1000" fill="hold"/>
                                        <p:tgtEl>
                                          <p:spTgt spid="28672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nodeType="clickEffect">
                                  <p:stCondLst>
                                    <p:cond delay="0"/>
                                  </p:stCondLst>
                                  <p:childTnLst>
                                    <p:set>
                                      <p:cBhvr>
                                        <p:cTn id="49" dur="1" fill="hold">
                                          <p:stCondLst>
                                            <p:cond delay="0"/>
                                          </p:stCondLst>
                                        </p:cTn>
                                        <p:tgtEl>
                                          <p:spTgt spid="286732"/>
                                        </p:tgtEl>
                                        <p:attrNameLst>
                                          <p:attrName>style.visibility</p:attrName>
                                        </p:attrNameLst>
                                      </p:cBhvr>
                                      <p:to>
                                        <p:strVal val="visible"/>
                                      </p:to>
                                    </p:set>
                                    <p:animEffect transition="in" filter="fade">
                                      <p:cBhvr>
                                        <p:cTn id="50" dur="1000"/>
                                        <p:tgtEl>
                                          <p:spTgt spid="286732"/>
                                        </p:tgtEl>
                                      </p:cBhvr>
                                    </p:animEffect>
                                    <p:anim calcmode="lin" valueType="num">
                                      <p:cBhvr>
                                        <p:cTn id="51" dur="1000" fill="hold"/>
                                        <p:tgtEl>
                                          <p:spTgt spid="286732"/>
                                        </p:tgtEl>
                                        <p:attrNameLst>
                                          <p:attrName>ppt_x</p:attrName>
                                        </p:attrNameLst>
                                      </p:cBhvr>
                                      <p:tavLst>
                                        <p:tav tm="0">
                                          <p:val>
                                            <p:strVal val="#ppt_x"/>
                                          </p:val>
                                        </p:tav>
                                        <p:tav tm="100000">
                                          <p:val>
                                            <p:strVal val="#ppt_x"/>
                                          </p:val>
                                        </p:tav>
                                      </p:tavLst>
                                    </p:anim>
                                    <p:anim calcmode="lin" valueType="num">
                                      <p:cBhvr>
                                        <p:cTn id="52" dur="1000" fill="hold"/>
                                        <p:tgtEl>
                                          <p:spTgt spid="286732"/>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86731"/>
                                        </p:tgtEl>
                                        <p:attrNameLst>
                                          <p:attrName>style.visibility</p:attrName>
                                        </p:attrNameLst>
                                      </p:cBhvr>
                                      <p:to>
                                        <p:strVal val="visible"/>
                                      </p:to>
                                    </p:set>
                                    <p:animEffect transition="in" filter="fade">
                                      <p:cBhvr>
                                        <p:cTn id="55" dur="1000"/>
                                        <p:tgtEl>
                                          <p:spTgt spid="286731"/>
                                        </p:tgtEl>
                                      </p:cBhvr>
                                    </p:animEffect>
                                    <p:anim calcmode="lin" valueType="num">
                                      <p:cBhvr>
                                        <p:cTn id="56" dur="1000" fill="hold"/>
                                        <p:tgtEl>
                                          <p:spTgt spid="286731"/>
                                        </p:tgtEl>
                                        <p:attrNameLst>
                                          <p:attrName>ppt_x</p:attrName>
                                        </p:attrNameLst>
                                      </p:cBhvr>
                                      <p:tavLst>
                                        <p:tav tm="0">
                                          <p:val>
                                            <p:strVal val="#ppt_x"/>
                                          </p:val>
                                        </p:tav>
                                        <p:tav tm="100000">
                                          <p:val>
                                            <p:strVal val="#ppt_x"/>
                                          </p:val>
                                        </p:tav>
                                      </p:tavLst>
                                    </p:anim>
                                    <p:anim calcmode="lin" valueType="num">
                                      <p:cBhvr>
                                        <p:cTn id="57" dur="1000" fill="hold"/>
                                        <p:tgtEl>
                                          <p:spTgt spid="286731"/>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7" presetClass="entr" presetSubtype="0" fill="hold" nodeType="clickEffect">
                                  <p:stCondLst>
                                    <p:cond delay="0"/>
                                  </p:stCondLst>
                                  <p:childTnLst>
                                    <p:set>
                                      <p:cBhvr>
                                        <p:cTn id="61" dur="1" fill="hold">
                                          <p:stCondLst>
                                            <p:cond delay="0"/>
                                          </p:stCondLst>
                                        </p:cTn>
                                        <p:tgtEl>
                                          <p:spTgt spid="286734"/>
                                        </p:tgtEl>
                                        <p:attrNameLst>
                                          <p:attrName>style.visibility</p:attrName>
                                        </p:attrNameLst>
                                      </p:cBhvr>
                                      <p:to>
                                        <p:strVal val="visible"/>
                                      </p:to>
                                    </p:set>
                                    <p:animEffect transition="in" filter="fade">
                                      <p:cBhvr>
                                        <p:cTn id="62" dur="1000"/>
                                        <p:tgtEl>
                                          <p:spTgt spid="286734"/>
                                        </p:tgtEl>
                                      </p:cBhvr>
                                    </p:animEffect>
                                    <p:anim calcmode="lin" valueType="num">
                                      <p:cBhvr>
                                        <p:cTn id="63" dur="1000" fill="hold"/>
                                        <p:tgtEl>
                                          <p:spTgt spid="286734"/>
                                        </p:tgtEl>
                                        <p:attrNameLst>
                                          <p:attrName>ppt_x</p:attrName>
                                        </p:attrNameLst>
                                      </p:cBhvr>
                                      <p:tavLst>
                                        <p:tav tm="0">
                                          <p:val>
                                            <p:strVal val="#ppt_x"/>
                                          </p:val>
                                        </p:tav>
                                        <p:tav tm="100000">
                                          <p:val>
                                            <p:strVal val="#ppt_x"/>
                                          </p:val>
                                        </p:tav>
                                      </p:tavLst>
                                    </p:anim>
                                    <p:anim calcmode="lin" valueType="num">
                                      <p:cBhvr>
                                        <p:cTn id="64" dur="1000" fill="hold"/>
                                        <p:tgtEl>
                                          <p:spTgt spid="286734"/>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286733"/>
                                        </p:tgtEl>
                                        <p:attrNameLst>
                                          <p:attrName>style.visibility</p:attrName>
                                        </p:attrNameLst>
                                      </p:cBhvr>
                                      <p:to>
                                        <p:strVal val="visible"/>
                                      </p:to>
                                    </p:set>
                                    <p:animEffect transition="in" filter="fade">
                                      <p:cBhvr>
                                        <p:cTn id="67" dur="1000"/>
                                        <p:tgtEl>
                                          <p:spTgt spid="286733"/>
                                        </p:tgtEl>
                                      </p:cBhvr>
                                    </p:animEffect>
                                    <p:anim calcmode="lin" valueType="num">
                                      <p:cBhvr>
                                        <p:cTn id="68" dur="1000" fill="hold"/>
                                        <p:tgtEl>
                                          <p:spTgt spid="286733"/>
                                        </p:tgtEl>
                                        <p:attrNameLst>
                                          <p:attrName>ppt_x</p:attrName>
                                        </p:attrNameLst>
                                      </p:cBhvr>
                                      <p:tavLst>
                                        <p:tav tm="0">
                                          <p:val>
                                            <p:strVal val="#ppt_x"/>
                                          </p:val>
                                        </p:tav>
                                        <p:tav tm="100000">
                                          <p:val>
                                            <p:strVal val="#ppt_x"/>
                                          </p:val>
                                        </p:tav>
                                      </p:tavLst>
                                    </p:anim>
                                    <p:anim calcmode="lin" valueType="num">
                                      <p:cBhvr>
                                        <p:cTn id="69" dur="1000" fill="hold"/>
                                        <p:tgtEl>
                                          <p:spTgt spid="28673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7" presetClass="entr" presetSubtype="0" fill="hold" nodeType="clickEffect">
                                  <p:stCondLst>
                                    <p:cond delay="0"/>
                                  </p:stCondLst>
                                  <p:childTnLst>
                                    <p:set>
                                      <p:cBhvr>
                                        <p:cTn id="73" dur="1" fill="hold">
                                          <p:stCondLst>
                                            <p:cond delay="0"/>
                                          </p:stCondLst>
                                        </p:cTn>
                                        <p:tgtEl>
                                          <p:spTgt spid="286742"/>
                                        </p:tgtEl>
                                        <p:attrNameLst>
                                          <p:attrName>style.visibility</p:attrName>
                                        </p:attrNameLst>
                                      </p:cBhvr>
                                      <p:to>
                                        <p:strVal val="visible"/>
                                      </p:to>
                                    </p:set>
                                    <p:animEffect transition="in" filter="fade">
                                      <p:cBhvr>
                                        <p:cTn id="74" dur="1000"/>
                                        <p:tgtEl>
                                          <p:spTgt spid="286742"/>
                                        </p:tgtEl>
                                      </p:cBhvr>
                                    </p:animEffect>
                                    <p:anim calcmode="lin" valueType="num">
                                      <p:cBhvr>
                                        <p:cTn id="75" dur="1000" fill="hold"/>
                                        <p:tgtEl>
                                          <p:spTgt spid="286742"/>
                                        </p:tgtEl>
                                        <p:attrNameLst>
                                          <p:attrName>ppt_x</p:attrName>
                                        </p:attrNameLst>
                                      </p:cBhvr>
                                      <p:tavLst>
                                        <p:tav tm="0">
                                          <p:val>
                                            <p:strVal val="#ppt_x"/>
                                          </p:val>
                                        </p:tav>
                                        <p:tav tm="100000">
                                          <p:val>
                                            <p:strVal val="#ppt_x"/>
                                          </p:val>
                                        </p:tav>
                                      </p:tavLst>
                                    </p:anim>
                                    <p:anim calcmode="lin" valueType="num">
                                      <p:cBhvr>
                                        <p:cTn id="76" dur="1000" fill="hold"/>
                                        <p:tgtEl>
                                          <p:spTgt spid="286742"/>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286741"/>
                                        </p:tgtEl>
                                        <p:attrNameLst>
                                          <p:attrName>style.visibility</p:attrName>
                                        </p:attrNameLst>
                                      </p:cBhvr>
                                      <p:to>
                                        <p:strVal val="visible"/>
                                      </p:to>
                                    </p:set>
                                    <p:animEffect transition="in" filter="fade">
                                      <p:cBhvr>
                                        <p:cTn id="79" dur="1000"/>
                                        <p:tgtEl>
                                          <p:spTgt spid="286741"/>
                                        </p:tgtEl>
                                      </p:cBhvr>
                                    </p:animEffect>
                                    <p:anim calcmode="lin" valueType="num">
                                      <p:cBhvr>
                                        <p:cTn id="80" dur="1000" fill="hold"/>
                                        <p:tgtEl>
                                          <p:spTgt spid="286741"/>
                                        </p:tgtEl>
                                        <p:attrNameLst>
                                          <p:attrName>ppt_x</p:attrName>
                                        </p:attrNameLst>
                                      </p:cBhvr>
                                      <p:tavLst>
                                        <p:tav tm="0">
                                          <p:val>
                                            <p:strVal val="#ppt_x"/>
                                          </p:val>
                                        </p:tav>
                                        <p:tav tm="100000">
                                          <p:val>
                                            <p:strVal val="#ppt_x"/>
                                          </p:val>
                                        </p:tav>
                                      </p:tavLst>
                                    </p:anim>
                                    <p:anim calcmode="lin" valueType="num">
                                      <p:cBhvr>
                                        <p:cTn id="81" dur="1000" fill="hold"/>
                                        <p:tgtEl>
                                          <p:spTgt spid="286741"/>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5"/>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3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41"/>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43"/>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4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47"/>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4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49"/>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48"/>
                                        </p:tgtEl>
                                        <p:attrNameLst>
                                          <p:attrName>style.visibility</p:attrName>
                                        </p:attrNameLst>
                                      </p:cBhvr>
                                      <p:to>
                                        <p:strVal val="visible"/>
                                      </p:to>
                                    </p:set>
                                  </p:childTnLst>
                                </p:cTn>
                              </p:par>
                            </p:childTnLst>
                          </p:cTn>
                        </p:par>
                        <p:par>
                          <p:cTn id="116" fill="hold">
                            <p:stCondLst>
                              <p:cond delay="0"/>
                            </p:stCondLst>
                            <p:childTnLst>
                              <p:par>
                                <p:cTn id="117" presetID="10" presetClass="entr" presetSubtype="0" fill="hold" grpId="0" nodeType="after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286724" grpId="0" bldLvl="0" animBg="1"/>
      <p:bldP spid="286725" grpId="0" bldLvl="0" animBg="1"/>
      <p:bldP spid="286727" grpId="0" bldLvl="0" animBg="1"/>
      <p:bldP spid="286729" grpId="0" bldLvl="0" animBg="1"/>
      <p:bldP spid="286731" grpId="0" bldLvl="0" animBg="1"/>
      <p:bldP spid="286733" grpId="0" bldLvl="0" animBg="1"/>
      <p:bldP spid="286741" grpId="0" bldLvl="0" animBg="1"/>
      <p:bldP spid="35" grpId="0" bldLvl="0" animBg="1"/>
      <p:bldP spid="36" grpId="0" bldLvl="0" animBg="1"/>
      <p:bldP spid="38" grpId="0" bldLvl="0" animBg="1"/>
      <p:bldP spid="40" grpId="0" bldLvl="0" animBg="1"/>
      <p:bldP spid="42" grpId="0" bldLvl="0" animBg="1"/>
      <p:bldP spid="44" grpId="0" bldLvl="0" animBg="1"/>
      <p:bldP spid="46" grpId="0" bldLvl="0" animBg="1"/>
      <p:bldP spid="48"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AVL tree</a:t>
            </a:r>
            <a:endParaRPr lang="zh-CN" altLang="en-US"/>
          </a:p>
        </p:txBody>
      </p:sp>
      <p:sp>
        <p:nvSpPr>
          <p:cNvPr id="286768" name="Oval 48"/>
          <p:cNvSpPr>
            <a:spLocks noChangeArrowheads="1"/>
          </p:cNvSpPr>
          <p:nvPr/>
        </p:nvSpPr>
        <p:spPr bwMode="auto">
          <a:xfrm>
            <a:off x="5598319" y="2025254"/>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Jan</a:t>
            </a:r>
            <a:endParaRPr lang="en-US" altLang="zh-CN" sz="1350" b="1">
              <a:solidFill>
                <a:srgbClr val="FFFF00"/>
              </a:solidFill>
            </a:endParaRPr>
          </a:p>
        </p:txBody>
      </p:sp>
      <p:sp>
        <p:nvSpPr>
          <p:cNvPr id="286769" name="Oval 49"/>
          <p:cNvSpPr>
            <a:spLocks noChangeArrowheads="1"/>
          </p:cNvSpPr>
          <p:nvPr/>
        </p:nvSpPr>
        <p:spPr bwMode="auto">
          <a:xfrm>
            <a:off x="5328047"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Feb</a:t>
            </a:r>
            <a:endParaRPr lang="en-US" altLang="zh-CN" sz="1350" b="1">
              <a:solidFill>
                <a:srgbClr val="FFFF00"/>
              </a:solidFill>
            </a:endParaRPr>
          </a:p>
        </p:txBody>
      </p:sp>
      <p:cxnSp>
        <p:nvCxnSpPr>
          <p:cNvPr id="286770" name="AutoShape 50"/>
          <p:cNvCxnSpPr>
            <a:cxnSpLocks noChangeShapeType="1"/>
            <a:stCxn id="286781" idx="5"/>
            <a:endCxn id="286769" idx="0"/>
          </p:cNvCxnSpPr>
          <p:nvPr/>
        </p:nvCxnSpPr>
        <p:spPr bwMode="auto">
          <a:xfrm>
            <a:off x="5407819" y="2969419"/>
            <a:ext cx="109538"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71" name="Oval 51"/>
          <p:cNvSpPr>
            <a:spLocks noChangeArrowheads="1"/>
          </p:cNvSpPr>
          <p:nvPr/>
        </p:nvSpPr>
        <p:spPr bwMode="auto">
          <a:xfrm>
            <a:off x="6138863"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286772" name="AutoShape 52"/>
          <p:cNvCxnSpPr>
            <a:cxnSpLocks noChangeShapeType="1"/>
            <a:stCxn id="286768" idx="5"/>
            <a:endCxn id="286771" idx="0"/>
          </p:cNvCxnSpPr>
          <p:nvPr/>
        </p:nvCxnSpPr>
        <p:spPr bwMode="auto">
          <a:xfrm>
            <a:off x="5920979" y="2347913"/>
            <a:ext cx="407194"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73" name="Oval 53"/>
          <p:cNvSpPr>
            <a:spLocks noChangeArrowheads="1"/>
          </p:cNvSpPr>
          <p:nvPr/>
        </p:nvSpPr>
        <p:spPr bwMode="auto">
          <a:xfrm>
            <a:off x="4842272"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286774" name="AutoShape 54"/>
          <p:cNvCxnSpPr>
            <a:cxnSpLocks noChangeShapeType="1"/>
            <a:stCxn id="286781" idx="3"/>
            <a:endCxn id="286773" idx="0"/>
          </p:cNvCxnSpPr>
          <p:nvPr/>
        </p:nvCxnSpPr>
        <p:spPr bwMode="auto">
          <a:xfrm flipH="1">
            <a:off x="5031581" y="2969419"/>
            <a:ext cx="108347"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75" name="Oval 55"/>
          <p:cNvSpPr>
            <a:spLocks noChangeArrowheads="1"/>
          </p:cNvSpPr>
          <p:nvPr/>
        </p:nvSpPr>
        <p:spPr bwMode="auto">
          <a:xfrm>
            <a:off x="6462713"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May</a:t>
            </a:r>
            <a:endParaRPr lang="en-US" altLang="zh-CN" sz="1350" b="1">
              <a:solidFill>
                <a:srgbClr val="FFFF00"/>
              </a:solidFill>
            </a:endParaRPr>
          </a:p>
        </p:txBody>
      </p:sp>
      <p:cxnSp>
        <p:nvCxnSpPr>
          <p:cNvPr id="286776" name="AutoShape 56"/>
          <p:cNvCxnSpPr>
            <a:cxnSpLocks noChangeShapeType="1"/>
            <a:stCxn id="286771" idx="5"/>
            <a:endCxn id="286775" idx="0"/>
          </p:cNvCxnSpPr>
          <p:nvPr/>
        </p:nvCxnSpPr>
        <p:spPr bwMode="auto">
          <a:xfrm>
            <a:off x="6461522" y="2969419"/>
            <a:ext cx="19050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77" name="Oval 57"/>
          <p:cNvSpPr>
            <a:spLocks noChangeArrowheads="1"/>
          </p:cNvSpPr>
          <p:nvPr/>
        </p:nvSpPr>
        <p:spPr bwMode="auto">
          <a:xfrm>
            <a:off x="5815013"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286778" name="AutoShape 58"/>
          <p:cNvCxnSpPr>
            <a:cxnSpLocks noChangeShapeType="1"/>
            <a:stCxn id="286771" idx="3"/>
            <a:endCxn id="286777" idx="0"/>
          </p:cNvCxnSpPr>
          <p:nvPr/>
        </p:nvCxnSpPr>
        <p:spPr bwMode="auto">
          <a:xfrm flipH="1">
            <a:off x="6004322" y="2969419"/>
            <a:ext cx="18930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79" name="Oval 59"/>
          <p:cNvSpPr>
            <a:spLocks noChangeArrowheads="1"/>
          </p:cNvSpPr>
          <p:nvPr/>
        </p:nvSpPr>
        <p:spPr bwMode="auto">
          <a:xfrm>
            <a:off x="5542360"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Jul</a:t>
            </a:r>
            <a:endParaRPr lang="en-US" altLang="zh-CN" sz="1350" b="1">
              <a:solidFill>
                <a:srgbClr val="FFFF00"/>
              </a:solidFill>
            </a:endParaRPr>
          </a:p>
        </p:txBody>
      </p:sp>
      <p:cxnSp>
        <p:nvCxnSpPr>
          <p:cNvPr id="286780" name="AutoShape 60"/>
          <p:cNvCxnSpPr>
            <a:cxnSpLocks noChangeShapeType="1"/>
            <a:stCxn id="286777" idx="3"/>
            <a:endCxn id="286779" idx="0"/>
          </p:cNvCxnSpPr>
          <p:nvPr/>
        </p:nvCxnSpPr>
        <p:spPr bwMode="auto">
          <a:xfrm flipH="1">
            <a:off x="5731074" y="3616615"/>
            <a:ext cx="13921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81" name="Oval 61"/>
          <p:cNvSpPr>
            <a:spLocks noChangeArrowheads="1"/>
          </p:cNvSpPr>
          <p:nvPr/>
        </p:nvSpPr>
        <p:spPr bwMode="auto">
          <a:xfrm>
            <a:off x="5085160" y="26467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Aug</a:t>
            </a:r>
            <a:endParaRPr lang="en-US" altLang="zh-CN" sz="1350" b="1">
              <a:solidFill>
                <a:srgbClr val="FFFF00"/>
              </a:solidFill>
            </a:endParaRPr>
          </a:p>
        </p:txBody>
      </p:sp>
      <p:cxnSp>
        <p:nvCxnSpPr>
          <p:cNvPr id="286782" name="AutoShape 62"/>
          <p:cNvCxnSpPr>
            <a:cxnSpLocks noChangeShapeType="1"/>
            <a:stCxn id="286768" idx="3"/>
            <a:endCxn id="286781" idx="0"/>
          </p:cNvCxnSpPr>
          <p:nvPr/>
        </p:nvCxnSpPr>
        <p:spPr bwMode="auto">
          <a:xfrm flipH="1">
            <a:off x="5274469" y="2347913"/>
            <a:ext cx="378619"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Oval 5"/>
          <p:cNvSpPr>
            <a:spLocks noChangeArrowheads="1"/>
          </p:cNvSpPr>
          <p:nvPr/>
        </p:nvSpPr>
        <p:spPr bwMode="auto">
          <a:xfrm>
            <a:off x="2465766" y="264515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Feb</a:t>
            </a:r>
            <a:endParaRPr lang="en-US" altLang="zh-CN" sz="1350" b="1" dirty="0">
              <a:solidFill>
                <a:srgbClr val="FFFF00"/>
              </a:solidFill>
            </a:endParaRPr>
          </a:p>
        </p:txBody>
      </p:sp>
      <p:sp>
        <p:nvSpPr>
          <p:cNvPr id="36" name="Oval 4"/>
          <p:cNvSpPr>
            <a:spLocks noChangeArrowheads="1"/>
          </p:cNvSpPr>
          <p:nvPr/>
        </p:nvSpPr>
        <p:spPr bwMode="auto">
          <a:xfrm>
            <a:off x="2869965" y="202484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Jan</a:t>
            </a:r>
            <a:endParaRPr lang="en-US" altLang="zh-CN" sz="1350" b="1">
              <a:solidFill>
                <a:srgbClr val="FFFF00"/>
              </a:solidFill>
            </a:endParaRPr>
          </a:p>
        </p:txBody>
      </p:sp>
      <p:sp>
        <p:nvSpPr>
          <p:cNvPr id="37" name="Oval 5"/>
          <p:cNvSpPr>
            <a:spLocks noChangeArrowheads="1"/>
          </p:cNvSpPr>
          <p:nvPr/>
        </p:nvSpPr>
        <p:spPr bwMode="auto">
          <a:xfrm>
            <a:off x="2465153" y="2645159"/>
            <a:ext cx="377428" cy="377429"/>
          </a:xfrm>
          <a:prstGeom prst="ellipse">
            <a:avLst/>
          </a:prstGeom>
          <a:solidFill>
            <a:srgbClr val="FF0000"/>
          </a:solidFill>
          <a:ln w="38100">
            <a:solidFill>
              <a:srgbClr val="FFFF00"/>
            </a:solidFill>
            <a:round/>
          </a:ln>
          <a:effectLst/>
        </p:spPr>
        <p:txBody>
          <a:bodyPr wrap="none" anchor="ctr"/>
          <a:lstStyle/>
          <a:p>
            <a:pPr algn="ctr"/>
            <a:r>
              <a:rPr lang="en-US" altLang="zh-CN" sz="1350" b="1" dirty="0">
                <a:solidFill>
                  <a:srgbClr val="FFFF00"/>
                </a:solidFill>
              </a:rPr>
              <a:t>Feb</a:t>
            </a:r>
            <a:endParaRPr lang="en-US" altLang="zh-CN" sz="1350" b="1" dirty="0">
              <a:solidFill>
                <a:srgbClr val="FFFF00"/>
              </a:solidFill>
            </a:endParaRPr>
          </a:p>
        </p:txBody>
      </p:sp>
      <p:cxnSp>
        <p:nvCxnSpPr>
          <p:cNvPr id="38" name="AutoShape 6"/>
          <p:cNvCxnSpPr>
            <a:cxnSpLocks noChangeShapeType="1"/>
            <a:stCxn id="36" idx="3"/>
            <a:endCxn id="37" idx="0"/>
          </p:cNvCxnSpPr>
          <p:nvPr/>
        </p:nvCxnSpPr>
        <p:spPr bwMode="auto">
          <a:xfrm flipH="1">
            <a:off x="2653867" y="2346999"/>
            <a:ext cx="271371" cy="29816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Oval 7"/>
          <p:cNvSpPr>
            <a:spLocks noChangeArrowheads="1"/>
          </p:cNvSpPr>
          <p:nvPr/>
        </p:nvSpPr>
        <p:spPr bwMode="auto">
          <a:xfrm>
            <a:off x="3275968" y="26463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40" name="AutoShape 8"/>
          <p:cNvCxnSpPr>
            <a:cxnSpLocks noChangeShapeType="1"/>
            <a:stCxn id="36" idx="5"/>
            <a:endCxn id="39" idx="0"/>
          </p:cNvCxnSpPr>
          <p:nvPr/>
        </p:nvCxnSpPr>
        <p:spPr bwMode="auto">
          <a:xfrm>
            <a:off x="3192624" y="2347503"/>
            <a:ext cx="272654"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Oval 9"/>
          <p:cNvSpPr>
            <a:spLocks noChangeArrowheads="1"/>
          </p:cNvSpPr>
          <p:nvPr/>
        </p:nvSpPr>
        <p:spPr bwMode="auto">
          <a:xfrm>
            <a:off x="2087724" y="329285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42" name="AutoShape 10"/>
          <p:cNvCxnSpPr>
            <a:cxnSpLocks noChangeShapeType="1"/>
            <a:stCxn id="37" idx="3"/>
            <a:endCxn id="41" idx="0"/>
          </p:cNvCxnSpPr>
          <p:nvPr/>
        </p:nvCxnSpPr>
        <p:spPr bwMode="auto">
          <a:xfrm flipH="1">
            <a:off x="2276438" y="2967315"/>
            <a:ext cx="243987" cy="3255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Oval 11"/>
          <p:cNvSpPr>
            <a:spLocks noChangeArrowheads="1"/>
          </p:cNvSpPr>
          <p:nvPr/>
        </p:nvSpPr>
        <p:spPr bwMode="auto">
          <a:xfrm>
            <a:off x="3599818" y="32940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May</a:t>
            </a:r>
            <a:endParaRPr lang="en-US" altLang="zh-CN" sz="1350" b="1">
              <a:solidFill>
                <a:srgbClr val="FFFF00"/>
              </a:solidFill>
            </a:endParaRPr>
          </a:p>
        </p:txBody>
      </p:sp>
      <p:cxnSp>
        <p:nvCxnSpPr>
          <p:cNvPr id="44" name="AutoShape 12"/>
          <p:cNvCxnSpPr>
            <a:cxnSpLocks noChangeShapeType="1"/>
            <a:stCxn id="39" idx="5"/>
            <a:endCxn id="43" idx="0"/>
          </p:cNvCxnSpPr>
          <p:nvPr/>
        </p:nvCxnSpPr>
        <p:spPr bwMode="auto">
          <a:xfrm>
            <a:off x="3598628" y="2969009"/>
            <a:ext cx="19050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Oval 13"/>
          <p:cNvSpPr>
            <a:spLocks noChangeArrowheads="1"/>
          </p:cNvSpPr>
          <p:nvPr/>
        </p:nvSpPr>
        <p:spPr bwMode="auto">
          <a:xfrm>
            <a:off x="2952118" y="329405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46" name="AutoShape 14"/>
          <p:cNvCxnSpPr>
            <a:cxnSpLocks noChangeShapeType="1"/>
            <a:stCxn id="39" idx="3"/>
            <a:endCxn id="45" idx="0"/>
          </p:cNvCxnSpPr>
          <p:nvPr/>
        </p:nvCxnSpPr>
        <p:spPr bwMode="auto">
          <a:xfrm flipH="1">
            <a:off x="3141428" y="2969009"/>
            <a:ext cx="18930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Oval 21"/>
          <p:cNvSpPr>
            <a:spLocks noChangeArrowheads="1"/>
          </p:cNvSpPr>
          <p:nvPr/>
        </p:nvSpPr>
        <p:spPr bwMode="auto">
          <a:xfrm>
            <a:off x="2679465"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Jul</a:t>
            </a:r>
            <a:endParaRPr lang="en-US" altLang="zh-CN" sz="1350" b="1">
              <a:solidFill>
                <a:srgbClr val="FFFF00"/>
              </a:solidFill>
            </a:endParaRPr>
          </a:p>
        </p:txBody>
      </p:sp>
      <p:cxnSp>
        <p:nvCxnSpPr>
          <p:cNvPr id="48" name="AutoShape 22"/>
          <p:cNvCxnSpPr>
            <a:cxnSpLocks noChangeShapeType="1"/>
            <a:stCxn id="45" idx="3"/>
            <a:endCxn id="47" idx="0"/>
          </p:cNvCxnSpPr>
          <p:nvPr/>
        </p:nvCxnSpPr>
        <p:spPr bwMode="auto">
          <a:xfrm flipH="1">
            <a:off x="2868179" y="3616205"/>
            <a:ext cx="139211" cy="37953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Oval 23"/>
          <p:cNvSpPr>
            <a:spLocks noChangeArrowheads="1"/>
          </p:cNvSpPr>
          <p:nvPr/>
        </p:nvSpPr>
        <p:spPr bwMode="auto">
          <a:xfrm>
            <a:off x="2194880"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Aug</a:t>
            </a:r>
            <a:endParaRPr lang="en-US" altLang="zh-CN" sz="1350" b="1">
              <a:solidFill>
                <a:srgbClr val="FFFF00"/>
              </a:solidFill>
            </a:endParaRPr>
          </a:p>
        </p:txBody>
      </p:sp>
      <p:cxnSp>
        <p:nvCxnSpPr>
          <p:cNvPr id="50" name="AutoShape 24"/>
          <p:cNvCxnSpPr>
            <a:cxnSpLocks noChangeShapeType="1"/>
            <a:endCxn id="49" idx="0"/>
          </p:cNvCxnSpPr>
          <p:nvPr/>
        </p:nvCxnSpPr>
        <p:spPr bwMode="auto">
          <a:xfrm>
            <a:off x="2248459" y="3670288"/>
            <a:ext cx="135136" cy="3254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右箭头 1"/>
          <p:cNvSpPr/>
          <p:nvPr/>
        </p:nvSpPr>
        <p:spPr>
          <a:xfrm>
            <a:off x="4031940" y="2672916"/>
            <a:ext cx="648072" cy="3496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LR</a:t>
            </a:r>
            <a:endParaRPr lang="zh-CN" altLang="en-US" sz="1350" dirty="0"/>
          </a:p>
        </p:txBody>
      </p: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6768"/>
                                        </p:tgtEl>
                                        <p:attrNameLst>
                                          <p:attrName>style.visibility</p:attrName>
                                        </p:attrNameLst>
                                      </p:cBhvr>
                                      <p:to>
                                        <p:strVal val="visible"/>
                                      </p:to>
                                    </p:set>
                                    <p:animEffect transition="in" filter="fade">
                                      <p:cBhvr>
                                        <p:cTn id="12" dur="500"/>
                                        <p:tgtEl>
                                          <p:spTgt spid="28676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6769"/>
                                        </p:tgtEl>
                                        <p:attrNameLst>
                                          <p:attrName>style.visibility</p:attrName>
                                        </p:attrNameLst>
                                      </p:cBhvr>
                                      <p:to>
                                        <p:strVal val="visible"/>
                                      </p:to>
                                    </p:set>
                                    <p:animEffect transition="in" filter="fade">
                                      <p:cBhvr>
                                        <p:cTn id="15" dur="500"/>
                                        <p:tgtEl>
                                          <p:spTgt spid="286769"/>
                                        </p:tgtEl>
                                      </p:cBhvr>
                                    </p:animEffect>
                                  </p:childTnLst>
                                </p:cTn>
                              </p:par>
                              <p:par>
                                <p:cTn id="16" presetID="10" presetClass="entr" presetSubtype="0" fill="hold" nodeType="withEffect">
                                  <p:stCondLst>
                                    <p:cond delay="0"/>
                                  </p:stCondLst>
                                  <p:childTnLst>
                                    <p:set>
                                      <p:cBhvr>
                                        <p:cTn id="17" dur="1" fill="hold">
                                          <p:stCondLst>
                                            <p:cond delay="0"/>
                                          </p:stCondLst>
                                        </p:cTn>
                                        <p:tgtEl>
                                          <p:spTgt spid="286770"/>
                                        </p:tgtEl>
                                        <p:attrNameLst>
                                          <p:attrName>style.visibility</p:attrName>
                                        </p:attrNameLst>
                                      </p:cBhvr>
                                      <p:to>
                                        <p:strVal val="visible"/>
                                      </p:to>
                                    </p:set>
                                    <p:animEffect transition="in" filter="fade">
                                      <p:cBhvr>
                                        <p:cTn id="18" dur="500"/>
                                        <p:tgtEl>
                                          <p:spTgt spid="28677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6771"/>
                                        </p:tgtEl>
                                        <p:attrNameLst>
                                          <p:attrName>style.visibility</p:attrName>
                                        </p:attrNameLst>
                                      </p:cBhvr>
                                      <p:to>
                                        <p:strVal val="visible"/>
                                      </p:to>
                                    </p:set>
                                    <p:animEffect transition="in" filter="fade">
                                      <p:cBhvr>
                                        <p:cTn id="21" dur="500"/>
                                        <p:tgtEl>
                                          <p:spTgt spid="286771"/>
                                        </p:tgtEl>
                                      </p:cBhvr>
                                    </p:animEffect>
                                  </p:childTnLst>
                                </p:cTn>
                              </p:par>
                              <p:par>
                                <p:cTn id="22" presetID="10" presetClass="entr" presetSubtype="0" fill="hold" nodeType="withEffect">
                                  <p:stCondLst>
                                    <p:cond delay="0"/>
                                  </p:stCondLst>
                                  <p:childTnLst>
                                    <p:set>
                                      <p:cBhvr>
                                        <p:cTn id="23" dur="1" fill="hold">
                                          <p:stCondLst>
                                            <p:cond delay="0"/>
                                          </p:stCondLst>
                                        </p:cTn>
                                        <p:tgtEl>
                                          <p:spTgt spid="286772"/>
                                        </p:tgtEl>
                                        <p:attrNameLst>
                                          <p:attrName>style.visibility</p:attrName>
                                        </p:attrNameLst>
                                      </p:cBhvr>
                                      <p:to>
                                        <p:strVal val="visible"/>
                                      </p:to>
                                    </p:set>
                                    <p:animEffect transition="in" filter="fade">
                                      <p:cBhvr>
                                        <p:cTn id="24" dur="500"/>
                                        <p:tgtEl>
                                          <p:spTgt spid="28677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6773"/>
                                        </p:tgtEl>
                                        <p:attrNameLst>
                                          <p:attrName>style.visibility</p:attrName>
                                        </p:attrNameLst>
                                      </p:cBhvr>
                                      <p:to>
                                        <p:strVal val="visible"/>
                                      </p:to>
                                    </p:set>
                                    <p:animEffect transition="in" filter="fade">
                                      <p:cBhvr>
                                        <p:cTn id="27" dur="500"/>
                                        <p:tgtEl>
                                          <p:spTgt spid="286773"/>
                                        </p:tgtEl>
                                      </p:cBhvr>
                                    </p:animEffect>
                                  </p:childTnLst>
                                </p:cTn>
                              </p:par>
                              <p:par>
                                <p:cTn id="28" presetID="10" presetClass="entr" presetSubtype="0" fill="hold" nodeType="withEffect">
                                  <p:stCondLst>
                                    <p:cond delay="0"/>
                                  </p:stCondLst>
                                  <p:childTnLst>
                                    <p:set>
                                      <p:cBhvr>
                                        <p:cTn id="29" dur="1" fill="hold">
                                          <p:stCondLst>
                                            <p:cond delay="0"/>
                                          </p:stCondLst>
                                        </p:cTn>
                                        <p:tgtEl>
                                          <p:spTgt spid="286774"/>
                                        </p:tgtEl>
                                        <p:attrNameLst>
                                          <p:attrName>style.visibility</p:attrName>
                                        </p:attrNameLst>
                                      </p:cBhvr>
                                      <p:to>
                                        <p:strVal val="visible"/>
                                      </p:to>
                                    </p:set>
                                    <p:animEffect transition="in" filter="fade">
                                      <p:cBhvr>
                                        <p:cTn id="30" dur="500"/>
                                        <p:tgtEl>
                                          <p:spTgt spid="28677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6775"/>
                                        </p:tgtEl>
                                        <p:attrNameLst>
                                          <p:attrName>style.visibility</p:attrName>
                                        </p:attrNameLst>
                                      </p:cBhvr>
                                      <p:to>
                                        <p:strVal val="visible"/>
                                      </p:to>
                                    </p:set>
                                    <p:animEffect transition="in" filter="fade">
                                      <p:cBhvr>
                                        <p:cTn id="33" dur="500"/>
                                        <p:tgtEl>
                                          <p:spTgt spid="286775"/>
                                        </p:tgtEl>
                                      </p:cBhvr>
                                    </p:animEffect>
                                  </p:childTnLst>
                                </p:cTn>
                              </p:par>
                              <p:par>
                                <p:cTn id="34" presetID="10" presetClass="entr" presetSubtype="0" fill="hold" nodeType="withEffect">
                                  <p:stCondLst>
                                    <p:cond delay="0"/>
                                  </p:stCondLst>
                                  <p:childTnLst>
                                    <p:set>
                                      <p:cBhvr>
                                        <p:cTn id="35" dur="1" fill="hold">
                                          <p:stCondLst>
                                            <p:cond delay="0"/>
                                          </p:stCondLst>
                                        </p:cTn>
                                        <p:tgtEl>
                                          <p:spTgt spid="286776"/>
                                        </p:tgtEl>
                                        <p:attrNameLst>
                                          <p:attrName>style.visibility</p:attrName>
                                        </p:attrNameLst>
                                      </p:cBhvr>
                                      <p:to>
                                        <p:strVal val="visible"/>
                                      </p:to>
                                    </p:set>
                                    <p:animEffect transition="in" filter="fade">
                                      <p:cBhvr>
                                        <p:cTn id="36" dur="500"/>
                                        <p:tgtEl>
                                          <p:spTgt spid="28677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6777"/>
                                        </p:tgtEl>
                                        <p:attrNameLst>
                                          <p:attrName>style.visibility</p:attrName>
                                        </p:attrNameLst>
                                      </p:cBhvr>
                                      <p:to>
                                        <p:strVal val="visible"/>
                                      </p:to>
                                    </p:set>
                                    <p:animEffect transition="in" filter="fade">
                                      <p:cBhvr>
                                        <p:cTn id="39" dur="500"/>
                                        <p:tgtEl>
                                          <p:spTgt spid="286777"/>
                                        </p:tgtEl>
                                      </p:cBhvr>
                                    </p:animEffect>
                                  </p:childTnLst>
                                </p:cTn>
                              </p:par>
                              <p:par>
                                <p:cTn id="40" presetID="10" presetClass="entr" presetSubtype="0" fill="hold" nodeType="withEffect">
                                  <p:stCondLst>
                                    <p:cond delay="0"/>
                                  </p:stCondLst>
                                  <p:childTnLst>
                                    <p:set>
                                      <p:cBhvr>
                                        <p:cTn id="41" dur="1" fill="hold">
                                          <p:stCondLst>
                                            <p:cond delay="0"/>
                                          </p:stCondLst>
                                        </p:cTn>
                                        <p:tgtEl>
                                          <p:spTgt spid="286778"/>
                                        </p:tgtEl>
                                        <p:attrNameLst>
                                          <p:attrName>style.visibility</p:attrName>
                                        </p:attrNameLst>
                                      </p:cBhvr>
                                      <p:to>
                                        <p:strVal val="visible"/>
                                      </p:to>
                                    </p:set>
                                    <p:animEffect transition="in" filter="fade">
                                      <p:cBhvr>
                                        <p:cTn id="42" dur="500"/>
                                        <p:tgtEl>
                                          <p:spTgt spid="28677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6779"/>
                                        </p:tgtEl>
                                        <p:attrNameLst>
                                          <p:attrName>style.visibility</p:attrName>
                                        </p:attrNameLst>
                                      </p:cBhvr>
                                      <p:to>
                                        <p:strVal val="visible"/>
                                      </p:to>
                                    </p:set>
                                    <p:animEffect transition="in" filter="fade">
                                      <p:cBhvr>
                                        <p:cTn id="45" dur="500"/>
                                        <p:tgtEl>
                                          <p:spTgt spid="286779"/>
                                        </p:tgtEl>
                                      </p:cBhvr>
                                    </p:animEffect>
                                  </p:childTnLst>
                                </p:cTn>
                              </p:par>
                              <p:par>
                                <p:cTn id="46" presetID="10" presetClass="entr" presetSubtype="0" fill="hold" nodeType="withEffect">
                                  <p:stCondLst>
                                    <p:cond delay="0"/>
                                  </p:stCondLst>
                                  <p:childTnLst>
                                    <p:set>
                                      <p:cBhvr>
                                        <p:cTn id="47" dur="1" fill="hold">
                                          <p:stCondLst>
                                            <p:cond delay="0"/>
                                          </p:stCondLst>
                                        </p:cTn>
                                        <p:tgtEl>
                                          <p:spTgt spid="286780"/>
                                        </p:tgtEl>
                                        <p:attrNameLst>
                                          <p:attrName>style.visibility</p:attrName>
                                        </p:attrNameLst>
                                      </p:cBhvr>
                                      <p:to>
                                        <p:strVal val="visible"/>
                                      </p:to>
                                    </p:set>
                                    <p:animEffect transition="in" filter="fade">
                                      <p:cBhvr>
                                        <p:cTn id="48" dur="500"/>
                                        <p:tgtEl>
                                          <p:spTgt spid="28678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6781"/>
                                        </p:tgtEl>
                                        <p:attrNameLst>
                                          <p:attrName>style.visibility</p:attrName>
                                        </p:attrNameLst>
                                      </p:cBhvr>
                                      <p:to>
                                        <p:strVal val="visible"/>
                                      </p:to>
                                    </p:set>
                                    <p:animEffect transition="in" filter="fade">
                                      <p:cBhvr>
                                        <p:cTn id="51" dur="500"/>
                                        <p:tgtEl>
                                          <p:spTgt spid="286781"/>
                                        </p:tgtEl>
                                      </p:cBhvr>
                                    </p:animEffect>
                                  </p:childTnLst>
                                </p:cTn>
                              </p:par>
                              <p:par>
                                <p:cTn id="52" presetID="10" presetClass="entr" presetSubtype="0" fill="hold" nodeType="withEffect">
                                  <p:stCondLst>
                                    <p:cond delay="0"/>
                                  </p:stCondLst>
                                  <p:childTnLst>
                                    <p:set>
                                      <p:cBhvr>
                                        <p:cTn id="53" dur="1" fill="hold">
                                          <p:stCondLst>
                                            <p:cond delay="0"/>
                                          </p:stCondLst>
                                        </p:cTn>
                                        <p:tgtEl>
                                          <p:spTgt spid="286782"/>
                                        </p:tgtEl>
                                        <p:attrNameLst>
                                          <p:attrName>style.visibility</p:attrName>
                                        </p:attrNameLst>
                                      </p:cBhvr>
                                      <p:to>
                                        <p:strVal val="visible"/>
                                      </p:to>
                                    </p:set>
                                    <p:animEffect transition="in" filter="fade">
                                      <p:cBhvr>
                                        <p:cTn id="54" dur="500"/>
                                        <p:tgtEl>
                                          <p:spTgt spid="286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8" grpId="0" bldLvl="0" animBg="1"/>
      <p:bldP spid="286769" grpId="0" bldLvl="0" animBg="1"/>
      <p:bldP spid="286771" grpId="0" bldLvl="0" animBg="1"/>
      <p:bldP spid="286773" grpId="0" bldLvl="0" animBg="1"/>
      <p:bldP spid="286775" grpId="0" bldLvl="0" animBg="1"/>
      <p:bldP spid="286777" grpId="0" bldLvl="0" animBg="1"/>
      <p:bldP spid="286779" grpId="0" bldLvl="0" animBg="1"/>
      <p:bldP spid="286781" grpId="0" bldLvl="0" animBg="1"/>
      <p:bldP spid="2"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AVL tree</a:t>
            </a:r>
            <a:endParaRPr lang="zh-CN" altLang="en-US"/>
          </a:p>
        </p:txBody>
      </p:sp>
      <p:sp>
        <p:nvSpPr>
          <p:cNvPr id="43" name="Oval 55"/>
          <p:cNvSpPr>
            <a:spLocks noChangeArrowheads="1"/>
          </p:cNvSpPr>
          <p:nvPr/>
        </p:nvSpPr>
        <p:spPr bwMode="auto">
          <a:xfrm>
            <a:off x="3491880"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May</a:t>
            </a:r>
            <a:endParaRPr lang="en-US" altLang="zh-CN" sz="1350" b="1" dirty="0">
              <a:solidFill>
                <a:srgbClr val="FFFF00"/>
              </a:solidFill>
            </a:endParaRPr>
          </a:p>
        </p:txBody>
      </p:sp>
      <p:sp>
        <p:nvSpPr>
          <p:cNvPr id="287756" name="Oval 12"/>
          <p:cNvSpPr>
            <a:spLocks noChangeArrowheads="1"/>
          </p:cNvSpPr>
          <p:nvPr/>
        </p:nvSpPr>
        <p:spPr bwMode="auto">
          <a:xfrm>
            <a:off x="2627710" y="202525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Jan</a:t>
            </a:r>
            <a:endParaRPr lang="en-US" altLang="zh-CN" sz="1350" b="1" dirty="0">
              <a:solidFill>
                <a:srgbClr val="FFFF00"/>
              </a:solidFill>
            </a:endParaRPr>
          </a:p>
        </p:txBody>
      </p:sp>
      <p:sp>
        <p:nvSpPr>
          <p:cNvPr id="287757" name="Oval 13"/>
          <p:cNvSpPr>
            <a:spLocks noChangeArrowheads="1"/>
          </p:cNvSpPr>
          <p:nvPr/>
        </p:nvSpPr>
        <p:spPr bwMode="auto">
          <a:xfrm>
            <a:off x="2357438"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Feb</a:t>
            </a:r>
            <a:endParaRPr lang="en-US" altLang="zh-CN" sz="1350" b="1">
              <a:solidFill>
                <a:srgbClr val="FFFF00"/>
              </a:solidFill>
            </a:endParaRPr>
          </a:p>
        </p:txBody>
      </p:sp>
      <p:cxnSp>
        <p:nvCxnSpPr>
          <p:cNvPr id="287758" name="AutoShape 14"/>
          <p:cNvCxnSpPr>
            <a:cxnSpLocks noChangeShapeType="1"/>
            <a:stCxn id="287769" idx="5"/>
            <a:endCxn id="287757" idx="0"/>
          </p:cNvCxnSpPr>
          <p:nvPr/>
        </p:nvCxnSpPr>
        <p:spPr bwMode="auto">
          <a:xfrm>
            <a:off x="2464594" y="2969419"/>
            <a:ext cx="82154"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59" name="Oval 15"/>
          <p:cNvSpPr>
            <a:spLocks noChangeArrowheads="1"/>
          </p:cNvSpPr>
          <p:nvPr/>
        </p:nvSpPr>
        <p:spPr bwMode="auto">
          <a:xfrm>
            <a:off x="3113485" y="26467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287760" name="AutoShape 16"/>
          <p:cNvCxnSpPr>
            <a:cxnSpLocks noChangeShapeType="1"/>
            <a:stCxn id="287756" idx="5"/>
            <a:endCxn id="287759" idx="0"/>
          </p:cNvCxnSpPr>
          <p:nvPr/>
        </p:nvCxnSpPr>
        <p:spPr bwMode="auto">
          <a:xfrm>
            <a:off x="2949865"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61" name="Oval 17"/>
          <p:cNvSpPr>
            <a:spLocks noChangeArrowheads="1"/>
          </p:cNvSpPr>
          <p:nvPr/>
        </p:nvSpPr>
        <p:spPr bwMode="auto">
          <a:xfrm>
            <a:off x="1871663"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287762" name="AutoShape 18"/>
          <p:cNvCxnSpPr>
            <a:cxnSpLocks noChangeShapeType="1"/>
            <a:stCxn id="287769" idx="3"/>
            <a:endCxn id="287761" idx="0"/>
          </p:cNvCxnSpPr>
          <p:nvPr/>
        </p:nvCxnSpPr>
        <p:spPr bwMode="auto">
          <a:xfrm flipH="1">
            <a:off x="2060972" y="2969419"/>
            <a:ext cx="135731"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63" name="Oval 19"/>
          <p:cNvSpPr>
            <a:spLocks noChangeArrowheads="1"/>
          </p:cNvSpPr>
          <p:nvPr/>
        </p:nvSpPr>
        <p:spPr bwMode="auto">
          <a:xfrm>
            <a:off x="3492104" y="3294460"/>
            <a:ext cx="377428" cy="377428"/>
          </a:xfrm>
          <a:prstGeom prst="ellipse">
            <a:avLst/>
          </a:prstGeom>
          <a:solidFill>
            <a:srgbClr val="FF0000"/>
          </a:solidFill>
          <a:ln w="28575">
            <a:solidFill>
              <a:srgbClr val="FFFF00"/>
            </a:solidFill>
            <a:round/>
          </a:ln>
          <a:effectLst/>
        </p:spPr>
        <p:txBody>
          <a:bodyPr wrap="none" anchor="ctr"/>
          <a:lstStyle/>
          <a:p>
            <a:pPr algn="ctr"/>
            <a:r>
              <a:rPr lang="en-US" altLang="zh-CN" sz="1350" b="1" dirty="0">
                <a:solidFill>
                  <a:srgbClr val="FFFF00"/>
                </a:solidFill>
              </a:rPr>
              <a:t>May</a:t>
            </a:r>
            <a:endParaRPr lang="en-US" altLang="zh-CN" sz="1350" b="1" dirty="0">
              <a:solidFill>
                <a:srgbClr val="FFFF00"/>
              </a:solidFill>
            </a:endParaRPr>
          </a:p>
        </p:txBody>
      </p:sp>
      <p:cxnSp>
        <p:nvCxnSpPr>
          <p:cNvPr id="287764" name="AutoShape 20"/>
          <p:cNvCxnSpPr>
            <a:cxnSpLocks noChangeShapeType="1"/>
            <a:stCxn id="287759" idx="5"/>
            <a:endCxn id="287763" idx="0"/>
          </p:cNvCxnSpPr>
          <p:nvPr/>
        </p:nvCxnSpPr>
        <p:spPr bwMode="auto">
          <a:xfrm>
            <a:off x="3436144" y="2969419"/>
            <a:ext cx="245269" cy="31075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65" name="Oval 21"/>
          <p:cNvSpPr>
            <a:spLocks noChangeArrowheads="1"/>
          </p:cNvSpPr>
          <p:nvPr/>
        </p:nvSpPr>
        <p:spPr bwMode="auto">
          <a:xfrm>
            <a:off x="2844404"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287766" name="AutoShape 22"/>
          <p:cNvCxnSpPr>
            <a:cxnSpLocks noChangeShapeType="1"/>
            <a:stCxn id="287759" idx="3"/>
            <a:endCxn id="287765" idx="0"/>
          </p:cNvCxnSpPr>
          <p:nvPr/>
        </p:nvCxnSpPr>
        <p:spPr bwMode="auto">
          <a:xfrm flipH="1">
            <a:off x="3033713" y="2969419"/>
            <a:ext cx="134541"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67" name="Oval 23"/>
          <p:cNvSpPr>
            <a:spLocks noChangeArrowheads="1"/>
          </p:cNvSpPr>
          <p:nvPr/>
        </p:nvSpPr>
        <p:spPr bwMode="auto">
          <a:xfrm>
            <a:off x="2571750"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Jul</a:t>
            </a:r>
            <a:endParaRPr lang="en-US" altLang="zh-CN" sz="1350" b="1" dirty="0">
              <a:solidFill>
                <a:srgbClr val="FFFF00"/>
              </a:solidFill>
            </a:endParaRPr>
          </a:p>
        </p:txBody>
      </p:sp>
      <p:cxnSp>
        <p:nvCxnSpPr>
          <p:cNvPr id="287768" name="AutoShape 24"/>
          <p:cNvCxnSpPr>
            <a:cxnSpLocks noChangeShapeType="1"/>
            <a:stCxn id="287765" idx="3"/>
            <a:endCxn id="287767" idx="0"/>
          </p:cNvCxnSpPr>
          <p:nvPr/>
        </p:nvCxnSpPr>
        <p:spPr bwMode="auto">
          <a:xfrm flipH="1">
            <a:off x="2760464" y="3616615"/>
            <a:ext cx="139212"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69" name="Oval 25"/>
          <p:cNvSpPr>
            <a:spLocks noChangeArrowheads="1"/>
          </p:cNvSpPr>
          <p:nvPr/>
        </p:nvSpPr>
        <p:spPr bwMode="auto">
          <a:xfrm>
            <a:off x="2141935" y="26467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Aug</a:t>
            </a:r>
            <a:endParaRPr lang="en-US" altLang="zh-CN" sz="1350" b="1">
              <a:solidFill>
                <a:srgbClr val="FFFF00"/>
              </a:solidFill>
            </a:endParaRPr>
          </a:p>
        </p:txBody>
      </p:sp>
      <p:cxnSp>
        <p:nvCxnSpPr>
          <p:cNvPr id="287770" name="AutoShape 26"/>
          <p:cNvCxnSpPr>
            <a:cxnSpLocks noChangeShapeType="1"/>
            <a:stCxn id="287756" idx="3"/>
            <a:endCxn id="287769" idx="0"/>
          </p:cNvCxnSpPr>
          <p:nvPr/>
        </p:nvCxnSpPr>
        <p:spPr bwMode="auto">
          <a:xfrm flipH="1">
            <a:off x="2330649"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73" name="Oval 29"/>
          <p:cNvSpPr>
            <a:spLocks noChangeArrowheads="1"/>
          </p:cNvSpPr>
          <p:nvPr/>
        </p:nvSpPr>
        <p:spPr bwMode="auto">
          <a:xfrm>
            <a:off x="3762375" y="3995738"/>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Sep</a:t>
            </a:r>
            <a:endParaRPr lang="en-US" altLang="zh-CN" sz="1350" b="1">
              <a:solidFill>
                <a:srgbClr val="FFFF00"/>
              </a:solidFill>
            </a:endParaRPr>
          </a:p>
        </p:txBody>
      </p:sp>
      <p:cxnSp>
        <p:nvCxnSpPr>
          <p:cNvPr id="287774" name="AutoShape 30"/>
          <p:cNvCxnSpPr>
            <a:cxnSpLocks noChangeShapeType="1"/>
            <a:stCxn id="287763" idx="5"/>
            <a:endCxn id="287773" idx="0"/>
          </p:cNvCxnSpPr>
          <p:nvPr/>
        </p:nvCxnSpPr>
        <p:spPr bwMode="auto">
          <a:xfrm>
            <a:off x="3814259" y="3616615"/>
            <a:ext cx="136831" cy="37912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75" name="Oval 31"/>
          <p:cNvSpPr>
            <a:spLocks noChangeArrowheads="1"/>
          </p:cNvSpPr>
          <p:nvPr/>
        </p:nvSpPr>
        <p:spPr bwMode="auto">
          <a:xfrm>
            <a:off x="3437335" y="4617244"/>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Oct</a:t>
            </a:r>
            <a:endParaRPr lang="en-US" altLang="zh-CN" sz="1350" b="1">
              <a:solidFill>
                <a:srgbClr val="FFFF00"/>
              </a:solidFill>
            </a:endParaRPr>
          </a:p>
        </p:txBody>
      </p:sp>
      <p:cxnSp>
        <p:nvCxnSpPr>
          <p:cNvPr id="287776" name="AutoShape 32"/>
          <p:cNvCxnSpPr>
            <a:cxnSpLocks noChangeShapeType="1"/>
            <a:endCxn id="287775" idx="0"/>
          </p:cNvCxnSpPr>
          <p:nvPr/>
        </p:nvCxnSpPr>
        <p:spPr bwMode="auto">
          <a:xfrm flipH="1">
            <a:off x="3626644" y="4318397"/>
            <a:ext cx="190500" cy="29884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77" name="Oval 33"/>
          <p:cNvSpPr>
            <a:spLocks noChangeArrowheads="1"/>
          </p:cNvSpPr>
          <p:nvPr/>
        </p:nvSpPr>
        <p:spPr bwMode="auto">
          <a:xfrm>
            <a:off x="5922169" y="2025254"/>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Jan</a:t>
            </a:r>
            <a:endParaRPr lang="en-US" altLang="zh-CN" sz="1350" b="1">
              <a:solidFill>
                <a:srgbClr val="FFFF00"/>
              </a:solidFill>
            </a:endParaRPr>
          </a:p>
        </p:txBody>
      </p:sp>
      <p:sp>
        <p:nvSpPr>
          <p:cNvPr id="287778" name="Oval 34"/>
          <p:cNvSpPr>
            <a:spLocks noChangeArrowheads="1"/>
          </p:cNvSpPr>
          <p:nvPr/>
        </p:nvSpPr>
        <p:spPr bwMode="auto">
          <a:xfrm>
            <a:off x="5651897"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Feb</a:t>
            </a:r>
            <a:endParaRPr lang="en-US" altLang="zh-CN" sz="1350" b="1">
              <a:solidFill>
                <a:srgbClr val="FFFF00"/>
              </a:solidFill>
            </a:endParaRPr>
          </a:p>
        </p:txBody>
      </p:sp>
      <p:cxnSp>
        <p:nvCxnSpPr>
          <p:cNvPr id="287779" name="AutoShape 35"/>
          <p:cNvCxnSpPr>
            <a:cxnSpLocks noChangeShapeType="1"/>
            <a:stCxn id="287790" idx="5"/>
            <a:endCxn id="287778" idx="0"/>
          </p:cNvCxnSpPr>
          <p:nvPr/>
        </p:nvCxnSpPr>
        <p:spPr bwMode="auto">
          <a:xfrm>
            <a:off x="5759054" y="2969419"/>
            <a:ext cx="82153"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80" name="Oval 36"/>
          <p:cNvSpPr>
            <a:spLocks noChangeArrowheads="1"/>
          </p:cNvSpPr>
          <p:nvPr/>
        </p:nvSpPr>
        <p:spPr bwMode="auto">
          <a:xfrm>
            <a:off x="6407944"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Mar</a:t>
            </a:r>
            <a:endParaRPr lang="en-US" altLang="zh-CN" sz="1350" b="1">
              <a:solidFill>
                <a:srgbClr val="FFFF00"/>
              </a:solidFill>
            </a:endParaRPr>
          </a:p>
        </p:txBody>
      </p:sp>
      <p:cxnSp>
        <p:nvCxnSpPr>
          <p:cNvPr id="287781" name="AutoShape 37"/>
          <p:cNvCxnSpPr>
            <a:cxnSpLocks noChangeShapeType="1"/>
            <a:stCxn id="287777" idx="5"/>
            <a:endCxn id="287780" idx="0"/>
          </p:cNvCxnSpPr>
          <p:nvPr/>
        </p:nvCxnSpPr>
        <p:spPr bwMode="auto">
          <a:xfrm>
            <a:off x="6244325"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82" name="Oval 38"/>
          <p:cNvSpPr>
            <a:spLocks noChangeArrowheads="1"/>
          </p:cNvSpPr>
          <p:nvPr/>
        </p:nvSpPr>
        <p:spPr bwMode="auto">
          <a:xfrm>
            <a:off x="5166122"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Apr</a:t>
            </a:r>
            <a:endParaRPr lang="en-US" altLang="zh-CN" sz="1350" b="1">
              <a:solidFill>
                <a:srgbClr val="FFFF00"/>
              </a:solidFill>
            </a:endParaRPr>
          </a:p>
        </p:txBody>
      </p:sp>
      <p:cxnSp>
        <p:nvCxnSpPr>
          <p:cNvPr id="287783" name="AutoShape 39"/>
          <p:cNvCxnSpPr>
            <a:cxnSpLocks noChangeShapeType="1"/>
            <a:stCxn id="287790" idx="3"/>
            <a:endCxn id="287782" idx="0"/>
          </p:cNvCxnSpPr>
          <p:nvPr/>
        </p:nvCxnSpPr>
        <p:spPr bwMode="auto">
          <a:xfrm flipH="1">
            <a:off x="5355431" y="2969419"/>
            <a:ext cx="135731"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84" name="Oval 40"/>
          <p:cNvSpPr>
            <a:spLocks noChangeArrowheads="1"/>
          </p:cNvSpPr>
          <p:nvPr/>
        </p:nvSpPr>
        <p:spPr bwMode="auto">
          <a:xfrm>
            <a:off x="6462713"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May</a:t>
            </a:r>
            <a:endParaRPr lang="en-US" altLang="zh-CN" sz="1350" b="1">
              <a:solidFill>
                <a:srgbClr val="FFFF00"/>
              </a:solidFill>
            </a:endParaRPr>
          </a:p>
        </p:txBody>
      </p:sp>
      <p:cxnSp>
        <p:nvCxnSpPr>
          <p:cNvPr id="287785" name="AutoShape 41"/>
          <p:cNvCxnSpPr>
            <a:cxnSpLocks noChangeShapeType="1"/>
            <a:stCxn id="287794" idx="3"/>
            <a:endCxn id="287784" idx="0"/>
          </p:cNvCxnSpPr>
          <p:nvPr/>
        </p:nvCxnSpPr>
        <p:spPr bwMode="auto">
          <a:xfrm flipH="1">
            <a:off x="6651427" y="3616615"/>
            <a:ext cx="190409"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86" name="Oval 42"/>
          <p:cNvSpPr>
            <a:spLocks noChangeArrowheads="1"/>
          </p:cNvSpPr>
          <p:nvPr/>
        </p:nvSpPr>
        <p:spPr bwMode="auto">
          <a:xfrm>
            <a:off x="6138863"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Jun</a:t>
            </a:r>
            <a:endParaRPr lang="en-US" altLang="zh-CN" sz="1350" b="1">
              <a:solidFill>
                <a:srgbClr val="FFFF00"/>
              </a:solidFill>
            </a:endParaRPr>
          </a:p>
        </p:txBody>
      </p:sp>
      <p:cxnSp>
        <p:nvCxnSpPr>
          <p:cNvPr id="287787" name="AutoShape 43"/>
          <p:cNvCxnSpPr>
            <a:cxnSpLocks noChangeShapeType="1"/>
            <a:stCxn id="287780" idx="3"/>
            <a:endCxn id="287786" idx="0"/>
          </p:cNvCxnSpPr>
          <p:nvPr/>
        </p:nvCxnSpPr>
        <p:spPr bwMode="auto">
          <a:xfrm flipH="1">
            <a:off x="6328172" y="2969419"/>
            <a:ext cx="134540"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88" name="Oval 44"/>
          <p:cNvSpPr>
            <a:spLocks noChangeArrowheads="1"/>
          </p:cNvSpPr>
          <p:nvPr/>
        </p:nvSpPr>
        <p:spPr bwMode="auto">
          <a:xfrm>
            <a:off x="5866210"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Jul</a:t>
            </a:r>
            <a:endParaRPr lang="en-US" altLang="zh-CN" sz="1350" b="1">
              <a:solidFill>
                <a:srgbClr val="FFFF00"/>
              </a:solidFill>
            </a:endParaRPr>
          </a:p>
        </p:txBody>
      </p:sp>
      <p:cxnSp>
        <p:nvCxnSpPr>
          <p:cNvPr id="287789" name="AutoShape 45"/>
          <p:cNvCxnSpPr>
            <a:cxnSpLocks noChangeShapeType="1"/>
            <a:stCxn id="287786" idx="3"/>
            <a:endCxn id="287788" idx="0"/>
          </p:cNvCxnSpPr>
          <p:nvPr/>
        </p:nvCxnSpPr>
        <p:spPr bwMode="auto">
          <a:xfrm flipH="1">
            <a:off x="6054924" y="3616615"/>
            <a:ext cx="13921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90" name="Oval 46"/>
          <p:cNvSpPr>
            <a:spLocks noChangeArrowheads="1"/>
          </p:cNvSpPr>
          <p:nvPr/>
        </p:nvSpPr>
        <p:spPr bwMode="auto">
          <a:xfrm>
            <a:off x="5436394"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Aug</a:t>
            </a:r>
            <a:endParaRPr lang="en-US" altLang="zh-CN" sz="1350" b="1">
              <a:solidFill>
                <a:srgbClr val="FFFF00"/>
              </a:solidFill>
            </a:endParaRPr>
          </a:p>
        </p:txBody>
      </p:sp>
      <p:cxnSp>
        <p:nvCxnSpPr>
          <p:cNvPr id="287791" name="AutoShape 47"/>
          <p:cNvCxnSpPr>
            <a:cxnSpLocks noChangeShapeType="1"/>
            <a:stCxn id="287777" idx="3"/>
            <a:endCxn id="287790" idx="0"/>
          </p:cNvCxnSpPr>
          <p:nvPr/>
        </p:nvCxnSpPr>
        <p:spPr bwMode="auto">
          <a:xfrm flipH="1">
            <a:off x="5625108"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92" name="Oval 48"/>
          <p:cNvSpPr>
            <a:spLocks noChangeArrowheads="1"/>
          </p:cNvSpPr>
          <p:nvPr/>
        </p:nvSpPr>
        <p:spPr bwMode="auto">
          <a:xfrm>
            <a:off x="7056835"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rPr>
              <a:t>Sep</a:t>
            </a:r>
            <a:endParaRPr lang="en-US" altLang="zh-CN" sz="1350" b="1" dirty="0">
              <a:solidFill>
                <a:srgbClr val="FFFF00"/>
              </a:solidFill>
            </a:endParaRPr>
          </a:p>
        </p:txBody>
      </p:sp>
      <p:cxnSp>
        <p:nvCxnSpPr>
          <p:cNvPr id="287793" name="AutoShape 49"/>
          <p:cNvCxnSpPr>
            <a:cxnSpLocks noChangeShapeType="1"/>
            <a:stCxn id="287794" idx="5"/>
            <a:endCxn id="287792" idx="0"/>
          </p:cNvCxnSpPr>
          <p:nvPr/>
        </p:nvCxnSpPr>
        <p:spPr bwMode="auto">
          <a:xfrm>
            <a:off x="7108718" y="3616615"/>
            <a:ext cx="13683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794" name="Oval 50"/>
          <p:cNvSpPr>
            <a:spLocks noChangeArrowheads="1"/>
          </p:cNvSpPr>
          <p:nvPr/>
        </p:nvSpPr>
        <p:spPr bwMode="auto">
          <a:xfrm>
            <a:off x="6786563"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rPr>
              <a:t>Oct</a:t>
            </a:r>
            <a:endParaRPr lang="en-US" altLang="zh-CN" sz="1350" b="1">
              <a:solidFill>
                <a:srgbClr val="FFFF00"/>
              </a:solidFill>
            </a:endParaRPr>
          </a:p>
        </p:txBody>
      </p:sp>
      <p:cxnSp>
        <p:nvCxnSpPr>
          <p:cNvPr id="287795" name="AutoShape 51"/>
          <p:cNvCxnSpPr>
            <a:cxnSpLocks noChangeShapeType="1"/>
            <a:stCxn id="287780" idx="5"/>
            <a:endCxn id="287794" idx="0"/>
          </p:cNvCxnSpPr>
          <p:nvPr/>
        </p:nvCxnSpPr>
        <p:spPr bwMode="auto">
          <a:xfrm>
            <a:off x="6730604" y="2969419"/>
            <a:ext cx="245269" cy="32504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右箭头 44"/>
          <p:cNvSpPr/>
          <p:nvPr/>
        </p:nvSpPr>
        <p:spPr>
          <a:xfrm>
            <a:off x="4031940" y="2672916"/>
            <a:ext cx="648072" cy="3496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RL</a:t>
            </a:r>
            <a:endParaRPr lang="en-US" altLang="zh-CN" sz="1350" dirty="0"/>
          </a:p>
        </p:txBody>
      </p: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87774"/>
                                        </p:tgtEl>
                                        <p:attrNameLst>
                                          <p:attrName>style.visibility</p:attrName>
                                        </p:attrNameLst>
                                      </p:cBhvr>
                                      <p:to>
                                        <p:strVal val="visible"/>
                                      </p:to>
                                    </p:set>
                                    <p:animEffect transition="in" filter="fade">
                                      <p:cBhvr>
                                        <p:cTn id="7" dur="1000"/>
                                        <p:tgtEl>
                                          <p:spTgt spid="287774"/>
                                        </p:tgtEl>
                                      </p:cBhvr>
                                    </p:animEffect>
                                    <p:anim calcmode="lin" valueType="num">
                                      <p:cBhvr>
                                        <p:cTn id="8" dur="1000" fill="hold"/>
                                        <p:tgtEl>
                                          <p:spTgt spid="287774"/>
                                        </p:tgtEl>
                                        <p:attrNameLst>
                                          <p:attrName>ppt_x</p:attrName>
                                        </p:attrNameLst>
                                      </p:cBhvr>
                                      <p:tavLst>
                                        <p:tav tm="0">
                                          <p:val>
                                            <p:strVal val="#ppt_x"/>
                                          </p:val>
                                        </p:tav>
                                        <p:tav tm="100000">
                                          <p:val>
                                            <p:strVal val="#ppt_x"/>
                                          </p:val>
                                        </p:tav>
                                      </p:tavLst>
                                    </p:anim>
                                    <p:anim calcmode="lin" valueType="num">
                                      <p:cBhvr>
                                        <p:cTn id="9" dur="1000" fill="hold"/>
                                        <p:tgtEl>
                                          <p:spTgt spid="28777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87773"/>
                                        </p:tgtEl>
                                        <p:attrNameLst>
                                          <p:attrName>style.visibility</p:attrName>
                                        </p:attrNameLst>
                                      </p:cBhvr>
                                      <p:to>
                                        <p:strVal val="visible"/>
                                      </p:to>
                                    </p:set>
                                    <p:animEffect transition="in" filter="fade">
                                      <p:cBhvr>
                                        <p:cTn id="12" dur="1000"/>
                                        <p:tgtEl>
                                          <p:spTgt spid="287773"/>
                                        </p:tgtEl>
                                      </p:cBhvr>
                                    </p:animEffect>
                                    <p:anim calcmode="lin" valueType="num">
                                      <p:cBhvr>
                                        <p:cTn id="13" dur="1000" fill="hold"/>
                                        <p:tgtEl>
                                          <p:spTgt spid="287773"/>
                                        </p:tgtEl>
                                        <p:attrNameLst>
                                          <p:attrName>ppt_x</p:attrName>
                                        </p:attrNameLst>
                                      </p:cBhvr>
                                      <p:tavLst>
                                        <p:tav tm="0">
                                          <p:val>
                                            <p:strVal val="#ppt_x"/>
                                          </p:val>
                                        </p:tav>
                                        <p:tav tm="100000">
                                          <p:val>
                                            <p:strVal val="#ppt_x"/>
                                          </p:val>
                                        </p:tav>
                                      </p:tavLst>
                                    </p:anim>
                                    <p:anim calcmode="lin" valueType="num">
                                      <p:cBhvr>
                                        <p:cTn id="14" dur="1000" fill="hold"/>
                                        <p:tgtEl>
                                          <p:spTgt spid="28777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287776"/>
                                        </p:tgtEl>
                                        <p:attrNameLst>
                                          <p:attrName>style.visibility</p:attrName>
                                        </p:attrNameLst>
                                      </p:cBhvr>
                                      <p:to>
                                        <p:strVal val="visible"/>
                                      </p:to>
                                    </p:set>
                                    <p:animEffect transition="in" filter="fade">
                                      <p:cBhvr>
                                        <p:cTn id="19" dur="1000"/>
                                        <p:tgtEl>
                                          <p:spTgt spid="287776"/>
                                        </p:tgtEl>
                                      </p:cBhvr>
                                    </p:animEffect>
                                    <p:anim calcmode="lin" valueType="num">
                                      <p:cBhvr>
                                        <p:cTn id="20" dur="1000" fill="hold"/>
                                        <p:tgtEl>
                                          <p:spTgt spid="287776"/>
                                        </p:tgtEl>
                                        <p:attrNameLst>
                                          <p:attrName>ppt_x</p:attrName>
                                        </p:attrNameLst>
                                      </p:cBhvr>
                                      <p:tavLst>
                                        <p:tav tm="0">
                                          <p:val>
                                            <p:strVal val="#ppt_x"/>
                                          </p:val>
                                        </p:tav>
                                        <p:tav tm="100000">
                                          <p:val>
                                            <p:strVal val="#ppt_x"/>
                                          </p:val>
                                        </p:tav>
                                      </p:tavLst>
                                    </p:anim>
                                    <p:anim calcmode="lin" valueType="num">
                                      <p:cBhvr>
                                        <p:cTn id="21" dur="1000" fill="hold"/>
                                        <p:tgtEl>
                                          <p:spTgt spid="287776"/>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287775"/>
                                        </p:tgtEl>
                                        <p:attrNameLst>
                                          <p:attrName>style.visibility</p:attrName>
                                        </p:attrNameLst>
                                      </p:cBhvr>
                                      <p:to>
                                        <p:strVal val="visible"/>
                                      </p:to>
                                    </p:set>
                                    <p:animEffect transition="in" filter="fade">
                                      <p:cBhvr>
                                        <p:cTn id="24" dur="1000"/>
                                        <p:tgtEl>
                                          <p:spTgt spid="287775"/>
                                        </p:tgtEl>
                                      </p:cBhvr>
                                    </p:animEffect>
                                    <p:anim calcmode="lin" valueType="num">
                                      <p:cBhvr>
                                        <p:cTn id="25" dur="1000" fill="hold"/>
                                        <p:tgtEl>
                                          <p:spTgt spid="287775"/>
                                        </p:tgtEl>
                                        <p:attrNameLst>
                                          <p:attrName>ppt_x</p:attrName>
                                        </p:attrNameLst>
                                      </p:cBhvr>
                                      <p:tavLst>
                                        <p:tav tm="0">
                                          <p:val>
                                            <p:strVal val="#ppt_x"/>
                                          </p:val>
                                        </p:tav>
                                        <p:tav tm="100000">
                                          <p:val>
                                            <p:strVal val="#ppt_x"/>
                                          </p:val>
                                        </p:tav>
                                      </p:tavLst>
                                    </p:anim>
                                    <p:anim calcmode="lin" valueType="num">
                                      <p:cBhvr>
                                        <p:cTn id="26" dur="1000" fill="hold"/>
                                        <p:tgtEl>
                                          <p:spTgt spid="287775"/>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28776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left)">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87777"/>
                                        </p:tgtEl>
                                        <p:attrNameLst>
                                          <p:attrName>style.visibility</p:attrName>
                                        </p:attrNameLst>
                                      </p:cBhvr>
                                      <p:to>
                                        <p:strVal val="visible"/>
                                      </p:to>
                                    </p:set>
                                    <p:animEffect transition="in" filter="fade">
                                      <p:cBhvr>
                                        <p:cTn id="39" dur="500"/>
                                        <p:tgtEl>
                                          <p:spTgt spid="28777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7778"/>
                                        </p:tgtEl>
                                        <p:attrNameLst>
                                          <p:attrName>style.visibility</p:attrName>
                                        </p:attrNameLst>
                                      </p:cBhvr>
                                      <p:to>
                                        <p:strVal val="visible"/>
                                      </p:to>
                                    </p:set>
                                    <p:animEffect transition="in" filter="fade">
                                      <p:cBhvr>
                                        <p:cTn id="42" dur="500"/>
                                        <p:tgtEl>
                                          <p:spTgt spid="287778"/>
                                        </p:tgtEl>
                                      </p:cBhvr>
                                    </p:animEffect>
                                  </p:childTnLst>
                                </p:cTn>
                              </p:par>
                              <p:par>
                                <p:cTn id="43" presetID="10" presetClass="entr" presetSubtype="0" fill="hold" nodeType="withEffect">
                                  <p:stCondLst>
                                    <p:cond delay="0"/>
                                  </p:stCondLst>
                                  <p:childTnLst>
                                    <p:set>
                                      <p:cBhvr>
                                        <p:cTn id="44" dur="1" fill="hold">
                                          <p:stCondLst>
                                            <p:cond delay="0"/>
                                          </p:stCondLst>
                                        </p:cTn>
                                        <p:tgtEl>
                                          <p:spTgt spid="287779"/>
                                        </p:tgtEl>
                                        <p:attrNameLst>
                                          <p:attrName>style.visibility</p:attrName>
                                        </p:attrNameLst>
                                      </p:cBhvr>
                                      <p:to>
                                        <p:strVal val="visible"/>
                                      </p:to>
                                    </p:set>
                                    <p:animEffect transition="in" filter="fade">
                                      <p:cBhvr>
                                        <p:cTn id="45" dur="500"/>
                                        <p:tgtEl>
                                          <p:spTgt spid="28777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7780"/>
                                        </p:tgtEl>
                                        <p:attrNameLst>
                                          <p:attrName>style.visibility</p:attrName>
                                        </p:attrNameLst>
                                      </p:cBhvr>
                                      <p:to>
                                        <p:strVal val="visible"/>
                                      </p:to>
                                    </p:set>
                                    <p:animEffect transition="in" filter="fade">
                                      <p:cBhvr>
                                        <p:cTn id="48" dur="500"/>
                                        <p:tgtEl>
                                          <p:spTgt spid="287780"/>
                                        </p:tgtEl>
                                      </p:cBhvr>
                                    </p:animEffect>
                                  </p:childTnLst>
                                </p:cTn>
                              </p:par>
                              <p:par>
                                <p:cTn id="49" presetID="10" presetClass="entr" presetSubtype="0" fill="hold" nodeType="withEffect">
                                  <p:stCondLst>
                                    <p:cond delay="0"/>
                                  </p:stCondLst>
                                  <p:childTnLst>
                                    <p:set>
                                      <p:cBhvr>
                                        <p:cTn id="50" dur="1" fill="hold">
                                          <p:stCondLst>
                                            <p:cond delay="0"/>
                                          </p:stCondLst>
                                        </p:cTn>
                                        <p:tgtEl>
                                          <p:spTgt spid="287781"/>
                                        </p:tgtEl>
                                        <p:attrNameLst>
                                          <p:attrName>style.visibility</p:attrName>
                                        </p:attrNameLst>
                                      </p:cBhvr>
                                      <p:to>
                                        <p:strVal val="visible"/>
                                      </p:to>
                                    </p:set>
                                    <p:animEffect transition="in" filter="fade">
                                      <p:cBhvr>
                                        <p:cTn id="51" dur="500"/>
                                        <p:tgtEl>
                                          <p:spTgt spid="28778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7782"/>
                                        </p:tgtEl>
                                        <p:attrNameLst>
                                          <p:attrName>style.visibility</p:attrName>
                                        </p:attrNameLst>
                                      </p:cBhvr>
                                      <p:to>
                                        <p:strVal val="visible"/>
                                      </p:to>
                                    </p:set>
                                    <p:animEffect transition="in" filter="fade">
                                      <p:cBhvr>
                                        <p:cTn id="54" dur="500"/>
                                        <p:tgtEl>
                                          <p:spTgt spid="287782"/>
                                        </p:tgtEl>
                                      </p:cBhvr>
                                    </p:animEffect>
                                  </p:childTnLst>
                                </p:cTn>
                              </p:par>
                              <p:par>
                                <p:cTn id="55" presetID="10" presetClass="entr" presetSubtype="0" fill="hold" nodeType="withEffect">
                                  <p:stCondLst>
                                    <p:cond delay="0"/>
                                  </p:stCondLst>
                                  <p:childTnLst>
                                    <p:set>
                                      <p:cBhvr>
                                        <p:cTn id="56" dur="1" fill="hold">
                                          <p:stCondLst>
                                            <p:cond delay="0"/>
                                          </p:stCondLst>
                                        </p:cTn>
                                        <p:tgtEl>
                                          <p:spTgt spid="287783"/>
                                        </p:tgtEl>
                                        <p:attrNameLst>
                                          <p:attrName>style.visibility</p:attrName>
                                        </p:attrNameLst>
                                      </p:cBhvr>
                                      <p:to>
                                        <p:strVal val="visible"/>
                                      </p:to>
                                    </p:set>
                                    <p:animEffect transition="in" filter="fade">
                                      <p:cBhvr>
                                        <p:cTn id="57" dur="500"/>
                                        <p:tgtEl>
                                          <p:spTgt spid="28778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7784"/>
                                        </p:tgtEl>
                                        <p:attrNameLst>
                                          <p:attrName>style.visibility</p:attrName>
                                        </p:attrNameLst>
                                      </p:cBhvr>
                                      <p:to>
                                        <p:strVal val="visible"/>
                                      </p:to>
                                    </p:set>
                                    <p:animEffect transition="in" filter="fade">
                                      <p:cBhvr>
                                        <p:cTn id="60" dur="500"/>
                                        <p:tgtEl>
                                          <p:spTgt spid="287784"/>
                                        </p:tgtEl>
                                      </p:cBhvr>
                                    </p:animEffect>
                                  </p:childTnLst>
                                </p:cTn>
                              </p:par>
                              <p:par>
                                <p:cTn id="61" presetID="10" presetClass="entr" presetSubtype="0" fill="hold" nodeType="withEffect">
                                  <p:stCondLst>
                                    <p:cond delay="0"/>
                                  </p:stCondLst>
                                  <p:childTnLst>
                                    <p:set>
                                      <p:cBhvr>
                                        <p:cTn id="62" dur="1" fill="hold">
                                          <p:stCondLst>
                                            <p:cond delay="0"/>
                                          </p:stCondLst>
                                        </p:cTn>
                                        <p:tgtEl>
                                          <p:spTgt spid="287785"/>
                                        </p:tgtEl>
                                        <p:attrNameLst>
                                          <p:attrName>style.visibility</p:attrName>
                                        </p:attrNameLst>
                                      </p:cBhvr>
                                      <p:to>
                                        <p:strVal val="visible"/>
                                      </p:to>
                                    </p:set>
                                    <p:animEffect transition="in" filter="fade">
                                      <p:cBhvr>
                                        <p:cTn id="63" dur="500"/>
                                        <p:tgtEl>
                                          <p:spTgt spid="28778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87786"/>
                                        </p:tgtEl>
                                        <p:attrNameLst>
                                          <p:attrName>style.visibility</p:attrName>
                                        </p:attrNameLst>
                                      </p:cBhvr>
                                      <p:to>
                                        <p:strVal val="visible"/>
                                      </p:to>
                                    </p:set>
                                    <p:animEffect transition="in" filter="fade">
                                      <p:cBhvr>
                                        <p:cTn id="66" dur="500"/>
                                        <p:tgtEl>
                                          <p:spTgt spid="287786"/>
                                        </p:tgtEl>
                                      </p:cBhvr>
                                    </p:animEffect>
                                  </p:childTnLst>
                                </p:cTn>
                              </p:par>
                              <p:par>
                                <p:cTn id="67" presetID="10" presetClass="entr" presetSubtype="0" fill="hold" nodeType="withEffect">
                                  <p:stCondLst>
                                    <p:cond delay="0"/>
                                  </p:stCondLst>
                                  <p:childTnLst>
                                    <p:set>
                                      <p:cBhvr>
                                        <p:cTn id="68" dur="1" fill="hold">
                                          <p:stCondLst>
                                            <p:cond delay="0"/>
                                          </p:stCondLst>
                                        </p:cTn>
                                        <p:tgtEl>
                                          <p:spTgt spid="287787"/>
                                        </p:tgtEl>
                                        <p:attrNameLst>
                                          <p:attrName>style.visibility</p:attrName>
                                        </p:attrNameLst>
                                      </p:cBhvr>
                                      <p:to>
                                        <p:strVal val="visible"/>
                                      </p:to>
                                    </p:set>
                                    <p:animEffect transition="in" filter="fade">
                                      <p:cBhvr>
                                        <p:cTn id="69" dur="500"/>
                                        <p:tgtEl>
                                          <p:spTgt spid="28778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7788"/>
                                        </p:tgtEl>
                                        <p:attrNameLst>
                                          <p:attrName>style.visibility</p:attrName>
                                        </p:attrNameLst>
                                      </p:cBhvr>
                                      <p:to>
                                        <p:strVal val="visible"/>
                                      </p:to>
                                    </p:set>
                                    <p:animEffect transition="in" filter="fade">
                                      <p:cBhvr>
                                        <p:cTn id="72" dur="500"/>
                                        <p:tgtEl>
                                          <p:spTgt spid="287788"/>
                                        </p:tgtEl>
                                      </p:cBhvr>
                                    </p:animEffect>
                                  </p:childTnLst>
                                </p:cTn>
                              </p:par>
                              <p:par>
                                <p:cTn id="73" presetID="10" presetClass="entr" presetSubtype="0" fill="hold" nodeType="withEffect">
                                  <p:stCondLst>
                                    <p:cond delay="0"/>
                                  </p:stCondLst>
                                  <p:childTnLst>
                                    <p:set>
                                      <p:cBhvr>
                                        <p:cTn id="74" dur="1" fill="hold">
                                          <p:stCondLst>
                                            <p:cond delay="0"/>
                                          </p:stCondLst>
                                        </p:cTn>
                                        <p:tgtEl>
                                          <p:spTgt spid="287789"/>
                                        </p:tgtEl>
                                        <p:attrNameLst>
                                          <p:attrName>style.visibility</p:attrName>
                                        </p:attrNameLst>
                                      </p:cBhvr>
                                      <p:to>
                                        <p:strVal val="visible"/>
                                      </p:to>
                                    </p:set>
                                    <p:animEffect transition="in" filter="fade">
                                      <p:cBhvr>
                                        <p:cTn id="75" dur="500"/>
                                        <p:tgtEl>
                                          <p:spTgt spid="28778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7790"/>
                                        </p:tgtEl>
                                        <p:attrNameLst>
                                          <p:attrName>style.visibility</p:attrName>
                                        </p:attrNameLst>
                                      </p:cBhvr>
                                      <p:to>
                                        <p:strVal val="visible"/>
                                      </p:to>
                                    </p:set>
                                    <p:animEffect transition="in" filter="fade">
                                      <p:cBhvr>
                                        <p:cTn id="78" dur="500"/>
                                        <p:tgtEl>
                                          <p:spTgt spid="287790"/>
                                        </p:tgtEl>
                                      </p:cBhvr>
                                    </p:animEffect>
                                  </p:childTnLst>
                                </p:cTn>
                              </p:par>
                              <p:par>
                                <p:cTn id="79" presetID="10" presetClass="entr" presetSubtype="0" fill="hold" nodeType="withEffect">
                                  <p:stCondLst>
                                    <p:cond delay="0"/>
                                  </p:stCondLst>
                                  <p:childTnLst>
                                    <p:set>
                                      <p:cBhvr>
                                        <p:cTn id="80" dur="1" fill="hold">
                                          <p:stCondLst>
                                            <p:cond delay="0"/>
                                          </p:stCondLst>
                                        </p:cTn>
                                        <p:tgtEl>
                                          <p:spTgt spid="287791"/>
                                        </p:tgtEl>
                                        <p:attrNameLst>
                                          <p:attrName>style.visibility</p:attrName>
                                        </p:attrNameLst>
                                      </p:cBhvr>
                                      <p:to>
                                        <p:strVal val="visible"/>
                                      </p:to>
                                    </p:set>
                                    <p:animEffect transition="in" filter="fade">
                                      <p:cBhvr>
                                        <p:cTn id="81" dur="500"/>
                                        <p:tgtEl>
                                          <p:spTgt spid="28779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7792"/>
                                        </p:tgtEl>
                                        <p:attrNameLst>
                                          <p:attrName>style.visibility</p:attrName>
                                        </p:attrNameLst>
                                      </p:cBhvr>
                                      <p:to>
                                        <p:strVal val="visible"/>
                                      </p:to>
                                    </p:set>
                                    <p:animEffect transition="in" filter="fade">
                                      <p:cBhvr>
                                        <p:cTn id="84" dur="500"/>
                                        <p:tgtEl>
                                          <p:spTgt spid="287792"/>
                                        </p:tgtEl>
                                      </p:cBhvr>
                                    </p:animEffect>
                                  </p:childTnLst>
                                </p:cTn>
                              </p:par>
                              <p:par>
                                <p:cTn id="85" presetID="10" presetClass="entr" presetSubtype="0" fill="hold" nodeType="withEffect">
                                  <p:stCondLst>
                                    <p:cond delay="0"/>
                                  </p:stCondLst>
                                  <p:childTnLst>
                                    <p:set>
                                      <p:cBhvr>
                                        <p:cTn id="86" dur="1" fill="hold">
                                          <p:stCondLst>
                                            <p:cond delay="0"/>
                                          </p:stCondLst>
                                        </p:cTn>
                                        <p:tgtEl>
                                          <p:spTgt spid="287793"/>
                                        </p:tgtEl>
                                        <p:attrNameLst>
                                          <p:attrName>style.visibility</p:attrName>
                                        </p:attrNameLst>
                                      </p:cBhvr>
                                      <p:to>
                                        <p:strVal val="visible"/>
                                      </p:to>
                                    </p:set>
                                    <p:animEffect transition="in" filter="fade">
                                      <p:cBhvr>
                                        <p:cTn id="87" dur="500"/>
                                        <p:tgtEl>
                                          <p:spTgt spid="28779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87794"/>
                                        </p:tgtEl>
                                        <p:attrNameLst>
                                          <p:attrName>style.visibility</p:attrName>
                                        </p:attrNameLst>
                                      </p:cBhvr>
                                      <p:to>
                                        <p:strVal val="visible"/>
                                      </p:to>
                                    </p:set>
                                    <p:animEffect transition="in" filter="fade">
                                      <p:cBhvr>
                                        <p:cTn id="90" dur="500"/>
                                        <p:tgtEl>
                                          <p:spTgt spid="287794"/>
                                        </p:tgtEl>
                                      </p:cBhvr>
                                    </p:animEffect>
                                  </p:childTnLst>
                                </p:cTn>
                              </p:par>
                              <p:par>
                                <p:cTn id="91" presetID="10" presetClass="entr" presetSubtype="0" fill="hold" nodeType="withEffect">
                                  <p:stCondLst>
                                    <p:cond delay="0"/>
                                  </p:stCondLst>
                                  <p:childTnLst>
                                    <p:set>
                                      <p:cBhvr>
                                        <p:cTn id="92" dur="1" fill="hold">
                                          <p:stCondLst>
                                            <p:cond delay="0"/>
                                          </p:stCondLst>
                                        </p:cTn>
                                        <p:tgtEl>
                                          <p:spTgt spid="287795"/>
                                        </p:tgtEl>
                                        <p:attrNameLst>
                                          <p:attrName>style.visibility</p:attrName>
                                        </p:attrNameLst>
                                      </p:cBhvr>
                                      <p:to>
                                        <p:strVal val="visible"/>
                                      </p:to>
                                    </p:set>
                                    <p:animEffect transition="in" filter="fade">
                                      <p:cBhvr>
                                        <p:cTn id="93" dur="500"/>
                                        <p:tgtEl>
                                          <p:spTgt spid="287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63" grpId="0" bldLvl="0" animBg="1"/>
      <p:bldP spid="287773" grpId="0" bldLvl="0" animBg="1"/>
      <p:bldP spid="287775" grpId="0" bldLvl="0" animBg="1"/>
      <p:bldP spid="287777" grpId="0" bldLvl="0" animBg="1"/>
      <p:bldP spid="287778" grpId="0" bldLvl="0" animBg="1"/>
      <p:bldP spid="287780" grpId="0" bldLvl="0" animBg="1"/>
      <p:bldP spid="287782" grpId="0" bldLvl="0" animBg="1"/>
      <p:bldP spid="287784" grpId="0" bldLvl="0" animBg="1"/>
      <p:bldP spid="287786" grpId="0" bldLvl="0" animBg="1"/>
      <p:bldP spid="287788" grpId="0" bldLvl="0" animBg="1"/>
      <p:bldP spid="287790" grpId="0" bldLvl="0" animBg="1"/>
      <p:bldP spid="287792" grpId="0" bldLvl="0" animBg="1"/>
      <p:bldP spid="287794" grpId="0" bldLvl="0" animBg="1"/>
      <p:bldP spid="4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AVL tree</a:t>
            </a:r>
            <a:endParaRPr lang="zh-CN" altLang="en-US"/>
          </a:p>
        </p:txBody>
      </p:sp>
      <p:sp>
        <p:nvSpPr>
          <p:cNvPr id="47" name="Oval 12"/>
          <p:cNvSpPr>
            <a:spLocks noChangeArrowheads="1"/>
          </p:cNvSpPr>
          <p:nvPr/>
        </p:nvSpPr>
        <p:spPr bwMode="auto">
          <a:xfrm>
            <a:off x="2249742" y="202525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Jan</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sp>
        <p:nvSpPr>
          <p:cNvPr id="288772" name="Oval 4"/>
          <p:cNvSpPr>
            <a:spLocks noChangeArrowheads="1"/>
          </p:cNvSpPr>
          <p:nvPr/>
        </p:nvSpPr>
        <p:spPr bwMode="auto">
          <a:xfrm>
            <a:off x="3006329" y="4670822"/>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Nov</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73" name="AutoShape 5"/>
          <p:cNvCxnSpPr>
            <a:cxnSpLocks noChangeShapeType="1"/>
            <a:stCxn id="288783" idx="5"/>
            <a:endCxn id="288772" idx="0"/>
          </p:cNvCxnSpPr>
          <p:nvPr/>
        </p:nvCxnSpPr>
        <p:spPr bwMode="auto">
          <a:xfrm>
            <a:off x="3112981" y="4317893"/>
            <a:ext cx="82062" cy="35292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76" name="Oval 8"/>
          <p:cNvSpPr>
            <a:spLocks noChangeArrowheads="1"/>
          </p:cNvSpPr>
          <p:nvPr/>
        </p:nvSpPr>
        <p:spPr bwMode="auto">
          <a:xfrm>
            <a:off x="2250281" y="2025254"/>
            <a:ext cx="377429" cy="377428"/>
          </a:xfrm>
          <a:prstGeom prst="ellipse">
            <a:avLst/>
          </a:prstGeom>
          <a:solidFill>
            <a:srgbClr val="FF0000"/>
          </a:solidFill>
          <a:ln w="38100">
            <a:solidFill>
              <a:srgbClr val="FFFF00"/>
            </a:solidFill>
            <a:round/>
          </a:ln>
          <a:effec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Jan</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sp>
        <p:nvSpPr>
          <p:cNvPr id="288777" name="Oval 9"/>
          <p:cNvSpPr>
            <a:spLocks noChangeArrowheads="1"/>
          </p:cNvSpPr>
          <p:nvPr/>
        </p:nvSpPr>
        <p:spPr bwMode="auto">
          <a:xfrm>
            <a:off x="1980010"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Feb</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78" name="AutoShape 10"/>
          <p:cNvCxnSpPr>
            <a:cxnSpLocks noChangeShapeType="1"/>
            <a:stCxn id="288789" idx="5"/>
            <a:endCxn id="288777" idx="0"/>
          </p:cNvCxnSpPr>
          <p:nvPr/>
        </p:nvCxnSpPr>
        <p:spPr bwMode="auto">
          <a:xfrm>
            <a:off x="2086662" y="2968915"/>
            <a:ext cx="82062"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79" name="Oval 11"/>
          <p:cNvSpPr>
            <a:spLocks noChangeArrowheads="1"/>
          </p:cNvSpPr>
          <p:nvPr/>
        </p:nvSpPr>
        <p:spPr bwMode="auto">
          <a:xfrm>
            <a:off x="2736056"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Mar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8780" name="AutoShape 12"/>
          <p:cNvCxnSpPr>
            <a:cxnSpLocks noChangeShapeType="1"/>
            <a:stCxn id="288776" idx="5"/>
            <a:endCxn id="288779" idx="0"/>
          </p:cNvCxnSpPr>
          <p:nvPr/>
        </p:nvCxnSpPr>
        <p:spPr bwMode="auto">
          <a:xfrm>
            <a:off x="2572437"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1" name="Oval 13"/>
          <p:cNvSpPr>
            <a:spLocks noChangeArrowheads="1"/>
          </p:cNvSpPr>
          <p:nvPr/>
        </p:nvSpPr>
        <p:spPr bwMode="auto">
          <a:xfrm>
            <a:off x="1494235"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Apr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8782" name="AutoShape 14"/>
          <p:cNvCxnSpPr>
            <a:cxnSpLocks noChangeShapeType="1"/>
            <a:stCxn id="288789" idx="3"/>
            <a:endCxn id="288781" idx="0"/>
          </p:cNvCxnSpPr>
          <p:nvPr/>
        </p:nvCxnSpPr>
        <p:spPr bwMode="auto">
          <a:xfrm flipH="1">
            <a:off x="1682949" y="2968915"/>
            <a:ext cx="136830"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3" name="Oval 15"/>
          <p:cNvSpPr>
            <a:spLocks noChangeArrowheads="1"/>
          </p:cNvSpPr>
          <p:nvPr/>
        </p:nvSpPr>
        <p:spPr bwMode="auto">
          <a:xfrm>
            <a:off x="2790825"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May</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84" name="AutoShape 16"/>
          <p:cNvCxnSpPr>
            <a:cxnSpLocks noChangeShapeType="1"/>
            <a:stCxn id="288793" idx="3"/>
            <a:endCxn id="288783" idx="0"/>
          </p:cNvCxnSpPr>
          <p:nvPr/>
        </p:nvCxnSpPr>
        <p:spPr bwMode="auto">
          <a:xfrm flipH="1">
            <a:off x="2979539" y="3616615"/>
            <a:ext cx="190409"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5" name="Oval 17"/>
          <p:cNvSpPr>
            <a:spLocks noChangeArrowheads="1"/>
          </p:cNvSpPr>
          <p:nvPr/>
        </p:nvSpPr>
        <p:spPr bwMode="auto">
          <a:xfrm>
            <a:off x="2466975"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Jun</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86" name="AutoShape 18"/>
          <p:cNvCxnSpPr>
            <a:cxnSpLocks noChangeShapeType="1"/>
            <a:stCxn id="288779" idx="3"/>
            <a:endCxn id="288785" idx="0"/>
          </p:cNvCxnSpPr>
          <p:nvPr/>
        </p:nvCxnSpPr>
        <p:spPr bwMode="auto">
          <a:xfrm flipH="1">
            <a:off x="2655689" y="2968915"/>
            <a:ext cx="135640"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7" name="Oval 19"/>
          <p:cNvSpPr>
            <a:spLocks noChangeArrowheads="1"/>
          </p:cNvSpPr>
          <p:nvPr/>
        </p:nvSpPr>
        <p:spPr bwMode="auto">
          <a:xfrm>
            <a:off x="2194322"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Jul</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88" name="AutoShape 20"/>
          <p:cNvCxnSpPr>
            <a:cxnSpLocks noChangeShapeType="1"/>
            <a:stCxn id="288785" idx="3"/>
            <a:endCxn id="288787" idx="0"/>
          </p:cNvCxnSpPr>
          <p:nvPr/>
        </p:nvCxnSpPr>
        <p:spPr bwMode="auto">
          <a:xfrm flipH="1">
            <a:off x="2383037" y="3616615"/>
            <a:ext cx="13921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9" name="Oval 21"/>
          <p:cNvSpPr>
            <a:spLocks noChangeArrowheads="1"/>
          </p:cNvSpPr>
          <p:nvPr/>
        </p:nvSpPr>
        <p:spPr bwMode="auto">
          <a:xfrm>
            <a:off x="1764506"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Aug</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8790" name="AutoShape 22"/>
          <p:cNvCxnSpPr>
            <a:cxnSpLocks noChangeShapeType="1"/>
            <a:stCxn id="288776" idx="3"/>
            <a:endCxn id="288789" idx="0"/>
          </p:cNvCxnSpPr>
          <p:nvPr/>
        </p:nvCxnSpPr>
        <p:spPr bwMode="auto">
          <a:xfrm flipH="1">
            <a:off x="1953221" y="2347409"/>
            <a:ext cx="35233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1" name="Oval 23"/>
          <p:cNvSpPr>
            <a:spLocks noChangeArrowheads="1"/>
          </p:cNvSpPr>
          <p:nvPr/>
        </p:nvSpPr>
        <p:spPr bwMode="auto">
          <a:xfrm>
            <a:off x="3384947"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Sep</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92" name="AutoShape 24"/>
          <p:cNvCxnSpPr>
            <a:cxnSpLocks noChangeShapeType="1"/>
            <a:stCxn id="288793" idx="5"/>
            <a:endCxn id="288791" idx="0"/>
          </p:cNvCxnSpPr>
          <p:nvPr/>
        </p:nvCxnSpPr>
        <p:spPr bwMode="auto">
          <a:xfrm>
            <a:off x="3436831" y="3616615"/>
            <a:ext cx="13683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3" name="Oval 25"/>
          <p:cNvSpPr>
            <a:spLocks noChangeArrowheads="1"/>
          </p:cNvSpPr>
          <p:nvPr/>
        </p:nvSpPr>
        <p:spPr bwMode="auto">
          <a:xfrm>
            <a:off x="3114675"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Oct</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94" name="AutoShape 26"/>
          <p:cNvCxnSpPr>
            <a:cxnSpLocks noChangeShapeType="1"/>
            <a:stCxn id="288779" idx="5"/>
            <a:endCxn id="288793" idx="0"/>
          </p:cNvCxnSpPr>
          <p:nvPr/>
        </p:nvCxnSpPr>
        <p:spPr bwMode="auto">
          <a:xfrm>
            <a:off x="3058212" y="2968915"/>
            <a:ext cx="245177"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7" name="Oval 29"/>
          <p:cNvSpPr>
            <a:spLocks noChangeArrowheads="1"/>
          </p:cNvSpPr>
          <p:nvPr/>
        </p:nvSpPr>
        <p:spPr bwMode="auto">
          <a:xfrm>
            <a:off x="6786284"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Nov</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798" name="AutoShape 30"/>
          <p:cNvCxnSpPr>
            <a:cxnSpLocks noChangeShapeType="1"/>
            <a:stCxn id="288806" idx="5"/>
            <a:endCxn id="288797" idx="0"/>
          </p:cNvCxnSpPr>
          <p:nvPr/>
        </p:nvCxnSpPr>
        <p:spPr bwMode="auto">
          <a:xfrm>
            <a:off x="6892936" y="3616615"/>
            <a:ext cx="82062"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9" name="Oval 31"/>
          <p:cNvSpPr>
            <a:spLocks noChangeArrowheads="1"/>
          </p:cNvSpPr>
          <p:nvPr/>
        </p:nvSpPr>
        <p:spPr bwMode="auto">
          <a:xfrm>
            <a:off x="5436115" y="26467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Jan</a:t>
            </a:r>
            <a:endParaRPr lang="en-US" altLang="zh-CN" sz="1350" b="1">
              <a:solidFill>
                <a:srgbClr val="FFFF00"/>
              </a:solidFill>
              <a:latin typeface="Times New Roman" panose="02020603050405020304" pitchFamily="18" charset="0"/>
              <a:cs typeface="Times New Roman" panose="02020603050405020304" pitchFamily="18" charset="0"/>
            </a:endParaRPr>
          </a:p>
        </p:txBody>
      </p:sp>
      <p:sp>
        <p:nvSpPr>
          <p:cNvPr id="288800" name="Oval 32"/>
          <p:cNvSpPr>
            <a:spLocks noChangeArrowheads="1"/>
          </p:cNvSpPr>
          <p:nvPr/>
        </p:nvSpPr>
        <p:spPr bwMode="auto">
          <a:xfrm>
            <a:off x="5165843"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Feb</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01" name="AutoShape 33"/>
          <p:cNvCxnSpPr>
            <a:cxnSpLocks noChangeShapeType="1"/>
            <a:stCxn id="288812" idx="5"/>
            <a:endCxn id="288800" idx="0"/>
          </p:cNvCxnSpPr>
          <p:nvPr/>
        </p:nvCxnSpPr>
        <p:spPr bwMode="auto">
          <a:xfrm>
            <a:off x="5272495" y="3616615"/>
            <a:ext cx="82062"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02" name="Oval 34"/>
          <p:cNvSpPr>
            <a:spLocks noChangeArrowheads="1"/>
          </p:cNvSpPr>
          <p:nvPr/>
        </p:nvSpPr>
        <p:spPr bwMode="auto">
          <a:xfrm>
            <a:off x="6085005" y="2025253"/>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Mar</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03" name="AutoShape 35"/>
          <p:cNvCxnSpPr>
            <a:cxnSpLocks noChangeShapeType="1"/>
            <a:stCxn id="288799" idx="0"/>
            <a:endCxn id="288802" idx="3"/>
          </p:cNvCxnSpPr>
          <p:nvPr/>
        </p:nvCxnSpPr>
        <p:spPr bwMode="auto">
          <a:xfrm flipV="1">
            <a:off x="5624829" y="2347409"/>
            <a:ext cx="515449"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04" name="Oval 36"/>
          <p:cNvSpPr>
            <a:spLocks noChangeArrowheads="1"/>
          </p:cNvSpPr>
          <p:nvPr/>
        </p:nvSpPr>
        <p:spPr bwMode="auto">
          <a:xfrm>
            <a:off x="4680068" y="399573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Apr</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05" name="AutoShape 37"/>
          <p:cNvCxnSpPr>
            <a:cxnSpLocks noChangeShapeType="1"/>
            <a:stCxn id="288812" idx="3"/>
            <a:endCxn id="288804" idx="0"/>
          </p:cNvCxnSpPr>
          <p:nvPr/>
        </p:nvCxnSpPr>
        <p:spPr bwMode="auto">
          <a:xfrm flipH="1">
            <a:off x="4868782" y="3616615"/>
            <a:ext cx="13683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06" name="Oval 38"/>
          <p:cNvSpPr>
            <a:spLocks noChangeArrowheads="1"/>
          </p:cNvSpPr>
          <p:nvPr/>
        </p:nvSpPr>
        <p:spPr bwMode="auto">
          <a:xfrm>
            <a:off x="6570780"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May</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07" name="AutoShape 39"/>
          <p:cNvCxnSpPr>
            <a:cxnSpLocks noChangeShapeType="1"/>
            <a:stCxn id="288816" idx="3"/>
            <a:endCxn id="288806" idx="0"/>
          </p:cNvCxnSpPr>
          <p:nvPr/>
        </p:nvCxnSpPr>
        <p:spPr bwMode="auto">
          <a:xfrm flipH="1">
            <a:off x="6759494" y="2968915"/>
            <a:ext cx="190409"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08" name="Oval 40"/>
          <p:cNvSpPr>
            <a:spLocks noChangeArrowheads="1"/>
          </p:cNvSpPr>
          <p:nvPr/>
        </p:nvSpPr>
        <p:spPr bwMode="auto">
          <a:xfrm>
            <a:off x="5923080" y="32944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Jun</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09" name="AutoShape 41"/>
          <p:cNvCxnSpPr>
            <a:cxnSpLocks noChangeShapeType="1"/>
            <a:stCxn id="288799" idx="5"/>
            <a:endCxn id="288808" idx="0"/>
          </p:cNvCxnSpPr>
          <p:nvPr/>
        </p:nvCxnSpPr>
        <p:spPr bwMode="auto">
          <a:xfrm>
            <a:off x="5758270" y="2968915"/>
            <a:ext cx="353525"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0" name="Oval 42"/>
          <p:cNvSpPr>
            <a:spLocks noChangeArrowheads="1"/>
          </p:cNvSpPr>
          <p:nvPr/>
        </p:nvSpPr>
        <p:spPr bwMode="auto">
          <a:xfrm>
            <a:off x="5650427" y="399573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Jul</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11" name="AutoShape 43"/>
          <p:cNvCxnSpPr>
            <a:cxnSpLocks noChangeShapeType="1"/>
            <a:stCxn id="288808" idx="3"/>
            <a:endCxn id="288810" idx="0"/>
          </p:cNvCxnSpPr>
          <p:nvPr/>
        </p:nvCxnSpPr>
        <p:spPr bwMode="auto">
          <a:xfrm flipH="1">
            <a:off x="5839142" y="3616615"/>
            <a:ext cx="139211" cy="37912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2" name="Oval 44"/>
          <p:cNvSpPr>
            <a:spLocks noChangeArrowheads="1"/>
          </p:cNvSpPr>
          <p:nvPr/>
        </p:nvSpPr>
        <p:spPr bwMode="auto">
          <a:xfrm>
            <a:off x="4950340"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Aug</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13" name="AutoShape 45"/>
          <p:cNvCxnSpPr>
            <a:cxnSpLocks noChangeShapeType="1"/>
            <a:stCxn id="288799" idx="3"/>
            <a:endCxn id="288812" idx="0"/>
          </p:cNvCxnSpPr>
          <p:nvPr/>
        </p:nvCxnSpPr>
        <p:spPr bwMode="auto">
          <a:xfrm flipH="1">
            <a:off x="5139054" y="2968915"/>
            <a:ext cx="352334"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4" name="Oval 46"/>
          <p:cNvSpPr>
            <a:spLocks noChangeArrowheads="1"/>
          </p:cNvSpPr>
          <p:nvPr/>
        </p:nvSpPr>
        <p:spPr bwMode="auto">
          <a:xfrm>
            <a:off x="7164902" y="3294460"/>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Sep</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15" name="AutoShape 47"/>
          <p:cNvCxnSpPr>
            <a:cxnSpLocks noChangeShapeType="1"/>
            <a:stCxn id="288816" idx="5"/>
            <a:endCxn id="288814" idx="0"/>
          </p:cNvCxnSpPr>
          <p:nvPr/>
        </p:nvCxnSpPr>
        <p:spPr bwMode="auto">
          <a:xfrm>
            <a:off x="7216786" y="2968915"/>
            <a:ext cx="136831" cy="32554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6" name="Oval 48"/>
          <p:cNvSpPr>
            <a:spLocks noChangeArrowheads="1"/>
          </p:cNvSpPr>
          <p:nvPr/>
        </p:nvSpPr>
        <p:spPr bwMode="auto">
          <a:xfrm>
            <a:off x="6894630" y="2646760"/>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Oct</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8817" name="AutoShape 49"/>
          <p:cNvCxnSpPr>
            <a:cxnSpLocks noChangeShapeType="1"/>
            <a:stCxn id="288802" idx="5"/>
            <a:endCxn id="288816" idx="0"/>
          </p:cNvCxnSpPr>
          <p:nvPr/>
        </p:nvCxnSpPr>
        <p:spPr bwMode="auto">
          <a:xfrm>
            <a:off x="6407161" y="2347409"/>
            <a:ext cx="676184" cy="299351"/>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
        <p:nvSpPr>
          <p:cNvPr id="48" name="右箭头 47"/>
          <p:cNvSpPr/>
          <p:nvPr/>
        </p:nvSpPr>
        <p:spPr>
          <a:xfrm>
            <a:off x="4031940" y="2672916"/>
            <a:ext cx="648072" cy="3496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latin typeface="Times New Roman" panose="02020603050405020304" pitchFamily="18" charset="0"/>
                <a:cs typeface="Times New Roman" panose="02020603050405020304" pitchFamily="18" charset="0"/>
              </a:rPr>
              <a:t>Left</a:t>
            </a:r>
            <a:endParaRPr lang="en-US" altLang="zh-CN" sz="13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88773"/>
                                        </p:tgtEl>
                                        <p:attrNameLst>
                                          <p:attrName>style.visibility</p:attrName>
                                        </p:attrNameLst>
                                      </p:cBhvr>
                                      <p:to>
                                        <p:strVal val="visible"/>
                                      </p:to>
                                    </p:set>
                                    <p:animEffect transition="in" filter="fade">
                                      <p:cBhvr>
                                        <p:cTn id="7" dur="1000"/>
                                        <p:tgtEl>
                                          <p:spTgt spid="288773"/>
                                        </p:tgtEl>
                                      </p:cBhvr>
                                    </p:animEffect>
                                    <p:anim calcmode="lin" valueType="num">
                                      <p:cBhvr>
                                        <p:cTn id="8" dur="1000" fill="hold"/>
                                        <p:tgtEl>
                                          <p:spTgt spid="288773"/>
                                        </p:tgtEl>
                                        <p:attrNameLst>
                                          <p:attrName>ppt_x</p:attrName>
                                        </p:attrNameLst>
                                      </p:cBhvr>
                                      <p:tavLst>
                                        <p:tav tm="0">
                                          <p:val>
                                            <p:strVal val="#ppt_x"/>
                                          </p:val>
                                        </p:tav>
                                        <p:tav tm="100000">
                                          <p:val>
                                            <p:strVal val="#ppt_x"/>
                                          </p:val>
                                        </p:tav>
                                      </p:tavLst>
                                    </p:anim>
                                    <p:anim calcmode="lin" valueType="num">
                                      <p:cBhvr>
                                        <p:cTn id="9" dur="1000" fill="hold"/>
                                        <p:tgtEl>
                                          <p:spTgt spid="28877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88772"/>
                                        </p:tgtEl>
                                        <p:attrNameLst>
                                          <p:attrName>style.visibility</p:attrName>
                                        </p:attrNameLst>
                                      </p:cBhvr>
                                      <p:to>
                                        <p:strVal val="visible"/>
                                      </p:to>
                                    </p:set>
                                    <p:animEffect transition="in" filter="fade">
                                      <p:cBhvr>
                                        <p:cTn id="12" dur="1000"/>
                                        <p:tgtEl>
                                          <p:spTgt spid="288772"/>
                                        </p:tgtEl>
                                      </p:cBhvr>
                                    </p:animEffect>
                                    <p:anim calcmode="lin" valueType="num">
                                      <p:cBhvr>
                                        <p:cTn id="13" dur="1000" fill="hold"/>
                                        <p:tgtEl>
                                          <p:spTgt spid="288772"/>
                                        </p:tgtEl>
                                        <p:attrNameLst>
                                          <p:attrName>ppt_x</p:attrName>
                                        </p:attrNameLst>
                                      </p:cBhvr>
                                      <p:tavLst>
                                        <p:tav tm="0">
                                          <p:val>
                                            <p:strVal val="#ppt_x"/>
                                          </p:val>
                                        </p:tav>
                                        <p:tav tm="100000">
                                          <p:val>
                                            <p:strVal val="#ppt_x"/>
                                          </p:val>
                                        </p:tav>
                                      </p:tavLst>
                                    </p:anim>
                                    <p:anim calcmode="lin" valueType="num">
                                      <p:cBhvr>
                                        <p:cTn id="14" dur="1000" fill="hold"/>
                                        <p:tgtEl>
                                          <p:spTgt spid="28877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28877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8797"/>
                                        </p:tgtEl>
                                        <p:attrNameLst>
                                          <p:attrName>style.visibility</p:attrName>
                                        </p:attrNameLst>
                                      </p:cBhvr>
                                      <p:to>
                                        <p:strVal val="visible"/>
                                      </p:to>
                                    </p:set>
                                    <p:animEffect transition="in" filter="fade">
                                      <p:cBhvr>
                                        <p:cTn id="27" dur="500"/>
                                        <p:tgtEl>
                                          <p:spTgt spid="288797"/>
                                        </p:tgtEl>
                                      </p:cBhvr>
                                    </p:animEffect>
                                  </p:childTnLst>
                                </p:cTn>
                              </p:par>
                              <p:par>
                                <p:cTn id="28" presetID="10" presetClass="entr" presetSubtype="0" fill="hold" nodeType="withEffect">
                                  <p:stCondLst>
                                    <p:cond delay="0"/>
                                  </p:stCondLst>
                                  <p:childTnLst>
                                    <p:set>
                                      <p:cBhvr>
                                        <p:cTn id="29" dur="1" fill="hold">
                                          <p:stCondLst>
                                            <p:cond delay="0"/>
                                          </p:stCondLst>
                                        </p:cTn>
                                        <p:tgtEl>
                                          <p:spTgt spid="288798"/>
                                        </p:tgtEl>
                                        <p:attrNameLst>
                                          <p:attrName>style.visibility</p:attrName>
                                        </p:attrNameLst>
                                      </p:cBhvr>
                                      <p:to>
                                        <p:strVal val="visible"/>
                                      </p:to>
                                    </p:set>
                                    <p:animEffect transition="in" filter="fade">
                                      <p:cBhvr>
                                        <p:cTn id="30" dur="500"/>
                                        <p:tgtEl>
                                          <p:spTgt spid="28879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8799"/>
                                        </p:tgtEl>
                                        <p:attrNameLst>
                                          <p:attrName>style.visibility</p:attrName>
                                        </p:attrNameLst>
                                      </p:cBhvr>
                                      <p:to>
                                        <p:strVal val="visible"/>
                                      </p:to>
                                    </p:set>
                                    <p:animEffect transition="in" filter="fade">
                                      <p:cBhvr>
                                        <p:cTn id="33" dur="500"/>
                                        <p:tgtEl>
                                          <p:spTgt spid="28879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8800"/>
                                        </p:tgtEl>
                                        <p:attrNameLst>
                                          <p:attrName>style.visibility</p:attrName>
                                        </p:attrNameLst>
                                      </p:cBhvr>
                                      <p:to>
                                        <p:strVal val="visible"/>
                                      </p:to>
                                    </p:set>
                                    <p:animEffect transition="in" filter="fade">
                                      <p:cBhvr>
                                        <p:cTn id="36" dur="500"/>
                                        <p:tgtEl>
                                          <p:spTgt spid="288800"/>
                                        </p:tgtEl>
                                      </p:cBhvr>
                                    </p:animEffect>
                                  </p:childTnLst>
                                </p:cTn>
                              </p:par>
                              <p:par>
                                <p:cTn id="37" presetID="10" presetClass="entr" presetSubtype="0" fill="hold" nodeType="withEffect">
                                  <p:stCondLst>
                                    <p:cond delay="0"/>
                                  </p:stCondLst>
                                  <p:childTnLst>
                                    <p:set>
                                      <p:cBhvr>
                                        <p:cTn id="38" dur="1" fill="hold">
                                          <p:stCondLst>
                                            <p:cond delay="0"/>
                                          </p:stCondLst>
                                        </p:cTn>
                                        <p:tgtEl>
                                          <p:spTgt spid="288801"/>
                                        </p:tgtEl>
                                        <p:attrNameLst>
                                          <p:attrName>style.visibility</p:attrName>
                                        </p:attrNameLst>
                                      </p:cBhvr>
                                      <p:to>
                                        <p:strVal val="visible"/>
                                      </p:to>
                                    </p:set>
                                    <p:animEffect transition="in" filter="fade">
                                      <p:cBhvr>
                                        <p:cTn id="39" dur="500"/>
                                        <p:tgtEl>
                                          <p:spTgt spid="28880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8802"/>
                                        </p:tgtEl>
                                        <p:attrNameLst>
                                          <p:attrName>style.visibility</p:attrName>
                                        </p:attrNameLst>
                                      </p:cBhvr>
                                      <p:to>
                                        <p:strVal val="visible"/>
                                      </p:to>
                                    </p:set>
                                    <p:animEffect transition="in" filter="fade">
                                      <p:cBhvr>
                                        <p:cTn id="42" dur="500"/>
                                        <p:tgtEl>
                                          <p:spTgt spid="288802"/>
                                        </p:tgtEl>
                                      </p:cBhvr>
                                    </p:animEffect>
                                  </p:childTnLst>
                                </p:cTn>
                              </p:par>
                              <p:par>
                                <p:cTn id="43" presetID="10" presetClass="entr" presetSubtype="0" fill="hold" nodeType="withEffect">
                                  <p:stCondLst>
                                    <p:cond delay="0"/>
                                  </p:stCondLst>
                                  <p:childTnLst>
                                    <p:set>
                                      <p:cBhvr>
                                        <p:cTn id="44" dur="1" fill="hold">
                                          <p:stCondLst>
                                            <p:cond delay="0"/>
                                          </p:stCondLst>
                                        </p:cTn>
                                        <p:tgtEl>
                                          <p:spTgt spid="288803"/>
                                        </p:tgtEl>
                                        <p:attrNameLst>
                                          <p:attrName>style.visibility</p:attrName>
                                        </p:attrNameLst>
                                      </p:cBhvr>
                                      <p:to>
                                        <p:strVal val="visible"/>
                                      </p:to>
                                    </p:set>
                                    <p:animEffect transition="in" filter="fade">
                                      <p:cBhvr>
                                        <p:cTn id="45" dur="500"/>
                                        <p:tgtEl>
                                          <p:spTgt spid="28880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8804"/>
                                        </p:tgtEl>
                                        <p:attrNameLst>
                                          <p:attrName>style.visibility</p:attrName>
                                        </p:attrNameLst>
                                      </p:cBhvr>
                                      <p:to>
                                        <p:strVal val="visible"/>
                                      </p:to>
                                    </p:set>
                                    <p:animEffect transition="in" filter="fade">
                                      <p:cBhvr>
                                        <p:cTn id="48" dur="500"/>
                                        <p:tgtEl>
                                          <p:spTgt spid="288804"/>
                                        </p:tgtEl>
                                      </p:cBhvr>
                                    </p:animEffect>
                                  </p:childTnLst>
                                </p:cTn>
                              </p:par>
                              <p:par>
                                <p:cTn id="49" presetID="10" presetClass="entr" presetSubtype="0" fill="hold" nodeType="withEffect">
                                  <p:stCondLst>
                                    <p:cond delay="0"/>
                                  </p:stCondLst>
                                  <p:childTnLst>
                                    <p:set>
                                      <p:cBhvr>
                                        <p:cTn id="50" dur="1" fill="hold">
                                          <p:stCondLst>
                                            <p:cond delay="0"/>
                                          </p:stCondLst>
                                        </p:cTn>
                                        <p:tgtEl>
                                          <p:spTgt spid="288805"/>
                                        </p:tgtEl>
                                        <p:attrNameLst>
                                          <p:attrName>style.visibility</p:attrName>
                                        </p:attrNameLst>
                                      </p:cBhvr>
                                      <p:to>
                                        <p:strVal val="visible"/>
                                      </p:to>
                                    </p:set>
                                    <p:animEffect transition="in" filter="fade">
                                      <p:cBhvr>
                                        <p:cTn id="51" dur="500"/>
                                        <p:tgtEl>
                                          <p:spTgt spid="28880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8806"/>
                                        </p:tgtEl>
                                        <p:attrNameLst>
                                          <p:attrName>style.visibility</p:attrName>
                                        </p:attrNameLst>
                                      </p:cBhvr>
                                      <p:to>
                                        <p:strVal val="visible"/>
                                      </p:to>
                                    </p:set>
                                    <p:animEffect transition="in" filter="fade">
                                      <p:cBhvr>
                                        <p:cTn id="54" dur="500"/>
                                        <p:tgtEl>
                                          <p:spTgt spid="288806"/>
                                        </p:tgtEl>
                                      </p:cBhvr>
                                    </p:animEffect>
                                  </p:childTnLst>
                                </p:cTn>
                              </p:par>
                              <p:par>
                                <p:cTn id="55" presetID="10" presetClass="entr" presetSubtype="0" fill="hold" nodeType="withEffect">
                                  <p:stCondLst>
                                    <p:cond delay="0"/>
                                  </p:stCondLst>
                                  <p:childTnLst>
                                    <p:set>
                                      <p:cBhvr>
                                        <p:cTn id="56" dur="1" fill="hold">
                                          <p:stCondLst>
                                            <p:cond delay="0"/>
                                          </p:stCondLst>
                                        </p:cTn>
                                        <p:tgtEl>
                                          <p:spTgt spid="288807"/>
                                        </p:tgtEl>
                                        <p:attrNameLst>
                                          <p:attrName>style.visibility</p:attrName>
                                        </p:attrNameLst>
                                      </p:cBhvr>
                                      <p:to>
                                        <p:strVal val="visible"/>
                                      </p:to>
                                    </p:set>
                                    <p:animEffect transition="in" filter="fade">
                                      <p:cBhvr>
                                        <p:cTn id="57" dur="500"/>
                                        <p:tgtEl>
                                          <p:spTgt spid="28880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8808"/>
                                        </p:tgtEl>
                                        <p:attrNameLst>
                                          <p:attrName>style.visibility</p:attrName>
                                        </p:attrNameLst>
                                      </p:cBhvr>
                                      <p:to>
                                        <p:strVal val="visible"/>
                                      </p:to>
                                    </p:set>
                                    <p:animEffect transition="in" filter="fade">
                                      <p:cBhvr>
                                        <p:cTn id="60" dur="500"/>
                                        <p:tgtEl>
                                          <p:spTgt spid="288808"/>
                                        </p:tgtEl>
                                      </p:cBhvr>
                                    </p:animEffect>
                                  </p:childTnLst>
                                </p:cTn>
                              </p:par>
                              <p:par>
                                <p:cTn id="61" presetID="10" presetClass="entr" presetSubtype="0" fill="hold" nodeType="withEffect">
                                  <p:stCondLst>
                                    <p:cond delay="0"/>
                                  </p:stCondLst>
                                  <p:childTnLst>
                                    <p:set>
                                      <p:cBhvr>
                                        <p:cTn id="62" dur="1" fill="hold">
                                          <p:stCondLst>
                                            <p:cond delay="0"/>
                                          </p:stCondLst>
                                        </p:cTn>
                                        <p:tgtEl>
                                          <p:spTgt spid="288809"/>
                                        </p:tgtEl>
                                        <p:attrNameLst>
                                          <p:attrName>style.visibility</p:attrName>
                                        </p:attrNameLst>
                                      </p:cBhvr>
                                      <p:to>
                                        <p:strVal val="visible"/>
                                      </p:to>
                                    </p:set>
                                    <p:animEffect transition="in" filter="fade">
                                      <p:cBhvr>
                                        <p:cTn id="63" dur="500"/>
                                        <p:tgtEl>
                                          <p:spTgt spid="28880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88810"/>
                                        </p:tgtEl>
                                        <p:attrNameLst>
                                          <p:attrName>style.visibility</p:attrName>
                                        </p:attrNameLst>
                                      </p:cBhvr>
                                      <p:to>
                                        <p:strVal val="visible"/>
                                      </p:to>
                                    </p:set>
                                    <p:animEffect transition="in" filter="fade">
                                      <p:cBhvr>
                                        <p:cTn id="66" dur="500"/>
                                        <p:tgtEl>
                                          <p:spTgt spid="288810"/>
                                        </p:tgtEl>
                                      </p:cBhvr>
                                    </p:animEffect>
                                  </p:childTnLst>
                                </p:cTn>
                              </p:par>
                              <p:par>
                                <p:cTn id="67" presetID="10" presetClass="entr" presetSubtype="0" fill="hold" nodeType="withEffect">
                                  <p:stCondLst>
                                    <p:cond delay="0"/>
                                  </p:stCondLst>
                                  <p:childTnLst>
                                    <p:set>
                                      <p:cBhvr>
                                        <p:cTn id="68" dur="1" fill="hold">
                                          <p:stCondLst>
                                            <p:cond delay="0"/>
                                          </p:stCondLst>
                                        </p:cTn>
                                        <p:tgtEl>
                                          <p:spTgt spid="288811"/>
                                        </p:tgtEl>
                                        <p:attrNameLst>
                                          <p:attrName>style.visibility</p:attrName>
                                        </p:attrNameLst>
                                      </p:cBhvr>
                                      <p:to>
                                        <p:strVal val="visible"/>
                                      </p:to>
                                    </p:set>
                                    <p:animEffect transition="in" filter="fade">
                                      <p:cBhvr>
                                        <p:cTn id="69" dur="500"/>
                                        <p:tgtEl>
                                          <p:spTgt spid="28881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8812"/>
                                        </p:tgtEl>
                                        <p:attrNameLst>
                                          <p:attrName>style.visibility</p:attrName>
                                        </p:attrNameLst>
                                      </p:cBhvr>
                                      <p:to>
                                        <p:strVal val="visible"/>
                                      </p:to>
                                    </p:set>
                                    <p:animEffect transition="in" filter="fade">
                                      <p:cBhvr>
                                        <p:cTn id="72" dur="500"/>
                                        <p:tgtEl>
                                          <p:spTgt spid="288812"/>
                                        </p:tgtEl>
                                      </p:cBhvr>
                                    </p:animEffect>
                                  </p:childTnLst>
                                </p:cTn>
                              </p:par>
                              <p:par>
                                <p:cTn id="73" presetID="10" presetClass="entr" presetSubtype="0" fill="hold" nodeType="withEffect">
                                  <p:stCondLst>
                                    <p:cond delay="0"/>
                                  </p:stCondLst>
                                  <p:childTnLst>
                                    <p:set>
                                      <p:cBhvr>
                                        <p:cTn id="74" dur="1" fill="hold">
                                          <p:stCondLst>
                                            <p:cond delay="0"/>
                                          </p:stCondLst>
                                        </p:cTn>
                                        <p:tgtEl>
                                          <p:spTgt spid="288813"/>
                                        </p:tgtEl>
                                        <p:attrNameLst>
                                          <p:attrName>style.visibility</p:attrName>
                                        </p:attrNameLst>
                                      </p:cBhvr>
                                      <p:to>
                                        <p:strVal val="visible"/>
                                      </p:to>
                                    </p:set>
                                    <p:animEffect transition="in" filter="fade">
                                      <p:cBhvr>
                                        <p:cTn id="75" dur="500"/>
                                        <p:tgtEl>
                                          <p:spTgt spid="28881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8814"/>
                                        </p:tgtEl>
                                        <p:attrNameLst>
                                          <p:attrName>style.visibility</p:attrName>
                                        </p:attrNameLst>
                                      </p:cBhvr>
                                      <p:to>
                                        <p:strVal val="visible"/>
                                      </p:to>
                                    </p:set>
                                    <p:animEffect transition="in" filter="fade">
                                      <p:cBhvr>
                                        <p:cTn id="78" dur="500"/>
                                        <p:tgtEl>
                                          <p:spTgt spid="288814"/>
                                        </p:tgtEl>
                                      </p:cBhvr>
                                    </p:animEffect>
                                  </p:childTnLst>
                                </p:cTn>
                              </p:par>
                              <p:par>
                                <p:cTn id="79" presetID="10" presetClass="entr" presetSubtype="0" fill="hold" nodeType="withEffect">
                                  <p:stCondLst>
                                    <p:cond delay="0"/>
                                  </p:stCondLst>
                                  <p:childTnLst>
                                    <p:set>
                                      <p:cBhvr>
                                        <p:cTn id="80" dur="1" fill="hold">
                                          <p:stCondLst>
                                            <p:cond delay="0"/>
                                          </p:stCondLst>
                                        </p:cTn>
                                        <p:tgtEl>
                                          <p:spTgt spid="288815"/>
                                        </p:tgtEl>
                                        <p:attrNameLst>
                                          <p:attrName>style.visibility</p:attrName>
                                        </p:attrNameLst>
                                      </p:cBhvr>
                                      <p:to>
                                        <p:strVal val="visible"/>
                                      </p:to>
                                    </p:set>
                                    <p:animEffect transition="in" filter="fade">
                                      <p:cBhvr>
                                        <p:cTn id="81" dur="500"/>
                                        <p:tgtEl>
                                          <p:spTgt spid="28881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8816"/>
                                        </p:tgtEl>
                                        <p:attrNameLst>
                                          <p:attrName>style.visibility</p:attrName>
                                        </p:attrNameLst>
                                      </p:cBhvr>
                                      <p:to>
                                        <p:strVal val="visible"/>
                                      </p:to>
                                    </p:set>
                                    <p:animEffect transition="in" filter="fade">
                                      <p:cBhvr>
                                        <p:cTn id="84" dur="500"/>
                                        <p:tgtEl>
                                          <p:spTgt spid="288816"/>
                                        </p:tgtEl>
                                      </p:cBhvr>
                                    </p:animEffect>
                                  </p:childTnLst>
                                </p:cTn>
                              </p:par>
                              <p:par>
                                <p:cTn id="85" presetID="10" presetClass="entr" presetSubtype="0" fill="hold" nodeType="withEffect">
                                  <p:stCondLst>
                                    <p:cond delay="0"/>
                                  </p:stCondLst>
                                  <p:childTnLst>
                                    <p:set>
                                      <p:cBhvr>
                                        <p:cTn id="86" dur="1" fill="hold">
                                          <p:stCondLst>
                                            <p:cond delay="0"/>
                                          </p:stCondLst>
                                        </p:cTn>
                                        <p:tgtEl>
                                          <p:spTgt spid="288817"/>
                                        </p:tgtEl>
                                        <p:attrNameLst>
                                          <p:attrName>style.visibility</p:attrName>
                                        </p:attrNameLst>
                                      </p:cBhvr>
                                      <p:to>
                                        <p:strVal val="visible"/>
                                      </p:to>
                                    </p:set>
                                    <p:animEffect transition="in" filter="fade">
                                      <p:cBhvr>
                                        <p:cTn id="87" dur="500"/>
                                        <p:tgtEl>
                                          <p:spTgt spid="288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2" grpId="0" bldLvl="0" animBg="1"/>
      <p:bldP spid="288776" grpId="0" bldLvl="0" animBg="1"/>
      <p:bldP spid="288797" grpId="0" bldLvl="0" animBg="1"/>
      <p:bldP spid="288799" grpId="0" bldLvl="0" animBg="1"/>
      <p:bldP spid="288800" grpId="0" bldLvl="0" animBg="1"/>
      <p:bldP spid="288802" grpId="0" bldLvl="0" animBg="1"/>
      <p:bldP spid="288804" grpId="0" bldLvl="0" animBg="1"/>
      <p:bldP spid="288806" grpId="0" bldLvl="0" animBg="1"/>
      <p:bldP spid="288808" grpId="0" bldLvl="0" animBg="1"/>
      <p:bldP spid="288810" grpId="0" bldLvl="0" animBg="1"/>
      <p:bldP spid="288812" grpId="0" bldLvl="0" animBg="1"/>
      <p:bldP spid="288814" grpId="0" bldLvl="0" animBg="1"/>
      <p:bldP spid="288816" grpId="0" bldLvl="0" animBg="1"/>
      <p:bldP spid="48"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6" name="Oval 4"/>
          <p:cNvSpPr>
            <a:spLocks noChangeArrowheads="1"/>
          </p:cNvSpPr>
          <p:nvPr/>
        </p:nvSpPr>
        <p:spPr bwMode="auto">
          <a:xfrm>
            <a:off x="4086225" y="394096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Nov</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797" name="AutoShape 5"/>
          <p:cNvCxnSpPr>
            <a:cxnSpLocks noChangeShapeType="1"/>
            <a:stCxn id="289805" idx="5"/>
            <a:endCxn id="289796" idx="0"/>
          </p:cNvCxnSpPr>
          <p:nvPr/>
        </p:nvCxnSpPr>
        <p:spPr bwMode="auto">
          <a:xfrm>
            <a:off x="4193381" y="3590925"/>
            <a:ext cx="82154" cy="3500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798" name="Oval 6"/>
          <p:cNvSpPr>
            <a:spLocks noChangeArrowheads="1"/>
          </p:cNvSpPr>
          <p:nvPr/>
        </p:nvSpPr>
        <p:spPr bwMode="auto">
          <a:xfrm>
            <a:off x="2736056" y="2672954"/>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Jan</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sp>
        <p:nvSpPr>
          <p:cNvPr id="289799" name="Oval 7"/>
          <p:cNvSpPr>
            <a:spLocks noChangeArrowheads="1"/>
          </p:cNvSpPr>
          <p:nvPr/>
        </p:nvSpPr>
        <p:spPr bwMode="auto">
          <a:xfrm>
            <a:off x="2465785" y="394096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Feb</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800" name="AutoShape 8"/>
          <p:cNvCxnSpPr>
            <a:cxnSpLocks noChangeShapeType="1"/>
            <a:stCxn id="289811" idx="5"/>
            <a:endCxn id="289799" idx="0"/>
          </p:cNvCxnSpPr>
          <p:nvPr/>
        </p:nvCxnSpPr>
        <p:spPr bwMode="auto">
          <a:xfrm>
            <a:off x="2572437" y="3590421"/>
            <a:ext cx="82062"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01" name="Oval 9"/>
          <p:cNvSpPr>
            <a:spLocks noChangeArrowheads="1"/>
          </p:cNvSpPr>
          <p:nvPr/>
        </p:nvSpPr>
        <p:spPr bwMode="auto">
          <a:xfrm>
            <a:off x="3438525" y="2080022"/>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Mar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9802" name="AutoShape 10"/>
          <p:cNvCxnSpPr>
            <a:cxnSpLocks noChangeShapeType="1"/>
            <a:stCxn id="289798" idx="0"/>
            <a:endCxn id="289801" idx="3"/>
          </p:cNvCxnSpPr>
          <p:nvPr/>
        </p:nvCxnSpPr>
        <p:spPr bwMode="auto">
          <a:xfrm flipV="1">
            <a:off x="2924771" y="2402177"/>
            <a:ext cx="569027" cy="27077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03" name="Oval 11"/>
          <p:cNvSpPr>
            <a:spLocks noChangeArrowheads="1"/>
          </p:cNvSpPr>
          <p:nvPr/>
        </p:nvSpPr>
        <p:spPr bwMode="auto">
          <a:xfrm>
            <a:off x="1980010" y="3940969"/>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Apr</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804" name="AutoShape 12"/>
          <p:cNvCxnSpPr>
            <a:cxnSpLocks noChangeShapeType="1"/>
            <a:stCxn id="289811" idx="3"/>
            <a:endCxn id="289803" idx="0"/>
          </p:cNvCxnSpPr>
          <p:nvPr/>
        </p:nvCxnSpPr>
        <p:spPr bwMode="auto">
          <a:xfrm flipH="1">
            <a:off x="2168724" y="3590421"/>
            <a:ext cx="136830"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05" name="Oval 13"/>
          <p:cNvSpPr>
            <a:spLocks noChangeArrowheads="1"/>
          </p:cNvSpPr>
          <p:nvPr/>
        </p:nvSpPr>
        <p:spPr bwMode="auto">
          <a:xfrm>
            <a:off x="3870722" y="3268266"/>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May</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806" name="AutoShape 14"/>
          <p:cNvCxnSpPr>
            <a:cxnSpLocks noChangeShapeType="1"/>
            <a:stCxn id="289815" idx="3"/>
            <a:endCxn id="289805" idx="0"/>
          </p:cNvCxnSpPr>
          <p:nvPr/>
        </p:nvCxnSpPr>
        <p:spPr bwMode="auto">
          <a:xfrm flipH="1">
            <a:off x="4060031" y="2995613"/>
            <a:ext cx="189310" cy="27265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07" name="Oval 15"/>
          <p:cNvSpPr>
            <a:spLocks noChangeArrowheads="1"/>
          </p:cNvSpPr>
          <p:nvPr/>
        </p:nvSpPr>
        <p:spPr bwMode="auto">
          <a:xfrm>
            <a:off x="3223022" y="3268266"/>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Jun</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808" name="AutoShape 16"/>
          <p:cNvCxnSpPr>
            <a:cxnSpLocks noChangeShapeType="1"/>
            <a:stCxn id="289798" idx="5"/>
            <a:endCxn id="289807" idx="0"/>
          </p:cNvCxnSpPr>
          <p:nvPr/>
        </p:nvCxnSpPr>
        <p:spPr bwMode="auto">
          <a:xfrm>
            <a:off x="3058212" y="2995109"/>
            <a:ext cx="353525" cy="27315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09" name="Oval 17"/>
          <p:cNvSpPr>
            <a:spLocks noChangeArrowheads="1"/>
          </p:cNvSpPr>
          <p:nvPr/>
        </p:nvSpPr>
        <p:spPr bwMode="auto">
          <a:xfrm>
            <a:off x="2950369" y="3940969"/>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Jul</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89810" name="AutoShape 18"/>
          <p:cNvCxnSpPr>
            <a:cxnSpLocks noChangeShapeType="1"/>
            <a:stCxn id="289807" idx="3"/>
            <a:endCxn id="289809" idx="0"/>
          </p:cNvCxnSpPr>
          <p:nvPr/>
        </p:nvCxnSpPr>
        <p:spPr bwMode="auto">
          <a:xfrm flipH="1">
            <a:off x="3139083" y="3590421"/>
            <a:ext cx="139212"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1" name="Oval 19"/>
          <p:cNvSpPr>
            <a:spLocks noChangeArrowheads="1"/>
          </p:cNvSpPr>
          <p:nvPr/>
        </p:nvSpPr>
        <p:spPr bwMode="auto">
          <a:xfrm>
            <a:off x="2250281" y="3268266"/>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Aug</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9812" name="AutoShape 20"/>
          <p:cNvCxnSpPr>
            <a:cxnSpLocks noChangeShapeType="1"/>
            <a:stCxn id="289798" idx="3"/>
            <a:endCxn id="289811" idx="0"/>
          </p:cNvCxnSpPr>
          <p:nvPr/>
        </p:nvCxnSpPr>
        <p:spPr bwMode="auto">
          <a:xfrm flipH="1">
            <a:off x="2438996" y="2995109"/>
            <a:ext cx="352334" cy="27315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3" name="Oval 21"/>
          <p:cNvSpPr>
            <a:spLocks noChangeArrowheads="1"/>
          </p:cNvSpPr>
          <p:nvPr/>
        </p:nvSpPr>
        <p:spPr bwMode="auto">
          <a:xfrm>
            <a:off x="4517994" y="3268266"/>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Sep</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9814" name="AutoShape 22"/>
          <p:cNvCxnSpPr>
            <a:cxnSpLocks noChangeShapeType="1"/>
            <a:stCxn id="289815" idx="5"/>
            <a:endCxn id="289813" idx="0"/>
          </p:cNvCxnSpPr>
          <p:nvPr/>
        </p:nvCxnSpPr>
        <p:spPr bwMode="auto">
          <a:xfrm>
            <a:off x="4516727" y="2995109"/>
            <a:ext cx="189981" cy="27315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5" name="Oval 23"/>
          <p:cNvSpPr>
            <a:spLocks noChangeArrowheads="1"/>
          </p:cNvSpPr>
          <p:nvPr/>
        </p:nvSpPr>
        <p:spPr bwMode="auto">
          <a:xfrm>
            <a:off x="4194572" y="2672954"/>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Sep</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9816" name="AutoShape 24"/>
          <p:cNvCxnSpPr>
            <a:cxnSpLocks noChangeShapeType="1"/>
            <a:stCxn id="289801" idx="5"/>
            <a:endCxn id="289815" idx="0"/>
          </p:cNvCxnSpPr>
          <p:nvPr/>
        </p:nvCxnSpPr>
        <p:spPr bwMode="auto">
          <a:xfrm>
            <a:off x="3760681" y="2402177"/>
            <a:ext cx="622606" cy="270776"/>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7" name="Oval 25"/>
          <p:cNvSpPr>
            <a:spLocks noChangeArrowheads="1"/>
          </p:cNvSpPr>
          <p:nvPr/>
        </p:nvSpPr>
        <p:spPr bwMode="auto">
          <a:xfrm>
            <a:off x="2141935" y="4617244"/>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Dec</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89818" name="AutoShape 26"/>
          <p:cNvCxnSpPr>
            <a:cxnSpLocks noChangeShapeType="1"/>
            <a:stCxn id="289799" idx="3"/>
            <a:endCxn id="289817" idx="0"/>
          </p:cNvCxnSpPr>
          <p:nvPr/>
        </p:nvCxnSpPr>
        <p:spPr bwMode="auto">
          <a:xfrm flipH="1">
            <a:off x="2330649" y="4263125"/>
            <a:ext cx="190409" cy="354119"/>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9" name="Text Box 27"/>
          <p:cNvSpPr txBox="1">
            <a:spLocks noChangeArrowheads="1"/>
          </p:cNvSpPr>
          <p:nvPr/>
        </p:nvSpPr>
        <p:spPr bwMode="auto">
          <a:xfrm>
            <a:off x="1574006" y="2119908"/>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1</a:t>
            </a:r>
            <a:endParaRPr lang="en-US" altLang="zh-CN" sz="1500" b="1">
              <a:latin typeface="Times New Roman" panose="02020603050405020304" pitchFamily="18" charset="0"/>
              <a:cs typeface="Times New Roman" panose="02020603050405020304" pitchFamily="18" charset="0"/>
            </a:endParaRPr>
          </a:p>
        </p:txBody>
      </p:sp>
      <p:sp>
        <p:nvSpPr>
          <p:cNvPr id="289820" name="Text Box 28"/>
          <p:cNvSpPr txBox="1">
            <a:spLocks noChangeArrowheads="1"/>
          </p:cNvSpPr>
          <p:nvPr/>
        </p:nvSpPr>
        <p:spPr bwMode="auto">
          <a:xfrm>
            <a:off x="1574006" y="2712839"/>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2</a:t>
            </a:r>
            <a:endParaRPr lang="en-US" altLang="zh-CN" sz="1500" b="1">
              <a:latin typeface="Times New Roman" panose="02020603050405020304" pitchFamily="18" charset="0"/>
              <a:cs typeface="Times New Roman" panose="02020603050405020304" pitchFamily="18" charset="0"/>
            </a:endParaRPr>
          </a:p>
        </p:txBody>
      </p:sp>
      <p:sp>
        <p:nvSpPr>
          <p:cNvPr id="289821" name="Text Box 29"/>
          <p:cNvSpPr txBox="1">
            <a:spLocks noChangeArrowheads="1"/>
          </p:cNvSpPr>
          <p:nvPr/>
        </p:nvSpPr>
        <p:spPr bwMode="auto">
          <a:xfrm>
            <a:off x="1574006" y="3308152"/>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3</a:t>
            </a:r>
            <a:endParaRPr lang="en-US" altLang="zh-CN" sz="1500" b="1">
              <a:latin typeface="Times New Roman" panose="02020603050405020304" pitchFamily="18" charset="0"/>
              <a:cs typeface="Times New Roman" panose="02020603050405020304" pitchFamily="18" charset="0"/>
            </a:endParaRPr>
          </a:p>
        </p:txBody>
      </p:sp>
      <p:sp>
        <p:nvSpPr>
          <p:cNvPr id="289822" name="Text Box 30"/>
          <p:cNvSpPr txBox="1">
            <a:spLocks noChangeArrowheads="1"/>
          </p:cNvSpPr>
          <p:nvPr/>
        </p:nvSpPr>
        <p:spPr bwMode="auto">
          <a:xfrm>
            <a:off x="1574006" y="3980855"/>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4</a:t>
            </a:r>
            <a:endParaRPr lang="en-US" altLang="zh-CN" sz="1500" b="1">
              <a:latin typeface="Times New Roman" panose="02020603050405020304" pitchFamily="18" charset="0"/>
              <a:cs typeface="Times New Roman" panose="02020603050405020304" pitchFamily="18" charset="0"/>
            </a:endParaRPr>
          </a:p>
        </p:txBody>
      </p:sp>
      <p:sp>
        <p:nvSpPr>
          <p:cNvPr id="289823" name="Text Box 31"/>
          <p:cNvSpPr txBox="1">
            <a:spLocks noChangeArrowheads="1"/>
          </p:cNvSpPr>
          <p:nvPr/>
        </p:nvSpPr>
        <p:spPr bwMode="auto">
          <a:xfrm>
            <a:off x="1572816" y="465713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5</a:t>
            </a:r>
            <a:endParaRPr lang="en-US" altLang="zh-CN" sz="1500" b="1">
              <a:latin typeface="Times New Roman" panose="02020603050405020304" pitchFamily="18" charset="0"/>
              <a:cs typeface="Times New Roman" panose="02020603050405020304" pitchFamily="18" charset="0"/>
            </a:endParaRPr>
          </a:p>
        </p:txBody>
      </p:sp>
      <p:sp>
        <p:nvSpPr>
          <p:cNvPr id="289824" name="Text Box 32"/>
          <p:cNvSpPr txBox="1">
            <a:spLocks noChangeArrowheads="1"/>
          </p:cNvSpPr>
          <p:nvPr/>
        </p:nvSpPr>
        <p:spPr bwMode="auto">
          <a:xfrm>
            <a:off x="5124450" y="2119630"/>
            <a:ext cx="3187065" cy="37719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r>
              <a:rPr lang="en-US" altLang="zh-CN" sz="2000">
                <a:latin typeface="Times New Roman" panose="02020603050405020304" pitchFamily="18" charset="0"/>
                <a:cs typeface="Times New Roman" panose="02020603050405020304" pitchFamily="18" charset="0"/>
              </a:rPr>
              <a:t>1+2*2+3*4+4*4+5*1 = 38</a:t>
            </a:r>
            <a:endParaRPr lang="en-US" altLang="zh-CN" sz="2000">
              <a:latin typeface="Times New Roman" panose="02020603050405020304" pitchFamily="18" charset="0"/>
              <a:cs typeface="Times New Roman" panose="02020603050405020304" pitchFamily="18" charset="0"/>
            </a:endParaRPr>
          </a:p>
        </p:txBody>
      </p:sp>
      <p:sp>
        <p:nvSpPr>
          <p:cNvPr id="289825" name="Rectangle 33"/>
          <p:cNvSpPr>
            <a:spLocks noGrp="1" noChangeArrowheads="1"/>
          </p:cNvSpPr>
          <p:nvPr>
            <p:ph type="title"/>
          </p:nvPr>
        </p:nvSpPr>
        <p:spPr>
          <a:noFill/>
        </p:spPr>
        <p:txBody>
          <a:bodyPr>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AVL tree</a:t>
            </a:r>
            <a:endParaRPr lang="en-US" altLang="zh-CN">
              <a:solidFill>
                <a:schemeClr val="bg1"/>
              </a:solidFill>
              <a:effectLst>
                <a:outerShdw blurRad="38100" dist="25400" dir="5400000" algn="ctr" rotWithShape="0">
                  <a:srgbClr val="6E747A">
                    <a:alpha val="43000"/>
                  </a:srgbClr>
                </a:outerShdw>
              </a:effectLst>
            </a:endParaRPr>
          </a:p>
        </p:txBody>
      </p:sp>
      <p:sp>
        <p:nvSpPr>
          <p:cNvPr id="288819" name="Rectangle 51"/>
          <p:cNvSpPr>
            <a:spLocks noChangeArrowheads="1"/>
          </p:cNvSpPr>
          <p:nvPr/>
        </p:nvSpPr>
        <p:spPr bwMode="auto">
          <a:xfrm>
            <a:off x="351155" y="1132840"/>
            <a:ext cx="83362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9824"/>
                                        </p:tgtEl>
                                        <p:attrNameLst>
                                          <p:attrName>style.visibility</p:attrName>
                                        </p:attrNameLst>
                                      </p:cBhvr>
                                      <p:to>
                                        <p:strVal val="visible"/>
                                      </p:to>
                                    </p:set>
                                    <p:animEffect transition="in" filter="fade">
                                      <p:cBhvr>
                                        <p:cTn id="7" dur="1000"/>
                                        <p:tgtEl>
                                          <p:spTgt spid="289824"/>
                                        </p:tgtEl>
                                      </p:cBhvr>
                                    </p:animEffect>
                                    <p:anim calcmode="lin" valueType="num">
                                      <p:cBhvr>
                                        <p:cTn id="8" dur="1000" fill="hold"/>
                                        <p:tgtEl>
                                          <p:spTgt spid="289824"/>
                                        </p:tgtEl>
                                        <p:attrNameLst>
                                          <p:attrName>ppt_x</p:attrName>
                                        </p:attrNameLst>
                                      </p:cBhvr>
                                      <p:tavLst>
                                        <p:tav tm="0">
                                          <p:val>
                                            <p:strVal val="#ppt_x"/>
                                          </p:val>
                                        </p:tav>
                                        <p:tav tm="100000">
                                          <p:val>
                                            <p:strVal val="#ppt_x"/>
                                          </p:val>
                                        </p:tav>
                                      </p:tavLst>
                                    </p:anim>
                                    <p:anim calcmode="lin" valueType="num">
                                      <p:cBhvr>
                                        <p:cTn id="9" dur="1000" fill="hold"/>
                                        <p:tgtEl>
                                          <p:spTgt spid="2898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2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a:scene3d>
              <a:camera prst="orthographicFront"/>
              <a:lightRig rig="threePt" dir="t"/>
            </a:scene3d>
          </a:bodyPr>
          <a:lstStyle/>
          <a:p>
            <a:r>
              <a:rPr lang="en-US" altLang="zh-CN" dirty="0">
                <a:solidFill>
                  <a:schemeClr val="bg1"/>
                </a:solidFill>
                <a:effectLst>
                  <a:outerShdw blurRad="38100" dist="25400" dir="5400000" algn="ctr" rotWithShape="0">
                    <a:srgbClr val="6E747A">
                      <a:alpha val="43000"/>
                    </a:srgbClr>
                  </a:outerShdw>
                </a:effectLst>
              </a:rPr>
              <a:t>Binary Decision Tree</a:t>
            </a:r>
            <a:endParaRPr lang="en-US" altLang="zh-CN" dirty="0">
              <a:solidFill>
                <a:schemeClr val="bg1"/>
              </a:solidFill>
              <a:effectLst>
                <a:outerShdw blurRad="38100" dist="25400" dir="5400000" algn="ctr" rotWithShape="0">
                  <a:srgbClr val="6E747A">
                    <a:alpha val="43000"/>
                  </a:srgbClr>
                </a:outerShdw>
              </a:effectLst>
            </a:endParaRPr>
          </a:p>
        </p:txBody>
      </p:sp>
      <p:sp>
        <p:nvSpPr>
          <p:cNvPr id="290841" name="Oval 25"/>
          <p:cNvSpPr>
            <a:spLocks noChangeArrowheads="1"/>
          </p:cNvSpPr>
          <p:nvPr/>
        </p:nvSpPr>
        <p:spPr bwMode="auto">
          <a:xfrm>
            <a:off x="3761185" y="4673521"/>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Mar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42" name="AutoShape 26"/>
          <p:cNvCxnSpPr>
            <a:cxnSpLocks noChangeShapeType="1"/>
            <a:stCxn id="290850" idx="5"/>
            <a:endCxn id="290841" idx="0"/>
          </p:cNvCxnSpPr>
          <p:nvPr/>
        </p:nvCxnSpPr>
        <p:spPr bwMode="auto">
          <a:xfrm>
            <a:off x="3868341" y="4323477"/>
            <a:ext cx="82153" cy="3500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43" name="Oval 27"/>
          <p:cNvSpPr>
            <a:spLocks noChangeArrowheads="1"/>
          </p:cNvSpPr>
          <p:nvPr/>
        </p:nvSpPr>
        <p:spPr bwMode="auto">
          <a:xfrm>
            <a:off x="2411016" y="3405505"/>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Dec</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sp>
        <p:nvSpPr>
          <p:cNvPr id="290844" name="Oval 28"/>
          <p:cNvSpPr>
            <a:spLocks noChangeArrowheads="1"/>
          </p:cNvSpPr>
          <p:nvPr/>
        </p:nvSpPr>
        <p:spPr bwMode="auto">
          <a:xfrm>
            <a:off x="2140744" y="4673521"/>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Aug</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45" name="AutoShape 29"/>
          <p:cNvCxnSpPr>
            <a:cxnSpLocks noChangeShapeType="1"/>
            <a:stCxn id="290856" idx="5"/>
            <a:endCxn id="290844" idx="0"/>
          </p:cNvCxnSpPr>
          <p:nvPr/>
        </p:nvCxnSpPr>
        <p:spPr bwMode="auto">
          <a:xfrm>
            <a:off x="2247900" y="4323477"/>
            <a:ext cx="82154" cy="350044"/>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46" name="Oval 30"/>
          <p:cNvSpPr>
            <a:spLocks noChangeArrowheads="1"/>
          </p:cNvSpPr>
          <p:nvPr/>
        </p:nvSpPr>
        <p:spPr bwMode="auto">
          <a:xfrm>
            <a:off x="3113485" y="2812574"/>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Jul</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90847" name="AutoShape 31"/>
          <p:cNvCxnSpPr>
            <a:cxnSpLocks noChangeShapeType="1"/>
            <a:stCxn id="290843" idx="0"/>
            <a:endCxn id="290846" idx="3"/>
          </p:cNvCxnSpPr>
          <p:nvPr/>
        </p:nvCxnSpPr>
        <p:spPr bwMode="auto">
          <a:xfrm flipV="1">
            <a:off x="2600325" y="3135233"/>
            <a:ext cx="567929" cy="27027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48" name="Oval 32"/>
          <p:cNvSpPr>
            <a:spLocks noChangeArrowheads="1"/>
          </p:cNvSpPr>
          <p:nvPr/>
        </p:nvSpPr>
        <p:spPr bwMode="auto">
          <a:xfrm>
            <a:off x="4302000" y="4673521"/>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Nov</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49" name="AutoShape 33"/>
          <p:cNvCxnSpPr>
            <a:cxnSpLocks noChangeShapeType="1"/>
            <a:stCxn id="290858" idx="3"/>
            <a:endCxn id="290848" idx="0"/>
          </p:cNvCxnSpPr>
          <p:nvPr/>
        </p:nvCxnSpPr>
        <p:spPr bwMode="auto">
          <a:xfrm flipH="1">
            <a:off x="4490714" y="4322973"/>
            <a:ext cx="82559"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0" name="Oval 34"/>
          <p:cNvSpPr>
            <a:spLocks noChangeArrowheads="1"/>
          </p:cNvSpPr>
          <p:nvPr/>
        </p:nvSpPr>
        <p:spPr bwMode="auto">
          <a:xfrm>
            <a:off x="3545681" y="400081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Jun</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51" name="AutoShape 35"/>
          <p:cNvCxnSpPr>
            <a:cxnSpLocks noChangeShapeType="1"/>
            <a:stCxn id="290860" idx="3"/>
            <a:endCxn id="290850" idx="0"/>
          </p:cNvCxnSpPr>
          <p:nvPr/>
        </p:nvCxnSpPr>
        <p:spPr bwMode="auto">
          <a:xfrm flipH="1">
            <a:off x="3734991" y="3728165"/>
            <a:ext cx="351234" cy="27265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2" name="Oval 36"/>
          <p:cNvSpPr>
            <a:spLocks noChangeArrowheads="1"/>
          </p:cNvSpPr>
          <p:nvPr/>
        </p:nvSpPr>
        <p:spPr bwMode="auto">
          <a:xfrm>
            <a:off x="2897981" y="4000818"/>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Feb</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53" name="AutoShape 37"/>
          <p:cNvCxnSpPr>
            <a:cxnSpLocks noChangeShapeType="1"/>
            <a:stCxn id="290843" idx="5"/>
            <a:endCxn id="290852" idx="0"/>
          </p:cNvCxnSpPr>
          <p:nvPr/>
        </p:nvCxnSpPr>
        <p:spPr bwMode="auto">
          <a:xfrm>
            <a:off x="2733675" y="3728165"/>
            <a:ext cx="353616" cy="27265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4" name="Oval 38"/>
          <p:cNvSpPr>
            <a:spLocks noChangeArrowheads="1"/>
          </p:cNvSpPr>
          <p:nvPr/>
        </p:nvSpPr>
        <p:spPr bwMode="auto">
          <a:xfrm>
            <a:off x="3114000" y="4673521"/>
            <a:ext cx="377429"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FFFF00"/>
                </a:solidFill>
                <a:latin typeface="Times New Roman" panose="02020603050405020304" pitchFamily="18" charset="0"/>
                <a:cs typeface="Times New Roman" panose="02020603050405020304" pitchFamily="18" charset="0"/>
              </a:rPr>
              <a:t>Jan</a:t>
            </a:r>
            <a:endParaRPr lang="en-US" altLang="zh-CN" sz="1350" b="1">
              <a:solidFill>
                <a:srgbClr val="FFFF00"/>
              </a:solidFill>
              <a:latin typeface="Times New Roman" panose="02020603050405020304" pitchFamily="18" charset="0"/>
              <a:cs typeface="Times New Roman" panose="02020603050405020304" pitchFamily="18" charset="0"/>
            </a:endParaRPr>
          </a:p>
        </p:txBody>
      </p:sp>
      <p:cxnSp>
        <p:nvCxnSpPr>
          <p:cNvPr id="290855" name="AutoShape 39"/>
          <p:cNvCxnSpPr>
            <a:cxnSpLocks noChangeShapeType="1"/>
            <a:stCxn id="290852" idx="5"/>
            <a:endCxn id="290854" idx="0"/>
          </p:cNvCxnSpPr>
          <p:nvPr/>
        </p:nvCxnSpPr>
        <p:spPr bwMode="auto">
          <a:xfrm>
            <a:off x="3220137" y="4322973"/>
            <a:ext cx="82577"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6" name="Oval 40"/>
          <p:cNvSpPr>
            <a:spLocks noChangeArrowheads="1"/>
          </p:cNvSpPr>
          <p:nvPr/>
        </p:nvSpPr>
        <p:spPr bwMode="auto">
          <a:xfrm>
            <a:off x="1925241" y="400081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Apr</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57" name="AutoShape 41"/>
          <p:cNvCxnSpPr>
            <a:cxnSpLocks noChangeShapeType="1"/>
            <a:stCxn id="290843" idx="3"/>
            <a:endCxn id="290856" idx="0"/>
          </p:cNvCxnSpPr>
          <p:nvPr/>
        </p:nvCxnSpPr>
        <p:spPr bwMode="auto">
          <a:xfrm flipH="1">
            <a:off x="2114550" y="3728165"/>
            <a:ext cx="351235" cy="27265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8" name="Oval 42"/>
          <p:cNvSpPr>
            <a:spLocks noChangeArrowheads="1"/>
          </p:cNvSpPr>
          <p:nvPr/>
        </p:nvSpPr>
        <p:spPr bwMode="auto">
          <a:xfrm>
            <a:off x="4518000" y="4000818"/>
            <a:ext cx="377428"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Oct</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59" name="AutoShape 43"/>
          <p:cNvCxnSpPr>
            <a:cxnSpLocks noChangeShapeType="1"/>
            <a:stCxn id="290860" idx="5"/>
            <a:endCxn id="290858" idx="0"/>
          </p:cNvCxnSpPr>
          <p:nvPr/>
        </p:nvCxnSpPr>
        <p:spPr bwMode="auto">
          <a:xfrm>
            <a:off x="4353612" y="3727661"/>
            <a:ext cx="353102" cy="273157"/>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60" name="Oval 44"/>
          <p:cNvSpPr>
            <a:spLocks noChangeArrowheads="1"/>
          </p:cNvSpPr>
          <p:nvPr/>
        </p:nvSpPr>
        <p:spPr bwMode="auto">
          <a:xfrm>
            <a:off x="4031456" y="3405505"/>
            <a:ext cx="377429" cy="377429"/>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May</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61" name="AutoShape 45"/>
          <p:cNvCxnSpPr>
            <a:cxnSpLocks noChangeShapeType="1"/>
            <a:stCxn id="290846" idx="5"/>
            <a:endCxn id="290860" idx="0"/>
          </p:cNvCxnSpPr>
          <p:nvPr/>
        </p:nvCxnSpPr>
        <p:spPr bwMode="auto">
          <a:xfrm>
            <a:off x="3436144" y="3135233"/>
            <a:ext cx="784622" cy="270272"/>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64" name="Rectangle 48"/>
          <p:cNvSpPr>
            <a:spLocks noChangeArrowheads="1"/>
          </p:cNvSpPr>
          <p:nvPr/>
        </p:nvSpPr>
        <p:spPr bwMode="auto">
          <a:xfrm>
            <a:off x="614204" y="1859677"/>
            <a:ext cx="713867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{‘Apr’, ‘Aug’,</a:t>
            </a:r>
            <a:r>
              <a:rPr lang="en-US" altLang="zh-CN" sz="1600">
                <a:solidFill>
                  <a:srgbClr val="FF0000"/>
                </a:solidFill>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‘Dec’, ‘Feb’, ‘Jan’,</a:t>
            </a:r>
            <a:r>
              <a:rPr lang="en-US" altLang="zh-CN" sz="1600">
                <a:solidFill>
                  <a:srgbClr val="FF0000"/>
                </a:solidFill>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‘Jul’, ‘Jun’,</a:t>
            </a:r>
            <a:r>
              <a:rPr lang="en-US" altLang="zh-CN" sz="1600">
                <a:solidFill>
                  <a:srgbClr val="FF0000"/>
                </a:solidFill>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‘Mar’, ‘May’, ‘Nov’, ‘Oct’, ‘Sep’}</a:t>
            </a:r>
            <a:endParaRPr lang="en-US" altLang="zh-CN" sz="1600" b="1">
              <a:solidFill>
                <a:srgbClr val="FF0000"/>
              </a:solidFill>
              <a:latin typeface="Times New Roman" panose="02020603050405020304" pitchFamily="18" charset="0"/>
              <a:cs typeface="Times New Roman" panose="02020603050405020304" pitchFamily="18" charset="0"/>
            </a:endParaRPr>
          </a:p>
        </p:txBody>
      </p:sp>
      <p:sp>
        <p:nvSpPr>
          <p:cNvPr id="290865" name="Oval 49"/>
          <p:cNvSpPr>
            <a:spLocks noChangeArrowheads="1"/>
          </p:cNvSpPr>
          <p:nvPr/>
        </p:nvSpPr>
        <p:spPr bwMode="auto">
          <a:xfrm>
            <a:off x="4734000" y="4673521"/>
            <a:ext cx="377428" cy="377428"/>
          </a:xfrm>
          <a:prstGeom prst="ellipse">
            <a:avLst/>
          </a:prstGeom>
          <a:solidFill>
            <a:schemeClr val="accent1"/>
          </a:solid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00"/>
                </a:solidFill>
                <a:latin typeface="Times New Roman" panose="02020603050405020304" pitchFamily="18" charset="0"/>
                <a:cs typeface="Times New Roman" panose="02020603050405020304" pitchFamily="18" charset="0"/>
              </a:rPr>
              <a:t>Sep</a:t>
            </a:r>
            <a:endParaRPr lang="en-US" altLang="zh-CN" sz="1350" b="1" dirty="0">
              <a:solidFill>
                <a:srgbClr val="FFFF00"/>
              </a:solidFill>
              <a:latin typeface="Times New Roman" panose="02020603050405020304" pitchFamily="18" charset="0"/>
              <a:cs typeface="Times New Roman" panose="02020603050405020304" pitchFamily="18" charset="0"/>
            </a:endParaRPr>
          </a:p>
        </p:txBody>
      </p:sp>
      <p:cxnSp>
        <p:nvCxnSpPr>
          <p:cNvPr id="290866" name="AutoShape 50"/>
          <p:cNvCxnSpPr>
            <a:cxnSpLocks noChangeShapeType="1"/>
            <a:stCxn id="290858" idx="5"/>
            <a:endCxn id="290865" idx="0"/>
          </p:cNvCxnSpPr>
          <p:nvPr/>
        </p:nvCxnSpPr>
        <p:spPr bwMode="auto">
          <a:xfrm>
            <a:off x="4840155" y="4322973"/>
            <a:ext cx="82559" cy="350548"/>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67" name="Rectangle 51"/>
          <p:cNvSpPr>
            <a:spLocks noChangeArrowheads="1"/>
          </p:cNvSpPr>
          <p:nvPr/>
        </p:nvSpPr>
        <p:spPr bwMode="auto">
          <a:xfrm>
            <a:off x="614204" y="1158399"/>
            <a:ext cx="713867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solidFill>
                  <a:srgbClr val="FF0000"/>
                </a:solidFill>
                <a:latin typeface="Times New Roman" panose="02020603050405020304" pitchFamily="18" charset="0"/>
                <a:cs typeface="Times New Roman" panose="02020603050405020304" pitchFamily="18" charset="0"/>
              </a:rPr>
              <a:t>{‘Jan’, ‘Feb’, ‘Mar’, ‘Apr’, ‘May’, ‘Jun’, ‘Jul’, ‘Aug’, ‘Sep’, ‘Oct’, ‘Nov’, ‘Dec’}</a:t>
            </a:r>
            <a:endParaRPr lang="en-US" altLang="zh-CN" sz="1600" b="1">
              <a:solidFill>
                <a:srgbClr val="FF0000"/>
              </a:solidFill>
              <a:latin typeface="Times New Roman" panose="02020603050405020304" pitchFamily="18" charset="0"/>
              <a:cs typeface="Times New Roman" panose="02020603050405020304" pitchFamily="18" charset="0"/>
            </a:endParaRPr>
          </a:p>
        </p:txBody>
      </p:sp>
      <p:sp>
        <p:nvSpPr>
          <p:cNvPr id="290869" name="AutoShape 53"/>
          <p:cNvSpPr>
            <a:spLocks noChangeArrowheads="1"/>
          </p:cNvSpPr>
          <p:nvPr/>
        </p:nvSpPr>
        <p:spPr bwMode="auto">
          <a:xfrm>
            <a:off x="3815556" y="1515586"/>
            <a:ext cx="270272" cy="323850"/>
          </a:xfrm>
          <a:prstGeom prst="downArrow">
            <a:avLst>
              <a:gd name="adj1" fmla="val 50000"/>
              <a:gd name="adj2" fmla="val 2995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600">
              <a:latin typeface="Times New Roman" panose="02020603050405020304" pitchFamily="18" charset="0"/>
              <a:cs typeface="Times New Roman" panose="02020603050405020304" pitchFamily="18" charset="0"/>
            </a:endParaRPr>
          </a:p>
        </p:txBody>
      </p:sp>
      <p:sp>
        <p:nvSpPr>
          <p:cNvPr id="290870" name="Text Box 54"/>
          <p:cNvSpPr txBox="1">
            <a:spLocks noChangeArrowheads="1"/>
          </p:cNvSpPr>
          <p:nvPr/>
        </p:nvSpPr>
        <p:spPr bwMode="auto">
          <a:xfrm>
            <a:off x="4138930" y="1463199"/>
            <a:ext cx="82677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Times New Roman" panose="02020603050405020304" pitchFamily="18" charset="0"/>
                <a:cs typeface="Times New Roman" panose="02020603050405020304" pitchFamily="18" charset="0"/>
              </a:rPr>
              <a:t>Sorting</a:t>
            </a:r>
            <a:endParaRPr lang="en-US" altLang="zh-CN" sz="1600" b="1">
              <a:latin typeface="Times New Roman" panose="02020603050405020304" pitchFamily="18" charset="0"/>
              <a:cs typeface="Times New Roman" panose="02020603050405020304" pitchFamily="18" charset="0"/>
            </a:endParaRPr>
          </a:p>
        </p:txBody>
      </p:sp>
      <p:sp>
        <p:nvSpPr>
          <p:cNvPr id="290871" name="Text Box 55"/>
          <p:cNvSpPr txBox="1">
            <a:spLocks noChangeArrowheads="1"/>
          </p:cNvSpPr>
          <p:nvPr/>
        </p:nvSpPr>
        <p:spPr bwMode="auto">
          <a:xfrm>
            <a:off x="1439466" y="2837577"/>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1</a:t>
            </a:r>
            <a:endParaRPr lang="en-US" altLang="zh-CN" sz="1500" b="1">
              <a:latin typeface="Times New Roman" panose="02020603050405020304" pitchFamily="18" charset="0"/>
              <a:cs typeface="Times New Roman" panose="02020603050405020304" pitchFamily="18" charset="0"/>
            </a:endParaRPr>
          </a:p>
        </p:txBody>
      </p:sp>
      <p:sp>
        <p:nvSpPr>
          <p:cNvPr id="290872" name="Text Box 56"/>
          <p:cNvSpPr txBox="1">
            <a:spLocks noChangeArrowheads="1"/>
          </p:cNvSpPr>
          <p:nvPr/>
        </p:nvSpPr>
        <p:spPr bwMode="auto">
          <a:xfrm>
            <a:off x="1439466" y="335669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2</a:t>
            </a:r>
            <a:endParaRPr lang="en-US" altLang="zh-CN" sz="1500" b="1">
              <a:latin typeface="Times New Roman" panose="02020603050405020304" pitchFamily="18" charset="0"/>
              <a:cs typeface="Times New Roman" panose="02020603050405020304" pitchFamily="18" charset="0"/>
            </a:endParaRPr>
          </a:p>
        </p:txBody>
      </p:sp>
      <p:sp>
        <p:nvSpPr>
          <p:cNvPr id="290873" name="Text Box 57"/>
          <p:cNvSpPr txBox="1">
            <a:spLocks noChangeArrowheads="1"/>
          </p:cNvSpPr>
          <p:nvPr/>
        </p:nvSpPr>
        <p:spPr bwMode="auto">
          <a:xfrm>
            <a:off x="1439466" y="400439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3</a:t>
            </a:r>
            <a:endParaRPr lang="en-US" altLang="zh-CN" sz="1500" b="1">
              <a:latin typeface="Times New Roman" panose="02020603050405020304" pitchFamily="18" charset="0"/>
              <a:cs typeface="Times New Roman" panose="02020603050405020304" pitchFamily="18" charset="0"/>
            </a:endParaRPr>
          </a:p>
        </p:txBody>
      </p:sp>
      <p:sp>
        <p:nvSpPr>
          <p:cNvPr id="290874" name="Text Box 58"/>
          <p:cNvSpPr txBox="1">
            <a:spLocks noChangeArrowheads="1"/>
          </p:cNvSpPr>
          <p:nvPr/>
        </p:nvSpPr>
        <p:spPr bwMode="auto">
          <a:xfrm>
            <a:off x="1439466" y="4653280"/>
            <a:ext cx="288925" cy="32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500" b="1">
                <a:latin typeface="Times New Roman" panose="02020603050405020304" pitchFamily="18" charset="0"/>
                <a:cs typeface="Times New Roman" panose="02020603050405020304" pitchFamily="18" charset="0"/>
              </a:rPr>
              <a:t>4</a:t>
            </a:r>
            <a:endParaRPr lang="en-US" altLang="zh-CN" sz="1500" b="1">
              <a:latin typeface="Times New Roman" panose="02020603050405020304" pitchFamily="18" charset="0"/>
              <a:cs typeface="Times New Roman" panose="02020603050405020304" pitchFamily="18" charset="0"/>
            </a:endParaRPr>
          </a:p>
        </p:txBody>
      </p:sp>
      <p:sp>
        <p:nvSpPr>
          <p:cNvPr id="290875" name="Text Box 59"/>
          <p:cNvSpPr txBox="1">
            <a:spLocks noChangeArrowheads="1"/>
          </p:cNvSpPr>
          <p:nvPr/>
        </p:nvSpPr>
        <p:spPr bwMode="auto">
          <a:xfrm>
            <a:off x="5264785" y="2683510"/>
            <a:ext cx="2873375" cy="39878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a:latin typeface="Times New Roman" panose="02020603050405020304" pitchFamily="18" charset="0"/>
                <a:cs typeface="Times New Roman" panose="02020603050405020304" pitchFamily="18" charset="0"/>
              </a:rPr>
              <a:t>1+2*2+3*4+4*5 = 37</a:t>
            </a:r>
            <a:endParaRPr lang="en-US" altLang="zh-CN"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0875"/>
                                        </p:tgtEl>
                                        <p:attrNameLst>
                                          <p:attrName>style.visibility</p:attrName>
                                        </p:attrNameLst>
                                      </p:cBhvr>
                                      <p:to>
                                        <p:strVal val="visible"/>
                                      </p:to>
                                    </p:set>
                                    <p:animEffect transition="in" filter="fade">
                                      <p:cBhvr>
                                        <p:cTn id="7" dur="1000"/>
                                        <p:tgtEl>
                                          <p:spTgt spid="290875"/>
                                        </p:tgtEl>
                                      </p:cBhvr>
                                    </p:animEffect>
                                    <p:anim calcmode="lin" valueType="num">
                                      <p:cBhvr>
                                        <p:cTn id="8" dur="1000" fill="hold"/>
                                        <p:tgtEl>
                                          <p:spTgt spid="290875"/>
                                        </p:tgtEl>
                                        <p:attrNameLst>
                                          <p:attrName>ppt_x</p:attrName>
                                        </p:attrNameLst>
                                      </p:cBhvr>
                                      <p:tavLst>
                                        <p:tav tm="0">
                                          <p:val>
                                            <p:strVal val="#ppt_x"/>
                                          </p:val>
                                        </p:tav>
                                        <p:tav tm="100000">
                                          <p:val>
                                            <p:strVal val="#ppt_x"/>
                                          </p:val>
                                        </p:tav>
                                      </p:tavLst>
                                    </p:anim>
                                    <p:anim calcmode="lin" valueType="num">
                                      <p:cBhvr>
                                        <p:cTn id="9" dur="1000" fill="hold"/>
                                        <p:tgtEl>
                                          <p:spTgt spid="2908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75"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2" name="Rectangle 4"/>
          <p:cNvSpPr>
            <a:spLocks noGrp="1" noChangeArrowheads="1"/>
          </p:cNvSpPr>
          <p:nvPr>
            <p:ph type="title"/>
          </p:nvPr>
        </p:nvSpPr>
        <p:spPr>
          <a:noFill/>
        </p:spPr>
        <p:txBody>
          <a:bodyPr anchorCtr="0">
            <a:scene3d>
              <a:camera prst="orthographicFront"/>
              <a:lightRig rig="threePt" dir="t"/>
            </a:scene3d>
          </a:bodyPr>
          <a:lstStyle/>
          <a:p>
            <a:r>
              <a:rPr lang="en-US" altLang="zh-CN">
                <a:solidFill>
                  <a:schemeClr val="bg1"/>
                </a:solidFill>
                <a:effectLst>
                  <a:outerShdw blurRad="38100" dist="25400" dir="5400000" algn="ctr" rotWithShape="0">
                    <a:srgbClr val="6E747A">
                      <a:alpha val="43000"/>
                    </a:srgbClr>
                  </a:outerShdw>
                </a:effectLst>
              </a:rPr>
              <a:t>Static m-searching Tree</a:t>
            </a:r>
            <a:endParaRPr lang="en-US" altLang="zh-CN">
              <a:solidFill>
                <a:schemeClr val="bg1"/>
              </a:solidFill>
              <a:effectLst>
                <a:outerShdw blurRad="38100" dist="25400" dir="5400000" algn="ctr" rotWithShape="0">
                  <a:srgbClr val="6E747A">
                    <a:alpha val="43000"/>
                  </a:srgbClr>
                </a:outerShdw>
              </a:effectLst>
            </a:endParaRPr>
          </a:p>
        </p:txBody>
      </p:sp>
      <p:pic>
        <p:nvPicPr>
          <p:cNvPr id="25805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35" y="1225550"/>
            <a:ext cx="9015730" cy="370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Static m-searching Tree</a:t>
            </a:r>
            <a:endParaRPr lang="zh-CN" altLang="en-US"/>
          </a:p>
        </p:txBody>
      </p:sp>
      <p:sp>
        <p:nvSpPr>
          <p:cNvPr id="259085" name="Rectangle 13"/>
          <p:cNvSpPr>
            <a:spLocks noChangeArrowheads="1"/>
          </p:cNvSpPr>
          <p:nvPr/>
        </p:nvSpPr>
        <p:spPr bwMode="auto">
          <a:xfrm>
            <a:off x="453866" y="1214438"/>
            <a:ext cx="7466171" cy="4105275"/>
          </a:xfrm>
          <a:prstGeom prst="rect">
            <a:avLst/>
          </a:prstGeom>
          <a:solidFill>
            <a:srgbClr val="FFFFFF"/>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350"/>
          </a:p>
        </p:txBody>
      </p:sp>
      <p:pic>
        <p:nvPicPr>
          <p:cNvPr id="259086"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2944" y="1289924"/>
            <a:ext cx="6669881" cy="815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08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866" y="2250281"/>
            <a:ext cx="7634288" cy="306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088" name="Text Box 16"/>
          <p:cNvSpPr txBox="1">
            <a:spLocks noChangeArrowheads="1"/>
          </p:cNvSpPr>
          <p:nvPr/>
        </p:nvSpPr>
        <p:spPr bwMode="auto">
          <a:xfrm>
            <a:off x="1322388" y="5459492"/>
            <a:ext cx="6350794" cy="3683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b="1">
                <a:solidFill>
                  <a:srgbClr val="FF0000"/>
                </a:solidFill>
                <a:ea typeface="仿宋_GB2312" panose="02010609030101010101" pitchFamily="49" charset="-122"/>
              </a:rPr>
              <a:t>Multiple-level index structure based on </a:t>
            </a:r>
            <a:r>
              <a:rPr kumimoji="1" lang="en-US" altLang="zh-CN" b="1" i="1">
                <a:solidFill>
                  <a:srgbClr val="FF0000"/>
                </a:solidFill>
                <a:latin typeface="Times New Roman" panose="02020603050405020304" pitchFamily="18" charset="0"/>
                <a:ea typeface="仿宋_GB2312" panose="02010609030101010101" pitchFamily="49" charset="-122"/>
              </a:rPr>
              <a:t>m-searching tree</a:t>
            </a:r>
            <a:endParaRPr kumimoji="1" lang="en-US" altLang="zh-CN" b="1" i="1">
              <a:solidFill>
                <a:srgbClr val="FF0000"/>
              </a:solidFill>
              <a:latin typeface="Times New Roman" panose="02020603050405020304" pitchFamily="18" charset="0"/>
              <a:ea typeface="仿宋_GB2312" panose="02010609030101010101" pitchFamily="49" charset="-122"/>
            </a:endParaRPr>
          </a:p>
        </p:txBody>
      </p:sp>
      <p:sp>
        <p:nvSpPr>
          <p:cNvPr id="259089" name="Rectangle 17"/>
          <p:cNvSpPr>
            <a:spLocks noChangeArrowheads="1"/>
          </p:cNvSpPr>
          <p:nvPr/>
        </p:nvSpPr>
        <p:spPr bwMode="auto">
          <a:xfrm>
            <a:off x="7257098" y="4832747"/>
            <a:ext cx="963216" cy="378619"/>
          </a:xfrm>
          <a:prstGeom prst="rect">
            <a:avLst/>
          </a:prstGeom>
          <a:solidFill>
            <a:srgbClr val="FFFF66"/>
          </a:solidFill>
          <a:ln w="9525">
            <a:solidFill>
              <a:srgbClr val="000000"/>
            </a:solidFill>
            <a:miter lim="800000"/>
          </a:ln>
          <a:effectLst>
            <a:outerShdw dist="107763" dir="2700000" algn="ctr" rotWithShape="0">
              <a:schemeClr val="bg2">
                <a:alpha val="50000"/>
              </a:schemeClr>
            </a:outerShdw>
          </a:effectLst>
        </p:spPr>
        <p:txBody>
          <a:bodyPr wrap="none" anchor="ctr"/>
          <a:lstStyle/>
          <a:p>
            <a:pPr algn="ctr"/>
            <a:r>
              <a:rPr lang="en-US" altLang="zh-CN" sz="1350" b="1">
                <a:solidFill>
                  <a:srgbClr val="000000"/>
                </a:solidFill>
              </a:rPr>
              <a:t>Data</a:t>
            </a:r>
            <a:endParaRPr lang="en-US" altLang="zh-CN" sz="1350" b="1">
              <a:solidFill>
                <a:srgbClr val="000000"/>
              </a:solidFill>
            </a:endParaRPr>
          </a:p>
        </p:txBody>
      </p:sp>
      <p:sp>
        <p:nvSpPr>
          <p:cNvPr id="259090" name="Rectangle 18"/>
          <p:cNvSpPr>
            <a:spLocks noChangeArrowheads="1"/>
          </p:cNvSpPr>
          <p:nvPr/>
        </p:nvSpPr>
        <p:spPr bwMode="auto">
          <a:xfrm>
            <a:off x="7257098" y="4293394"/>
            <a:ext cx="977504" cy="432197"/>
          </a:xfrm>
          <a:prstGeom prst="rect">
            <a:avLst/>
          </a:prstGeom>
          <a:solidFill>
            <a:srgbClr val="FFFF66"/>
          </a:solidFill>
          <a:ln w="9525">
            <a:solidFill>
              <a:srgbClr val="000000"/>
            </a:solidFill>
            <a:miter lim="800000"/>
          </a:ln>
          <a:effectLst>
            <a:outerShdw dist="107763" dir="2700000" algn="ctr" rotWithShape="0">
              <a:schemeClr val="bg2">
                <a:alpha val="50000"/>
              </a:schemeClr>
            </a:outerShdw>
          </a:effectLst>
        </p:spPr>
        <p:txBody>
          <a:bodyPr wrap="none" anchor="ctr"/>
          <a:lstStyle/>
          <a:p>
            <a:pPr algn="ctr"/>
            <a:r>
              <a:rPr lang="en-US" altLang="zh-CN" sz="1350" b="1">
                <a:solidFill>
                  <a:srgbClr val="000000"/>
                </a:solidFill>
              </a:rPr>
              <a:t>1</a:t>
            </a:r>
            <a:r>
              <a:rPr lang="en-US" altLang="zh-CN" sz="1350" b="1" baseline="30000">
                <a:solidFill>
                  <a:srgbClr val="000000"/>
                </a:solidFill>
              </a:rPr>
              <a:t>st</a:t>
            </a:r>
            <a:r>
              <a:rPr lang="en-US" altLang="zh-CN" sz="1350" b="1">
                <a:solidFill>
                  <a:srgbClr val="000000"/>
                </a:solidFill>
              </a:rPr>
              <a:t> level </a:t>
            </a:r>
            <a:endParaRPr lang="en-US" altLang="zh-CN" sz="1350" b="1">
              <a:solidFill>
                <a:srgbClr val="000000"/>
              </a:solidFill>
            </a:endParaRPr>
          </a:p>
          <a:p>
            <a:pPr algn="ctr"/>
            <a:r>
              <a:rPr lang="en-US" altLang="zh-CN" sz="1350" b="1">
                <a:solidFill>
                  <a:srgbClr val="000000"/>
                </a:solidFill>
              </a:rPr>
              <a:t>index</a:t>
            </a:r>
            <a:endParaRPr lang="en-US" altLang="zh-CN" sz="1350" b="1">
              <a:solidFill>
                <a:srgbClr val="000000"/>
              </a:solidFill>
            </a:endParaRPr>
          </a:p>
        </p:txBody>
      </p:sp>
      <p:sp>
        <p:nvSpPr>
          <p:cNvPr id="259091" name="Rectangle 19"/>
          <p:cNvSpPr>
            <a:spLocks noChangeArrowheads="1"/>
          </p:cNvSpPr>
          <p:nvPr/>
        </p:nvSpPr>
        <p:spPr bwMode="auto">
          <a:xfrm>
            <a:off x="7257098" y="3645694"/>
            <a:ext cx="977504" cy="432197"/>
          </a:xfrm>
          <a:prstGeom prst="rect">
            <a:avLst/>
          </a:prstGeom>
          <a:solidFill>
            <a:srgbClr val="FFFF66"/>
          </a:solidFill>
          <a:ln w="9525">
            <a:solidFill>
              <a:srgbClr val="000000"/>
            </a:solidFill>
            <a:miter lim="800000"/>
          </a:ln>
          <a:effectLst>
            <a:outerShdw dist="107763" dir="2700000" algn="ctr" rotWithShape="0">
              <a:schemeClr val="bg2">
                <a:alpha val="50000"/>
              </a:schemeClr>
            </a:outerShdw>
          </a:effectLst>
        </p:spPr>
        <p:txBody>
          <a:bodyPr wrap="none" anchor="ctr"/>
          <a:lstStyle/>
          <a:p>
            <a:pPr algn="ctr"/>
            <a:r>
              <a:rPr lang="en-US" altLang="zh-CN" sz="1350" b="1">
                <a:solidFill>
                  <a:srgbClr val="000000"/>
                </a:solidFill>
              </a:rPr>
              <a:t>2</a:t>
            </a:r>
            <a:r>
              <a:rPr lang="en-US" altLang="zh-CN" sz="1350" b="1" baseline="30000">
                <a:solidFill>
                  <a:srgbClr val="000000"/>
                </a:solidFill>
              </a:rPr>
              <a:t>nd</a:t>
            </a:r>
            <a:r>
              <a:rPr lang="en-US" altLang="zh-CN" sz="1350" b="1">
                <a:solidFill>
                  <a:srgbClr val="000000"/>
                </a:solidFill>
              </a:rPr>
              <a:t> level </a:t>
            </a:r>
            <a:endParaRPr lang="en-US" altLang="zh-CN" sz="1350" b="1">
              <a:solidFill>
                <a:srgbClr val="000000"/>
              </a:solidFill>
            </a:endParaRPr>
          </a:p>
          <a:p>
            <a:pPr algn="ctr"/>
            <a:r>
              <a:rPr lang="en-US" altLang="zh-CN" sz="1350" b="1">
                <a:solidFill>
                  <a:srgbClr val="000000"/>
                </a:solidFill>
              </a:rPr>
              <a:t>index</a:t>
            </a:r>
            <a:endParaRPr lang="en-US" altLang="zh-CN" sz="1350" b="1">
              <a:solidFill>
                <a:srgbClr val="000000"/>
              </a:solidFill>
            </a:endParaRPr>
          </a:p>
        </p:txBody>
      </p:sp>
      <p:sp>
        <p:nvSpPr>
          <p:cNvPr id="259092" name="Rectangle 20"/>
          <p:cNvSpPr>
            <a:spLocks noChangeArrowheads="1"/>
          </p:cNvSpPr>
          <p:nvPr/>
        </p:nvSpPr>
        <p:spPr bwMode="auto">
          <a:xfrm>
            <a:off x="7257098" y="2943225"/>
            <a:ext cx="977504" cy="432197"/>
          </a:xfrm>
          <a:prstGeom prst="rect">
            <a:avLst/>
          </a:prstGeom>
          <a:solidFill>
            <a:srgbClr val="FFFF66"/>
          </a:solidFill>
          <a:ln w="9525">
            <a:solidFill>
              <a:srgbClr val="000000"/>
            </a:solidFill>
            <a:miter lim="800000"/>
          </a:ln>
          <a:effectLst>
            <a:outerShdw dist="107763" dir="2700000" algn="ctr" rotWithShape="0">
              <a:schemeClr val="bg2">
                <a:alpha val="50000"/>
              </a:schemeClr>
            </a:outerShdw>
          </a:effectLst>
        </p:spPr>
        <p:txBody>
          <a:bodyPr wrap="none" anchor="ctr"/>
          <a:lstStyle/>
          <a:p>
            <a:pPr algn="ctr"/>
            <a:r>
              <a:rPr lang="en-US" altLang="zh-CN" sz="1350" b="1">
                <a:solidFill>
                  <a:srgbClr val="000000"/>
                </a:solidFill>
              </a:rPr>
              <a:t>3</a:t>
            </a:r>
            <a:r>
              <a:rPr lang="en-US" altLang="zh-CN" sz="1350" b="1" baseline="30000">
                <a:solidFill>
                  <a:srgbClr val="000000"/>
                </a:solidFill>
              </a:rPr>
              <a:t>rd</a:t>
            </a:r>
            <a:r>
              <a:rPr lang="en-US" altLang="zh-CN" sz="1350" b="1">
                <a:solidFill>
                  <a:srgbClr val="000000"/>
                </a:solidFill>
              </a:rPr>
              <a:t> level</a:t>
            </a:r>
            <a:endParaRPr lang="en-US" altLang="zh-CN" sz="1350" b="1">
              <a:solidFill>
                <a:srgbClr val="000000"/>
              </a:solidFill>
            </a:endParaRPr>
          </a:p>
          <a:p>
            <a:pPr algn="ctr"/>
            <a:r>
              <a:rPr lang="en-US" altLang="zh-CN" sz="1350" b="1">
                <a:solidFill>
                  <a:srgbClr val="000000"/>
                </a:solidFill>
              </a:rPr>
              <a:t>index</a:t>
            </a:r>
            <a:endParaRPr lang="en-US" altLang="zh-CN" sz="1350" b="1">
              <a:solidFill>
                <a:srgbClr val="000000"/>
              </a:solidFill>
            </a:endParaRPr>
          </a:p>
        </p:txBody>
      </p:sp>
      <p:sp>
        <p:nvSpPr>
          <p:cNvPr id="259093" name="Rectangle 21"/>
          <p:cNvSpPr>
            <a:spLocks noChangeArrowheads="1"/>
          </p:cNvSpPr>
          <p:nvPr/>
        </p:nvSpPr>
        <p:spPr bwMode="auto">
          <a:xfrm>
            <a:off x="7252335" y="2295525"/>
            <a:ext cx="977504" cy="432197"/>
          </a:xfrm>
          <a:prstGeom prst="rect">
            <a:avLst/>
          </a:prstGeom>
          <a:solidFill>
            <a:srgbClr val="FFFF66"/>
          </a:solidFill>
          <a:ln w="9525">
            <a:solidFill>
              <a:srgbClr val="000000"/>
            </a:solidFill>
            <a:miter lim="800000"/>
          </a:ln>
          <a:effectLst>
            <a:outerShdw dist="107763" dir="2700000" algn="ctr" rotWithShape="0">
              <a:schemeClr val="bg2">
                <a:alpha val="50000"/>
              </a:schemeClr>
            </a:outerShdw>
          </a:effectLst>
        </p:spPr>
        <p:txBody>
          <a:bodyPr wrap="none" anchor="ctr"/>
          <a:lstStyle/>
          <a:p>
            <a:pPr algn="ctr"/>
            <a:r>
              <a:rPr lang="en-US" altLang="zh-CN" sz="1350" b="1">
                <a:solidFill>
                  <a:srgbClr val="000000"/>
                </a:solidFill>
              </a:rPr>
              <a:t>4</a:t>
            </a:r>
            <a:r>
              <a:rPr lang="en-US" altLang="zh-CN" sz="1350" b="1" baseline="30000">
                <a:solidFill>
                  <a:srgbClr val="000000"/>
                </a:solidFill>
              </a:rPr>
              <a:t>th</a:t>
            </a:r>
            <a:r>
              <a:rPr lang="en-US" altLang="zh-CN" sz="1350" b="1">
                <a:solidFill>
                  <a:srgbClr val="000000"/>
                </a:solidFill>
              </a:rPr>
              <a:t> level </a:t>
            </a:r>
            <a:endParaRPr lang="en-US" altLang="zh-CN" sz="1350" b="1">
              <a:solidFill>
                <a:srgbClr val="000000"/>
              </a:solidFill>
            </a:endParaRPr>
          </a:p>
          <a:p>
            <a:pPr algn="ctr"/>
            <a:r>
              <a:rPr lang="en-US" altLang="zh-CN" sz="1350" b="1">
                <a:solidFill>
                  <a:srgbClr val="000000"/>
                </a:solidFill>
              </a:rPr>
              <a:t>index</a:t>
            </a:r>
            <a:endParaRPr lang="en-US" altLang="zh-CN" sz="1350" b="1">
              <a:solidFill>
                <a:srgbClr val="000000"/>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p="http://schemas.openxmlformats.org/presentationml/2006/main">
  <p:tag name="COMMONDATA" val="eyJoZGlkIjoiZjVhM2RlMmM2M2YzNzUyZGQzMTAwZTU3MGUyMjdjYTQifQ=="/>
  <p:tag name="commondata" val="eyJoZGlkIjoiZWQ1YzRkOGVmY2I5MThlMjIyOTQ0NDAyOTkxNTNkN2IifQ=="/>
</p:tagLst>
</file>

<file path=ppt/theme/theme1.xml><?xml version="1.0" encoding="utf-8"?>
<a:theme xmlns:a="http://schemas.openxmlformats.org/drawingml/2006/main" name="2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7450</Words>
  <Application>WPS 演示</Application>
  <PresentationFormat>宽屏</PresentationFormat>
  <Paragraphs>1295</Paragraphs>
  <Slides>39</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7</vt:i4>
      </vt:variant>
      <vt:variant>
        <vt:lpstr>幻灯片标题</vt:lpstr>
      </vt:variant>
      <vt:variant>
        <vt:i4>39</vt:i4>
      </vt:variant>
    </vt:vector>
  </HeadingPairs>
  <TitlesOfParts>
    <vt:vector size="61" baseType="lpstr">
      <vt:lpstr>Arial</vt:lpstr>
      <vt:lpstr>宋体</vt:lpstr>
      <vt:lpstr>Wingdings</vt:lpstr>
      <vt:lpstr>幼圆</vt:lpstr>
      <vt:lpstr>Times New Roman</vt:lpstr>
      <vt:lpstr>黑体</vt:lpstr>
      <vt:lpstr>Wingdings</vt:lpstr>
      <vt:lpstr>微软雅黑</vt:lpstr>
      <vt:lpstr>Arial Unicode MS</vt:lpstr>
      <vt:lpstr>Calibri</vt:lpstr>
      <vt:lpstr>Consolas</vt:lpstr>
      <vt:lpstr>MS Hei</vt:lpstr>
      <vt:lpstr>仿宋_GB2312</vt:lpstr>
      <vt:lpstr>Times New Roman</vt:lpstr>
      <vt:lpstr>2_Orbit</vt:lpstr>
      <vt:lpstr>Word.Picture.8</vt:lpstr>
      <vt:lpstr>Word.Picture.8</vt:lpstr>
      <vt:lpstr>Word.Picture.8</vt:lpstr>
      <vt:lpstr>Word.Picture.8</vt:lpstr>
      <vt:lpstr>Equation.DSMT4</vt:lpstr>
      <vt:lpstr>Equation.DSMT4</vt:lpstr>
      <vt:lpstr>Equation.DSMT4</vt:lpstr>
      <vt:lpstr>Chapter 08 Searching 第八章 查找</vt:lpstr>
      <vt:lpstr>本章学习线索</vt:lpstr>
      <vt:lpstr>Contents</vt:lpstr>
      <vt:lpstr>8.4 平衡二叉树</vt:lpstr>
      <vt:lpstr>8.4 平衡二叉树</vt:lpstr>
      <vt:lpstr>四种基本情况</vt:lpstr>
      <vt:lpstr>四种基本情况</vt:lpstr>
      <vt:lpstr>A. 单向右旋</vt:lpstr>
      <vt:lpstr>B. 单向左旋</vt:lpstr>
      <vt:lpstr>C. 双向右旋（左右）</vt:lpstr>
      <vt:lpstr>D. 双向右旋（右左）</vt:lpstr>
      <vt:lpstr>8.4 平衡二叉树</vt:lpstr>
      <vt:lpstr>8.4 平衡二叉树</vt:lpstr>
      <vt:lpstr>8.4 平衡二叉树</vt:lpstr>
      <vt:lpstr>8.4 平衡二叉树</vt:lpstr>
      <vt:lpstr>Example</vt:lpstr>
      <vt:lpstr>Example</vt:lpstr>
      <vt:lpstr>Example</vt:lpstr>
      <vt:lpstr>8.4 平衡二叉树</vt:lpstr>
      <vt:lpstr>8.4 平衡二叉树</vt:lpstr>
      <vt:lpstr>8.4 平衡二叉树</vt:lpstr>
      <vt:lpstr>8.4 平衡二叉树</vt:lpstr>
      <vt:lpstr>8.4 平衡二叉树</vt:lpstr>
      <vt:lpstr>8.4 平衡二叉树</vt:lpstr>
      <vt:lpstr>8.4 平衡二叉树</vt:lpstr>
      <vt:lpstr>8.4 平衡二叉树</vt:lpstr>
      <vt:lpstr>8.4 平衡二叉树</vt:lpstr>
      <vt:lpstr>8.4 平衡二叉树</vt:lpstr>
      <vt:lpstr>平衡二叉树查找的分析</vt:lpstr>
      <vt:lpstr>Quiz</vt:lpstr>
      <vt:lpstr>BST</vt:lpstr>
      <vt:lpstr>AVL tree</vt:lpstr>
      <vt:lpstr>AVL tree</vt:lpstr>
      <vt:lpstr>AVL tree</vt:lpstr>
      <vt:lpstr>AVL tree</vt:lpstr>
      <vt:lpstr>AVL tree</vt:lpstr>
      <vt:lpstr>Binary Decision Tree</vt:lpstr>
      <vt:lpstr>Static m-searching Tree</vt:lpstr>
      <vt:lpstr>Static m-searching Tree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王犇</cp:lastModifiedBy>
  <cp:revision>417</cp:revision>
  <dcterms:created xsi:type="dcterms:W3CDTF">2019-06-19T02:08:00Z</dcterms:created>
  <dcterms:modified xsi:type="dcterms:W3CDTF">2026-05-14T09:26:38Z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ECD2649BF67C4413A73376E89FA200B9_11</vt:lpwstr>
  </property>
</Properties>
</file>