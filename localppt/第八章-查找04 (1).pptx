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477" r:id="rId3"/>
    <p:sldId id="567" r:id="rId4"/>
    <p:sldId id="568" r:id="rId5"/>
    <p:sldId id="712" r:id="rId6"/>
    <p:sldId id="713" r:id="rId7"/>
    <p:sldId id="714" r:id="rId8"/>
    <p:sldId id="716" r:id="rId9"/>
    <p:sldId id="717" r:id="rId10"/>
    <p:sldId id="718" r:id="rId11"/>
    <p:sldId id="719" r:id="rId12"/>
    <p:sldId id="720" r:id="rId13"/>
    <p:sldId id="721" r:id="rId14"/>
    <p:sldId id="722" r:id="rId15"/>
    <p:sldId id="723" r:id="rId16"/>
    <p:sldId id="725" r:id="rId17"/>
    <p:sldId id="726" r:id="rId18"/>
    <p:sldId id="727" r:id="rId19"/>
    <p:sldId id="728" r:id="rId20"/>
    <p:sldId id="729" r:id="rId21"/>
    <p:sldId id="730" r:id="rId22"/>
    <p:sldId id="743" r:id="rId23"/>
    <p:sldId id="732" r:id="rId24"/>
    <p:sldId id="733" r:id="rId25"/>
    <p:sldId id="734" r:id="rId26"/>
    <p:sldId id="735" r:id="rId27"/>
    <p:sldId id="736" r:id="rId28"/>
    <p:sldId id="737" r:id="rId29"/>
    <p:sldId id="754" r:id="rId30"/>
    <p:sldId id="738" r:id="rId31"/>
    <p:sldId id="739" r:id="rId32"/>
    <p:sldId id="741" r:id="rId33"/>
    <p:sldId id="740" r:id="rId34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940"/>
        <p:guide pos="28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5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70" name="Group 2"/>
          <p:cNvGrpSpPr/>
          <p:nvPr userDrawn="1"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09571" name="Freeform 3"/>
            <p:cNvSpPr/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572" name="Freeform 4"/>
            <p:cNvSpPr/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573" name="Freeform 5"/>
            <p:cNvSpPr/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574" name="Freeform 6"/>
            <p:cNvSpPr/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575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576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577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09578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09579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3" name="文本框 12"/>
          <p:cNvSpPr txBox="1"/>
          <p:nvPr userDrawn="1">
            <p:custDataLst>
              <p:tags r:id="rId2"/>
            </p:custDataLst>
          </p:nvPr>
        </p:nvSpPr>
        <p:spPr>
          <a:xfrm>
            <a:off x="0" y="0"/>
            <a:ext cx="9144000" cy="767715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p>
            <a:pPr algn="r"/>
            <a:r>
              <a:rPr lang="en-US" altLang="zh-CN" sz="2400" dirty="0">
                <a:solidFill>
                  <a:schemeClr val="bg1"/>
                </a:solidFill>
              </a:rPr>
              <a:t>School of Software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75610" cy="767715"/>
          </a:xfrm>
          <a:prstGeom prst="rect">
            <a:avLst/>
          </a:prstGeom>
        </p:spPr>
      </p:pic>
      <p:sp>
        <p:nvSpPr>
          <p:cNvPr id="10" name="矩形: 圆角 9"/>
          <p:cNvSpPr/>
          <p:nvPr userDrawn="1">
            <p:custDataLst>
              <p:tags r:id="rId5"/>
            </p:custDataLst>
          </p:nvPr>
        </p:nvSpPr>
        <p:spPr>
          <a:xfrm>
            <a:off x="0" y="6711315"/>
            <a:ext cx="9144000" cy="14668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rgbClr val="0070C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1470" y="1019810"/>
            <a:ext cx="8355330" cy="555815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" name="矩形 33"/>
          <p:cNvSpPr/>
          <p:nvPr userDrawn="1"/>
        </p:nvSpPr>
        <p:spPr>
          <a:xfrm flipV="1">
            <a:off x="0" y="0"/>
            <a:ext cx="9143365" cy="885825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lang="zh-CN" altLang="en-US" noProof="1"/>
          </a:p>
        </p:txBody>
      </p:sp>
      <p:pic>
        <p:nvPicPr>
          <p:cNvPr id="77827" name="图片 1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0"/>
            <a:ext cx="90011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2680" y="0"/>
            <a:ext cx="7564120" cy="895985"/>
          </a:xfrm>
        </p:spPr>
        <p:txBody>
          <a:bodyPr anchor="ctr" anchorCtr="0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 flipV="1">
            <a:off x="0" y="0"/>
            <a:ext cx="9143365" cy="885825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lang="zh-CN" altLang="en-US" noProof="1"/>
          </a:p>
        </p:txBody>
      </p:sp>
      <p:pic>
        <p:nvPicPr>
          <p:cNvPr id="77827" name="图片 1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0"/>
            <a:ext cx="90011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122680" y="0"/>
            <a:ext cx="7564120" cy="895985"/>
          </a:xfrm>
        </p:spPr>
        <p:txBody>
          <a:bodyPr anchor="ctr" anchorCtr="0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C94E0-72E8-4A73-A8D6-53289ADB87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F38A25-CF1F-4B52-A46E-2EEAAA2F50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7EF2C1-B5F7-423B-A448-3A0B5A3349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7E7D1-3A79-44BD-B7DB-F8066A1B7C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0F75D-FC4F-486C-9949-87BE89E764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A9196D-E6B5-4A22-8520-A4108F1F40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D9893-8A14-4322-B02D-5FC1C844C2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A128D-A86A-462D-A5EC-B32ACE8A6E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925D7E-B542-4D39-911F-9C66EB3EF7CF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47812-3FFE-4E5B-AE0A-6A412ED8120F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B8AB00C-BC51-49F0-AFD2-845F7FF64C4C}" type="slidenum">
              <a:rPr lang="en-US" altLang="zh-CN"/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>
          <a:xfrm>
            <a:off x="3124200" y="64071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46" name="Group 2"/>
          <p:cNvGrpSpPr/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08547" name="Freeform 3"/>
            <p:cNvSpPr/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548" name="Freeform 4"/>
            <p:cNvSpPr/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549" name="Freeform 5"/>
            <p:cNvSpPr/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550" name="Freeform 6"/>
            <p:cNvSpPr/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551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552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553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08554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8555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8556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8557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8416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b" anchorCtr="0" compatLnSpc="1"/>
          <a:lstStyle>
            <a:lvl1pPr algn="ctr">
              <a:defRPr sz="1000">
                <a:effectLst/>
                <a:ea typeface="宋体" panose="02010600030101010101" pitchFamily="2" charset="-122"/>
              </a:defRPr>
            </a:lvl1pPr>
          </a:lstStyle>
          <a:p>
            <a:r>
              <a:rPr lang="zh-CN" altLang="zh-CN"/>
              <a:t>Prof. </a:t>
            </a:r>
            <a:r>
              <a:rPr lang="en-US" altLang="zh-CN"/>
              <a:t>Q. </a:t>
            </a:r>
            <a:r>
              <a:rPr lang="zh-CN" altLang="zh-CN"/>
              <a:t> Wang</a:t>
            </a:r>
            <a:endParaRPr lang="en-US" altLang="zh-CN" dirty="0"/>
          </a:p>
        </p:txBody>
      </p:sp>
      <p:sp>
        <p:nvSpPr>
          <p:cNvPr id="10855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ea typeface="宋体" panose="02010600030101010101" pitchFamily="2" charset="-122"/>
              </a:defRPr>
            </a:lvl1pPr>
          </a:lstStyle>
          <a:p>
            <a:fld id="{4B6E865A-D731-440D-A39A-B7D52247B88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4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572260"/>
            <a:ext cx="7772400" cy="1856740"/>
          </a:xfrm>
        </p:spPr>
        <p:txBody>
          <a:bodyPr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accent1"/>
                </a:solidFill>
                <a:ea typeface="黑体" panose="02010609060101010101" pitchFamily="2" charset="-122"/>
              </a:rPr>
              <a:t>Chapter 08 </a:t>
            </a:r>
            <a:r>
              <a:rPr lang="en-US" altLang="zh-CN" dirty="0">
                <a:solidFill>
                  <a:schemeClr val="accent1"/>
                </a:solidFill>
                <a:ea typeface="黑体" panose="02010609060101010101" pitchFamily="2" charset="-122"/>
                <a:sym typeface="+mn-ea"/>
              </a:rPr>
              <a:t>Searching</a:t>
            </a:r>
            <a:br>
              <a:rPr lang="en-US" altLang="zh-CN" dirty="0">
                <a:solidFill>
                  <a:schemeClr val="accent1"/>
                </a:solidFill>
                <a:ea typeface="黑体" panose="02010609060101010101" pitchFamily="2" charset="-122"/>
              </a:rPr>
            </a:br>
            <a:r>
              <a:rPr kumimoji="1" lang="zh-CN" altLang="en-US" sz="2700" dirty="0">
                <a:solidFill>
                  <a:schemeClr val="accent1"/>
                </a:solidFill>
                <a:ea typeface="黑体" panose="02010609060101010101" pitchFamily="2" charset="-122"/>
              </a:rPr>
              <a:t>第八章 查找</a:t>
            </a:r>
            <a:endParaRPr kumimoji="1" lang="zh-CN" altLang="en-US" sz="2700" dirty="0">
              <a:solidFill>
                <a:schemeClr val="accent1"/>
              </a:solidFill>
              <a:ea typeface="黑体" panose="02010609060101010101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dk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王犇</a:t>
            </a:r>
            <a:endParaRPr lang="zh-CN" altLang="en-US" dirty="0">
              <a:solidFill>
                <a:schemeClr val="dk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en-US" altLang="zh-CN" dirty="0">
                <a:solidFill>
                  <a:schemeClr val="dk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wben@nwpu.edu.cn</a:t>
            </a:r>
            <a:endParaRPr lang="en-US" altLang="zh-CN" dirty="0">
              <a:solidFill>
                <a:schemeClr val="dk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本章学习的线索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4980" y="1146810"/>
            <a:ext cx="8079740" cy="5248910"/>
          </a:xfrm>
          <a:noFill/>
        </p:spPr>
        <p:txBody>
          <a:bodyPr/>
          <a:p>
            <a:pPr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主要线索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重点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静态查找表：顺序查找，二分查找，索引查找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动态查找表：概念和方法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哈希查找表：概念和策略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难点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二叉排序树和二叉平衡树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树和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树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861060" y="1876425"/>
            <a:ext cx="1418590" cy="5835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lang="zh-CN" altLang="en-US" sz="1600" b="1">
                <a:ea typeface="幼圆" panose="02010509060101010101" pitchFamily="49" charset="-122"/>
              </a:rPr>
              <a:t>查找的概念及一般方法</a:t>
            </a:r>
            <a:endParaRPr lang="zh-CN" altLang="en-US" sz="1600" b="1">
              <a:ea typeface="幼圆" panose="02010509060101010101" pitchFamily="49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715260" y="1774190"/>
            <a:ext cx="1455420" cy="8299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>
                <a:ea typeface="幼圆" panose="02010509060101010101" pitchFamily="49" charset="-122"/>
              </a:rPr>
              <a:t>静态查找表</a:t>
            </a:r>
            <a:endParaRPr lang="zh-CN" altLang="en-US" sz="1600" b="1">
              <a:ea typeface="幼圆" panose="02010509060101010101" pitchFamily="49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sz="1600" b="1">
                <a:ea typeface="幼圆" panose="02010509060101010101" pitchFamily="49" charset="-122"/>
              </a:rPr>
              <a:t>顺序，二分和索引查找</a:t>
            </a:r>
            <a:endParaRPr lang="zh-CN" altLang="en-US" sz="1600" b="1">
              <a:ea typeface="幼圆" panose="02010509060101010101" pitchFamily="49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606290" y="1630045"/>
            <a:ext cx="1880235" cy="1076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kumimoji="1" lang="zh-CN" altLang="en-US" sz="1600" b="1">
                <a:ea typeface="幼圆" panose="02010509060101010101" pitchFamily="49" charset="-122"/>
              </a:rPr>
              <a:t>动态查找表</a:t>
            </a:r>
            <a:endParaRPr kumimoji="1" lang="zh-CN" altLang="en-US" sz="1600" b="1">
              <a:ea typeface="幼圆" panose="02010509060101010101" pitchFamily="49" charset="-122"/>
            </a:endParaRPr>
          </a:p>
          <a:p>
            <a:pPr algn="ctr"/>
            <a:r>
              <a:rPr kumimoji="1" lang="zh-CN" altLang="en-US" sz="1600" b="1">
                <a:ea typeface="幼圆" panose="02010509060101010101" pitchFamily="49" charset="-122"/>
              </a:rPr>
              <a:t>二叉排序树</a:t>
            </a:r>
            <a:endParaRPr kumimoji="1" lang="zh-CN" altLang="en-US" sz="1600" b="1">
              <a:ea typeface="幼圆" panose="02010509060101010101" pitchFamily="49" charset="-122"/>
            </a:endParaRPr>
          </a:p>
          <a:p>
            <a:pPr algn="ctr"/>
            <a:r>
              <a:rPr kumimoji="1" lang="zh-CN" altLang="en-US" sz="1600" b="1">
                <a:ea typeface="幼圆" panose="02010509060101010101" pitchFamily="49" charset="-122"/>
              </a:rPr>
              <a:t>二叉平衡树</a:t>
            </a:r>
            <a:endParaRPr lang="zh-CN" altLang="en-US" sz="1600" b="1">
              <a:ea typeface="幼圆" panose="02010509060101010101" pitchFamily="49" charset="-122"/>
            </a:endParaRPr>
          </a:p>
          <a:p>
            <a:pPr algn="ctr"/>
            <a:r>
              <a:rPr kumimoji="1" lang="en-US" altLang="zh-CN" sz="1600" b="1">
                <a:ea typeface="幼圆" panose="02010509060101010101" pitchFamily="49" charset="-122"/>
              </a:rPr>
              <a:t>B</a:t>
            </a:r>
            <a:r>
              <a:rPr kumimoji="1" lang="zh-CN" altLang="en-US" sz="1600" b="1">
                <a:ea typeface="幼圆" panose="02010509060101010101" pitchFamily="49" charset="-122"/>
              </a:rPr>
              <a:t>树和</a:t>
            </a:r>
            <a:r>
              <a:rPr kumimoji="1" lang="en-US" altLang="zh-CN" sz="1600" b="1">
                <a:ea typeface="幼圆" panose="02010509060101010101" pitchFamily="49" charset="-122"/>
              </a:rPr>
              <a:t>B</a:t>
            </a:r>
            <a:r>
              <a:rPr kumimoji="1" lang="en-US" altLang="zh-CN" sz="1600" b="1" baseline="30000">
                <a:ea typeface="幼圆" panose="02010509060101010101" pitchFamily="49" charset="-122"/>
              </a:rPr>
              <a:t>+</a:t>
            </a:r>
            <a:r>
              <a:rPr kumimoji="1" lang="zh-CN" altLang="en-US" sz="1600" b="1">
                <a:ea typeface="幼圆" panose="02010509060101010101" pitchFamily="49" charset="-122"/>
              </a:rPr>
              <a:t>树</a:t>
            </a:r>
            <a:endParaRPr kumimoji="1" lang="zh-CN" altLang="en-US" sz="1600" b="1">
              <a:ea typeface="幼圆" panose="02010509060101010101" pitchFamily="49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922135" y="1809115"/>
            <a:ext cx="1703070" cy="8299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kumimoji="1" lang="zh-CN" altLang="en-US" sz="1600" b="1">
                <a:ea typeface="幼圆" panose="02010509060101010101" pitchFamily="49" charset="-122"/>
              </a:rPr>
              <a:t>哈希查找表</a:t>
            </a:r>
            <a:endParaRPr kumimoji="1" lang="zh-CN" altLang="en-US" sz="1600" b="1">
              <a:ea typeface="幼圆" panose="02010509060101010101" pitchFamily="49" charset="-122"/>
            </a:endParaRPr>
          </a:p>
          <a:p>
            <a:pPr algn="ctr"/>
            <a:r>
              <a:rPr kumimoji="1" lang="zh-CN" altLang="en-US" sz="1600" b="1">
                <a:ea typeface="幼圆" panose="02010509060101010101" pitchFamily="49" charset="-122"/>
              </a:rPr>
              <a:t>哈希函数</a:t>
            </a:r>
            <a:endParaRPr kumimoji="1" lang="zh-CN" altLang="en-US" sz="1600" b="1">
              <a:ea typeface="幼圆" panose="02010509060101010101" pitchFamily="49" charset="-122"/>
            </a:endParaRPr>
          </a:p>
          <a:p>
            <a:pPr algn="ctr"/>
            <a:r>
              <a:rPr lang="zh-CN" altLang="en-US" sz="1600" b="1">
                <a:ea typeface="幼圆" panose="02010509060101010101" pitchFamily="49" charset="-122"/>
              </a:rPr>
              <a:t>冲突</a:t>
            </a:r>
            <a:r>
              <a:rPr kumimoji="1" lang="zh-CN" altLang="en-US" sz="1600" b="1">
                <a:ea typeface="幼圆" panose="02010509060101010101" pitchFamily="49" charset="-122"/>
              </a:rPr>
              <a:t>及解决策略</a:t>
            </a:r>
            <a:endParaRPr kumimoji="1" lang="zh-CN" altLang="en-US" sz="1600" b="1">
              <a:ea typeface="幼圆" panose="02010509060101010101" pitchFamily="49" charset="-122"/>
            </a:endParaRP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2335530" y="2108280"/>
            <a:ext cx="323850" cy="1619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endParaRPr lang="zh-CN" altLang="en-US" sz="1600" b="1"/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4226322" y="2108280"/>
            <a:ext cx="323850" cy="1619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endParaRPr lang="zh-CN" altLang="en-US" sz="1600" b="1"/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6535420" y="2143125"/>
            <a:ext cx="328295" cy="1619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endParaRPr lang="zh-CN" altLang="en-US" sz="1600" b="1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5937012" y="3781981"/>
            <a:ext cx="1790700" cy="414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none">
            <a:spAutoFit/>
            <a:scene3d>
              <a:camera prst="orthographicFront"/>
              <a:lightRig rig="threePt" dir="t"/>
            </a:scene3d>
          </a:bodyPr>
          <a:p>
            <a:r>
              <a:rPr kumimoji="1" lang="zh-CN" altLang="en-US" sz="21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平均检索长度</a:t>
            </a:r>
            <a:endParaRPr kumimoji="1" lang="zh-CN" altLang="en-US" sz="21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Contents</a:t>
            </a:r>
            <a:endParaRPr lang="en-US" altLang="zh-CN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470" y="1176020"/>
            <a:ext cx="8355330" cy="5401945"/>
          </a:xfrm>
        </p:spPr>
        <p:txBody>
          <a:bodyPr/>
          <a:lstStyle/>
          <a:p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Definition of searching (Retrieval)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Static searching table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Dynamic searching table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Hash table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Searching efficiency analysis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Conclusion</a:t>
            </a:r>
            <a:endParaRPr lang="en-US" altLang="zh-CN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394335" y="1065530"/>
            <a:ext cx="82931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E6E6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哈希表的定义</a:t>
            </a:r>
            <a:endParaRPr kumimoji="1"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哈希函数的构造方法</a:t>
            </a:r>
            <a:endParaRPr kumimoji="1"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冲突处理方法</a:t>
            </a:r>
            <a:endParaRPr kumimoji="1"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哈希表的查找和分析</a:t>
            </a:r>
            <a:endParaRPr kumimoji="1"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altLang="zh-CN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哈希表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en-US" altLang="zh-CN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Hash Table)</a:t>
            </a:r>
            <a:endParaRPr lang="en-US" altLang="zh-CN" b="1" kern="120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8.6.1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哈希表的定义</a:t>
            </a:r>
            <a:endParaRPr lang="zh-CN" altLang="en-US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29026" name="Text Box 2"/>
          <p:cNvSpPr txBox="1">
            <a:spLocks noChangeArrowheads="1"/>
          </p:cNvSpPr>
          <p:nvPr/>
        </p:nvSpPr>
        <p:spPr bwMode="auto">
          <a:xfrm>
            <a:off x="402590" y="1065530"/>
            <a:ext cx="8284210" cy="5323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前面介绍的查找方法都是建立在“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比较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”的基础上，查找的效率依赖于查找过程中所进行比较的次数。</a:t>
            </a:r>
            <a:endParaRPr kumimoji="1" lang="zh-CN" altLang="en-US" sz="22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理想情况是希望不进行任何比较，一次存取便能得到所查记录。这样就需要在记录的存储位置和关键字之间建立一个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确定的对应关系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，使每个关键字都和结构中一个唯一的存储位置对应。</a:t>
            </a:r>
            <a:endParaRPr kumimoji="1" lang="zh-CN" altLang="en-US" sz="22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查找时只要根据这个关系就能找到给定值</a:t>
            </a:r>
            <a:r>
              <a:rPr kumimoji="1" lang="en-US" altLang="zh-CN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的像</a:t>
            </a:r>
            <a:r>
              <a:rPr kumimoji="1" lang="en-US" altLang="zh-CN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(K)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。若结构中存在关键字和</a:t>
            </a:r>
            <a:r>
              <a:rPr kumimoji="1" lang="en-US" altLang="zh-CN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相等的记录，它必定在</a:t>
            </a:r>
            <a:r>
              <a:rPr kumimoji="1" lang="en-US" altLang="zh-CN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(K)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的存储位置上。</a:t>
            </a:r>
            <a:endParaRPr kumimoji="1" lang="zh-CN" altLang="en-US" sz="22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这样的一个对应关系我们称为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哈希函数</a:t>
            </a:r>
            <a:r>
              <a:rPr kumimoji="1"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(Hash Function)</a:t>
            </a:r>
            <a:r>
              <a:rPr kumimoji="1" lang="zh-CN" altLang="en-US" sz="22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22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85900" y="1065610"/>
            <a:ext cx="6172200" cy="854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1" compatLnSpc="1"/>
          <a:lstStyle>
            <a:lvl1pPr>
              <a:defRPr sz="4400" b="1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algn="ctr"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algn="ctr"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algn="ctr"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ea typeface="幼圆" panose="020105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 sz="33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8.6.1 </a:t>
            </a:r>
            <a:r>
              <a:rPr lang="zh-CN" altLang="en-US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哈希表的定义</a:t>
            </a:r>
            <a:endParaRPr lang="zh-CN" altLang="en-US"/>
          </a:p>
        </p:txBody>
      </p:sp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478790" y="994410"/>
            <a:ext cx="8208010" cy="551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457200" indent="-457200" algn="l">
              <a:lnSpc>
                <a:spcPct val="140000"/>
              </a:lnSpc>
              <a:buClr>
                <a:srgbClr val="00B0F0"/>
              </a:buClr>
              <a:buSzTx/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哈希函数的特性：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4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函数值必须落在表长允许的范围内；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4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对不同的关键字可能得到同一哈希地址。这种现象称为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冲突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(Collision)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。具有相同函数值的关键字对该哈希函数来说称作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同义词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(Synonym)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l">
              <a:lnSpc>
                <a:spcPct val="140000"/>
              </a:lnSpc>
              <a:buClr>
                <a:srgbClr val="00B0F0"/>
              </a:buClr>
              <a:buSzTx/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一般来说，冲突不可完全避免，因此，在建造哈希表时不仅要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设计一个“好”的哈希函数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，还要设定一个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处理冲突的方法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 indent="-457200" algn="l">
              <a:lnSpc>
                <a:spcPct val="150000"/>
              </a:lnSpc>
              <a:buClr>
                <a:srgbClr val="00B0F0"/>
              </a:buClr>
              <a:buSzTx/>
              <a:buFont typeface="Wingdings" panose="05000000000000000000" charset="0"/>
              <a:buChar char="l"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哈希表（散列表）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：根据设定的哈希函数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H(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key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和处理冲突的方法将一组关键字映象到一个有限的连续地址集上，并以关键字在地址集中的“象”作为记录在表中的存储位置。这一映象的过程称为哈希造表或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散列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。所得的存储位置称为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哈希地址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散列地址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30000"/>
              </a:lnSpc>
              <a:buFont typeface="+mj-ea"/>
              <a:buAutoNum type="circleNumDbPlain"/>
            </a:pP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8.6.2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哈希函数的构造方法</a:t>
            </a:r>
            <a:endParaRPr lang="zh-CN" altLang="en-US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512445" y="1155065"/>
            <a:ext cx="8174355" cy="4998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什么是“好”的哈希函数？若对应关键字集合中的任一个关键字，经哈希函数映象到任何一个地址的概率是相等的，则称此类哈希函数是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均匀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(Uniform)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的哈希函数。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换句话说，就是使关键字经过哈希函数得到一个“随机的地址”，以便使一组关键字的哈希地址均匀地分布在逐个地址区间，从而减少冲突。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常用的构造方法有：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直接地址法：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取关键字或关键字的某个线性函数值为哈希地址，如年龄。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数字分析法：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假设关键字是以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为基的数，并且哈希表中可能出现的关键字都是事先知道的，则可取关键字的若干数位组成哈希地址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8.6.2 </a:t>
            </a:r>
            <a:r>
              <a:rPr lang="zh-CN" altLang="en-US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哈希函数的构造方法</a:t>
            </a:r>
            <a:endParaRPr lang="zh-CN" altLang="en-US"/>
          </a:p>
        </p:txBody>
      </p:sp>
      <p:sp>
        <p:nvSpPr>
          <p:cNvPr id="132098" name="Text Box 2"/>
          <p:cNvSpPr txBox="1">
            <a:spLocks noChangeArrowheads="1"/>
          </p:cNvSpPr>
          <p:nvPr/>
        </p:nvSpPr>
        <p:spPr bwMode="auto">
          <a:xfrm>
            <a:off x="467360" y="1160145"/>
            <a:ext cx="8185150" cy="537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914400" lvl="1" indent="-457200" algn="just">
              <a:lnSpc>
                <a:spcPct val="150000"/>
              </a:lnSpc>
              <a:buClr>
                <a:srgbClr val="00B0F0"/>
              </a:buClr>
              <a:buFont typeface="+mj-ea"/>
              <a:buAutoNum type="circleNumDbPlain" startAt="3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平方取中法：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取关键字平方后的中间几位为哈希地址。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F0"/>
              </a:buClr>
              <a:buFont typeface="+mj-ea"/>
              <a:buAutoNum type="circleNumDbPlain" startAt="3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折叠法：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将关键字分割成位数相同的几部分，然后取这几部分的叠加和（舍去进位）作为哈希地址。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F0"/>
              </a:buClr>
              <a:buFont typeface="+mj-ea"/>
              <a:buAutoNum type="circleNumDbPlain" startAt="3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除留余数法：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取关键字被某个不大于哈希表长度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的数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除后所得余数为哈希地址。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150000"/>
              </a:lnSpc>
              <a:buFont typeface="+mj-ea"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数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的选取：一般可选它为质数或不包含小于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的质因素的和数。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F0"/>
              </a:buClr>
              <a:buFont typeface="+mj-ea"/>
              <a:buAutoNum type="circleNumDbPlain" startAt="6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随机数法：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通常当关键字的长度不等时采用此法比较恰当。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algn="l"/>
            <a:r>
              <a:rPr lang="zh-CN" altLang="en-US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例（</a:t>
            </a:r>
            <a:r>
              <a:rPr lang="en-US" altLang="zh-CN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endParaRPr lang="zh-CN" altLang="en-US" b="1" kern="12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6311" name="Rectangle 7"/>
          <p:cNvSpPr>
            <a:spLocks noChangeArrowheads="1"/>
          </p:cNvSpPr>
          <p:nvPr/>
        </p:nvSpPr>
        <p:spPr bwMode="auto">
          <a:xfrm>
            <a:off x="401320" y="1099185"/>
            <a:ext cx="8284845" cy="5392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ct val="30000"/>
              </a:spcBef>
              <a:buClr>
                <a:srgbClr val="00B0F0"/>
              </a:buClr>
              <a:buFont typeface="Wingdings" panose="05000000000000000000" charset="0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有一组关键码如下：   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{ 942148,  941269, 940527,  941630,  941805,  941558,  942047, 940001 }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00B0F0"/>
              </a:buClr>
              <a:buFont typeface="Wingdings" panose="05000000000000000000" charset="0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散列函数为：  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(key) = key - 940000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Bef>
                <a:spcPct val="3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则有：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14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(942148) = 2148     Hash (941269) = 1269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	Hash (940527) = 527       Hash (941630) = 1630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	Hash (941805) = 1805     Hash (941558) = 1558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	Hash (942047) = 2047     Hash (940001) = 1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Bef>
                <a:spcPct val="3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可以按计算出的地址存放记录。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62" name="Rectangle 34" descr="蓝色面巾纸"/>
          <p:cNvSpPr>
            <a:spLocks noChangeArrowheads="1"/>
          </p:cNvSpPr>
          <p:nvPr/>
        </p:nvSpPr>
        <p:spPr bwMode="auto">
          <a:xfrm>
            <a:off x="1439466" y="3807619"/>
            <a:ext cx="6265069" cy="2051447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tl"/>
          </a:blipFill>
          <a:ln>
            <a:noFill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algn="l"/>
            <a:r>
              <a:rPr lang="zh-CN" altLang="en-US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例（</a:t>
            </a:r>
            <a:r>
              <a:rPr lang="en-US" altLang="zh-CN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endParaRPr lang="zh-CN" altLang="en-US" b="1" kern="120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7335" name="Rectangle 7"/>
          <p:cNvSpPr>
            <a:spLocks noChangeArrowheads="1"/>
          </p:cNvSpPr>
          <p:nvPr/>
        </p:nvSpPr>
        <p:spPr bwMode="auto">
          <a:xfrm>
            <a:off x="472440" y="1085215"/>
            <a:ext cx="8174990" cy="239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ct val="50000"/>
              </a:spcBef>
              <a:buClr>
                <a:srgbClr val="00B0F0"/>
              </a:buClr>
              <a:buFont typeface="Wingdings" panose="05000000000000000000" charset="0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设给定的关键码为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key = 23938587841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，若存储空间限定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则划分结果为每段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位。上述关键码可划分为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段：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	            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239      385      878      41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0000"/>
              </a:lnSpc>
              <a:spcBef>
                <a:spcPct val="50000"/>
              </a:spcBef>
              <a:buClr>
                <a:srgbClr val="00B0F0"/>
              </a:buClr>
              <a:buFont typeface="Wingdings" panose="05000000000000000000" charset="0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把超出地址位数的最高位删去，仅保留最低的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位，做为可用的散列地址。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7336" name="AutoShape 8" descr="白色大理石"/>
          <p:cNvSpPr>
            <a:spLocks noChangeArrowheads="1"/>
          </p:cNvSpPr>
          <p:nvPr/>
        </p:nvSpPr>
        <p:spPr bwMode="auto">
          <a:xfrm>
            <a:off x="4800600" y="483631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37" name="AutoShape 9" descr="白色大理石"/>
          <p:cNvSpPr>
            <a:spLocks noChangeArrowheads="1"/>
          </p:cNvSpPr>
          <p:nvPr/>
        </p:nvSpPr>
        <p:spPr bwMode="auto">
          <a:xfrm>
            <a:off x="4800600" y="455056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38" name="AutoShape 10" descr="白色大理石"/>
          <p:cNvSpPr>
            <a:spLocks noChangeArrowheads="1"/>
          </p:cNvSpPr>
          <p:nvPr/>
        </p:nvSpPr>
        <p:spPr bwMode="auto">
          <a:xfrm>
            <a:off x="4800600" y="426481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39" name="AutoShape 11" descr="白色大理石"/>
          <p:cNvSpPr>
            <a:spLocks noChangeArrowheads="1"/>
          </p:cNvSpPr>
          <p:nvPr/>
        </p:nvSpPr>
        <p:spPr bwMode="auto">
          <a:xfrm>
            <a:off x="2171700" y="483631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40" name="AutoShape 12" descr="白色大理石"/>
          <p:cNvSpPr>
            <a:spLocks noChangeArrowheads="1"/>
          </p:cNvSpPr>
          <p:nvPr/>
        </p:nvSpPr>
        <p:spPr bwMode="auto">
          <a:xfrm>
            <a:off x="2171700" y="455056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41" name="AutoShape 13" descr="白色大理石"/>
          <p:cNvSpPr>
            <a:spLocks noChangeArrowheads="1"/>
          </p:cNvSpPr>
          <p:nvPr/>
        </p:nvSpPr>
        <p:spPr bwMode="auto">
          <a:xfrm>
            <a:off x="2171700" y="426481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42" name="Text Box 14"/>
          <p:cNvSpPr txBox="1">
            <a:spLocks noChangeArrowheads="1"/>
          </p:cNvSpPr>
          <p:nvPr/>
        </p:nvSpPr>
        <p:spPr bwMode="auto">
          <a:xfrm>
            <a:off x="1600200" y="4252913"/>
            <a:ext cx="565150" cy="975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移</a:t>
            </a:r>
            <a:endParaRPr kumimoji="1" lang="zh-CN" altLang="en-US" sz="2400" b="1">
              <a:solidFill>
                <a:srgbClr val="CC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位</a:t>
            </a:r>
            <a:endParaRPr kumimoji="1" lang="zh-CN" altLang="en-US" sz="2400" b="1">
              <a:solidFill>
                <a:srgbClr val="CC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法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7343" name="WordArt 15"/>
          <p:cNvSpPr>
            <a:spLocks noChangeArrowheads="1" noChangeShapeType="1" noTextEdit="1"/>
          </p:cNvSpPr>
          <p:nvPr/>
        </p:nvSpPr>
        <p:spPr bwMode="auto">
          <a:xfrm>
            <a:off x="2457450" y="4379119"/>
            <a:ext cx="13716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38949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385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44" name="WordArt 16"/>
          <p:cNvSpPr>
            <a:spLocks noChangeArrowheads="1" noChangeShapeType="1" noTextEdit="1"/>
          </p:cNvSpPr>
          <p:nvPr/>
        </p:nvSpPr>
        <p:spPr bwMode="auto">
          <a:xfrm>
            <a:off x="2514600" y="4664869"/>
            <a:ext cx="12573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39866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878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45" name="WordArt 17"/>
          <p:cNvSpPr>
            <a:spLocks noChangeArrowheads="1" noChangeShapeType="1" noTextEdit="1"/>
          </p:cNvSpPr>
          <p:nvPr/>
        </p:nvSpPr>
        <p:spPr bwMode="auto">
          <a:xfrm>
            <a:off x="2857500" y="4950619"/>
            <a:ext cx="8001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30690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41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46" name="AutoShape 18" descr="白色大理石"/>
          <p:cNvSpPr>
            <a:spLocks noChangeArrowheads="1"/>
          </p:cNvSpPr>
          <p:nvPr/>
        </p:nvSpPr>
        <p:spPr bwMode="auto">
          <a:xfrm>
            <a:off x="2171700" y="397906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47" name="Rectangle 19"/>
          <p:cNvSpPr>
            <a:spLocks noChangeArrowheads="1"/>
          </p:cNvSpPr>
          <p:nvPr/>
        </p:nvSpPr>
        <p:spPr bwMode="auto">
          <a:xfrm>
            <a:off x="1885950" y="5236369"/>
            <a:ext cx="2286000" cy="1143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48" name="AutoShape 20" descr="白色大理石"/>
          <p:cNvSpPr>
            <a:spLocks noChangeArrowheads="1"/>
          </p:cNvSpPr>
          <p:nvPr/>
        </p:nvSpPr>
        <p:spPr bwMode="auto">
          <a:xfrm>
            <a:off x="1771650" y="5407819"/>
            <a:ext cx="2286000" cy="342900"/>
          </a:xfrm>
          <a:prstGeom prst="parallelogram">
            <a:avLst>
              <a:gd name="adj" fmla="val 16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49" name="WordArt 21"/>
          <p:cNvSpPr>
            <a:spLocks noChangeArrowheads="1" noChangeShapeType="1" noTextEdit="1"/>
          </p:cNvSpPr>
          <p:nvPr/>
        </p:nvSpPr>
        <p:spPr bwMode="auto">
          <a:xfrm>
            <a:off x="2057400" y="5464969"/>
            <a:ext cx="1600200" cy="228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36806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1543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0" name="WordArt 22"/>
          <p:cNvSpPr>
            <a:spLocks noChangeArrowheads="1" noChangeShapeType="1" noTextEdit="1"/>
          </p:cNvSpPr>
          <p:nvPr/>
        </p:nvSpPr>
        <p:spPr bwMode="auto">
          <a:xfrm flipH="1">
            <a:off x="5429250" y="4950619"/>
            <a:ext cx="9144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66551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41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1" name="AutoShape 23" descr="白色大理石"/>
          <p:cNvSpPr>
            <a:spLocks noChangeArrowheads="1"/>
          </p:cNvSpPr>
          <p:nvPr/>
        </p:nvSpPr>
        <p:spPr bwMode="auto">
          <a:xfrm>
            <a:off x="4800600" y="3979069"/>
            <a:ext cx="2000250" cy="342900"/>
          </a:xfrm>
          <a:prstGeom prst="parallelogram">
            <a:avLst>
              <a:gd name="adj" fmla="val 1791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52" name="WordArt 24"/>
          <p:cNvSpPr>
            <a:spLocks noChangeArrowheads="1" noChangeShapeType="1" noTextEdit="1"/>
          </p:cNvSpPr>
          <p:nvPr/>
        </p:nvSpPr>
        <p:spPr bwMode="auto">
          <a:xfrm>
            <a:off x="5029200" y="4093369"/>
            <a:ext cx="14859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40306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239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3" name="WordArt 25"/>
          <p:cNvSpPr>
            <a:spLocks noChangeArrowheads="1" noChangeShapeType="1" noTextEdit="1"/>
          </p:cNvSpPr>
          <p:nvPr/>
        </p:nvSpPr>
        <p:spPr bwMode="auto">
          <a:xfrm>
            <a:off x="2400300" y="4093369"/>
            <a:ext cx="14859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40306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239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4" name="WordArt 26"/>
          <p:cNvSpPr>
            <a:spLocks noChangeArrowheads="1" noChangeShapeType="1" noTextEdit="1"/>
          </p:cNvSpPr>
          <p:nvPr/>
        </p:nvSpPr>
        <p:spPr bwMode="auto">
          <a:xfrm flipH="1">
            <a:off x="5029200" y="4379119"/>
            <a:ext cx="14859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60213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385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5" name="WordArt 27"/>
          <p:cNvSpPr>
            <a:spLocks noChangeArrowheads="1" noChangeShapeType="1" noTextEdit="1"/>
          </p:cNvSpPr>
          <p:nvPr/>
        </p:nvSpPr>
        <p:spPr bwMode="auto">
          <a:xfrm>
            <a:off x="5143500" y="4664869"/>
            <a:ext cx="1257300" cy="171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39866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878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6" name="Rectangle 28"/>
          <p:cNvSpPr>
            <a:spLocks noChangeArrowheads="1"/>
          </p:cNvSpPr>
          <p:nvPr/>
        </p:nvSpPr>
        <p:spPr bwMode="auto">
          <a:xfrm>
            <a:off x="4572000" y="5236369"/>
            <a:ext cx="2286000" cy="1143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57" name="AutoShape 29" descr="白色大理石"/>
          <p:cNvSpPr>
            <a:spLocks noChangeArrowheads="1"/>
          </p:cNvSpPr>
          <p:nvPr/>
        </p:nvSpPr>
        <p:spPr bwMode="auto">
          <a:xfrm>
            <a:off x="4457700" y="5407819"/>
            <a:ext cx="2286000" cy="342900"/>
          </a:xfrm>
          <a:prstGeom prst="parallelogram">
            <a:avLst>
              <a:gd name="adj" fmla="val 16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58" name="WordArt 30"/>
          <p:cNvSpPr>
            <a:spLocks noChangeArrowheads="1" noChangeShapeType="1" noTextEdit="1"/>
          </p:cNvSpPr>
          <p:nvPr/>
        </p:nvSpPr>
        <p:spPr bwMode="auto">
          <a:xfrm>
            <a:off x="4800600" y="5464969"/>
            <a:ext cx="1600200" cy="228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36806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2700" b="1" kern="1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1714</a:t>
            </a:r>
            <a:endParaRPr lang="en-US" altLang="zh-CN" sz="2700" b="1" kern="1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227359" name="AutoShape 31"/>
          <p:cNvSpPr>
            <a:spLocks noChangeArrowheads="1"/>
          </p:cNvSpPr>
          <p:nvPr/>
        </p:nvSpPr>
        <p:spPr bwMode="auto">
          <a:xfrm>
            <a:off x="2228850" y="5464969"/>
            <a:ext cx="342900" cy="171450"/>
          </a:xfrm>
          <a:prstGeom prst="irregularSeal2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path path="rect">
                    <a:fillToRect t="100000" r="100000"/>
                  </a:path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60" name="AutoShape 32"/>
          <p:cNvSpPr>
            <a:spLocks noChangeArrowheads="1"/>
          </p:cNvSpPr>
          <p:nvPr/>
        </p:nvSpPr>
        <p:spPr bwMode="auto">
          <a:xfrm>
            <a:off x="4972050" y="5464969"/>
            <a:ext cx="342900" cy="171450"/>
          </a:xfrm>
          <a:prstGeom prst="irregularSeal2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path path="rect">
                    <a:fillToRect t="100000" r="100000"/>
                  </a:path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7361" name="Text Box 33"/>
          <p:cNvSpPr txBox="1">
            <a:spLocks noChangeArrowheads="1"/>
          </p:cNvSpPr>
          <p:nvPr/>
        </p:nvSpPr>
        <p:spPr bwMode="auto">
          <a:xfrm>
            <a:off x="6927056" y="4264819"/>
            <a:ext cx="488950" cy="975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分</a:t>
            </a:r>
            <a:endParaRPr kumimoji="1" lang="zh-CN" altLang="en-US" sz="2400" b="1">
              <a:solidFill>
                <a:srgbClr val="CC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界</a:t>
            </a:r>
            <a:endParaRPr kumimoji="1" lang="zh-CN" altLang="en-US" sz="2400" b="1">
              <a:solidFill>
                <a:srgbClr val="CC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法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8.6.2 </a:t>
            </a:r>
            <a:r>
              <a:rPr lang="zh-CN" altLang="en-US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哈希函数的构造方法</a:t>
            </a:r>
            <a:endParaRPr lang="zh-CN" altLang="en-US"/>
          </a:p>
        </p:txBody>
      </p:sp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510540" y="1106805"/>
            <a:ext cx="8176260" cy="522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marL="342900" indent="-342900">
              <a:lnSpc>
                <a:spcPct val="16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实际工作中需视情况的不同而采用不同的哈希函数，通常需要考虑的因素有：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6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计算哈希函数所需时间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6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关键字的长度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6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哈希表的大小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6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关键字的分布情况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6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记录的查找频率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8.6.3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冲突处理方法</a:t>
            </a:r>
            <a:endParaRPr lang="zh-CN" altLang="en-US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34146" name="Text Box 2"/>
          <p:cNvSpPr txBox="1">
            <a:spLocks noChangeArrowheads="1"/>
          </p:cNvSpPr>
          <p:nvPr/>
        </p:nvSpPr>
        <p:spPr bwMode="auto">
          <a:xfrm>
            <a:off x="492760" y="1099185"/>
            <a:ext cx="8193405" cy="5139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开放定址法</a:t>
            </a:r>
            <a:endParaRPr kumimoji="1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000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= (H(key) + d</a:t>
            </a:r>
            <a:r>
              <a:rPr kumimoji="1" lang="en-US" altLang="zh-CN" sz="2000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MOD m,  i = 1, 2, …, k ( k &lt;=m-1)</a:t>
            </a:r>
            <a:endParaRPr kumimoji="1" lang="en-US" altLang="zh-CN" sz="2000" i="1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其中：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为表长，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000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为增量序列，可有三种取法：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4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000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= 1, 2, 3, …, m-1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称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线性探测再散列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000" dirty="0">
              <a:solidFill>
                <a:srgbClr val="FFFF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4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000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= 1</a:t>
            </a:r>
            <a:r>
              <a:rPr kumimoji="1" lang="en-US" altLang="zh-CN" sz="2000" i="1" baseline="30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-1</a:t>
            </a:r>
            <a:r>
              <a:rPr kumimoji="1" lang="en-US" altLang="zh-CN" sz="2000" i="1" baseline="30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2</a:t>
            </a:r>
            <a:r>
              <a:rPr kumimoji="1" lang="en-US" altLang="zh-CN" sz="2000" i="1" baseline="30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-2</a:t>
            </a:r>
            <a:r>
              <a:rPr kumimoji="1" lang="en-US" altLang="zh-CN" sz="2000" i="1" baseline="30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…, </a:t>
            </a:r>
            <a:r>
              <a:rPr kumimoji="1" lang="en-US" altLang="zh-CN" sz="2000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000" i="1" baseline="30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-</a:t>
            </a:r>
            <a:r>
              <a:rPr kumimoji="1" lang="en-US" altLang="zh-CN" sz="2000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000" i="1" baseline="30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(k &lt;=m/2)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称为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二次探测再散列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40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000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=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伪随机数序列，称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伪随机探测再散列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000" dirty="0">
              <a:solidFill>
                <a:srgbClr val="FFFF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线性探测再散列容易出现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二次聚集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的情况，即在处理同义词的过程中又添加了非同义词的冲突。好处是可以保证总能找到一个不发生冲突的地址</a:t>
            </a:r>
            <a:r>
              <a:rPr kumimoji="1" lang="en-US" altLang="zh-CN" sz="2000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000" i="1" baseline="-25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，而二次探测再散列只有在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为形如</a:t>
            </a:r>
            <a:r>
              <a:rPr kumimoji="1"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4k</a:t>
            </a:r>
            <a:r>
              <a:rPr kumimoji="1"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+3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的素数时才可能。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8.6.3 </a:t>
            </a:r>
            <a:r>
              <a:rPr lang="zh-CN" altLang="en-US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冲突处理方法</a:t>
            </a:r>
            <a:endParaRPr lang="zh-CN" altLang="en-US"/>
          </a:p>
        </p:txBody>
      </p:sp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567690" y="1142365"/>
            <a:ext cx="8152130" cy="486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再散列法</a:t>
            </a:r>
            <a:endParaRPr kumimoji="1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在同义词产生地址冲突时计算另一个哈希函数地址，直到冲突不再发生。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该法的优点是不易产生聚集，但增加了计算的时间。</a:t>
            </a:r>
            <a:endParaRPr kumimoji="1" lang="zh-CN" altLang="en-US" sz="2000" b="1" dirty="0">
              <a:solidFill>
                <a:srgbClr val="FFFF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链地址法</a:t>
            </a:r>
            <a:endParaRPr kumimoji="1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将所有关键字为同义词的记录存储在同一线性链表中。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溢出向量表</a:t>
            </a:r>
            <a:endParaRPr kumimoji="1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建立一个公共溢出区另设立一个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溢出向量表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，把所有冲突的关键字记录都填入溢出表。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algn="l"/>
            <a:r>
              <a:rPr lang="zh-CN" altLang="en-US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例</a:t>
            </a:r>
            <a:r>
              <a:rPr lang="zh-CN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（</a:t>
            </a:r>
            <a:r>
              <a:rPr lang="en-US" altLang="zh-CN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endParaRPr lang="zh-CN" altLang="en-US" b="1" kern="12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8358" name="Rectangle 6"/>
          <p:cNvSpPr>
            <a:spLocks noChangeArrowheads="1"/>
          </p:cNvSpPr>
          <p:nvPr/>
        </p:nvSpPr>
        <p:spPr bwMode="auto">
          <a:xfrm>
            <a:off x="387985" y="1050290"/>
            <a:ext cx="8298180" cy="521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假设给出一组表项，它们的关键码为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Burke, 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Ekers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Broad, Blum, Attlee, Alton, Hecht, 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Ederly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。采用的散列函数是：取其第一个字母在字母表中的位置。 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(x) =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(x) -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(‘A’)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//</a:t>
            </a:r>
            <a:r>
              <a:rPr lang="en-US" altLang="zh-CN" sz="2000" dirty="0" err="1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dirty="0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 ) </a:t>
            </a:r>
            <a:r>
              <a:rPr lang="zh-CN" altLang="en-US" sz="2000" dirty="0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是求字符内码的函数</a:t>
            </a:r>
            <a:endParaRPr lang="zh-CN" altLang="en-US" sz="2000" dirty="0">
              <a:solidFill>
                <a:srgbClr val="00CC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可得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(Burke) = 1     Hash (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Ekers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= 4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(Broad) = 1     Hash (Blum) = 1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(Attlee) = 0     Hash (Hecht) = 7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(Alton) = 0      Hash (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Ederly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= 4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设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散列表为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HT[26]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 = 26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。采用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线性探查法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处理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冲突，则上述关键码在散列表中散列位置如图所示。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例</a:t>
            </a:r>
            <a:r>
              <a:rPr 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（</a:t>
            </a:r>
            <a:r>
              <a:rPr lang="en-US" alt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29394" name="Rectangle 18"/>
          <p:cNvSpPr>
            <a:spLocks noChangeArrowheads="1"/>
          </p:cNvSpPr>
          <p:nvPr/>
        </p:nvSpPr>
        <p:spPr bwMode="auto">
          <a:xfrm>
            <a:off x="1752600" y="960835"/>
            <a:ext cx="471678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100" b="1">
                <a:effectLst>
                  <a:outerShdw blurRad="38100" dist="38100" dir="2700000" algn="tl">
                    <a:srgbClr val="010199"/>
                  </a:outerShdw>
                </a:effectLst>
                <a:latin typeface="Times New Roman" panose="02020603050405020304" pitchFamily="18" charset="0"/>
              </a:rPr>
              <a:t>0             1              2               3                4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29395" name="Rectangle 19" descr="白色大理石"/>
          <p:cNvSpPr>
            <a:spLocks noChangeArrowheads="1"/>
          </p:cNvSpPr>
          <p:nvPr/>
        </p:nvSpPr>
        <p:spPr bwMode="auto">
          <a:xfrm>
            <a:off x="1547813" y="1327547"/>
            <a:ext cx="5372100" cy="40005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31750">
            <a:solidFill>
              <a:srgbClr val="339966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Attlee   Burke   Broad    Blum     Ekers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396" name="Line 20"/>
          <p:cNvSpPr>
            <a:spLocks noChangeShapeType="1"/>
          </p:cNvSpPr>
          <p:nvPr/>
        </p:nvSpPr>
        <p:spPr bwMode="auto">
          <a:xfrm flipV="1">
            <a:off x="2519363" y="1327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397" name="Line 21"/>
          <p:cNvSpPr>
            <a:spLocks noChangeShapeType="1"/>
          </p:cNvSpPr>
          <p:nvPr/>
        </p:nvSpPr>
        <p:spPr bwMode="auto">
          <a:xfrm flipV="1">
            <a:off x="3548063" y="1327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398" name="Line 22"/>
          <p:cNvSpPr>
            <a:spLocks noChangeShapeType="1"/>
          </p:cNvSpPr>
          <p:nvPr/>
        </p:nvSpPr>
        <p:spPr bwMode="auto">
          <a:xfrm flipV="1">
            <a:off x="4633913" y="1327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399" name="Line 23"/>
          <p:cNvSpPr>
            <a:spLocks noChangeShapeType="1"/>
          </p:cNvSpPr>
          <p:nvPr/>
        </p:nvSpPr>
        <p:spPr bwMode="auto">
          <a:xfrm flipV="1">
            <a:off x="5776913" y="1327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00" name="Rectangle 24" descr="白色大理石"/>
          <p:cNvSpPr>
            <a:spLocks noChangeArrowheads="1"/>
          </p:cNvSpPr>
          <p:nvPr/>
        </p:nvSpPr>
        <p:spPr bwMode="auto">
          <a:xfrm>
            <a:off x="1547813" y="2470547"/>
            <a:ext cx="6318647" cy="40005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31750">
            <a:solidFill>
              <a:srgbClr val="339966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Alton   Ederly   Hecht 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401" name="Line 25"/>
          <p:cNvSpPr>
            <a:spLocks noChangeShapeType="1"/>
          </p:cNvSpPr>
          <p:nvPr/>
        </p:nvSpPr>
        <p:spPr bwMode="auto">
          <a:xfrm flipV="1">
            <a:off x="2519363" y="2470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02" name="Line 26"/>
          <p:cNvSpPr>
            <a:spLocks noChangeShapeType="1"/>
          </p:cNvSpPr>
          <p:nvPr/>
        </p:nvSpPr>
        <p:spPr bwMode="auto">
          <a:xfrm flipV="1">
            <a:off x="3548063" y="2470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03" name="Line 27"/>
          <p:cNvSpPr>
            <a:spLocks noChangeShapeType="1"/>
          </p:cNvSpPr>
          <p:nvPr/>
        </p:nvSpPr>
        <p:spPr bwMode="auto">
          <a:xfrm flipV="1">
            <a:off x="4633913" y="2470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04" name="Line 28"/>
          <p:cNvSpPr>
            <a:spLocks noChangeShapeType="1"/>
          </p:cNvSpPr>
          <p:nvPr/>
        </p:nvSpPr>
        <p:spPr bwMode="auto">
          <a:xfrm flipV="1">
            <a:off x="5112544" y="2470547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05" name="Rectangle 29"/>
          <p:cNvSpPr>
            <a:spLocks noChangeArrowheads="1"/>
          </p:cNvSpPr>
          <p:nvPr/>
        </p:nvSpPr>
        <p:spPr bwMode="auto">
          <a:xfrm>
            <a:off x="1743075" y="2081530"/>
            <a:ext cx="6456045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100" b="1">
                <a:effectLst>
                  <a:outerShdw blurRad="38100" dist="38100" dir="2700000" algn="tl">
                    <a:srgbClr val="010199"/>
                  </a:outerShdw>
                </a:effectLst>
                <a:latin typeface="Times New Roman" panose="02020603050405020304" pitchFamily="18" charset="0"/>
              </a:rPr>
              <a:t>5             6               7           8     9    10                        25</a:t>
            </a:r>
            <a:endParaRPr kumimoji="1" lang="en-US" altLang="zh-CN" sz="2100" b="1">
              <a:effectLst>
                <a:outerShdw blurRad="38100" dist="38100" dir="2700000" algn="tl">
                  <a:srgbClr val="010199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9406" name="Rectangle 30"/>
          <p:cNvSpPr>
            <a:spLocks noChangeArrowheads="1"/>
          </p:cNvSpPr>
          <p:nvPr/>
        </p:nvSpPr>
        <p:spPr bwMode="auto">
          <a:xfrm>
            <a:off x="1719263" y="1776413"/>
            <a:ext cx="48310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(1)             (1)              (2)               (3)                (1)</a:t>
            </a:r>
            <a:endParaRPr kumimoji="1"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407" name="Rectangle 31"/>
          <p:cNvSpPr>
            <a:spLocks noChangeArrowheads="1"/>
          </p:cNvSpPr>
          <p:nvPr/>
        </p:nvSpPr>
        <p:spPr bwMode="auto">
          <a:xfrm>
            <a:off x="1719263" y="2870597"/>
            <a:ext cx="25260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(6)             (3)              (1)</a:t>
            </a:r>
            <a:endParaRPr kumimoji="1"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409" name="Rectangle 33"/>
          <p:cNvSpPr>
            <a:spLocks noChangeArrowheads="1"/>
          </p:cNvSpPr>
          <p:nvPr/>
        </p:nvSpPr>
        <p:spPr bwMode="auto">
          <a:xfrm>
            <a:off x="798195" y="3257550"/>
            <a:ext cx="7889240" cy="304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</a:rPr>
              <a:t>在使用线性探查法对示例进行搜索时，搜索成功的平均搜索长度为：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</a:pP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</a:rPr>
              <a:t>搜索不成功的平均搜索长度为：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229410" name="Object 34"/>
          <p:cNvGraphicFramePr>
            <a:graphicFrameLocks noChangeAspect="1"/>
          </p:cNvGraphicFramePr>
          <p:nvPr/>
        </p:nvGraphicFramePr>
        <p:xfrm>
          <a:off x="1361996" y="3741033"/>
          <a:ext cx="6504384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48" name="Equation" r:id="rId2" imgW="3619500" imgH="419100" progId="Equation.DSMT4">
                  <p:embed/>
                </p:oleObj>
              </mc:Choice>
              <mc:Fallback>
                <p:oleObj name="Equation" r:id="rId2" imgW="3619500" imgH="419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996" y="3741033"/>
                        <a:ext cx="6504384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11" name="Object 35"/>
          <p:cNvGraphicFramePr>
            <a:graphicFrameLocks noChangeAspect="1"/>
          </p:cNvGraphicFramePr>
          <p:nvPr/>
        </p:nvGraphicFramePr>
        <p:xfrm>
          <a:off x="1361837" y="5214249"/>
          <a:ext cx="61007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49" name="Equation" r:id="rId4" imgW="4749800" imgH="457200" progId="Equation.DSMT4">
                  <p:embed/>
                </p:oleObj>
              </mc:Choice>
              <mc:Fallback>
                <p:oleObj name="Equation" r:id="rId4" imgW="4749800" imgH="4572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837" y="5214249"/>
                        <a:ext cx="61007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2" name="Line 36"/>
          <p:cNvSpPr>
            <a:spLocks noChangeShapeType="1"/>
          </p:cNvSpPr>
          <p:nvPr/>
        </p:nvSpPr>
        <p:spPr bwMode="auto">
          <a:xfrm flipV="1">
            <a:off x="5598319" y="2457450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13" name="Line 37"/>
          <p:cNvSpPr>
            <a:spLocks noChangeShapeType="1"/>
          </p:cNvSpPr>
          <p:nvPr/>
        </p:nvSpPr>
        <p:spPr bwMode="auto">
          <a:xfrm flipV="1">
            <a:off x="6084094" y="2457450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14" name="Line 38"/>
          <p:cNvSpPr>
            <a:spLocks noChangeShapeType="1"/>
          </p:cNvSpPr>
          <p:nvPr/>
        </p:nvSpPr>
        <p:spPr bwMode="auto">
          <a:xfrm flipV="1">
            <a:off x="6731794" y="2457450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15" name="Line 39"/>
          <p:cNvSpPr>
            <a:spLocks noChangeShapeType="1"/>
          </p:cNvSpPr>
          <p:nvPr/>
        </p:nvSpPr>
        <p:spPr bwMode="auto">
          <a:xfrm flipV="1">
            <a:off x="7434263" y="2457450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9416" name="Line 40"/>
          <p:cNvSpPr>
            <a:spLocks noChangeShapeType="1"/>
          </p:cNvSpPr>
          <p:nvPr/>
        </p:nvSpPr>
        <p:spPr bwMode="auto">
          <a:xfrm>
            <a:off x="6137672" y="2272904"/>
            <a:ext cx="548878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9417" name="Line 41"/>
          <p:cNvSpPr>
            <a:spLocks noChangeShapeType="1"/>
          </p:cNvSpPr>
          <p:nvPr/>
        </p:nvSpPr>
        <p:spPr bwMode="auto">
          <a:xfrm>
            <a:off x="6840141" y="2272904"/>
            <a:ext cx="548878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algn="l"/>
            <a:r>
              <a:rPr lang="zh-CN" altLang="en-US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例</a:t>
            </a:r>
            <a:r>
              <a:rPr lang="zh-CN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（</a:t>
            </a:r>
            <a:r>
              <a:rPr lang="en-US" altLang="zh-CN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b="1" kern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endParaRPr lang="zh-CN" altLang="zh-CN" b="1" kern="12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0405" name="Rectangle 5"/>
          <p:cNvSpPr>
            <a:spLocks noChangeArrowheads="1"/>
          </p:cNvSpPr>
          <p:nvPr/>
        </p:nvSpPr>
        <p:spPr bwMode="auto">
          <a:xfrm>
            <a:off x="519430" y="1104900"/>
            <a:ext cx="8167370" cy="499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假设给出一组表项，它们的关键码为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Burke, 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Ekers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Broad, Blum, Attlee, Alton, Hecht, 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Ederly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。采用的散列函数是：取其第一个字母在字母表中的位置。 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(x) =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(x) -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(‘A’)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//</a:t>
            </a:r>
            <a:r>
              <a:rPr lang="en-US" altLang="zh-CN" sz="2000" dirty="0" err="1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dirty="0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 ) </a:t>
            </a:r>
            <a:r>
              <a:rPr lang="zh-CN" altLang="en-US" sz="2000" dirty="0">
                <a:solidFill>
                  <a:srgbClr val="00CC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是求字符内码的函数</a:t>
            </a:r>
            <a:endParaRPr lang="zh-CN" altLang="en-US" sz="2000" dirty="0">
              <a:solidFill>
                <a:srgbClr val="00CC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可得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(Burke) = 1     Hash (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Ekers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= 4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(Broad) = 1     Hash (Blum) = 1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(Attlee) = 0     Hash (Hecht) = 7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(Alton) = 0      Hash (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Ederly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= 4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设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散列表为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HT[26]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= 26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例</a:t>
            </a:r>
            <a:r>
              <a:rPr 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（</a:t>
            </a:r>
            <a:r>
              <a:rPr lang="en-US" alt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</a:t>
            </a:r>
            <a:r>
              <a:rPr 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31454" name="Rectangle 30"/>
          <p:cNvSpPr>
            <a:spLocks noGrp="1" noChangeArrowheads="1"/>
          </p:cNvSpPr>
          <p:nvPr>
            <p:ph type="body" idx="4294967295"/>
          </p:nvPr>
        </p:nvSpPr>
        <p:spPr>
          <a:xfrm>
            <a:off x="490855" y="1076960"/>
            <a:ext cx="8195310" cy="11703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8" rIns="69056" bIns="34528"/>
          <a:lstStyle/>
          <a:p>
            <a:pPr marL="0" indent="0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因为可能桶号是 0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25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取满足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+3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的质数，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表的长度为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TableSize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31(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扩大表的长度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，利用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二次探查法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得到的散列结果如图所示。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455" name="Rectangle 31"/>
          <p:cNvSpPr>
            <a:spLocks noChangeArrowheads="1"/>
          </p:cNvSpPr>
          <p:nvPr/>
        </p:nvSpPr>
        <p:spPr bwMode="auto">
          <a:xfrm>
            <a:off x="1690688" y="2288381"/>
            <a:ext cx="53263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0              1               2                3                4                 5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31456" name="Rectangle 32" descr="白色大理石"/>
          <p:cNvSpPr>
            <a:spLocks noChangeArrowheads="1"/>
          </p:cNvSpPr>
          <p:nvPr/>
        </p:nvSpPr>
        <p:spPr bwMode="auto">
          <a:xfrm>
            <a:off x="1600200" y="2631281"/>
            <a:ext cx="6000750" cy="40005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31750">
            <a:solidFill>
              <a:srgbClr val="339966"/>
            </a:solidFill>
            <a:miter lim="800000"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 Blum    Burke    Broad                    Ekers     Ederly</a:t>
            </a:r>
            <a:endParaRPr kumimoji="1" lang="en-US" altLang="zh-CN" sz="21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1457" name="Line 33"/>
          <p:cNvSpPr>
            <a:spLocks noChangeShapeType="1"/>
          </p:cNvSpPr>
          <p:nvPr/>
        </p:nvSpPr>
        <p:spPr bwMode="auto">
          <a:xfrm flipV="1">
            <a:off x="2514600" y="26312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58" name="Line 34"/>
          <p:cNvSpPr>
            <a:spLocks noChangeShapeType="1"/>
          </p:cNvSpPr>
          <p:nvPr/>
        </p:nvSpPr>
        <p:spPr bwMode="auto">
          <a:xfrm flipV="1">
            <a:off x="3486150" y="26312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59" name="Line 35"/>
          <p:cNvSpPr>
            <a:spLocks noChangeShapeType="1"/>
          </p:cNvSpPr>
          <p:nvPr/>
        </p:nvSpPr>
        <p:spPr bwMode="auto">
          <a:xfrm flipV="1">
            <a:off x="4514850" y="26312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0" name="Line 36"/>
          <p:cNvSpPr>
            <a:spLocks noChangeShapeType="1"/>
          </p:cNvSpPr>
          <p:nvPr/>
        </p:nvSpPr>
        <p:spPr bwMode="auto">
          <a:xfrm flipV="1">
            <a:off x="5543550" y="26312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1" name="Line 37"/>
          <p:cNvSpPr>
            <a:spLocks noChangeShapeType="1"/>
          </p:cNvSpPr>
          <p:nvPr/>
        </p:nvSpPr>
        <p:spPr bwMode="auto">
          <a:xfrm flipV="1">
            <a:off x="6572250" y="26312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2" name="Rectangle 38" descr="白色大理石"/>
          <p:cNvSpPr>
            <a:spLocks noChangeArrowheads="1"/>
          </p:cNvSpPr>
          <p:nvPr/>
        </p:nvSpPr>
        <p:spPr bwMode="auto">
          <a:xfrm>
            <a:off x="1600200" y="3717131"/>
            <a:ext cx="6000750" cy="40005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31750">
            <a:solidFill>
              <a:srgbClr val="339966"/>
            </a:solidFill>
            <a:miter lim="800000"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              Hecht    </a:t>
            </a:r>
            <a:endParaRPr kumimoji="1" lang="en-US" altLang="zh-CN" sz="21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1463" name="Line 39"/>
          <p:cNvSpPr>
            <a:spLocks noChangeShapeType="1"/>
          </p:cNvSpPr>
          <p:nvPr/>
        </p:nvSpPr>
        <p:spPr bwMode="auto">
          <a:xfrm flipV="1">
            <a:off x="2514600" y="371713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4" name="Rectangle 40"/>
          <p:cNvSpPr>
            <a:spLocks noChangeArrowheads="1"/>
          </p:cNvSpPr>
          <p:nvPr/>
        </p:nvSpPr>
        <p:spPr bwMode="auto">
          <a:xfrm>
            <a:off x="1690688" y="3374231"/>
            <a:ext cx="54279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6              7               8                 9               10              11 </a:t>
            </a:r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31465" name="Line 41"/>
          <p:cNvSpPr>
            <a:spLocks noChangeShapeType="1"/>
          </p:cNvSpPr>
          <p:nvPr/>
        </p:nvSpPr>
        <p:spPr bwMode="auto">
          <a:xfrm flipV="1">
            <a:off x="3486150" y="371713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6" name="Line 42"/>
          <p:cNvSpPr>
            <a:spLocks noChangeShapeType="1"/>
          </p:cNvSpPr>
          <p:nvPr/>
        </p:nvSpPr>
        <p:spPr bwMode="auto">
          <a:xfrm flipV="1">
            <a:off x="4514850" y="371713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7" name="Line 43"/>
          <p:cNvSpPr>
            <a:spLocks noChangeShapeType="1"/>
          </p:cNvSpPr>
          <p:nvPr/>
        </p:nvSpPr>
        <p:spPr bwMode="auto">
          <a:xfrm flipV="1">
            <a:off x="5543550" y="371713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8" name="Line 44"/>
          <p:cNvSpPr>
            <a:spLocks noChangeShapeType="1"/>
          </p:cNvSpPr>
          <p:nvPr/>
        </p:nvSpPr>
        <p:spPr bwMode="auto">
          <a:xfrm flipV="1">
            <a:off x="6572250" y="371713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69" name="Rectangle 45" descr="白色大理石"/>
          <p:cNvSpPr>
            <a:spLocks noChangeArrowheads="1"/>
          </p:cNvSpPr>
          <p:nvPr/>
        </p:nvSpPr>
        <p:spPr bwMode="auto">
          <a:xfrm>
            <a:off x="1600200" y="4802981"/>
            <a:ext cx="6000750" cy="40005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31750">
            <a:solidFill>
              <a:srgbClr val="339966"/>
            </a:solidFill>
            <a:miter lim="800000"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                              Alton                                    Attlee </a:t>
            </a:r>
            <a:endParaRPr kumimoji="1" lang="en-US" altLang="zh-CN" sz="21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1470" name="Line 46"/>
          <p:cNvSpPr>
            <a:spLocks noChangeShapeType="1"/>
          </p:cNvSpPr>
          <p:nvPr/>
        </p:nvSpPr>
        <p:spPr bwMode="auto">
          <a:xfrm flipV="1">
            <a:off x="2514600" y="48029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71" name="Line 47"/>
          <p:cNvSpPr>
            <a:spLocks noChangeShapeType="1"/>
          </p:cNvSpPr>
          <p:nvPr/>
        </p:nvSpPr>
        <p:spPr bwMode="auto">
          <a:xfrm flipV="1">
            <a:off x="3486150" y="48029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72" name="Line 48"/>
          <p:cNvSpPr>
            <a:spLocks noChangeShapeType="1"/>
          </p:cNvSpPr>
          <p:nvPr/>
        </p:nvSpPr>
        <p:spPr bwMode="auto">
          <a:xfrm flipV="1">
            <a:off x="4514850" y="48029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73" name="Line 49"/>
          <p:cNvSpPr>
            <a:spLocks noChangeShapeType="1"/>
          </p:cNvSpPr>
          <p:nvPr/>
        </p:nvSpPr>
        <p:spPr bwMode="auto">
          <a:xfrm flipV="1">
            <a:off x="5543550" y="48029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74" name="Line 50"/>
          <p:cNvSpPr>
            <a:spLocks noChangeShapeType="1"/>
          </p:cNvSpPr>
          <p:nvPr/>
        </p:nvSpPr>
        <p:spPr bwMode="auto">
          <a:xfrm flipV="1">
            <a:off x="6572250" y="4802981"/>
            <a:ext cx="0" cy="40005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1475" name="Rectangle 51"/>
          <p:cNvSpPr>
            <a:spLocks noChangeArrowheads="1"/>
          </p:cNvSpPr>
          <p:nvPr/>
        </p:nvSpPr>
        <p:spPr bwMode="auto">
          <a:xfrm>
            <a:off x="1671638" y="3031331"/>
            <a:ext cx="54025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(3)           (1)             (2)                               (1)             (2)</a:t>
            </a:r>
            <a:endParaRPr kumimoji="1"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1476" name="Rectangle 52"/>
          <p:cNvSpPr>
            <a:spLocks noChangeArrowheads="1"/>
          </p:cNvSpPr>
          <p:nvPr/>
        </p:nvSpPr>
        <p:spPr bwMode="auto">
          <a:xfrm>
            <a:off x="2514600" y="4117181"/>
            <a:ext cx="4495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  <a:endParaRPr kumimoji="1"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1477" name="Rectangle 53"/>
          <p:cNvSpPr>
            <a:spLocks noChangeArrowheads="1"/>
          </p:cNvSpPr>
          <p:nvPr/>
        </p:nvSpPr>
        <p:spPr bwMode="auto">
          <a:xfrm>
            <a:off x="1633538" y="4460081"/>
            <a:ext cx="53835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25            26             27             28              29              30 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31478" name="Rectangle 54"/>
          <p:cNvSpPr>
            <a:spLocks noChangeArrowheads="1"/>
          </p:cNvSpPr>
          <p:nvPr/>
        </p:nvSpPr>
        <p:spPr bwMode="auto">
          <a:xfrm>
            <a:off x="3486150" y="5203031"/>
            <a:ext cx="35737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(5)                                                  (3)</a:t>
            </a:r>
            <a:endParaRPr kumimoji="1"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例</a:t>
            </a:r>
            <a:r>
              <a:rPr 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（</a:t>
            </a:r>
            <a:r>
              <a:rPr lang="en-US" alt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</a:t>
            </a:r>
            <a:r>
              <a:rPr lang="zh-CN" kern="12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32458" name="Rectangle 10"/>
          <p:cNvSpPr>
            <a:spLocks noGrp="1" noChangeArrowheads="1"/>
          </p:cNvSpPr>
          <p:nvPr>
            <p:ph type="body" idx="4294967295"/>
          </p:nvPr>
        </p:nvSpPr>
        <p:spPr>
          <a:xfrm>
            <a:off x="474345" y="1207770"/>
            <a:ext cx="8211820" cy="3517900"/>
          </a:xfrm>
          <a:noFill/>
        </p:spPr>
        <p:txBody>
          <a:bodyPr lIns="69056" tIns="34528" rIns="69056" bIns="34528"/>
          <a:lstStyle/>
          <a:p>
            <a:r>
              <a:rPr lang="zh-CN" altLang="en-US" sz="2000" dirty="0"/>
              <a:t>使用二次探查法处理溢出时的搜索成功的平均搜索长度为：</a:t>
            </a:r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搜索不成功的平均搜索长度为：</a:t>
            </a:r>
            <a:endParaRPr lang="zh-CN" altLang="en-US" sz="2000" dirty="0"/>
          </a:p>
          <a:p>
            <a:pPr lvl="2" algn="just"/>
            <a:endParaRPr lang="zh-CN" altLang="en-US" sz="2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122839" y="3327559"/>
                <a:ext cx="5098256" cy="713899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𝐴𝑆𝐿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𝑢𝑛𝑠𝑢𝑐𝑐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26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6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40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9" y="3327559"/>
                <a:ext cx="5098256" cy="713899"/>
              </a:xfrm>
              <a:prstGeom prst="rect">
                <a:avLst/>
              </a:prstGeom>
              <a:blipFill rotWithShape="1">
                <a:blip r:embed="rId1"/>
                <a:stretch>
                  <a:fillRect l="-3" t="-22" r="-6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29519" y="1623854"/>
                <a:ext cx="5067776" cy="847249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𝐴𝑆𝐿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𝑠𝑢𝑐𝑐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18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519" y="1623854"/>
                <a:ext cx="5067776" cy="847249"/>
              </a:xfrm>
              <a:prstGeom prst="rect">
                <a:avLst/>
              </a:prstGeom>
              <a:blipFill rotWithShape="1">
                <a:blip r:embed="rId2"/>
                <a:stretch>
                  <a:fillRect l="-3" t="-19" r="-19196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algn="l"/>
            <a:r>
              <a:rPr lang="zh-CN" altLang="en-US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例（</a:t>
            </a:r>
            <a:r>
              <a:rPr lang="en-US" altLang="zh-CN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zh-CN" altLang="en-US" b="1" kern="12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endParaRPr lang="zh-CN" altLang="en-US" b="1" kern="120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3477" name="Rectangle 5"/>
          <p:cNvSpPr>
            <a:spLocks noChangeArrowheads="1"/>
          </p:cNvSpPr>
          <p:nvPr/>
        </p:nvSpPr>
        <p:spPr bwMode="auto">
          <a:xfrm>
            <a:off x="550545" y="1092835"/>
            <a:ext cx="8135620" cy="4459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给出一组表项关键码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{ Burke, 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Ekers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Broad, Blum, Attlee, Alton, Hecht, 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Ederly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}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散列函数为：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(x)</a:t>
            </a:r>
            <a:r>
              <a:rPr lang="zh-CN" alt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(x)</a:t>
            </a:r>
            <a:r>
              <a:rPr lang="zh-CN" alt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ord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('A')</a:t>
            </a:r>
            <a:endParaRPr lang="en-US" altLang="zh-CN" sz="2000" i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用它计算可得：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Hash (Burke) = 1       Hash (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Ekers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= 4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(Broad) = 1       Hash (Blum) = 1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(Attlee) = 0        Hash (Hecht) = 7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Hash (Alton) = 0         Hash (</a:t>
            </a:r>
            <a:r>
              <a:rPr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Ederly</a:t>
            </a:r>
            <a:r>
              <a:rPr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 = 4</a:t>
            </a:r>
            <a:endParaRPr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散列表为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HT[0..25]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= 26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	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12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例（</a:t>
            </a:r>
            <a:r>
              <a:rPr lang="en-US" altLang="zh-CN" kern="12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kern="12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34500" name="AutoShape 4"/>
          <p:cNvSpPr>
            <a:spLocks noChangeArrowheads="1"/>
          </p:cNvSpPr>
          <p:nvPr/>
        </p:nvSpPr>
        <p:spPr bwMode="auto">
          <a:xfrm>
            <a:off x="3829050" y="2907506"/>
            <a:ext cx="514350" cy="114300"/>
          </a:xfrm>
          <a:prstGeom prst="rightArrow">
            <a:avLst>
              <a:gd name="adj1" fmla="val 50000"/>
              <a:gd name="adj2" fmla="val 112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1" name="AutoShape 5"/>
          <p:cNvSpPr>
            <a:spLocks noChangeArrowheads="1"/>
          </p:cNvSpPr>
          <p:nvPr/>
        </p:nvSpPr>
        <p:spPr bwMode="auto">
          <a:xfrm>
            <a:off x="5372100" y="1696641"/>
            <a:ext cx="514350" cy="114300"/>
          </a:xfrm>
          <a:prstGeom prst="rightArrow">
            <a:avLst>
              <a:gd name="adj1" fmla="val 50000"/>
              <a:gd name="adj2" fmla="val 112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2" name="AutoShape 6"/>
          <p:cNvSpPr>
            <a:spLocks noChangeArrowheads="1"/>
          </p:cNvSpPr>
          <p:nvPr/>
        </p:nvSpPr>
        <p:spPr bwMode="auto">
          <a:xfrm>
            <a:off x="3829050" y="1696641"/>
            <a:ext cx="514350" cy="114300"/>
          </a:xfrm>
          <a:prstGeom prst="rightArrow">
            <a:avLst>
              <a:gd name="adj1" fmla="val 50000"/>
              <a:gd name="adj2" fmla="val 112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3" name="AutoShape 7"/>
          <p:cNvSpPr>
            <a:spLocks noChangeArrowheads="1"/>
          </p:cNvSpPr>
          <p:nvPr/>
        </p:nvSpPr>
        <p:spPr bwMode="auto">
          <a:xfrm>
            <a:off x="3829050" y="1296591"/>
            <a:ext cx="514350" cy="114300"/>
          </a:xfrm>
          <a:prstGeom prst="rightArrow">
            <a:avLst>
              <a:gd name="adj1" fmla="val 50000"/>
              <a:gd name="adj2" fmla="val 112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4" name="Rectangle 8"/>
          <p:cNvSpPr>
            <a:spLocks noChangeArrowheads="1"/>
          </p:cNvSpPr>
          <p:nvPr/>
        </p:nvSpPr>
        <p:spPr bwMode="auto">
          <a:xfrm>
            <a:off x="1885950" y="1200150"/>
            <a:ext cx="514350" cy="4514850"/>
          </a:xfrm>
          <a:prstGeom prst="rect">
            <a:avLst/>
          </a:prstGeom>
          <a:gradFill rotWithShape="0">
            <a:gsLst>
              <a:gs pos="0">
                <a:srgbClr val="F8F8F8">
                  <a:gamma/>
                  <a:shade val="46275"/>
                  <a:invGamma/>
                </a:srgbClr>
              </a:gs>
              <a:gs pos="100000">
                <a:srgbClr val="F8F8F8"/>
              </a:gs>
            </a:gsLst>
            <a:lin ang="0" scaled="1"/>
          </a:gradFill>
          <a:ln w="28575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5" name="Line 9"/>
          <p:cNvSpPr>
            <a:spLocks noChangeShapeType="1"/>
          </p:cNvSpPr>
          <p:nvPr/>
        </p:nvSpPr>
        <p:spPr bwMode="auto">
          <a:xfrm>
            <a:off x="1885950" y="160020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6" name="Text Box 10"/>
          <p:cNvSpPr txBox="1">
            <a:spLocks noChangeArrowheads="1"/>
          </p:cNvSpPr>
          <p:nvPr/>
        </p:nvSpPr>
        <p:spPr bwMode="auto">
          <a:xfrm>
            <a:off x="1385888" y="1209675"/>
            <a:ext cx="466725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0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1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2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3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4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5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6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7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8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.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25</a:t>
            </a:r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34507" name="Line 11"/>
          <p:cNvSpPr>
            <a:spLocks noChangeShapeType="1"/>
          </p:cNvSpPr>
          <p:nvPr/>
        </p:nvSpPr>
        <p:spPr bwMode="auto">
          <a:xfrm>
            <a:off x="1885950" y="200025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8" name="Line 12"/>
          <p:cNvSpPr>
            <a:spLocks noChangeShapeType="1"/>
          </p:cNvSpPr>
          <p:nvPr/>
        </p:nvSpPr>
        <p:spPr bwMode="auto">
          <a:xfrm>
            <a:off x="1885950" y="240030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09" name="Line 13"/>
          <p:cNvSpPr>
            <a:spLocks noChangeShapeType="1"/>
          </p:cNvSpPr>
          <p:nvPr/>
        </p:nvSpPr>
        <p:spPr bwMode="auto">
          <a:xfrm>
            <a:off x="1885950" y="280035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0" name="Line 14"/>
          <p:cNvSpPr>
            <a:spLocks noChangeShapeType="1"/>
          </p:cNvSpPr>
          <p:nvPr/>
        </p:nvSpPr>
        <p:spPr bwMode="auto">
          <a:xfrm>
            <a:off x="1885950" y="320040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1" name="Line 15"/>
          <p:cNvSpPr>
            <a:spLocks noChangeShapeType="1"/>
          </p:cNvSpPr>
          <p:nvPr/>
        </p:nvSpPr>
        <p:spPr bwMode="auto">
          <a:xfrm>
            <a:off x="1885950" y="360045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2" name="Line 16"/>
          <p:cNvSpPr>
            <a:spLocks noChangeShapeType="1"/>
          </p:cNvSpPr>
          <p:nvPr/>
        </p:nvSpPr>
        <p:spPr bwMode="auto">
          <a:xfrm>
            <a:off x="1885950" y="400050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3" name="Line 17"/>
          <p:cNvSpPr>
            <a:spLocks noChangeShapeType="1"/>
          </p:cNvSpPr>
          <p:nvPr/>
        </p:nvSpPr>
        <p:spPr bwMode="auto">
          <a:xfrm>
            <a:off x="1885950" y="440055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4" name="Line 18"/>
          <p:cNvSpPr>
            <a:spLocks noChangeShapeType="1"/>
          </p:cNvSpPr>
          <p:nvPr/>
        </p:nvSpPr>
        <p:spPr bwMode="auto">
          <a:xfrm>
            <a:off x="1885950" y="480060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5" name="Line 19"/>
          <p:cNvSpPr>
            <a:spLocks noChangeShapeType="1"/>
          </p:cNvSpPr>
          <p:nvPr/>
        </p:nvSpPr>
        <p:spPr bwMode="auto">
          <a:xfrm>
            <a:off x="1885950" y="5200650"/>
            <a:ext cx="51435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6" name="Rectangle 20"/>
          <p:cNvSpPr>
            <a:spLocks noChangeArrowheads="1"/>
          </p:cNvSpPr>
          <p:nvPr/>
        </p:nvSpPr>
        <p:spPr bwMode="auto">
          <a:xfrm>
            <a:off x="2800350" y="1182291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Attlee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17" name="Rectangle 21"/>
          <p:cNvSpPr>
            <a:spLocks noChangeArrowheads="1"/>
          </p:cNvSpPr>
          <p:nvPr/>
        </p:nvSpPr>
        <p:spPr bwMode="auto">
          <a:xfrm>
            <a:off x="4343400" y="1182291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Alton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18" name="Line 22"/>
          <p:cNvSpPr>
            <a:spLocks noChangeShapeType="1"/>
          </p:cNvSpPr>
          <p:nvPr/>
        </p:nvSpPr>
        <p:spPr bwMode="auto">
          <a:xfrm>
            <a:off x="3714750" y="1182291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19" name="Line 23"/>
          <p:cNvSpPr>
            <a:spLocks noChangeShapeType="1"/>
          </p:cNvSpPr>
          <p:nvPr/>
        </p:nvSpPr>
        <p:spPr bwMode="auto">
          <a:xfrm>
            <a:off x="5257800" y="1182291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0" name="AutoShape 24"/>
          <p:cNvSpPr>
            <a:spLocks noChangeArrowheads="1"/>
          </p:cNvSpPr>
          <p:nvPr/>
        </p:nvSpPr>
        <p:spPr bwMode="auto">
          <a:xfrm>
            <a:off x="2171700" y="1296591"/>
            <a:ext cx="628650" cy="114300"/>
          </a:xfrm>
          <a:prstGeom prst="rightArrow">
            <a:avLst>
              <a:gd name="adj1" fmla="val 50000"/>
              <a:gd name="adj2" fmla="val 137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1" name="AutoShape 25"/>
          <p:cNvSpPr>
            <a:spLocks noChangeArrowheads="1"/>
          </p:cNvSpPr>
          <p:nvPr/>
        </p:nvSpPr>
        <p:spPr bwMode="auto">
          <a:xfrm>
            <a:off x="2171700" y="1696641"/>
            <a:ext cx="628650" cy="114300"/>
          </a:xfrm>
          <a:prstGeom prst="rightArrow">
            <a:avLst>
              <a:gd name="adj1" fmla="val 50000"/>
              <a:gd name="adj2" fmla="val 137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2" name="Rectangle 26"/>
          <p:cNvSpPr>
            <a:spLocks noChangeArrowheads="1"/>
          </p:cNvSpPr>
          <p:nvPr/>
        </p:nvSpPr>
        <p:spPr bwMode="auto">
          <a:xfrm>
            <a:off x="2800350" y="1582341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Burke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23" name="Line 27"/>
          <p:cNvSpPr>
            <a:spLocks noChangeShapeType="1"/>
          </p:cNvSpPr>
          <p:nvPr/>
        </p:nvSpPr>
        <p:spPr bwMode="auto">
          <a:xfrm>
            <a:off x="3714750" y="1582341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4" name="Rectangle 28"/>
          <p:cNvSpPr>
            <a:spLocks noChangeArrowheads="1"/>
          </p:cNvSpPr>
          <p:nvPr/>
        </p:nvSpPr>
        <p:spPr bwMode="auto">
          <a:xfrm>
            <a:off x="4343400" y="1582341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Broad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25" name="Line 29"/>
          <p:cNvSpPr>
            <a:spLocks noChangeShapeType="1"/>
          </p:cNvSpPr>
          <p:nvPr/>
        </p:nvSpPr>
        <p:spPr bwMode="auto">
          <a:xfrm>
            <a:off x="5257800" y="1582341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6" name="Rectangle 30"/>
          <p:cNvSpPr>
            <a:spLocks noChangeArrowheads="1"/>
          </p:cNvSpPr>
          <p:nvPr/>
        </p:nvSpPr>
        <p:spPr bwMode="auto">
          <a:xfrm>
            <a:off x="5886450" y="1582341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Blum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27" name="Line 31"/>
          <p:cNvSpPr>
            <a:spLocks noChangeShapeType="1"/>
          </p:cNvSpPr>
          <p:nvPr/>
        </p:nvSpPr>
        <p:spPr bwMode="auto">
          <a:xfrm>
            <a:off x="6800850" y="1582341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8" name="AutoShape 32"/>
          <p:cNvSpPr>
            <a:spLocks noChangeArrowheads="1"/>
          </p:cNvSpPr>
          <p:nvPr/>
        </p:nvSpPr>
        <p:spPr bwMode="auto">
          <a:xfrm>
            <a:off x="2171700" y="2907506"/>
            <a:ext cx="628650" cy="114300"/>
          </a:xfrm>
          <a:prstGeom prst="rightArrow">
            <a:avLst>
              <a:gd name="adj1" fmla="val 50000"/>
              <a:gd name="adj2" fmla="val 137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29" name="AutoShape 33"/>
          <p:cNvSpPr>
            <a:spLocks noChangeArrowheads="1"/>
          </p:cNvSpPr>
          <p:nvPr/>
        </p:nvSpPr>
        <p:spPr bwMode="auto">
          <a:xfrm>
            <a:off x="2171700" y="4086225"/>
            <a:ext cx="628650" cy="114300"/>
          </a:xfrm>
          <a:prstGeom prst="rightArrow">
            <a:avLst>
              <a:gd name="adj1" fmla="val 50000"/>
              <a:gd name="adj2" fmla="val 137500"/>
            </a:avLst>
          </a:prstGeom>
          <a:gradFill rotWithShape="0">
            <a:gsLst>
              <a:gs pos="0">
                <a:srgbClr val="CCFF99">
                  <a:gamma/>
                  <a:shade val="46275"/>
                  <a:invGamma/>
                </a:srgbClr>
              </a:gs>
              <a:gs pos="50000">
                <a:srgbClr val="CCFF99"/>
              </a:gs>
              <a:gs pos="100000">
                <a:srgbClr val="CC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99FF33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30" name="Rectangle 34"/>
          <p:cNvSpPr>
            <a:spLocks noChangeArrowheads="1"/>
          </p:cNvSpPr>
          <p:nvPr/>
        </p:nvSpPr>
        <p:spPr bwMode="auto">
          <a:xfrm>
            <a:off x="2800350" y="2793206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Ekers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31" name="Line 35"/>
          <p:cNvSpPr>
            <a:spLocks noChangeShapeType="1"/>
          </p:cNvSpPr>
          <p:nvPr/>
        </p:nvSpPr>
        <p:spPr bwMode="auto">
          <a:xfrm>
            <a:off x="3714750" y="2793206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32" name="Rectangle 36"/>
          <p:cNvSpPr>
            <a:spLocks noChangeArrowheads="1"/>
          </p:cNvSpPr>
          <p:nvPr/>
        </p:nvSpPr>
        <p:spPr bwMode="auto">
          <a:xfrm>
            <a:off x="4343400" y="2793206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Ederly</a:t>
            </a:r>
            <a:endParaRPr kumimoji="1" lang="en-US" altLang="zh-CN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33" name="Line 37"/>
          <p:cNvSpPr>
            <a:spLocks noChangeShapeType="1"/>
          </p:cNvSpPr>
          <p:nvPr/>
        </p:nvSpPr>
        <p:spPr bwMode="auto">
          <a:xfrm>
            <a:off x="5257800" y="2793206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34" name="Rectangle 38"/>
          <p:cNvSpPr>
            <a:spLocks noChangeArrowheads="1"/>
          </p:cNvSpPr>
          <p:nvPr/>
        </p:nvSpPr>
        <p:spPr bwMode="auto">
          <a:xfrm>
            <a:off x="2800350" y="3971925"/>
            <a:ext cx="1085850" cy="3429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100" b="1">
                <a:solidFill>
                  <a:srgbClr val="CC0000"/>
                </a:solidFill>
                <a:latin typeface="Times New Roman" panose="02020603050405020304" pitchFamily="18" charset="0"/>
              </a:rPr>
              <a:t>Hecht</a:t>
            </a:r>
            <a:endParaRPr kumimoji="1" lang="en-US" altLang="zh-CN" sz="21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535" name="Line 39"/>
          <p:cNvSpPr>
            <a:spLocks noChangeShapeType="1"/>
          </p:cNvSpPr>
          <p:nvPr/>
        </p:nvSpPr>
        <p:spPr bwMode="auto">
          <a:xfrm>
            <a:off x="3714750" y="3969544"/>
            <a:ext cx="0" cy="342900"/>
          </a:xfrm>
          <a:prstGeom prst="line">
            <a:avLst/>
          </a:prstGeom>
          <a:noFill/>
          <a:ln w="28575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38" name="Oval 42"/>
          <p:cNvSpPr>
            <a:spLocks noChangeArrowheads="1"/>
          </p:cNvSpPr>
          <p:nvPr/>
        </p:nvSpPr>
        <p:spPr bwMode="auto">
          <a:xfrm>
            <a:off x="2033588" y="2078831"/>
            <a:ext cx="216694" cy="215504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39" name="Oval 43"/>
          <p:cNvSpPr>
            <a:spLocks noChangeArrowheads="1"/>
          </p:cNvSpPr>
          <p:nvPr/>
        </p:nvSpPr>
        <p:spPr bwMode="auto">
          <a:xfrm>
            <a:off x="2033588" y="2457450"/>
            <a:ext cx="216694" cy="215504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40" name="Oval 44"/>
          <p:cNvSpPr>
            <a:spLocks noChangeArrowheads="1"/>
          </p:cNvSpPr>
          <p:nvPr/>
        </p:nvSpPr>
        <p:spPr bwMode="auto">
          <a:xfrm>
            <a:off x="2033588" y="3267075"/>
            <a:ext cx="216694" cy="215504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41" name="Oval 45"/>
          <p:cNvSpPr>
            <a:spLocks noChangeArrowheads="1"/>
          </p:cNvSpPr>
          <p:nvPr/>
        </p:nvSpPr>
        <p:spPr bwMode="auto">
          <a:xfrm>
            <a:off x="2033588" y="3699272"/>
            <a:ext cx="216694" cy="215503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42" name="Oval 46"/>
          <p:cNvSpPr>
            <a:spLocks noChangeArrowheads="1"/>
          </p:cNvSpPr>
          <p:nvPr/>
        </p:nvSpPr>
        <p:spPr bwMode="auto">
          <a:xfrm>
            <a:off x="2033588" y="4510088"/>
            <a:ext cx="216694" cy="215504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43" name="Oval 47"/>
          <p:cNvSpPr>
            <a:spLocks noChangeArrowheads="1"/>
          </p:cNvSpPr>
          <p:nvPr/>
        </p:nvSpPr>
        <p:spPr bwMode="auto">
          <a:xfrm>
            <a:off x="2033588" y="4887516"/>
            <a:ext cx="216694" cy="215503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4544" name="Oval 48"/>
          <p:cNvSpPr>
            <a:spLocks noChangeArrowheads="1"/>
          </p:cNvSpPr>
          <p:nvPr/>
        </p:nvSpPr>
        <p:spPr bwMode="auto">
          <a:xfrm>
            <a:off x="2033588" y="5319713"/>
            <a:ext cx="216694" cy="215504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381375" y="5349875"/>
                <a:ext cx="4695825" cy="81343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𝐴𝑆𝐿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𝑢𝑛𝑠𝑢𝑐𝑐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26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34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375" y="5349875"/>
                <a:ext cx="4695825" cy="8134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409315" y="4400550"/>
                <a:ext cx="5245735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𝐴𝑆𝐿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𝑠𝑢𝑐𝑐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315" y="4400550"/>
                <a:ext cx="5245735" cy="949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例（</a:t>
            </a:r>
            <a:r>
              <a:rPr lang="en-US" altLang="zh-CN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5595" y="1177925"/>
            <a:ext cx="3970655" cy="2559050"/>
          </a:xfrm>
        </p:spPr>
        <p:txBody>
          <a:bodyPr/>
          <a:p>
            <a:pPr marL="0" indent="0">
              <a:lnSpc>
                <a:spcPct val="140000"/>
              </a:lnSpc>
              <a:buNone/>
            </a:pPr>
            <a:r>
              <a:rPr lang="zh-CN" altLang="en-US" sz="2000" dirty="0">
                <a:cs typeface="Times New Roman" panose="02020603050405020304" pitchFamily="18" charset="0"/>
                <a:sym typeface="+mn-ea"/>
              </a:rPr>
              <a:t>已知一组关键字：</a:t>
            </a:r>
            <a:endParaRPr lang="zh-CN" altLang="en-US" sz="2000" dirty="0"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000">
                <a:cs typeface="Times New Roman" panose="02020603050405020304" pitchFamily="18" charset="0"/>
                <a:sym typeface="+mn-ea"/>
              </a:rPr>
              <a:t>(19, 14, 23, 1, 68, 20, 84, 27, 55, 11, 10, 79) </a:t>
            </a:r>
            <a:endParaRPr lang="en-US" altLang="zh-CN" sz="2000"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000" dirty="0">
                <a:cs typeface="Times New Roman" panose="02020603050405020304" pitchFamily="18" charset="0"/>
                <a:sym typeface="+mn-ea"/>
              </a:rPr>
              <a:t>哈希函数为：</a:t>
            </a:r>
            <a:r>
              <a:rPr lang="en-US" altLang="zh-CN" sz="2000" i="1" err="1">
                <a:cs typeface="Times New Roman" panose="02020603050405020304" pitchFamily="18" charset="0"/>
                <a:sym typeface="+mn-ea"/>
              </a:rPr>
              <a:t>H(key</a:t>
            </a:r>
            <a:r>
              <a:rPr lang="en-US" altLang="zh-CN" sz="2000" i="1">
                <a:cs typeface="Times New Roman" panose="02020603050405020304" pitchFamily="18" charset="0"/>
                <a:sym typeface="+mn-ea"/>
              </a:rPr>
              <a:t>)=key MOD 13</a:t>
            </a:r>
            <a:endParaRPr lang="en-US" altLang="zh-CN" sz="2000"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zh-CN" sz="2000" dirty="0">
                <a:cs typeface="Times New Roman" panose="02020603050405020304" pitchFamily="18" charset="0"/>
                <a:sym typeface="+mn-ea"/>
              </a:rPr>
              <a:t>用链地址法处理冲突。</a:t>
            </a:r>
            <a:endParaRPr lang="zh-CN" altLang="zh-CN" sz="2000" dirty="0"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53" name="图片 2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575" y="950595"/>
            <a:ext cx="4077970" cy="3705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558290" y="5837555"/>
                <a:ext cx="5653405" cy="6750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𝐴𝑆𝐿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𝑢𝑛𝑠𝑢𝑐𝑐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13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7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25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290" y="5837555"/>
                <a:ext cx="5653405" cy="6750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532191" y="4824349"/>
                <a:ext cx="5636895" cy="876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𝐴𝑆𝐿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𝑠𝑢𝑐𝑐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191" y="4824349"/>
                <a:ext cx="5636895" cy="876935"/>
              </a:xfrm>
              <a:prstGeom prst="rect">
                <a:avLst/>
              </a:prstGeom>
              <a:blipFill rotWithShape="1">
                <a:blip r:embed="rId3"/>
                <a:stretch>
                  <a:fillRect l="-10" t="-29" r="10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8.6.4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哈希表的查找和分析</a:t>
            </a:r>
            <a:endParaRPr lang="zh-CN" altLang="en-US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36194" name="Text Box 2"/>
          <p:cNvSpPr txBox="1">
            <a:spLocks noChangeArrowheads="1"/>
          </p:cNvSpPr>
          <p:nvPr/>
        </p:nvSpPr>
        <p:spPr bwMode="auto">
          <a:xfrm>
            <a:off x="552450" y="1088390"/>
            <a:ext cx="8134350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342900" indent="-342900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在哈希表上进行查找和哈希造表的过程基本一致。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给定</a:t>
            </a:r>
            <a:r>
              <a:rPr kumimoji="1" lang="en-US" altLang="zh-CN" sz="20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值，根据造表时设定的哈希函数求得哈希地址，若表中没有记录，则查找不成功；否则比较关键字，若和给定值相等，则查找成功；否则根据造表时设定的冲突处理方法找“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下一地址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”，直到哈希表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某个位置为空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表中所填记录的关键字等于给定值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时为止。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下面给出开放定址哈希表的存储结构：</a:t>
            </a:r>
            <a:endParaRPr kumimoji="1"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2820" y="3824605"/>
            <a:ext cx="7713980" cy="23044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typedef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 </a:t>
            </a: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struct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>
              <a:lnSpc>
                <a:spcPct val="14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{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indent="457200">
              <a:lnSpc>
                <a:spcPct val="140000"/>
              </a:lnSpc>
            </a:pP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DicElement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	element[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REGION_LEN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];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int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	m;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>
              <a:lnSpc>
                <a:spcPct val="14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}</a:t>
            </a:r>
            <a:r>
              <a:rPr kumimoji="1" lang="en-US" altLang="zh-CN" dirty="0" err="1">
                <a:solidFill>
                  <a:srgbClr val="FF00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HashDictionary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  <a:sym typeface="+mn-ea"/>
              </a:rPr>
              <a:t>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440055" y="373380"/>
            <a:ext cx="8329295" cy="60382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just">
              <a:lnSpc>
                <a:spcPct val="110000"/>
              </a:lnSpc>
            </a:pP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int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linearSearch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HashDictionary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*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,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KeyType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key, </a:t>
            </a: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int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*position)  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{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int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d,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inc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d = h(key);		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/* d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为散列地址，散列函数为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h(key) */</a:t>
            </a:r>
            <a:endParaRPr kumimoji="1" lang="en-US" altLang="zh-CN" dirty="0">
              <a:solidFill>
                <a:srgbClr val="00CC00"/>
              </a:solidFill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for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inc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=0;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inc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&lt;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-&gt;m;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inc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++) {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if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-&gt;element[d].key==key) {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    *position=d;	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/*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检索成功 *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</a:t>
            </a:r>
            <a:endParaRPr kumimoji="1" lang="en-US" altLang="zh-CN" dirty="0">
              <a:solidFill>
                <a:srgbClr val="00CC00"/>
              </a:solidFill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return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TRUE;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}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else if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-&gt;element[d].key==nil) {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    *position=d;	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/*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检索失败，找到插入位置 *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</a:t>
            </a:r>
            <a:endParaRPr kumimoji="1" lang="en-US" altLang="zh-CN" dirty="0">
              <a:solidFill>
                <a:srgbClr val="00CC00"/>
              </a:solidFill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return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FALSE;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}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d=(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d+1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) %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-&gt;m;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}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*position=-1;		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/*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散列表溢出 *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</a:t>
            </a:r>
            <a:endParaRPr kumimoji="1" lang="en-US" altLang="zh-CN" dirty="0">
              <a:solidFill>
                <a:srgbClr val="00CC00"/>
              </a:solidFill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return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FALSE;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}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</p:txBody>
      </p:sp>
      <p:sp>
        <p:nvSpPr>
          <p:cNvPr id="137219" name="Rectangle 3"/>
          <p:cNvSpPr>
            <a:spLocks noChangeArrowheads="1"/>
          </p:cNvSpPr>
          <p:nvPr/>
        </p:nvSpPr>
        <p:spPr bwMode="auto">
          <a:xfrm>
            <a:off x="1476375" y="4658360"/>
            <a:ext cx="2484755" cy="3238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452120" y="486410"/>
            <a:ext cx="8171815" cy="541909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int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linearInsert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HashDictionary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*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,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KeyType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key)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{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int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position;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if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linearSearch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, key, &amp;position) ==TRUE ) 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	 /*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散列表中已有关键码为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key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的结点 *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</a:t>
            </a:r>
            <a:endParaRPr kumimoji="1" lang="en-US" altLang="zh-CN" dirty="0">
              <a:solidFill>
                <a:srgbClr val="00CC00"/>
              </a:solidFill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printf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(“Find\n”);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else if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(position!=-1)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</a:t>
            </a:r>
            <a:r>
              <a:rPr kumimoji="1" lang="en-US" altLang="zh-CN" dirty="0" err="1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phash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-&gt;element[position].key=key;  	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/*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插入结点 *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</a:t>
            </a:r>
            <a:endParaRPr kumimoji="1" lang="en-US" altLang="zh-CN" dirty="0">
              <a:solidFill>
                <a:srgbClr val="00CC00"/>
              </a:solidFill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else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return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FALSE;			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/* </a:t>
            </a:r>
            <a:r>
              <a:rPr kumimoji="1" lang="zh-CN" altLang="en-US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散列表溢出 *</a:t>
            </a:r>
            <a:r>
              <a:rPr kumimoji="1" lang="en-US" altLang="zh-CN" dirty="0">
                <a:solidFill>
                  <a:srgbClr val="00CC00"/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/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    </a:t>
            </a:r>
            <a:r>
              <a:rPr kumimoji="1"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return </a:t>
            </a: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TRUE;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  <a:p>
            <a:pPr algn="just">
              <a:lnSpc>
                <a:spcPct val="130000"/>
              </a:lnSpc>
            </a:pPr>
            <a:r>
              <a:rPr kumimoji="1" lang="en-US" altLang="zh-CN" dirty="0">
                <a:latin typeface="Consolas" panose="020B0609020204030204" charset="0"/>
                <a:ea typeface="幼圆" panose="02010509060101010101" pitchFamily="49" charset="-122"/>
                <a:cs typeface="Consolas" panose="020B0609020204030204" charset="0"/>
              </a:rPr>
              <a:t>}</a:t>
            </a:r>
            <a:endParaRPr kumimoji="1" lang="en-US" altLang="zh-CN" dirty="0">
              <a:latin typeface="Consolas" panose="020B0609020204030204" charset="0"/>
              <a:ea typeface="幼圆" panose="02010509060101010101" pitchFamily="49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8.6.4 </a:t>
            </a:r>
            <a:r>
              <a:rPr lang="zh-CN" altLang="en-US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哈希表的查找和分析</a:t>
            </a:r>
            <a:endParaRPr lang="zh-CN" altLang="en-US"/>
          </a:p>
        </p:txBody>
      </p:sp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321310" y="1067435"/>
            <a:ext cx="8365490" cy="519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342900" lvl="0" indent="-342900">
              <a:lnSpc>
                <a:spcPct val="130000"/>
              </a:lnSpc>
              <a:buClr>
                <a:srgbClr val="00B0F0"/>
              </a:buClr>
              <a:buFont typeface="Wingdings" panose="05000000000000000000" charset="0"/>
              <a:buChar char="l"/>
            </a:pPr>
            <a:r>
              <a:rPr kumimoji="1" lang="zh-CN" altLang="en-US" sz="2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哈希表的装填因子：</a:t>
            </a: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30000"/>
              </a:lnSpc>
              <a:buClr>
                <a:srgbClr val="00B0F0"/>
              </a:buClr>
              <a:buSzTx/>
              <a:buFont typeface="Wingdings" panose="05000000000000000000" charset="0"/>
              <a:buChar char="l"/>
            </a:pPr>
            <a:r>
              <a:rPr kumimoji="1" lang="zh-CN" altLang="en-US" sz="2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线性探测再散列查找成功时的平均查找长度为：</a:t>
            </a: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30000"/>
              </a:lnSpc>
              <a:buClr>
                <a:srgbClr val="00B0F0"/>
              </a:buClr>
              <a:buSzTx/>
              <a:buFont typeface="Wingdings" panose="05000000000000000000" charset="0"/>
              <a:buChar char="l"/>
            </a:pPr>
            <a:r>
              <a:rPr kumimoji="1" lang="zh-CN" altLang="en-US" sz="2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随机探测再散列、二次探测再散列和再哈希的长度为：</a:t>
            </a: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30000"/>
              </a:lnSpc>
              <a:buClr>
                <a:srgbClr val="00B0F0"/>
              </a:buClr>
              <a:buSzTx/>
              <a:buFont typeface="Wingdings" panose="05000000000000000000" charset="0"/>
              <a:buChar char="l"/>
            </a:pPr>
            <a:r>
              <a:rPr kumimoji="1" lang="zh-CN" altLang="en-US" sz="2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链地址法的长度为：</a:t>
            </a:r>
            <a:endParaRPr kumimoji="1" lang="zh-CN" altLang="en-US" sz="200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3143251" y="1559243"/>
          <a:ext cx="2497931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31" name="公式" r:id="rId1" imgW="1548765" imgH="419100" progId="Equation.3">
                  <p:embed/>
                </p:oleObj>
              </mc:Choice>
              <mc:Fallback>
                <p:oleObj name="公式" r:id="rId1" imgW="1548765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1559243"/>
                        <a:ext cx="2497931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3143250" y="2812018"/>
          <a:ext cx="1600200" cy="573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32" name="公式" r:id="rId3" imgW="1091565" imgH="393700" progId="Equation.3">
                  <p:embed/>
                </p:oleObj>
              </mc:Choice>
              <mc:Fallback>
                <p:oleObj name="公式" r:id="rId3" imgW="1091565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2812018"/>
                        <a:ext cx="1600200" cy="573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3143250" y="3961527"/>
          <a:ext cx="1771650" cy="60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33" name="公式" r:id="rId5" imgW="1143000" imgH="393700" progId="Equation.3">
                  <p:embed/>
                </p:oleObj>
              </mc:Choice>
              <mc:Fallback>
                <p:oleObj name="公式" r:id="rId5" imgW="11430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3961527"/>
                        <a:ext cx="1771650" cy="607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0" name="Object 6"/>
          <p:cNvGraphicFramePr>
            <a:graphicFrameLocks noChangeAspect="1"/>
          </p:cNvGraphicFramePr>
          <p:nvPr/>
        </p:nvGraphicFramePr>
        <p:xfrm>
          <a:off x="3143250" y="5057061"/>
          <a:ext cx="10858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34" name="公式" r:id="rId7" imgW="698500" imgH="393700" progId="Equation.3">
                  <p:embed/>
                </p:oleObj>
              </mc:Choice>
              <mc:Fallback>
                <p:oleObj name="公式" r:id="rId7" imgW="6985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057061"/>
                        <a:ext cx="10858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结论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55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7520" y="1053465"/>
            <a:ext cx="8209280" cy="52666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8" rIns="69056" bIns="34528"/>
          <a:lstStyle/>
          <a:p>
            <a:pPr algn="just">
              <a:lnSpc>
                <a:spcPct val="150000"/>
              </a:lnSpc>
            </a:pPr>
            <a:r>
              <a:rPr lang="zh-CN" altLang="en-US" sz="2200">
                <a:latin typeface="Times New Roman" panose="02020603050405020304" pitchFamily="18" charset="0"/>
              </a:rPr>
              <a:t>散列表的装填因子</a:t>
            </a:r>
            <a:r>
              <a:rPr lang="zh-CN" altLang="en-US" sz="2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>
                <a:latin typeface="Times New Roman" panose="02020603050405020304" pitchFamily="18" charset="0"/>
              </a:rPr>
              <a:t>表明了表中的装满程度。越大，说明表越满，再插入新元素时发生冲突的可能性就越大。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>
                <a:latin typeface="Times New Roman" panose="02020603050405020304" pitchFamily="18" charset="0"/>
              </a:rPr>
              <a:t>散列表的搜索性能，即平均搜索长度依赖于散列表的装填因子</a:t>
            </a:r>
            <a:r>
              <a:rPr lang="zh-CN" altLang="en-US" sz="2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>
                <a:latin typeface="Times New Roman" panose="02020603050405020304" pitchFamily="18" charset="0"/>
              </a:rPr>
              <a:t> ，不直接依赖于 </a:t>
            </a:r>
            <a:r>
              <a:rPr lang="en-US" altLang="zh-CN" sz="2200" i="1">
                <a:latin typeface="Times New Roman" panose="02020603050405020304" pitchFamily="18" charset="0"/>
              </a:rPr>
              <a:t>n </a:t>
            </a:r>
            <a:r>
              <a:rPr lang="zh-CN" altLang="en-US" sz="2200">
                <a:latin typeface="Times New Roman" panose="02020603050405020304" pitchFamily="18" charset="0"/>
              </a:rPr>
              <a:t>或 </a:t>
            </a:r>
            <a:r>
              <a:rPr lang="en-US" altLang="zh-CN" sz="2200" i="1">
                <a:latin typeface="Times New Roman" panose="02020603050405020304" pitchFamily="18" charset="0"/>
              </a:rPr>
              <a:t>m</a:t>
            </a:r>
            <a:r>
              <a:rPr lang="zh-CN" altLang="en-US" sz="2200">
                <a:latin typeface="Times New Roman" panose="02020603050405020304" pitchFamily="18" charset="0"/>
              </a:rPr>
              <a:t>。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>
                <a:latin typeface="Times New Roman" panose="02020603050405020304" pitchFamily="18" charset="0"/>
              </a:rPr>
              <a:t>不论表的长度有多大，我们总能选择一个合适的装填因子，以把平均搜索长度限制在一定范围内。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练习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64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6390" y="1089025"/>
            <a:ext cx="8505190" cy="5069840"/>
          </a:xfrm>
          <a:noFill/>
        </p:spPr>
        <p:txBody>
          <a:bodyPr/>
          <a:lstStyle/>
          <a:p>
            <a:pPr marL="0" indent="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设散列表为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HT[13]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散列函数为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 (key) = key %13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对下列关键码序列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12, 23, 45, 57, 20, 03, 78, 31, 15, 36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造表。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采用线性探测再散列解决冲突，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画出相应的散列表，并计算等概率下搜索成功的平均搜索长度和搜索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失败的平均搜索长度。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采用再散列法解决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冲突，再散列函数为：</a:t>
            </a:r>
            <a:endParaRPr lang="zh-CN" altLang="en-US" sz="2200" i="1" dirty="0">
              <a:solidFill>
                <a:schemeClr val="tx1"/>
              </a:solidFill>
              <a:latin typeface="+mn-cs"/>
            </a:endParaRPr>
          </a:p>
          <a:p>
            <a:pPr marL="457200" lvl="1" indent="45720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2200" i="1" dirty="0">
                <a:solidFill>
                  <a:srgbClr val="FF0000"/>
                </a:solidFill>
                <a:latin typeface="+mn-cs"/>
              </a:rPr>
              <a:t>RH (key) = (7*key) % 10 + 1</a:t>
            </a:r>
            <a:endParaRPr lang="en-US" altLang="zh-CN" sz="2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45720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寻找下一个空位的公式为：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45720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200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(H</a:t>
            </a:r>
            <a:r>
              <a:rPr lang="en-US" altLang="zh-CN" sz="2200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i-1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+ RH (key)) % 13, </a:t>
            </a:r>
            <a:r>
              <a:rPr lang="en-US" altLang="zh-CN" sz="22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200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H (key)</a:t>
            </a:r>
            <a:endParaRPr lang="zh-CN" altLang="en-US" sz="22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45720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画出相应的散列表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并计算等概率下搜索成功的平均搜索长度。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Contents</a:t>
            </a:r>
            <a:endParaRPr lang="en-US" altLang="zh-CN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470" y="1176020"/>
            <a:ext cx="8355330" cy="5401945"/>
          </a:xfrm>
        </p:spPr>
        <p:txBody>
          <a:bodyPr/>
          <a:lstStyle/>
          <a:p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Definition of searching (Retrieval)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Static searching table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Dynamic searching table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Hash table</a:t>
            </a: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Searching efficiency analysis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Conclusion</a:t>
            </a:r>
            <a:endParaRPr lang="en-US" altLang="zh-CN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449580" y="1057275"/>
            <a:ext cx="8237220" cy="541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00B0F0"/>
              </a:buClr>
              <a:buFont typeface="+mj-lt"/>
              <a:buAutoNum type="arabicPeriod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静态字典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（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）顺序表示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A.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顺序检索：简单，常用于未排序元素的检索，但检索效率不高；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B.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二分法检索：仅用于排序元素，检索效率较高，当插入、删除运算时会引起大量数据的移动。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C.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二叉判定树：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平均检索长度为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O(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log</a:t>
            </a:r>
            <a:r>
              <a:rPr kumimoji="1" lang="en-US" altLang="zh-CN" sz="2000" baseline="-30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1" lang="en-US" altLang="zh-CN" sz="2000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（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）散列表示：检索操作达到近乎随机存取的速度。但散列表经常出现碰撞与堆积现象，增加了检索长度。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8.7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字典的各种表示的比较 </a:t>
            </a:r>
            <a:endParaRPr lang="zh-CN" altLang="en-US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8.7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字典的各种表示的比较</a:t>
            </a:r>
            <a:endParaRPr lang="zh-CN" altLang="en-US"/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478790" y="1066800"/>
            <a:ext cx="838454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457200" indent="-457200" eaLnBrk="0" hangingPunct="0">
              <a:lnSpc>
                <a:spcPct val="100000"/>
              </a:lnSpc>
              <a:spcBef>
                <a:spcPct val="50000"/>
              </a:spcBef>
              <a:buClr>
                <a:srgbClr val="00B0F0"/>
              </a:buClr>
              <a:buFont typeface="+mj-lt"/>
              <a:buAutoNum type="arabicPeriod" startAt="2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动态字典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二叉排序树：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+mn-ea"/>
              </a:rPr>
              <a:t>元素插入次序不同，会构成不同的二叉排序树。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平衡二叉树（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AVL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）：维持较高的检索效率。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indent="0" algn="l" eaLnBrk="0" hangingPunct="0">
              <a:lnSpc>
                <a:spcPct val="130000"/>
              </a:lnSpc>
              <a:spcBef>
                <a:spcPct val="50000"/>
              </a:spcBef>
              <a:buClr>
                <a:srgbClr val="00B0F0"/>
              </a:buClr>
              <a:buSzTx/>
              <a:buFont typeface="+mj-lt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B树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B+树：对于较大的必须存放在外存贮器上的字典，应采用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树或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B+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树表示。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B+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树是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树的变种。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树和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B+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树都能动态地调整，保持均衡，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从而使动态字典保持较高的检索效率。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57200" indent="-457200" algn="l" eaLnBrk="0" hangingPunct="0">
              <a:lnSpc>
                <a:spcPct val="110000"/>
              </a:lnSpc>
              <a:spcBef>
                <a:spcPct val="50000"/>
              </a:spcBef>
              <a:buClr>
                <a:srgbClr val="00B0F0"/>
              </a:buClr>
              <a:buSzTx/>
              <a:buFont typeface="+mj-lt"/>
              <a:buAutoNum type="arabicPeriod" startAt="3"/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其它字典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键树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Trie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Tree)</a:t>
            </a:r>
            <a:endParaRPr kumimoji="1"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Splay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树</a:t>
            </a:r>
            <a:endParaRPr kumimoji="1"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红黑树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(Red-Black Tree)</a:t>
            </a:r>
            <a:endParaRPr kumimoji="1"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字典树 </a:t>
            </a:r>
            <a:r>
              <a:rPr kumimoji="1" lang="en-US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(Vocabulary Tree)</a:t>
            </a:r>
            <a:endParaRPr kumimoji="1" lang="en-US" altLang="zh-CN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Assignments</a:t>
            </a:r>
            <a:endParaRPr lang="en-US" altLang="zh-CN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570" y="1019810"/>
            <a:ext cx="8190230" cy="555815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cs typeface="Times New Roman" panose="02020603050405020304" pitchFamily="18" charset="0"/>
                <a:sym typeface="+mn-ea"/>
              </a:rPr>
              <a:t>头歌第</a:t>
            </a:r>
            <a:r>
              <a:rPr lang="zh-CN" altLang="en-US" sz="2800" dirty="0">
                <a:solidFill>
                  <a:schemeClr val="dk1"/>
                </a:solidFill>
                <a:cs typeface="Times New Roman" panose="02020603050405020304" pitchFamily="18" charset="0"/>
                <a:sym typeface="+mn-ea"/>
              </a:rPr>
              <a:t>八章作业</a:t>
            </a:r>
            <a:endParaRPr lang="zh-CN" altLang="en-US" sz="2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构造哈希表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二叉排序树的判别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二叉排序树的插入和删除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二叉排序树的合并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solidFill>
                  <a:schemeClr val="accent1"/>
                </a:solidFill>
              </a:rPr>
              <a:t>P55 9.5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solidFill>
                  <a:schemeClr val="accent1"/>
                </a:solidFill>
              </a:rPr>
              <a:t>P56</a:t>
            </a:r>
            <a:r>
              <a:rPr lang="en-US" altLang="zh-CN" sz="2400" dirty="0">
                <a:solidFill>
                  <a:schemeClr val="accent1"/>
                </a:solidFill>
              </a:rPr>
              <a:t> 9.11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solidFill>
                  <a:schemeClr val="accent1"/>
                </a:solidFill>
              </a:rPr>
              <a:t>P57</a:t>
            </a:r>
            <a:r>
              <a:rPr lang="en-US" altLang="zh-CN" sz="2400" dirty="0">
                <a:solidFill>
                  <a:schemeClr val="accent1"/>
                </a:solidFill>
              </a:rPr>
              <a:t> 9.19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solidFill>
                  <a:schemeClr val="accent1"/>
                </a:solidFill>
              </a:rPr>
              <a:t>P58</a:t>
            </a:r>
            <a:r>
              <a:rPr lang="en-US" altLang="zh-CN" sz="2400" dirty="0">
                <a:solidFill>
                  <a:schemeClr val="accent1"/>
                </a:solidFill>
              </a:rPr>
              <a:t> 9.31 9.33 9.35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 err="1">
                <a:solidFill>
                  <a:schemeClr val="accent1"/>
                </a:solidFill>
              </a:rPr>
              <a:t>P59</a:t>
            </a:r>
            <a:r>
              <a:rPr lang="en-US" altLang="zh-CN" sz="2400" dirty="0">
                <a:solidFill>
                  <a:schemeClr val="accent1"/>
                </a:solidFill>
              </a:rPr>
              <a:t> 9.38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ffectLst/>
              </a:rPr>
              <a:t>小结</a:t>
            </a:r>
            <a:endParaRPr lang="zh-CN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230" y="1019810"/>
            <a:ext cx="8243570" cy="555815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</a:rPr>
              <a:t>查找的概念</a:t>
            </a:r>
            <a:endParaRPr lang="zh-CN" altLang="en-US" sz="280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</a:rPr>
              <a:t>查找的意义</a:t>
            </a:r>
            <a:endParaRPr lang="zh-CN" altLang="en-US" sz="280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</a:rPr>
              <a:t>查找表的设计</a:t>
            </a:r>
            <a:endParaRPr lang="zh-CN" altLang="en-US" sz="280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</a:rPr>
              <a:t>查找的性能分析</a:t>
            </a:r>
            <a:endParaRPr lang="zh-CN" altLang="en-US" sz="2800">
              <a:solidFill>
                <a:schemeClr val="accent1"/>
              </a:solidFill>
            </a:endParaRPr>
          </a:p>
          <a:p>
            <a:endParaRPr lang="zh-CN" altLang="en-US"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COMMONDATA" val="eyJoZGlkIjoiZjVhM2RlMmM2M2YzNzUyZGQzMTAwZTU3MGUyMjdjYTQifQ=="/>
  <p:tag name="commondata" val="eyJoZGlkIjoiZWQ1YzRkOGVmY2I5MThlMjIyOTQ0NDAyOTkxNTNkN2IifQ=="/>
</p:tagLst>
</file>

<file path=ppt/theme/theme1.xml><?xml version="1.0" encoding="utf-8"?>
<a:theme xmlns:a="http://schemas.openxmlformats.org/drawingml/2006/main" name="2_Orbit">
  <a:themeElements>
    <a:clrScheme name="">
      <a:dk1>
        <a:srgbClr val="000000"/>
      </a:dk1>
      <a:lt1>
        <a:srgbClr val="FFFFFF"/>
      </a:lt1>
      <a:dk2>
        <a:srgbClr val="E8EEF2"/>
      </a:dk2>
      <a:lt2>
        <a:srgbClr val="F9FAFB"/>
      </a:lt2>
      <a:accent1>
        <a:srgbClr val="2B4663"/>
      </a:accent1>
      <a:accent2>
        <a:srgbClr val="5C7885"/>
      </a:accent2>
      <a:accent3>
        <a:srgbClr val="94ACBC"/>
      </a:accent3>
      <a:accent4>
        <a:srgbClr val="B9CAE1"/>
      </a:accent4>
      <a:accent5>
        <a:srgbClr val="97ABBD"/>
      </a:accent5>
      <a:accent6>
        <a:srgbClr val="3B606F"/>
      </a:accent6>
      <a:hlink>
        <a:srgbClr val="5FCBFB"/>
      </a:hlink>
      <a:folHlink>
        <a:srgbClr val="B759BC"/>
      </a:folHlink>
    </a:clrScheme>
    <a:fontScheme name="Orbit">
      <a:majorFont>
        <a:latin typeface="Arial"/>
        <a:ea typeface="幼圆"/>
        <a:cs typeface="Arial"/>
      </a:majorFont>
      <a:minorFont>
        <a:latin typeface="Arial"/>
        <a:ea typeface="幼圆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7406</Words>
  <Application>WPS 演示</Application>
  <PresentationFormat>宽屏</PresentationFormat>
  <Paragraphs>417</Paragraphs>
  <Slides>32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32</vt:i4>
      </vt:variant>
    </vt:vector>
  </HeadingPairs>
  <TitlesOfParts>
    <vt:vector size="55" baseType="lpstr">
      <vt:lpstr>Arial</vt:lpstr>
      <vt:lpstr>宋体</vt:lpstr>
      <vt:lpstr>Wingdings</vt:lpstr>
      <vt:lpstr>幼圆</vt:lpstr>
      <vt:lpstr>Times New Roman</vt:lpstr>
      <vt:lpstr>黑体</vt:lpstr>
      <vt:lpstr>Wingdings</vt:lpstr>
      <vt:lpstr>隶书</vt:lpstr>
      <vt:lpstr>Arial</vt:lpstr>
      <vt:lpstr>微软雅黑</vt:lpstr>
      <vt:lpstr>Arial Unicode MS</vt:lpstr>
      <vt:lpstr>Calibri</vt:lpstr>
      <vt:lpstr>Symbol</vt:lpstr>
      <vt:lpstr>Cambria Math</vt:lpstr>
      <vt:lpstr>MS Mincho</vt:lpstr>
      <vt:lpstr>Consolas</vt:lpstr>
      <vt:lpstr>2_Orbit</vt:lpstr>
      <vt:lpstr>Equation.DSMT4</vt:lpstr>
      <vt:lpstr>Equation.DSMT4</vt:lpstr>
      <vt:lpstr>Equation.3</vt:lpstr>
      <vt:lpstr>Equation.3</vt:lpstr>
      <vt:lpstr>Equation.3</vt:lpstr>
      <vt:lpstr>Equation.3</vt:lpstr>
      <vt:lpstr>Chapter 08 Searching 第八章 查找</vt:lpstr>
      <vt:lpstr>本章学习的线索</vt:lpstr>
      <vt:lpstr>Contents</vt:lpstr>
      <vt:lpstr>8.6 哈希表(Hash Table)</vt:lpstr>
      <vt:lpstr>8.6.1 哈希表的定义</vt:lpstr>
      <vt:lpstr>8.6.1 哈希表的定义</vt:lpstr>
      <vt:lpstr>8.6.2 哈希函数的构造方法</vt:lpstr>
      <vt:lpstr>8.6.2 哈希函数的构造方法</vt:lpstr>
      <vt:lpstr>例（1）</vt:lpstr>
      <vt:lpstr>例（2）</vt:lpstr>
      <vt:lpstr>8.6.2 哈希函数的构造方法</vt:lpstr>
      <vt:lpstr>8.6.3 冲突处理方法</vt:lpstr>
      <vt:lpstr>8.6.3 冲突处理方法</vt:lpstr>
      <vt:lpstr>例（1）</vt:lpstr>
      <vt:lpstr>例（1）</vt:lpstr>
      <vt:lpstr>例（2）</vt:lpstr>
      <vt:lpstr>例（2）</vt:lpstr>
      <vt:lpstr>例（2）</vt:lpstr>
      <vt:lpstr>例（3）</vt:lpstr>
      <vt:lpstr>例（3）</vt:lpstr>
      <vt:lpstr>例（4）</vt:lpstr>
      <vt:lpstr>8.6.4 哈希表的查找和分析</vt:lpstr>
      <vt:lpstr>PowerPoint 演示文稿</vt:lpstr>
      <vt:lpstr>PowerPoint 演示文稿</vt:lpstr>
      <vt:lpstr>8.6.4 哈希表的查找和分析</vt:lpstr>
      <vt:lpstr>结论</vt:lpstr>
      <vt:lpstr>练习</vt:lpstr>
      <vt:lpstr>Contents</vt:lpstr>
      <vt:lpstr>8.7 字典的各种表示的比较 </vt:lpstr>
      <vt:lpstr>8.7 字典的各种表示的比较</vt:lpstr>
      <vt:lpstr>Assignments (7)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</dc:creator>
  <cp:lastModifiedBy>王犇</cp:lastModifiedBy>
  <cp:revision>462</cp:revision>
  <dcterms:created xsi:type="dcterms:W3CDTF">2019-06-19T02:08:00Z</dcterms:created>
  <dcterms:modified xsi:type="dcterms:W3CDTF">2026-05-21T09:46:29Z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ECD2649BF67C4413A73376E89FA200B9_11</vt:lpwstr>
  </property>
</Properties>
</file>