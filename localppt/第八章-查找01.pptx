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477" r:id="rId3"/>
    <p:sldId id="567" r:id="rId4"/>
    <p:sldId id="568" r:id="rId5"/>
    <p:sldId id="569" r:id="rId6"/>
    <p:sldId id="639" r:id="rId7"/>
    <p:sldId id="570" r:id="rId8"/>
    <p:sldId id="571" r:id="rId9"/>
    <p:sldId id="572" r:id="rId10"/>
    <p:sldId id="573" r:id="rId11"/>
    <p:sldId id="574" r:id="rId12"/>
    <p:sldId id="575" r:id="rId13"/>
    <p:sldId id="686" r:id="rId14"/>
    <p:sldId id="576" r:id="rId15"/>
    <p:sldId id="577" r:id="rId16"/>
    <p:sldId id="578" r:id="rId17"/>
    <p:sldId id="579" r:id="rId18"/>
    <p:sldId id="580" r:id="rId19"/>
    <p:sldId id="581" r:id="rId20"/>
    <p:sldId id="582" r:id="rId21"/>
    <p:sldId id="583" r:id="rId22"/>
    <p:sldId id="584" r:id="rId23"/>
    <p:sldId id="586" r:id="rId25"/>
    <p:sldId id="585" r:id="rId26"/>
    <p:sldId id="587" r:id="rId27"/>
    <p:sldId id="588" r:id="rId28"/>
    <p:sldId id="589" r:id="rId29"/>
    <p:sldId id="640" r:id="rId30"/>
    <p:sldId id="590" r:id="rId31"/>
    <p:sldId id="591" r:id="rId32"/>
    <p:sldId id="615" r:id="rId33"/>
    <p:sldId id="592" r:id="rId34"/>
    <p:sldId id="593" r:id="rId35"/>
    <p:sldId id="594" r:id="rId36"/>
    <p:sldId id="595" r:id="rId37"/>
    <p:sldId id="685" r:id="rId38"/>
    <p:sldId id="597" r:id="rId39"/>
    <p:sldId id="598" r:id="rId40"/>
    <p:sldId id="599" r:id="rId41"/>
    <p:sldId id="600" r:id="rId42"/>
    <p:sldId id="601" r:id="rId43"/>
    <p:sldId id="603" r:id="rId44"/>
    <p:sldId id="602" r:id="rId45"/>
    <p:sldId id="604" r:id="rId46"/>
    <p:sldId id="605" r:id="rId47"/>
    <p:sldId id="606" r:id="rId48"/>
    <p:sldId id="607" r:id="rId49"/>
    <p:sldId id="608" r:id="rId50"/>
    <p:sldId id="609" r:id="rId51"/>
    <p:sldId id="610" r:id="rId52"/>
    <p:sldId id="611" r:id="rId53"/>
    <p:sldId id="612" r:id="rId54"/>
    <p:sldId id="613" r:id="rId55"/>
    <p:sldId id="614" r:id="rId56"/>
  </p:sldIdLst>
  <p:sldSz cx="9144000" cy="6858000" type="screen4x3"/>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8" userDrawn="1">
          <p15:clr>
            <a:srgbClr val="A4A3A4"/>
          </p15:clr>
        </p15:guide>
        <p15:guide id="2" pos="29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68"/>
        <p:guide pos="29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gs" Target="tags/tag5.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79E4F37-784C-47E3-88E7-9455E516655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87120"/>
            <a:ext cx="8229600" cy="53975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1141095" y="635"/>
            <a:ext cx="7545705" cy="885190"/>
          </a:xfrm>
        </p:spPr>
        <p:txBody>
          <a:bodyPr anchor="ctr" anchorCtr="0"/>
          <a:lstStyle>
            <a:lvl1pPr algn="l">
              <a:defRPr sz="3200">
                <a:solidFill>
                  <a:schemeClr val="bg1"/>
                </a:solidFill>
              </a:defRPr>
            </a:lvl1p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0639BCA4-5DF8-4F2B-A77F-EEFEEEEEFCF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44925D7E-B542-4D39-911F-9C66EB3EF7C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45847812-3FFE-4E5B-AE0A-6A412ED8120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image" Target="../media/image1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4.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ctrTitle"/>
          </p:nvPr>
        </p:nvSpPr>
        <p:spPr>
          <a:xfrm>
            <a:off x="685800" y="1572260"/>
            <a:ext cx="7772400" cy="1856740"/>
          </a:xfrm>
        </p:spPr>
        <p:txBody>
          <a:bodyPr/>
          <a:lstStyle/>
          <a:p>
            <a:pPr>
              <a:lnSpc>
                <a:spcPct val="130000"/>
              </a:lnSpc>
            </a:pPr>
            <a:r>
              <a:rPr lang="en-US" altLang="zh-CN" dirty="0">
                <a:solidFill>
                  <a:schemeClr val="accent1"/>
                </a:solidFill>
                <a:ea typeface="黑体" panose="02010609060101010101" pitchFamily="2" charset="-122"/>
              </a:rPr>
              <a:t>Chapter 08 </a:t>
            </a:r>
            <a:r>
              <a:rPr lang="en-US" altLang="zh-CN" dirty="0">
                <a:solidFill>
                  <a:schemeClr val="accent1"/>
                </a:solidFill>
                <a:ea typeface="黑体" panose="02010609060101010101" pitchFamily="2" charset="-122"/>
                <a:sym typeface="+mn-ea"/>
              </a:rPr>
              <a:t>Searching</a:t>
            </a:r>
            <a:br>
              <a:rPr lang="en-US" altLang="zh-CN" dirty="0">
                <a:solidFill>
                  <a:schemeClr val="accent1"/>
                </a:solidFill>
                <a:ea typeface="黑体" panose="02010609060101010101" pitchFamily="2" charset="-122"/>
              </a:rPr>
            </a:br>
            <a:r>
              <a:rPr kumimoji="1" lang="zh-CN" altLang="en-US" sz="2700" dirty="0">
                <a:solidFill>
                  <a:schemeClr val="accent1"/>
                </a:solidFill>
                <a:ea typeface="黑体" panose="02010609060101010101" pitchFamily="2" charset="-122"/>
              </a:rPr>
              <a:t>第八章 查找</a:t>
            </a:r>
            <a:endParaRPr kumimoji="1" lang="zh-CN" altLang="en-US" sz="2700" dirty="0">
              <a:solidFill>
                <a:schemeClr val="accent1"/>
              </a:solidFill>
              <a:ea typeface="黑体" panose="02010609060101010101" pitchFamily="2" charset="-122"/>
            </a:endParaRPr>
          </a:p>
        </p:txBody>
      </p:sp>
      <p:sp>
        <p:nvSpPr>
          <p:cNvPr id="125957" name="Rectangle 5"/>
          <p:cNvSpPr>
            <a:spLocks noGrp="1" noChangeArrowheads="1"/>
          </p:cNvSpPr>
          <p:nvPr>
            <p:ph type="subTitle" idx="1"/>
            <p:custDataLst>
              <p:tags r:id="rId1"/>
            </p:custDataLst>
          </p:nvPr>
        </p:nvSpPr>
        <p:spPr/>
        <p:txBody>
          <a:bodyPr/>
          <a:lstStyle/>
          <a:p>
            <a:pPr>
              <a:lnSpc>
                <a:spcPct val="130000"/>
              </a:lnSpc>
            </a:pPr>
            <a:r>
              <a:rPr lang="zh-CN" altLang="en-US" dirty="0">
                <a:solidFill>
                  <a:schemeClr val="dk1"/>
                </a:solidFill>
                <a:latin typeface="黑体" panose="02010609060101010101" pitchFamily="2" charset="-122"/>
                <a:ea typeface="黑体" panose="02010609060101010101" pitchFamily="2" charset="-122"/>
              </a:rPr>
              <a:t>王犇</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wben@nwpu.edu.cn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8" name="Rectangle 4"/>
          <p:cNvSpPr>
            <a:spLocks noGrp="1" noChangeArrowheads="1"/>
          </p:cNvSpPr>
          <p:nvPr>
            <p:ph type="title"/>
          </p:nvPr>
        </p:nvSpPr>
        <p:spPr>
          <a:noFill/>
        </p:spPr>
        <p:txBody>
          <a:bodyPr>
            <a:scene3d>
              <a:camera prst="orthographicFront"/>
              <a:lightRig rig="threePt" dir="t"/>
            </a:scene3d>
          </a:bodyPr>
          <a:lstStyle/>
          <a:p>
            <a:r>
              <a:rPr lang="zh-CN" altLang="en-US" b="1">
                <a:solidFill>
                  <a:schemeClr val="bg1"/>
                </a:solidFill>
                <a:effectLst>
                  <a:outerShdw blurRad="38100" dist="25400" dir="5400000" algn="ctr" rotWithShape="0">
                    <a:srgbClr val="6E747A">
                      <a:alpha val="43000"/>
                    </a:srgbClr>
                  </a:outerShdw>
                </a:effectLst>
              </a:rPr>
              <a:t>本章学习线索</a:t>
            </a:r>
            <a:endParaRPr lang="zh-CN" altLang="en-US" b="1">
              <a:solidFill>
                <a:schemeClr val="bg1"/>
              </a:solidFill>
              <a:effectLst>
                <a:outerShdw blurRad="38100" dist="25400" dir="5400000" algn="ctr" rotWithShape="0">
                  <a:srgbClr val="6E747A">
                    <a:alpha val="43000"/>
                  </a:srgbClr>
                </a:outerShdw>
              </a:effectLst>
            </a:endParaRPr>
          </a:p>
        </p:txBody>
      </p:sp>
      <p:sp>
        <p:nvSpPr>
          <p:cNvPr id="236549" name="Rectangle 5"/>
          <p:cNvSpPr>
            <a:spLocks noGrp="1" noChangeArrowheads="1"/>
          </p:cNvSpPr>
          <p:nvPr>
            <p:ph type="body" idx="1"/>
          </p:nvPr>
        </p:nvSpPr>
        <p:spPr>
          <a:xfrm>
            <a:off x="474980" y="1146810"/>
            <a:ext cx="8079740" cy="5248910"/>
          </a:xfrm>
          <a:noFill/>
        </p:spPr>
        <p:txBody>
          <a:bodyPr/>
          <a:lstStyle/>
          <a:p>
            <a:pPr>
              <a:lnSpc>
                <a:spcPct val="110000"/>
              </a:lnSpc>
            </a:pPr>
            <a:r>
              <a:rPr lang="zh-CN" altLang="en-US" sz="2400">
                <a:latin typeface="Times New Roman" panose="02020603050405020304" pitchFamily="18" charset="0"/>
                <a:cs typeface="Times New Roman" panose="02020603050405020304" pitchFamily="18" charset="0"/>
              </a:rPr>
              <a:t>主要线索</a:t>
            </a: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重点</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静态查找表：顺序查找，二分查找，索引查找</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动态查找表：概念和方法</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哈希查找表：概念和策略</a:t>
            </a: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 难点 </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二叉排序树和二叉平衡树</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树和</a:t>
            </a:r>
            <a:r>
              <a:rPr lang="en-US" altLang="zh-CN" sz="2400">
                <a:latin typeface="Times New Roman" panose="02020603050405020304" pitchFamily="18" charset="0"/>
                <a:cs typeface="Times New Roman" panose="02020603050405020304" pitchFamily="18" charset="0"/>
              </a:rPr>
              <a:t>B</a:t>
            </a:r>
            <a:r>
              <a:rPr lang="en-US" altLang="zh-CN" sz="2400" baseline="300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树</a:t>
            </a:r>
            <a:endParaRPr lang="zh-CN" altLang="en-US" sz="2400">
              <a:latin typeface="Times New Roman" panose="02020603050405020304" pitchFamily="18" charset="0"/>
              <a:cs typeface="Times New Roman" panose="02020603050405020304" pitchFamily="18" charset="0"/>
            </a:endParaRPr>
          </a:p>
        </p:txBody>
      </p:sp>
      <p:sp>
        <p:nvSpPr>
          <p:cNvPr id="236550" name="Text Box 6"/>
          <p:cNvSpPr txBox="1">
            <a:spLocks noChangeArrowheads="1"/>
          </p:cNvSpPr>
          <p:nvPr/>
        </p:nvSpPr>
        <p:spPr bwMode="auto">
          <a:xfrm>
            <a:off x="861060" y="1876425"/>
            <a:ext cx="1418590"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lang="zh-CN" altLang="en-US" sz="1600" b="1">
                <a:ea typeface="幼圆" panose="02010509060101010101" pitchFamily="49" charset="-122"/>
              </a:rPr>
              <a:t>查找的概念及一般方法</a:t>
            </a:r>
            <a:endParaRPr lang="zh-CN" altLang="en-US" sz="1600" b="1">
              <a:ea typeface="幼圆" panose="02010509060101010101" pitchFamily="49" charset="-122"/>
            </a:endParaRPr>
          </a:p>
        </p:txBody>
      </p:sp>
      <p:sp>
        <p:nvSpPr>
          <p:cNvPr id="236551" name="Text Box 7"/>
          <p:cNvSpPr txBox="1">
            <a:spLocks noChangeArrowheads="1"/>
          </p:cNvSpPr>
          <p:nvPr/>
        </p:nvSpPr>
        <p:spPr bwMode="auto">
          <a:xfrm>
            <a:off x="2715260" y="1774190"/>
            <a:ext cx="145542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buClrTx/>
              <a:buSzTx/>
              <a:buFontTx/>
            </a:pPr>
            <a:r>
              <a:rPr lang="zh-CN" altLang="en-US" sz="1600" b="1">
                <a:ea typeface="幼圆" panose="02010509060101010101" pitchFamily="49" charset="-122"/>
              </a:rPr>
              <a:t>静态查找表</a:t>
            </a:r>
            <a:endParaRPr lang="zh-CN" altLang="en-US" sz="1600" b="1">
              <a:ea typeface="幼圆" panose="02010509060101010101" pitchFamily="49" charset="-122"/>
            </a:endParaRPr>
          </a:p>
          <a:p>
            <a:pPr algn="ctr">
              <a:buClrTx/>
              <a:buSzTx/>
              <a:buFontTx/>
            </a:pPr>
            <a:r>
              <a:rPr lang="zh-CN" altLang="en-US" sz="1600" b="1">
                <a:ea typeface="幼圆" panose="02010509060101010101" pitchFamily="49" charset="-122"/>
              </a:rPr>
              <a:t>顺序，二分和索引查找</a:t>
            </a:r>
            <a:endParaRPr lang="zh-CN" altLang="en-US" sz="1600" b="1">
              <a:ea typeface="幼圆" panose="02010509060101010101" pitchFamily="49" charset="-122"/>
            </a:endParaRPr>
          </a:p>
        </p:txBody>
      </p:sp>
      <p:sp>
        <p:nvSpPr>
          <p:cNvPr id="236552" name="Text Box 8"/>
          <p:cNvSpPr txBox="1">
            <a:spLocks noChangeArrowheads="1"/>
          </p:cNvSpPr>
          <p:nvPr/>
        </p:nvSpPr>
        <p:spPr bwMode="auto">
          <a:xfrm>
            <a:off x="4606290" y="1630045"/>
            <a:ext cx="1880235" cy="107632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kumimoji="1" lang="zh-CN" altLang="en-US" sz="1600" b="1">
                <a:ea typeface="幼圆" panose="02010509060101010101" pitchFamily="49" charset="-122"/>
              </a:rPr>
              <a:t>动态查找表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二叉排序树</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二叉平衡树</a:t>
            </a:r>
            <a:endParaRPr lang="zh-CN" altLang="en-US" sz="1600" b="1">
              <a:ea typeface="幼圆" panose="02010509060101010101" pitchFamily="49" charset="-122"/>
            </a:endParaRPr>
          </a:p>
          <a:p>
            <a:pPr algn="ctr"/>
            <a:r>
              <a:rPr kumimoji="1" lang="en-US" altLang="zh-CN" sz="1600" b="1">
                <a:ea typeface="幼圆" panose="02010509060101010101" pitchFamily="49" charset="-122"/>
              </a:rPr>
              <a:t>B</a:t>
            </a:r>
            <a:r>
              <a:rPr kumimoji="1" lang="zh-CN" altLang="en-US" sz="1600" b="1">
                <a:ea typeface="幼圆" panose="02010509060101010101" pitchFamily="49" charset="-122"/>
              </a:rPr>
              <a:t>树和</a:t>
            </a:r>
            <a:r>
              <a:rPr kumimoji="1" lang="en-US" altLang="zh-CN" sz="1600" b="1">
                <a:ea typeface="幼圆" panose="02010509060101010101" pitchFamily="49" charset="-122"/>
              </a:rPr>
              <a:t>B</a:t>
            </a:r>
            <a:r>
              <a:rPr kumimoji="1" lang="en-US" altLang="zh-CN" sz="1600" b="1" baseline="30000">
                <a:ea typeface="幼圆" panose="02010509060101010101" pitchFamily="49" charset="-122"/>
              </a:rPr>
              <a:t>+</a:t>
            </a:r>
            <a:r>
              <a:rPr kumimoji="1" lang="zh-CN" altLang="en-US" sz="1600" b="1">
                <a:ea typeface="幼圆" panose="02010509060101010101" pitchFamily="49" charset="-122"/>
              </a:rPr>
              <a:t>树</a:t>
            </a:r>
            <a:endParaRPr kumimoji="1" lang="zh-CN" altLang="en-US" sz="1600" b="1">
              <a:ea typeface="幼圆" panose="02010509060101010101" pitchFamily="49" charset="-122"/>
            </a:endParaRPr>
          </a:p>
        </p:txBody>
      </p:sp>
      <p:sp>
        <p:nvSpPr>
          <p:cNvPr id="236553" name="Text Box 9"/>
          <p:cNvSpPr txBox="1">
            <a:spLocks noChangeArrowheads="1"/>
          </p:cNvSpPr>
          <p:nvPr/>
        </p:nvSpPr>
        <p:spPr bwMode="auto">
          <a:xfrm>
            <a:off x="6922135" y="1809115"/>
            <a:ext cx="170307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lstStyle/>
          <a:p>
            <a:pPr algn="ctr"/>
            <a:r>
              <a:rPr kumimoji="1" lang="zh-CN" altLang="en-US" sz="1600" b="1">
                <a:ea typeface="幼圆" panose="02010509060101010101" pitchFamily="49" charset="-122"/>
              </a:rPr>
              <a:t>哈希查找表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哈希函数</a:t>
            </a:r>
            <a:endParaRPr kumimoji="1" lang="zh-CN" altLang="en-US" sz="1600" b="1">
              <a:ea typeface="幼圆" panose="02010509060101010101" pitchFamily="49" charset="-122"/>
            </a:endParaRPr>
          </a:p>
          <a:p>
            <a:pPr algn="ctr"/>
            <a:r>
              <a:rPr lang="zh-CN" altLang="en-US" sz="1600" b="1">
                <a:ea typeface="幼圆" panose="02010509060101010101" pitchFamily="49" charset="-122"/>
              </a:rPr>
              <a:t>冲突</a:t>
            </a:r>
            <a:r>
              <a:rPr kumimoji="1" lang="zh-CN" altLang="en-US" sz="1600" b="1">
                <a:ea typeface="幼圆" panose="02010509060101010101" pitchFamily="49" charset="-122"/>
              </a:rPr>
              <a:t>及解决策略</a:t>
            </a:r>
            <a:endParaRPr kumimoji="1" lang="zh-CN" altLang="en-US" sz="1600" b="1">
              <a:ea typeface="幼圆" panose="02010509060101010101" pitchFamily="49" charset="-122"/>
            </a:endParaRPr>
          </a:p>
        </p:txBody>
      </p:sp>
      <p:sp>
        <p:nvSpPr>
          <p:cNvPr id="236554" name="AutoShape 10"/>
          <p:cNvSpPr>
            <a:spLocks noChangeArrowheads="1"/>
          </p:cNvSpPr>
          <p:nvPr/>
        </p:nvSpPr>
        <p:spPr bwMode="auto">
          <a:xfrm>
            <a:off x="2335530"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236555" name="AutoShape 11"/>
          <p:cNvSpPr>
            <a:spLocks noChangeArrowheads="1"/>
          </p:cNvSpPr>
          <p:nvPr/>
        </p:nvSpPr>
        <p:spPr bwMode="auto">
          <a:xfrm>
            <a:off x="4226322"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236556" name="AutoShape 12"/>
          <p:cNvSpPr>
            <a:spLocks noChangeArrowheads="1"/>
          </p:cNvSpPr>
          <p:nvPr/>
        </p:nvSpPr>
        <p:spPr bwMode="auto">
          <a:xfrm>
            <a:off x="6535420" y="2143125"/>
            <a:ext cx="328295"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236558" name="Rectangle 14"/>
          <p:cNvSpPr>
            <a:spLocks noChangeArrowheads="1"/>
          </p:cNvSpPr>
          <p:nvPr/>
        </p:nvSpPr>
        <p:spPr bwMode="auto">
          <a:xfrm>
            <a:off x="5937012" y="3781981"/>
            <a:ext cx="1790700" cy="414020"/>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spAutoFit/>
            <a:scene3d>
              <a:camera prst="orthographicFront"/>
              <a:lightRig rig="threePt" dir="t"/>
            </a:scene3d>
          </a:bodyPr>
          <a:lstStyle/>
          <a:p>
            <a:r>
              <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rPr>
              <a:t>平均检索长度</a:t>
            </a:r>
            <a:endPar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Contents</a:t>
            </a:r>
            <a:endParaRPr lang="en-US" altLang="zh-CN">
              <a:solidFill>
                <a:schemeClr val="bg1"/>
              </a:solidFill>
              <a:effectLst>
                <a:outerShdw blurRad="38100" dist="25400" dir="5400000" algn="ctr" rotWithShape="0">
                  <a:srgbClr val="6E747A">
                    <a:alpha val="43000"/>
                  </a:srgbClr>
                </a:outerShdw>
              </a:effectLst>
            </a:endParaRPr>
          </a:p>
        </p:txBody>
      </p:sp>
      <p:sp>
        <p:nvSpPr>
          <p:cNvPr id="122883" name="Rectangle 3"/>
          <p:cNvSpPr>
            <a:spLocks noGrp="1" noChangeArrowheads="1"/>
          </p:cNvSpPr>
          <p:nvPr>
            <p:ph type="body" idx="1"/>
          </p:nvPr>
        </p:nvSpPr>
        <p:spPr/>
        <p:txBody>
          <a:bodyPr/>
          <a:lstStyle/>
          <a:p>
            <a:r>
              <a:rPr lang="en-US" altLang="zh-CN" dirty="0">
                <a:solidFill>
                  <a:srgbClr val="FF0000"/>
                </a:solidFill>
                <a:latin typeface="Times New Roman" panose="02020603050405020304" pitchFamily="18" charset="0"/>
                <a:cs typeface="Times New Roman" panose="02020603050405020304" pitchFamily="18" charset="0"/>
              </a:rPr>
              <a:t>Definition of searching (Retrieval)</a:t>
            </a:r>
            <a:endParaRPr lang="en-US"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Static searching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Dynamic searching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Hash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Searching efficiency analysis</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Conclusion</a:t>
            </a:r>
            <a:endParaRPr lang="en-US" altLang="zh-CN"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ext Box 7"/>
          <p:cNvSpPr txBox="1">
            <a:spLocks noChangeArrowheads="1"/>
          </p:cNvSpPr>
          <p:nvPr/>
        </p:nvSpPr>
        <p:spPr bwMode="auto">
          <a:xfrm>
            <a:off x="360680" y="996950"/>
            <a:ext cx="8325485" cy="1456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30000"/>
              </a:lnSpc>
              <a:spcBef>
                <a:spcPct val="50000"/>
              </a:spcBef>
              <a:buClr>
                <a:srgbClr val="00B0F0"/>
              </a:buClr>
              <a:buFont typeface="Wingdings" panose="05000000000000000000" charset="0"/>
              <a:buChar char="l"/>
            </a:pP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Searching table (Dictionary)</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查找表（字典）</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：元素的</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有穷集合</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，其中每个元素由两部分组成，分别称为元素的“</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关键码</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”和“属性”。字典中的两个元素能够根据其</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关键码进行比较</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082" name="Rectangle 10"/>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cs typeface="+mj-lt"/>
              </a:rPr>
              <a:t>8.1 </a:t>
            </a:r>
            <a:r>
              <a:rPr lang="en-US" altLang="zh-CN" dirty="0">
                <a:solidFill>
                  <a:schemeClr val="bg1"/>
                </a:solidFill>
                <a:cs typeface="+mj-lt"/>
                <a:sym typeface="+mn-ea"/>
              </a:rPr>
              <a:t>Definition of searching</a:t>
            </a:r>
            <a:endParaRPr lang="en-US" altLang="zh-CN" dirty="0">
              <a:solidFill>
                <a:schemeClr val="bg1"/>
              </a:solidFill>
              <a:effectLst>
                <a:outerShdw blurRad="38100" dist="25400" dir="5400000" algn="ctr" rotWithShape="0">
                  <a:srgbClr val="6E747A">
                    <a:alpha val="43000"/>
                  </a:srgbClr>
                </a:outerShdw>
              </a:effectLst>
              <a:cs typeface="+mj-lt"/>
              <a:sym typeface="+mn-ea"/>
            </a:endParaRPr>
          </a:p>
        </p:txBody>
      </p:sp>
      <p:sp>
        <p:nvSpPr>
          <p:cNvPr id="2" name="文本框 1"/>
          <p:cNvSpPr txBox="1"/>
          <p:nvPr/>
        </p:nvSpPr>
        <p:spPr>
          <a:xfrm>
            <a:off x="725170" y="2486025"/>
            <a:ext cx="7960995" cy="1751965"/>
          </a:xfrm>
          <a:prstGeom prst="rect">
            <a:avLst/>
          </a:prstGeom>
          <a:noFill/>
          <a:ln w="12700" cmpd="sng">
            <a:solidFill>
              <a:schemeClr val="accent1">
                <a:shade val="50000"/>
              </a:schemeClr>
            </a:solidFill>
            <a:prstDash val="solid"/>
          </a:ln>
        </p:spPr>
        <p:txBody>
          <a:bodyPr wrap="square" rtlCol="0">
            <a:spAutoFit/>
          </a:bodyPr>
          <a:p>
            <a:pPr>
              <a:lnSpc>
                <a:spcPct val="12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 </a:t>
            </a:r>
            <a:r>
              <a:rPr kumimoji="1" lang="en-US" altLang="zh-CN" dirty="0" err="1">
                <a:latin typeface="Consolas" panose="020B0609020204030204" charset="0"/>
                <a:ea typeface="幼圆" panose="02010509060101010101" pitchFamily="49" charset="-122"/>
                <a:cs typeface="Consolas" panose="020B0609020204030204" charset="0"/>
                <a:sym typeface="+mn-ea"/>
              </a:rPr>
              <a:t>tagItem</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sym typeface="+mn-ea"/>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b="1" dirty="0" err="1">
                <a:solidFill>
                  <a:srgbClr val="FF0000"/>
                </a:solidFill>
                <a:latin typeface="Consolas" panose="020B0609020204030204" charset="0"/>
                <a:ea typeface="幼圆" panose="02010509060101010101" pitchFamily="49" charset="-122"/>
                <a:cs typeface="Consolas" panose="020B0609020204030204" charset="0"/>
                <a:sym typeface="+mn-ea"/>
              </a:rPr>
              <a:t>KeyType</a:t>
            </a:r>
            <a:r>
              <a:rPr kumimoji="1" lang="en-US" altLang="zh-CN" b="1" dirty="0">
                <a:solidFill>
                  <a:srgbClr val="FF0000"/>
                </a:solidFill>
                <a:latin typeface="Consolas" panose="020B0609020204030204" charset="0"/>
                <a:ea typeface="幼圆" panose="02010509060101010101" pitchFamily="49" charset="-122"/>
                <a:cs typeface="Consolas" panose="020B0609020204030204" charset="0"/>
                <a:sym typeface="+mn-ea"/>
              </a:rPr>
              <a:t>  key</a:t>
            </a:r>
            <a:r>
              <a:rPr kumimoji="1" lang="en-US" altLang="zh-CN" dirty="0">
                <a:latin typeface="Consolas" panose="020B0609020204030204" charset="0"/>
                <a:ea typeface="幼圆" panose="02010509060101010101" pitchFamily="49" charset="-122"/>
                <a:cs typeface="Consolas" panose="020B0609020204030204" charset="0"/>
                <a:sym typeface="+mn-ea"/>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latin typeface="Consolas" panose="020B0609020204030204" charset="0"/>
                <a:ea typeface="幼圆" panose="02010509060101010101" pitchFamily="49" charset="-122"/>
                <a:cs typeface="Consolas" panose="020B0609020204030204" charset="0"/>
                <a:sym typeface="+mn-ea"/>
              </a:rPr>
              <a:t>struct</a:t>
            </a:r>
            <a:r>
              <a:rPr kumimoji="1" lang="en-US" altLang="zh-CN" dirty="0">
                <a:latin typeface="Consolas" panose="020B0609020204030204" charset="0"/>
                <a:ea typeface="幼圆" panose="02010509060101010101" pitchFamily="49" charset="-122"/>
                <a:cs typeface="Consolas" panose="020B0609020204030204" charset="0"/>
                <a:sym typeface="+mn-ea"/>
              </a:rPr>
              <a:t> Attribute  others;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sym typeface="+mn-ea"/>
              </a:rPr>
              <a:t>}Item;</a:t>
            </a:r>
            <a:endParaRPr kumimoji="1" lang="en-US" altLang="zh-CN" dirty="0">
              <a:latin typeface="Consolas" panose="020B0609020204030204" charset="0"/>
              <a:ea typeface="幼圆" panose="02010509060101010101" pitchFamily="49" charset="-122"/>
              <a:cs typeface="Consolas" panose="020B0609020204030204" charset="0"/>
              <a:sym typeface="+mn-ea"/>
            </a:endParaRPr>
          </a:p>
        </p:txBody>
      </p:sp>
      <p:sp>
        <p:nvSpPr>
          <p:cNvPr id="3" name="文本框 2"/>
          <p:cNvSpPr txBox="1"/>
          <p:nvPr/>
        </p:nvSpPr>
        <p:spPr>
          <a:xfrm>
            <a:off x="360045" y="4311650"/>
            <a:ext cx="8325485" cy="1610995"/>
          </a:xfrm>
          <a:prstGeom prst="rect">
            <a:avLst/>
          </a:prstGeom>
          <a:noFill/>
        </p:spPr>
        <p:txBody>
          <a:bodyPr wrap="square" rtlCol="0">
            <a:spAutoFit/>
          </a:bodyPr>
          <a:p>
            <a:pPr marL="285750" indent="-285750">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关键字的类型在实际操作时可以定义为需要的任何类型。</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endParaRPr>
          </a:p>
          <a:p>
            <a:pPr indent="0">
              <a:lnSpc>
                <a:spcPct val="130000"/>
              </a:lnSpc>
              <a:buClr>
                <a:srgbClr val="00B0F0"/>
              </a:buClr>
              <a:buFont typeface="Wingdings" panose="05000000000000000000" charset="0"/>
              <a:buNone/>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mn-ea"/>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如</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mn-ea"/>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  float</a:t>
            </a: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latin typeface="Consolas" panose="020B0609020204030204" charset="0"/>
                <a:ea typeface="幼圆" panose="02010509060101010101" pitchFamily="49" charset="-122"/>
                <a:cs typeface="Consolas" panose="020B0609020204030204" charset="0"/>
                <a:sym typeface="+mn-ea"/>
              </a:rPr>
              <a:t>KeyType</a:t>
            </a:r>
            <a:r>
              <a:rPr kumimoji="1" lang="en-US" altLang="zh-CN" dirty="0">
                <a:latin typeface="Consolas" panose="020B0609020204030204" charset="0"/>
                <a:ea typeface="幼圆" panose="02010509060101010101" pitchFamily="49" charset="-122"/>
                <a:cs typeface="Consolas" panose="020B0609020204030204" charset="0"/>
                <a:sym typeface="+mn-ea"/>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int</a:t>
            </a: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latin typeface="Consolas" panose="020B0609020204030204" charset="0"/>
                <a:ea typeface="幼圆" panose="02010509060101010101" pitchFamily="49" charset="-122"/>
                <a:cs typeface="Consolas" panose="020B0609020204030204" charset="0"/>
                <a:sym typeface="+mn-ea"/>
              </a:rPr>
              <a:t>KeyType</a:t>
            </a:r>
            <a:r>
              <a:rPr kumimoji="1" lang="en-US" altLang="zh-CN" dirty="0">
                <a:latin typeface="Consolas" panose="020B0609020204030204" charset="0"/>
                <a:ea typeface="幼圆" panose="02010509060101010101" pitchFamily="49" charset="-122"/>
                <a:cs typeface="Consolas" panose="020B0609020204030204" charset="0"/>
                <a:sym typeface="+mn-ea"/>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sym typeface="+mn-ea"/>
              </a:rPr>
              <a:t>  char*	</a:t>
            </a:r>
            <a:r>
              <a:rPr kumimoji="1" lang="en-US" altLang="zh-CN" dirty="0">
                <a:latin typeface="Consolas" panose="020B0609020204030204" charset="0"/>
                <a:ea typeface="幼圆" panose="02010509060101010101" pitchFamily="49" charset="-122"/>
                <a:cs typeface="Consolas" panose="020B0609020204030204" charset="0"/>
                <a:sym typeface="+mn-ea"/>
              </a:rPr>
              <a:t>	</a:t>
            </a:r>
            <a:r>
              <a:rPr kumimoji="1" lang="en-US" altLang="zh-CN" dirty="0" err="1">
                <a:latin typeface="Consolas" panose="020B0609020204030204" charset="0"/>
                <a:ea typeface="幼圆" panose="02010509060101010101" pitchFamily="49" charset="-122"/>
                <a:cs typeface="Consolas" panose="020B0609020204030204" charset="0"/>
                <a:sym typeface="+mn-ea"/>
              </a:rPr>
              <a:t>KeyType</a:t>
            </a:r>
            <a:r>
              <a:rPr kumimoji="1" lang="en-US" altLang="zh-CN" dirty="0">
                <a:latin typeface="Consolas" panose="020B0609020204030204" charset="0"/>
                <a:ea typeface="幼圆" panose="02010509060101010101" pitchFamily="49" charset="-122"/>
                <a:cs typeface="Consolas" panose="020B0609020204030204" charset="0"/>
                <a:sym typeface="+mn-ea"/>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Contents</a:t>
            </a:r>
            <a:endParaRPr lang="en-US" altLang="zh-CN">
              <a:solidFill>
                <a:schemeClr val="bg1"/>
              </a:solidFill>
              <a:effectLst>
                <a:outerShdw blurRad="38100" dist="25400" dir="5400000" algn="ctr" rotWithShape="0">
                  <a:srgbClr val="6E747A">
                    <a:alpha val="43000"/>
                  </a:srgbClr>
                </a:outerShdw>
              </a:effectLst>
            </a:endParaRPr>
          </a:p>
        </p:txBody>
      </p:sp>
      <p:sp>
        <p:nvSpPr>
          <p:cNvPr id="122883" name="Rectangle 3"/>
          <p:cNvSpPr>
            <a:spLocks noGrp="1" noChangeArrowheads="1"/>
          </p:cNvSpPr>
          <p:nvPr>
            <p:ph type="body" idx="1"/>
          </p:nvPr>
        </p:nvSpPr>
        <p:spPr/>
        <p:txBody>
          <a:bodyPr/>
          <a:lstStyle/>
          <a:p>
            <a:r>
              <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rPr>
              <a:t>Definition of searching (Retrieval)</a:t>
            </a:r>
            <a:endPar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lang="en-US" altLang="zh-CN" dirty="0">
                <a:solidFill>
                  <a:srgbClr val="FF0000"/>
                </a:solidFill>
                <a:latin typeface="Times New Roman" panose="02020603050405020304" pitchFamily="18" charset="0"/>
                <a:cs typeface="Times New Roman" panose="02020603050405020304" pitchFamily="18" charset="0"/>
              </a:rPr>
              <a:t>Static searching table</a:t>
            </a:r>
            <a:endParaRPr lang="en-US"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Dynamic searching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Hash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Searching efficiency analysis</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Conclusion</a:t>
            </a:r>
            <a:endParaRPr lang="en-US" altLang="zh-CN"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cs typeface="+mj-lt"/>
              </a:rPr>
              <a:t>8.2 </a:t>
            </a:r>
            <a:r>
              <a:rPr lang="en-US" altLang="zh-CN" dirty="0">
                <a:solidFill>
                  <a:schemeClr val="bg1"/>
                </a:solidFill>
                <a:cs typeface="+mj-lt"/>
                <a:sym typeface="+mn-ea"/>
              </a:rPr>
              <a:t>Static searching table</a:t>
            </a:r>
            <a:endParaRPr lang="en-US" altLang="zh-CN" dirty="0">
              <a:solidFill>
                <a:schemeClr val="bg1"/>
              </a:solidFill>
              <a:effectLst>
                <a:outerShdw blurRad="38100" dist="25400" dir="5400000" algn="ctr" rotWithShape="0">
                  <a:srgbClr val="6E747A">
                    <a:alpha val="43000"/>
                  </a:srgbClr>
                </a:outerShdw>
              </a:effectLst>
              <a:cs typeface="+mj-lt"/>
              <a:sym typeface="+mn-ea"/>
            </a:endParaRPr>
          </a:p>
        </p:txBody>
      </p:sp>
      <p:sp>
        <p:nvSpPr>
          <p:cNvPr id="2" name="文本框 1"/>
          <p:cNvSpPr txBox="1"/>
          <p:nvPr/>
        </p:nvSpPr>
        <p:spPr>
          <a:xfrm>
            <a:off x="535305" y="1039495"/>
            <a:ext cx="8151495" cy="5532755"/>
          </a:xfrm>
          <a:prstGeom prst="rect">
            <a:avLst/>
          </a:prstGeom>
          <a:noFill/>
        </p:spPr>
        <p:txBody>
          <a:bodyPr wrap="square" rtlCol="0">
            <a:noAutofit/>
          </a:bodyPr>
          <a:p>
            <a:pPr>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ADT </a:t>
            </a:r>
            <a:r>
              <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StaticSearchTable </a:t>
            </a:r>
            <a:r>
              <a:rPr lang="en-US" altLang="zh-CN"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数据对象D</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具有相同特性的数据元素的集合</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数据</a:t>
            </a:r>
            <a:r>
              <a:rPr lang="zh-CN" altLang="en-US" sz="1600">
                <a:latin typeface="Times New Roman" panose="02020603050405020304" pitchFamily="18" charset="0"/>
                <a:ea typeface="幼圆" panose="02010509060101010101" pitchFamily="49" charset="-122"/>
                <a:cs typeface="Times New Roman" panose="02020603050405020304" pitchFamily="18" charset="0"/>
              </a:rPr>
              <a:t>元素</a:t>
            </a:r>
            <a:r>
              <a:rPr lang="en-US" altLang="zh-CN" sz="1600">
                <a:latin typeface="Times New Roman" panose="02020603050405020304" pitchFamily="18" charset="0"/>
                <a:ea typeface="幼圆" panose="02010509060101010101" pitchFamily="49" charset="-122"/>
                <a:cs typeface="Times New Roman" panose="02020603050405020304" pitchFamily="18" charset="0"/>
              </a:rPr>
              <a:t>均含有类型相同</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可惟一标识数据元素的关键</a:t>
            </a:r>
            <a:r>
              <a:rPr lang="zh-CN" altLang="en-US" sz="1600">
                <a:latin typeface="Times New Roman" panose="02020603050405020304" pitchFamily="18" charset="0"/>
                <a:ea typeface="幼圆" panose="02010509060101010101" pitchFamily="49" charset="-122"/>
                <a:cs typeface="Times New Roman" panose="02020603050405020304" pitchFamily="18" charset="0"/>
              </a:rPr>
              <a:t>字</a:t>
            </a:r>
            <a:r>
              <a:rPr lang="en-US" altLang="zh-CN"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数据关系R</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数据元素同属</a:t>
            </a:r>
            <a:r>
              <a:rPr lang="zh-CN" altLang="en-US" sz="1600">
                <a:latin typeface="Times New Roman" panose="02020603050405020304" pitchFamily="18" charset="0"/>
                <a:ea typeface="幼圆" panose="02010509060101010101" pitchFamily="49" charset="-122"/>
                <a:cs typeface="Times New Roman" panose="02020603050405020304" pitchFamily="18" charset="0"/>
              </a:rPr>
              <a:t>一</a:t>
            </a:r>
            <a:r>
              <a:rPr lang="en-US" altLang="zh-CN" sz="1600">
                <a:latin typeface="Times New Roman" panose="02020603050405020304" pitchFamily="18" charset="0"/>
                <a:ea typeface="幼圆" panose="02010509060101010101" pitchFamily="49" charset="-122"/>
                <a:cs typeface="Times New Roman" panose="02020603050405020304" pitchFamily="18" charset="0"/>
              </a:rPr>
              <a:t>个集合。</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基本操作P</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0" lvl="0"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    </a:t>
            </a:r>
            <a:r>
              <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Create(&amp;ST, n);</a:t>
            </a:r>
            <a:endPar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操作结果</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构造一个含n个数据元素的静态查找表ST</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0" lvl="0"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    </a:t>
            </a:r>
            <a:r>
              <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Destroy(&amp;ST);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初始条件</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静态查找表ST存在</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操作结果</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销毁</a:t>
            </a:r>
            <a:r>
              <a:rPr lang="zh-CN" altLang="en-US" sz="1600">
                <a:latin typeface="Times New Roman" panose="02020603050405020304" pitchFamily="18" charset="0"/>
                <a:ea typeface="幼圆" panose="02010509060101010101" pitchFamily="49" charset="-122"/>
                <a:cs typeface="Times New Roman" panose="02020603050405020304" pitchFamily="18" charset="0"/>
              </a:rPr>
              <a:t>表</a:t>
            </a:r>
            <a:r>
              <a:rPr lang="en-US" altLang="zh-CN" sz="1600">
                <a:latin typeface="Times New Roman" panose="02020603050405020304" pitchFamily="18" charset="0"/>
                <a:ea typeface="幼圆" panose="02010509060101010101" pitchFamily="49" charset="-122"/>
                <a:cs typeface="Times New Roman" panose="02020603050405020304" pitchFamily="18" charset="0"/>
              </a:rPr>
              <a:t>ST</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0" lvl="0"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    </a:t>
            </a:r>
            <a:r>
              <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Search(ST, key);</a:t>
            </a:r>
            <a:endPar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初始条件</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静态查找表ST存在</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key为和关键字类型相的给定值。</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操作结果</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若ST中存在关键字等于key的数据元素</a:t>
            </a:r>
            <a:r>
              <a:rPr lang="zh-CN" altLang="en-US" sz="1600">
                <a:latin typeface="Times New Roman" panose="02020603050405020304" pitchFamily="18" charset="0"/>
                <a:ea typeface="幼圆" panose="02010509060101010101" pitchFamily="49" charset="-122"/>
                <a:cs typeface="Times New Roman" panose="02020603050405020304" pitchFamily="18" charset="0"/>
              </a:rPr>
              <a:t>，返回</a:t>
            </a:r>
            <a:r>
              <a:rPr lang="en-US" altLang="zh-CN" sz="1600">
                <a:latin typeface="Times New Roman" panose="02020603050405020304" pitchFamily="18" charset="0"/>
                <a:ea typeface="幼圆" panose="02010509060101010101" pitchFamily="49" charset="-122"/>
                <a:cs typeface="Times New Roman" panose="02020603050405020304" pitchFamily="18" charset="0"/>
              </a:rPr>
              <a:t>该元素的值或在表中的位置</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否则</a:t>
            </a:r>
            <a:r>
              <a:rPr lang="zh-CN" altLang="en-US" sz="1600">
                <a:latin typeface="Times New Roman" panose="02020603050405020304" pitchFamily="18" charset="0"/>
                <a:ea typeface="幼圆" panose="02010509060101010101" pitchFamily="49" charset="-122"/>
                <a:cs typeface="Times New Roman" panose="02020603050405020304" pitchFamily="18" charset="0"/>
              </a:rPr>
              <a:t>返回</a:t>
            </a:r>
            <a:r>
              <a:rPr lang="en-US" altLang="zh-CN" sz="1600">
                <a:latin typeface="Times New Roman" panose="02020603050405020304" pitchFamily="18" charset="0"/>
                <a:ea typeface="幼圆" panose="02010509060101010101" pitchFamily="49" charset="-122"/>
                <a:cs typeface="Times New Roman" panose="02020603050405020304" pitchFamily="18" charset="0"/>
              </a:rPr>
              <a:t>“空”</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0" lvl="0"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    </a:t>
            </a:r>
            <a:r>
              <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Traverse(ST, Visit());</a:t>
            </a:r>
            <a:endParaRPr lang="en-US" altLang="zh-CN" sz="16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初始条件</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静态查找表ST存在</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Visit是对元素操作的应用函数。</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marL="457200" lvl="1" indent="457200">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操作结果</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按某种次序对ST的每个元素调用函数Visit()一次且仅一次。一</a:t>
            </a:r>
            <a:r>
              <a:rPr lang="zh-CN" altLang="en-US" sz="1600">
                <a:latin typeface="Times New Roman" panose="02020603050405020304" pitchFamily="18" charset="0"/>
                <a:ea typeface="幼圆" panose="02010509060101010101" pitchFamily="49" charset="-122"/>
                <a:cs typeface="Times New Roman" panose="02020603050405020304" pitchFamily="18" charset="0"/>
              </a:rPr>
              <a:t>旦</a:t>
            </a:r>
            <a:r>
              <a:rPr lang="en-US" altLang="zh-CN" sz="1600">
                <a:latin typeface="Times New Roman" panose="02020603050405020304" pitchFamily="18" charset="0"/>
                <a:ea typeface="幼圆" panose="02010509060101010101" pitchFamily="49" charset="-122"/>
                <a:cs typeface="Times New Roman" panose="02020603050405020304" pitchFamily="18" charset="0"/>
              </a:rPr>
              <a:t>Visit()失败</a:t>
            </a:r>
            <a:r>
              <a:rPr lang="zh-CN" altLang="en-US" sz="1600">
                <a:latin typeface="Times New Roman" panose="02020603050405020304" pitchFamily="18" charset="0"/>
                <a:ea typeface="幼圆" panose="02010509060101010101" pitchFamily="49" charset="-122"/>
                <a:cs typeface="Times New Roman" panose="02020603050405020304" pitchFamily="18" charset="0"/>
              </a:rPr>
              <a:t>，</a:t>
            </a:r>
            <a:r>
              <a:rPr lang="en-US" altLang="zh-CN" sz="1600">
                <a:latin typeface="Times New Roman" panose="02020603050405020304" pitchFamily="18" charset="0"/>
                <a:ea typeface="幼圆" panose="02010509060101010101" pitchFamily="49" charset="-122"/>
                <a:cs typeface="Times New Roman" panose="02020603050405020304" pitchFamily="18" charset="0"/>
              </a:rPr>
              <a:t>则操作失败。</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a:p>
            <a:pPr>
              <a:lnSpc>
                <a:spcPct val="120000"/>
              </a:lnSpc>
            </a:pPr>
            <a:r>
              <a:rPr lang="en-US" altLang="zh-CN" sz="1600">
                <a:latin typeface="Times New Roman" panose="02020603050405020304" pitchFamily="18" charset="0"/>
                <a:ea typeface="幼圆" panose="02010509060101010101" pitchFamily="49" charset="-122"/>
                <a:cs typeface="Times New Roman" panose="02020603050405020304" pitchFamily="18" charset="0"/>
              </a:rPr>
              <a:t>} ADT StaticSearchTable </a:t>
            </a:r>
            <a:endParaRPr lang="en-US" altLang="zh-CN" sz="160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dirty="0">
                <a:effectLst>
                  <a:outerShdw blurRad="38100" dist="25400" dir="5400000" algn="ctr" rotWithShape="0">
                    <a:srgbClr val="6E747A">
                      <a:alpha val="43000"/>
                    </a:srgbClr>
                  </a:outerShdw>
                </a:effectLst>
                <a:cs typeface="+mj-lt"/>
                <a:sym typeface="+mn-ea"/>
              </a:rPr>
              <a:t>8.2 </a:t>
            </a:r>
            <a:r>
              <a:rPr lang="en-US" altLang="zh-CN" dirty="0">
                <a:cs typeface="+mj-lt"/>
                <a:sym typeface="+mn-ea"/>
              </a:rPr>
              <a:t>Static searching table</a:t>
            </a:r>
            <a:endParaRPr lang="zh-CN" altLang="en-US"/>
          </a:p>
        </p:txBody>
      </p:sp>
      <p:sp>
        <p:nvSpPr>
          <p:cNvPr id="4098" name="Text Box 2"/>
          <p:cNvSpPr txBox="1">
            <a:spLocks noChangeArrowheads="1"/>
          </p:cNvSpPr>
          <p:nvPr/>
        </p:nvSpPr>
        <p:spPr bwMode="auto">
          <a:xfrm>
            <a:off x="396240" y="1111885"/>
            <a:ext cx="8203565" cy="5024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fontAlgn="base">
              <a:lnSpc>
                <a:spcPct val="100000"/>
              </a:lnSpc>
              <a:spcBef>
                <a:spcPct val="20000"/>
              </a:spcBef>
              <a:buClr>
                <a:schemeClr val="hlink"/>
              </a:buClr>
              <a:buSzPct val="75000"/>
              <a:buFont typeface="Wingdings" panose="05000000000000000000" pitchFamily="2" charset="2"/>
              <a:buChar char="l"/>
            </a:pPr>
            <a:r>
              <a:rPr lang="en-US" altLang="zh-CN" sz="2400" kern="0" dirty="0">
                <a:latin typeface="Times New Roman" panose="02020603050405020304" pitchFamily="18" charset="0"/>
                <a:ea typeface="幼圆" panose="02010509060101010101" pitchFamily="49" charset="-122"/>
                <a:cs typeface="Times New Roman" panose="02020603050405020304" pitchFamily="18" charset="0"/>
              </a:rPr>
              <a:t>对</a:t>
            </a:r>
            <a:r>
              <a:rPr lang="en-US" altLang="zh-CN" sz="2400" kern="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查找表</a:t>
            </a:r>
            <a:r>
              <a:rPr lang="en-US" altLang="zh-CN" sz="2400" kern="0" dirty="0">
                <a:latin typeface="Times New Roman" panose="02020603050405020304" pitchFamily="18" charset="0"/>
                <a:ea typeface="幼圆" panose="02010509060101010101" pitchFamily="49" charset="-122"/>
                <a:cs typeface="Times New Roman" panose="02020603050405020304" pitchFamily="18" charset="0"/>
              </a:rPr>
              <a:t>(字典)进行的操作主要有四个：</a:t>
            </a:r>
            <a:endParaRPr lang="en-US" altLang="zh-CN" sz="2400" kern="0" dirty="0">
              <a:latin typeface="Times New Roman" panose="02020603050405020304" pitchFamily="18" charset="0"/>
              <a:ea typeface="幼圆" panose="02010509060101010101" pitchFamily="49" charset="-122"/>
              <a:cs typeface="Times New Roman" panose="02020603050405020304" pitchFamily="18" charset="0"/>
            </a:endParaRPr>
          </a:p>
          <a:p>
            <a:pPr marL="800100" lvl="1" indent="-342900">
              <a:lnSpc>
                <a:spcPct val="130000"/>
              </a:lnSpc>
              <a:spcBef>
                <a:spcPct val="50000"/>
              </a:spcBef>
              <a:buClr>
                <a:srgbClr val="AEBBC9"/>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检索、查询、插入元素和删除元素。</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lvl="0" indent="-342900">
              <a:lnSpc>
                <a:spcPct val="130000"/>
              </a:lnSpc>
              <a:spcBef>
                <a:spcPct val="50000"/>
              </a:spcBef>
              <a:buClr>
                <a:srgbClr val="00B0F0"/>
              </a:buClr>
              <a:buFont typeface="Wingdings" panose="05000000000000000000" charset="0"/>
              <a:buChar char="l"/>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存储方法</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：顺序法、散列法、二叉树法和</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lvl="0" indent="-342900">
              <a:lnSpc>
                <a:spcPct val="130000"/>
              </a:lnSpc>
              <a:spcBef>
                <a:spcPct val="50000"/>
              </a:spcBef>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存储方法的选择：考虑检索效率、元素的插入和删除是否简便。</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lvl="0" indent="-342900">
              <a:lnSpc>
                <a:spcPct val="150000"/>
              </a:lnSpc>
              <a:spcBef>
                <a:spcPct val="50000"/>
              </a:spcBef>
              <a:buClr>
                <a:srgbClr val="00B0F0"/>
              </a:buClr>
              <a:buFont typeface="Wingdings" panose="05000000000000000000" charset="0"/>
              <a:buChar char="l"/>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检索效率的标准</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：检索过程中和关键码比较的次数，即平均检索长度</a:t>
            </a:r>
            <a:r>
              <a:rPr kumimoji="1" lang="en-US" altLang="zh-CN" sz="2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ASL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ASL</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 ∑</a:t>
            </a:r>
            <a:r>
              <a:rPr kumimoji="1" lang="en-US" altLang="zh-CN" sz="2000" i="1" dirty="0" err="1">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i="1" baseline="-25000" dirty="0" err="1">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i="1" dirty="0" err="1">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sz="2000" i="1" baseline="-25000" dirty="0" err="1">
                <a:latin typeface="Times New Roman" panose="02020603050405020304" pitchFamily="18" charset="0"/>
                <a:ea typeface="幼圆" panose="02010509060101010101" pitchFamily="49" charset="-122"/>
                <a:cs typeface="Times New Roman" panose="02020603050405020304" pitchFamily="18" charset="0"/>
              </a:rPr>
              <a:t>i</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认为每个元素的检索概率相等）。</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531495" y="1095375"/>
            <a:ext cx="8155940" cy="524954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DataType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DataType</a:t>
            </a:r>
            <a:r>
              <a:rPr kumimoji="1" lang="en-US" altLang="zh-CN" dirty="0">
                <a:latin typeface="Consolas" panose="020B0609020204030204" charset="0"/>
                <a:ea typeface="幼圆" panose="02010509060101010101" pitchFamily="49" charset="-122"/>
                <a:cs typeface="Consolas" panose="020B0609020204030204" charset="0"/>
              </a:rPr>
              <a:t>  other;</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DicElement</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DicElement</a:t>
            </a:r>
            <a:r>
              <a:rPr kumimoji="1" lang="en-US" altLang="zh-CN" dirty="0">
                <a:latin typeface="Consolas" panose="020B0609020204030204" charset="0"/>
                <a:ea typeface="幼圆" panose="02010509060101010101" pitchFamily="49" charset="-122"/>
                <a:cs typeface="Consolas" panose="020B0609020204030204" charset="0"/>
              </a:rPr>
              <a:t>  element[MAXNUM];</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n;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n &lt; MAXNUM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SeqDictionary</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6150" name="Rectangle 6"/>
          <p:cNvSpPr>
            <a:spLocks noGrp="1" noChangeArrowheads="1"/>
          </p:cNvSpPr>
          <p:nvPr>
            <p:ph type="title"/>
          </p:nvPr>
        </p:nvSpPr>
        <p:spPr/>
        <p:txBody>
          <a:bodyPr>
            <a:scene3d>
              <a:camera prst="orthographicFront"/>
              <a:lightRig rig="threePt" dir="t"/>
            </a:scene3d>
          </a:bodyPr>
          <a:lstStyle/>
          <a:p>
            <a:r>
              <a:rPr kumimoji="1" lang="en-US" altLang="zh-CN">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rPr>
              <a:t>8.2.1 Sequential searching table</a:t>
            </a:r>
            <a:endParaRPr kumimoji="1" lang="en-US" altLang="zh-CN">
              <a:solidFill>
                <a:schemeClr val="bg1"/>
              </a:solidFill>
              <a:effectLst>
                <a:outerShdw blurRad="38100" dist="25400" dir="5400000" algn="ctr" rotWithShape="0">
                  <a:srgbClr val="6E747A">
                    <a:alpha val="43000"/>
                  </a:srgbClr>
                </a:outerShdw>
              </a:effectLst>
              <a:ea typeface="幼圆" panose="02010509060101010101" pitchFamily="49" charset="-122"/>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kumimoji="1" lang="en-US" altLang="zh-CN">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8.2.2 Sequential searching</a:t>
            </a:r>
            <a:endParaRPr kumimoji="1" lang="en-US" altLang="zh-CN">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endParaRPr>
          </a:p>
        </p:txBody>
      </p:sp>
      <p:sp>
        <p:nvSpPr>
          <p:cNvPr id="7174" name="Text Box 6"/>
          <p:cNvSpPr txBox="1">
            <a:spLocks noChangeArrowheads="1"/>
          </p:cNvSpPr>
          <p:nvPr/>
        </p:nvSpPr>
        <p:spPr bwMode="auto">
          <a:xfrm>
            <a:off x="544830" y="1086485"/>
            <a:ext cx="8141335" cy="501015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seqSearch</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SeqDictionary</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b="1" dirty="0" err="1">
                <a:solidFill>
                  <a:srgbClr val="FF0000"/>
                </a:solidFill>
                <a:latin typeface="Consolas" panose="020B0609020204030204" charset="0"/>
                <a:ea typeface="幼圆" panose="02010509060101010101" pitchFamily="49" charset="-122"/>
                <a:cs typeface="Consolas" panose="020B0609020204030204" charset="0"/>
              </a:rPr>
              <a:t>int</a:t>
            </a:r>
            <a:r>
              <a:rPr kumimoji="1" lang="en-US" altLang="zh-CN" b="1" dirty="0">
                <a:solidFill>
                  <a:srgbClr val="FF0000"/>
                </a:solidFill>
                <a:latin typeface="Consolas" panose="020B0609020204030204" charset="0"/>
                <a:ea typeface="幼圆" panose="02010509060101010101" pitchFamily="49" charset="-122"/>
                <a:cs typeface="Consolas" panose="020B0609020204030204" charset="0"/>
              </a:rPr>
              <a:t> *position</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在字典中顺序检索关键码为</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key</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的元素*</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for</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=0;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&lt;</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-&gt;n; </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从头开始向后扫描</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-&gt;element[</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].key == key)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*position=</a:t>
            </a:r>
            <a:r>
              <a:rPr kumimoji="1" lang="en-US" altLang="zh-CN" dirty="0" err="1">
                <a:latin typeface="Consolas" panose="020B0609020204030204" charset="0"/>
                <a:ea typeface="幼圆" panose="02010509060101010101" pitchFamily="49" charset="-122"/>
                <a:cs typeface="Consolas" panose="020B0609020204030204" charset="0"/>
              </a:rPr>
              <a:t>i</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TRUE;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检索成功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*position=-1;</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FALSE;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检索失败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a:effectLst>
                  <a:outerShdw blurRad="38100" dist="25400" dir="5400000" algn="ctr" rotWithShape="0">
                    <a:srgbClr val="6E747A">
                      <a:alpha val="43000"/>
                    </a:srgbClr>
                  </a:outerShdw>
                </a:effectLst>
                <a:cs typeface="Times New Roman" panose="02020603050405020304" pitchFamily="18" charset="0"/>
                <a:sym typeface="+mn-ea"/>
              </a:rPr>
              <a:t>8.2.2 Sequential searching</a:t>
            </a:r>
            <a:endParaRPr lang="zh-CN" altLang="en-US"/>
          </a:p>
        </p:txBody>
      </p:sp>
      <p:sp>
        <p:nvSpPr>
          <p:cNvPr id="31746" name="Text Box 2"/>
          <p:cNvSpPr txBox="1">
            <a:spLocks noChangeArrowheads="1"/>
          </p:cNvSpPr>
          <p:nvPr/>
        </p:nvSpPr>
        <p:spPr bwMode="auto">
          <a:xfrm>
            <a:off x="406400" y="1125855"/>
            <a:ext cx="8136255" cy="5109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40000"/>
              </a:lnSpc>
              <a:buClr>
                <a:srgbClr val="00B0F0"/>
              </a:buClr>
              <a:buFont typeface="Wingdings" panose="05000000000000000000" charset="0"/>
              <a:buChar char="l"/>
            </a:pP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有时，表中各个记录的</a:t>
            </a:r>
            <a:r>
              <a:rPr kumimoji="1" lang="zh-CN" altLang="en-US" sz="22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查找概率</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并不相等，为了提高查找效率，可以对所有记录按查找概率进行排序，使概率大的记录先被访问。</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但是，实际上往往无法事先得知各个记录的查找概率，这时的解决办法就是为每个记录附设一个</a:t>
            </a:r>
            <a:r>
              <a:rPr kumimoji="1" lang="zh-CN" altLang="en-US" sz="22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访问频度域</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，并使查找表的所有记录总是保持按访问的频度有序。</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顺序查找的优缺点：</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a:p>
            <a:pPr marL="800100" lvl="1" indent="-342900">
              <a:lnSpc>
                <a:spcPct val="140000"/>
              </a:lnSpc>
              <a:buClr>
                <a:srgbClr val="00B0F0"/>
              </a:buClr>
              <a:buFont typeface="Wingdings" panose="05000000000000000000" charset="0"/>
              <a:buChar char="l"/>
            </a:pPr>
            <a:r>
              <a:rPr kumimoji="1" lang="zh-CN" altLang="en-US" sz="22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优点</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：简单且适用面广，对表的结构没有要求，无论记录是否按关键字有序都可应用。</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a:p>
            <a:pPr marL="800100" lvl="1" indent="-342900">
              <a:lnSpc>
                <a:spcPct val="140000"/>
              </a:lnSpc>
              <a:buClr>
                <a:srgbClr val="00B0F0"/>
              </a:buClr>
              <a:buFont typeface="Wingdings" panose="05000000000000000000" charset="0"/>
              <a:buChar char="l"/>
            </a:pPr>
            <a:r>
              <a:rPr kumimoji="1" lang="zh-CN" altLang="en-US" sz="22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缺点</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：效率低。</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kumimoji="1" lang="en-US" altLang="zh-CN">
                <a:effectLst>
                  <a:outerShdw blurRad="38100" dist="25400" dir="5400000" algn="ctr" rotWithShape="0">
                    <a:srgbClr val="6E747A">
                      <a:alpha val="43000"/>
                    </a:srgbClr>
                  </a:outerShdw>
                </a:effectLst>
                <a:cs typeface="Times New Roman" panose="02020603050405020304" pitchFamily="18" charset="0"/>
                <a:sym typeface="+mn-ea"/>
              </a:rPr>
              <a:t>8.2.2 Sequential searching</a:t>
            </a:r>
            <a:endParaRPr lang="zh-CN" altLang="en-US"/>
          </a:p>
        </p:txBody>
      </p:sp>
      <p:sp>
        <p:nvSpPr>
          <p:cNvPr id="32770" name="Text Box 2"/>
          <p:cNvSpPr txBox="1">
            <a:spLocks noChangeArrowheads="1"/>
          </p:cNvSpPr>
          <p:nvPr/>
        </p:nvSpPr>
        <p:spPr bwMode="auto">
          <a:xfrm>
            <a:off x="487045" y="1083310"/>
            <a:ext cx="8199755" cy="291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a:lnSpc>
                <a:spcPct val="140000"/>
              </a:lnSpc>
              <a:buClr>
                <a:srgbClr val="00B0F0"/>
              </a:buClr>
              <a:buSzTx/>
              <a:buFont typeface="Wingdings" panose="05000000000000000000" charset="0"/>
              <a:buChar char="l"/>
            </a:pPr>
            <a:r>
              <a:rPr kumimoji="1" lang="zh-CN" altLang="en-US" sz="2000">
                <a:latin typeface="Times New Roman" panose="02020603050405020304" pitchFamily="18" charset="0"/>
                <a:ea typeface="幼圆" panose="02010509060101010101" pitchFamily="49" charset="-122"/>
                <a:cs typeface="Times New Roman" panose="02020603050405020304" pitchFamily="18" charset="0"/>
              </a:rPr>
              <a:t>上面讨论的前提是每次查找都是“</a:t>
            </a:r>
            <a:r>
              <a:rPr kumimoji="1" lang="zh-CN" altLang="en-US"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成功</a:t>
            </a:r>
            <a:r>
              <a:rPr kumimoji="1" lang="zh-CN" altLang="en-US" sz="2000">
                <a:latin typeface="Times New Roman" panose="02020603050405020304" pitchFamily="18" charset="0"/>
                <a:ea typeface="幼圆" panose="02010509060101010101" pitchFamily="49" charset="-122"/>
                <a:cs typeface="Times New Roman" panose="02020603050405020304" pitchFamily="18" charset="0"/>
              </a:rPr>
              <a:t>”的（即认为表中必定存在一个记录的关键字与给定值相等），但实际上不一定对于给定的每个值都能找到相应的记录，即会产生查找“</a:t>
            </a:r>
            <a:r>
              <a:rPr kumimoji="1" lang="zh-CN" altLang="en-US"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不成功</a:t>
            </a:r>
            <a:r>
              <a:rPr kumimoji="1" lang="zh-CN" altLang="en-US" sz="2000">
                <a:latin typeface="Times New Roman" panose="02020603050405020304" pitchFamily="18" charset="0"/>
                <a:ea typeface="幼圆" panose="02010509060101010101" pitchFamily="49" charset="-122"/>
                <a:cs typeface="Times New Roman" panose="02020603050405020304" pitchFamily="18" charset="0"/>
              </a:rPr>
              <a:t>”的情况，如果查找不成功的情形不容忽视时，</a:t>
            </a:r>
            <a:r>
              <a:rPr kumimoji="1" lang="zh-CN" altLang="en-US"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查找算法平均查找长度应是查找成功时的平均查找长度与查找不成功时的平均查找长度之和</a:t>
            </a:r>
            <a:r>
              <a:rPr kumimoji="1" lang="zh-CN" altLang="en-US" sz="200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gn="l">
              <a:lnSpc>
                <a:spcPct val="140000"/>
              </a:lnSpc>
              <a:buClr>
                <a:srgbClr val="00B0F0"/>
              </a:buClr>
              <a:buSzTx/>
              <a:buFont typeface="Wingdings" panose="05000000000000000000" charset="0"/>
              <a:buChar char="l"/>
            </a:pPr>
            <a:r>
              <a:rPr kumimoji="1" lang="zh-CN" altLang="en-US" sz="2000">
                <a:latin typeface="Times New Roman" panose="02020603050405020304" pitchFamily="18" charset="0"/>
                <a:ea typeface="幼圆" panose="02010509060101010101" pitchFamily="49" charset="-122"/>
                <a:cs typeface="Times New Roman" panose="02020603050405020304" pitchFamily="18" charset="0"/>
              </a:rPr>
              <a:t>假设查找成功和不成功的概率相等，即均为1/2，则顺序查找的平均查找长度为：</a:t>
            </a:r>
            <a:endParaRPr kumimoji="1" lang="zh-CN" altLang="en-US" sz="20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2772" name="Line 4"/>
          <p:cNvSpPr>
            <a:spLocks noChangeShapeType="1"/>
          </p:cNvSpPr>
          <p:nvPr/>
        </p:nvSpPr>
        <p:spPr bwMode="auto">
          <a:xfrm>
            <a:off x="3502025" y="4963160"/>
            <a:ext cx="1751965" cy="63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2773" name="Line 5"/>
          <p:cNvSpPr>
            <a:spLocks noChangeShapeType="1"/>
          </p:cNvSpPr>
          <p:nvPr/>
        </p:nvSpPr>
        <p:spPr bwMode="auto">
          <a:xfrm>
            <a:off x="5533390" y="4961255"/>
            <a:ext cx="872490" cy="63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2774" name="Text Box 6"/>
          <p:cNvSpPr txBox="1">
            <a:spLocks noChangeArrowheads="1"/>
          </p:cNvSpPr>
          <p:nvPr/>
        </p:nvSpPr>
        <p:spPr bwMode="auto">
          <a:xfrm>
            <a:off x="3555445" y="5440601"/>
            <a:ext cx="145923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FF0000"/>
                </a:solidFill>
                <a:latin typeface="Times New Roman" panose="02020603050405020304" pitchFamily="18" charset="0"/>
                <a:ea typeface="幼圆" panose="02010509060101010101" pitchFamily="49" charset="-122"/>
              </a:rPr>
              <a:t>查找成功时</a:t>
            </a:r>
            <a:endParaRPr kumimoji="1" lang="zh-CN" altLang="en-US" sz="2000" b="1">
              <a:solidFill>
                <a:srgbClr val="FF0000"/>
              </a:solidFill>
              <a:latin typeface="Times New Roman" panose="02020603050405020304" pitchFamily="18" charset="0"/>
              <a:ea typeface="幼圆" panose="02010509060101010101" pitchFamily="49" charset="-122"/>
            </a:endParaRPr>
          </a:p>
        </p:txBody>
      </p:sp>
      <p:sp>
        <p:nvSpPr>
          <p:cNvPr id="32775" name="Text Box 7"/>
          <p:cNvSpPr txBox="1">
            <a:spLocks noChangeArrowheads="1"/>
          </p:cNvSpPr>
          <p:nvPr/>
        </p:nvSpPr>
        <p:spPr bwMode="auto">
          <a:xfrm>
            <a:off x="5253990" y="5440601"/>
            <a:ext cx="17145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FF0000"/>
                </a:solidFill>
                <a:latin typeface="Times New Roman" panose="02020603050405020304" pitchFamily="18" charset="0"/>
                <a:ea typeface="幼圆" panose="02010509060101010101" pitchFamily="49" charset="-122"/>
              </a:rPr>
              <a:t>查找不成功时</a:t>
            </a:r>
            <a:endParaRPr kumimoji="1" lang="zh-CN" altLang="en-US" sz="2000" b="1">
              <a:solidFill>
                <a:srgbClr val="FF0000"/>
              </a:solidFill>
              <a:latin typeface="Times New Roman" panose="02020603050405020304" pitchFamily="18" charset="0"/>
              <a:ea typeface="幼圆" panose="02010509060101010101" pitchFamily="49" charset="-122"/>
            </a:endParaRPr>
          </a:p>
        </p:txBody>
      </p:sp>
      <p:sp>
        <p:nvSpPr>
          <p:cNvPr id="32779" name="AutoShape 11"/>
          <p:cNvSpPr>
            <a:spLocks noChangeArrowheads="1"/>
          </p:cNvSpPr>
          <p:nvPr/>
        </p:nvSpPr>
        <p:spPr bwMode="auto">
          <a:xfrm>
            <a:off x="4177665" y="5017056"/>
            <a:ext cx="215504" cy="377428"/>
          </a:xfrm>
          <a:prstGeom prst="downArrow">
            <a:avLst>
              <a:gd name="adj1" fmla="val 50000"/>
              <a:gd name="adj2" fmla="val 43784"/>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32780" name="AutoShape 12"/>
          <p:cNvSpPr>
            <a:spLocks noChangeArrowheads="1"/>
          </p:cNvSpPr>
          <p:nvPr/>
        </p:nvSpPr>
        <p:spPr bwMode="auto">
          <a:xfrm>
            <a:off x="5861765" y="4991656"/>
            <a:ext cx="215503" cy="377428"/>
          </a:xfrm>
          <a:prstGeom prst="downArrow">
            <a:avLst>
              <a:gd name="adj1" fmla="val 50000"/>
              <a:gd name="adj2" fmla="val 4378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mc:AlternateContent xmlns:mc="http://schemas.openxmlformats.org/markup-compatibility/2006">
        <mc:Choice xmlns:a14="http://schemas.microsoft.com/office/drawing/2010/main" Requires="a14">
          <p:sp>
            <p:nvSpPr>
              <p:cNvPr id="2" name="文本框 1"/>
              <p:cNvSpPr txBox="1"/>
              <p:nvPr/>
            </p:nvSpPr>
            <p:spPr>
              <a:xfrm>
                <a:off x="2759821" y="4003548"/>
                <a:ext cx="4951730" cy="84455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𝐴𝑆𝐿</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2</m:t>
                          </m:r>
                        </m:den>
                      </m:f>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𝑛</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𝑛</m:t>
                          </m:r>
                        </m:sup>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e>
                      </m:nary>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2</m:t>
                          </m:r>
                        </m:den>
                      </m:f>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3</m:t>
                          </m:r>
                        </m:num>
                        <m:den>
                          <m:r>
                            <a:rPr lang="en-US" altLang="zh-CN" i="1">
                              <a:latin typeface="Cambria Math" panose="02040503050406030204" charset="0"/>
                              <a:cs typeface="Cambria Math" panose="02040503050406030204" charset="0"/>
                            </a:rPr>
                            <m:t>4</m:t>
                          </m:r>
                        </m:den>
                      </m:f>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ea typeface="MS Mincho" panose="02020609040205080304" charset="-128"/>
                          <a:cs typeface="Cambria Math" panose="02040503050406030204" charset="0"/>
                        </a:rPr>
                        <m:t>)</m:t>
                      </m:r>
                    </m:oMath>
                  </m:oMathPara>
                </a14:m>
                <a:endParaRPr lang="en-US" altLang="zh-CN" i="1">
                  <a:latin typeface="Cambria Math" panose="02040503050406030204" charset="0"/>
                  <a:ea typeface="MS Mincho" panose="02020609040205080304" charset="-128"/>
                  <a:cs typeface="Cambria Math" panose="02040503050406030204"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2759821" y="4003548"/>
                <a:ext cx="4951730" cy="844550"/>
              </a:xfrm>
              <a:prstGeom prst="rect">
                <a:avLst/>
              </a:prstGeom>
              <a:blipFill rotWithShape="1">
                <a:blip r:embed="rId1"/>
                <a:stretch>
                  <a:fillRect l="-2" t="-60" r="2" b="60"/>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sz="2800" dirty="0">
                <a:effectLst>
                  <a:outerShdw blurRad="38100" dist="25400" dir="5400000" algn="ctr" rotWithShape="0">
                    <a:srgbClr val="6E747A">
                      <a:alpha val="43000"/>
                    </a:srgbClr>
                  </a:outerShdw>
                </a:effectLst>
                <a:cs typeface="Times New Roman" panose="02020603050405020304" pitchFamily="18" charset="0"/>
                <a:sym typeface="+mn-ea"/>
              </a:rPr>
              <a:t>8.2.3 </a:t>
            </a:r>
            <a:r>
              <a:rPr kumimoji="1" lang="en-US" altLang="en-US" sz="2800" dirty="0">
                <a:effectLst>
                  <a:outerShdw blurRad="38100" dist="25400" dir="5400000" algn="ctr" rotWithShape="0">
                    <a:srgbClr val="6E747A">
                      <a:alpha val="43000"/>
                    </a:srgbClr>
                  </a:outerShdw>
                </a:effectLst>
                <a:cs typeface="Times New Roman" panose="02020603050405020304" pitchFamily="18" charset="0"/>
                <a:sym typeface="+mn-ea"/>
              </a:rPr>
              <a:t>Dichotomy </a:t>
            </a:r>
            <a:r>
              <a:rPr kumimoji="1" lang="en-US" altLang="zh-CN" sz="2800" dirty="0">
                <a:effectLst>
                  <a:outerShdw blurRad="38100" dist="25400" dir="5400000" algn="ctr" rotWithShape="0">
                    <a:srgbClr val="6E747A">
                      <a:alpha val="43000"/>
                    </a:srgbClr>
                  </a:outerShdw>
                </a:effectLst>
                <a:cs typeface="Times New Roman" panose="02020603050405020304" pitchFamily="18" charset="0"/>
                <a:sym typeface="+mn-ea"/>
              </a:rPr>
              <a:t>(Binary) searching</a:t>
            </a:r>
            <a:br>
              <a:rPr kumimoji="1" lang="en-US" altLang="zh-CN" sz="2800" dirty="0">
                <a:effectLst>
                  <a:outerShdw blurRad="38100" dist="25400" dir="5400000" algn="ctr" rotWithShape="0">
                    <a:srgbClr val="6E747A">
                      <a:alpha val="43000"/>
                    </a:srgbClr>
                  </a:outerShdw>
                </a:effectLst>
                <a:cs typeface="Times New Roman" panose="02020603050405020304" pitchFamily="18" charset="0"/>
                <a:sym typeface="+mn-ea"/>
              </a:rPr>
            </a:br>
            <a:r>
              <a:rPr kumimoji="1" lang="zh-CN" altLang="en-US" sz="2800" dirty="0">
                <a:effectLst>
                  <a:outerShdw blurRad="38100" dist="25400" dir="5400000" algn="ctr" rotWithShape="0">
                    <a:srgbClr val="6E747A">
                      <a:alpha val="43000"/>
                    </a:srgbClr>
                  </a:outerShdw>
                </a:effectLst>
                <a:cs typeface="Times New Roman" panose="02020603050405020304" pitchFamily="18" charset="0"/>
                <a:sym typeface="+mn-ea"/>
              </a:rPr>
              <a:t>二分（</a:t>
            </a:r>
            <a:r>
              <a:rPr kumimoji="1" lang="en-US" altLang="en-US" sz="2800" dirty="0" err="1">
                <a:effectLst>
                  <a:outerShdw blurRad="38100" dist="25400" dir="5400000" algn="ctr" rotWithShape="0">
                    <a:srgbClr val="6E747A">
                      <a:alpha val="43000"/>
                    </a:srgbClr>
                  </a:outerShdw>
                </a:effectLst>
                <a:cs typeface="Times New Roman" panose="02020603050405020304" pitchFamily="18" charset="0"/>
                <a:sym typeface="+mn-ea"/>
              </a:rPr>
              <a:t>折半</a:t>
            </a:r>
            <a:r>
              <a:rPr kumimoji="1" lang="zh-CN" altLang="en-US" sz="2800" dirty="0">
                <a:effectLst>
                  <a:outerShdw blurRad="38100" dist="25400" dir="5400000" algn="ctr" rotWithShape="0">
                    <a:srgbClr val="6E747A">
                      <a:alpha val="43000"/>
                    </a:srgbClr>
                  </a:outerShdw>
                </a:effectLst>
                <a:cs typeface="Times New Roman" panose="02020603050405020304" pitchFamily="18" charset="0"/>
                <a:sym typeface="+mn-ea"/>
              </a:rPr>
              <a:t>）</a:t>
            </a:r>
            <a:r>
              <a:rPr kumimoji="1" lang="zh-CN" altLang="en-US" sz="2800" dirty="0">
                <a:effectLst>
                  <a:outerShdw blurRad="38100" dist="25400" dir="5400000" algn="ctr" rotWithShape="0">
                    <a:srgbClr val="6E747A">
                      <a:alpha val="43000"/>
                    </a:srgbClr>
                  </a:outerShdw>
                </a:effectLst>
                <a:cs typeface="Times New Roman" panose="02020603050405020304" pitchFamily="18" charset="0"/>
                <a:sym typeface="+mn-ea"/>
              </a:rPr>
              <a:t>查找法</a:t>
            </a:r>
            <a:endParaRPr kumimoji="1" lang="zh-CN" altLang="en-US" sz="2800" dirty="0">
              <a:effectLst>
                <a:outerShdw blurRad="38100" dist="25400" dir="5400000" algn="ctr" rotWithShape="0">
                  <a:srgbClr val="6E747A">
                    <a:alpha val="43000"/>
                  </a:srgbClr>
                </a:outerShdw>
              </a:effectLst>
              <a:cs typeface="Times New Roman" panose="02020603050405020304" pitchFamily="18" charset="0"/>
              <a:sym typeface="+mn-ea"/>
            </a:endParaRPr>
          </a:p>
        </p:txBody>
      </p:sp>
      <p:sp>
        <p:nvSpPr>
          <p:cNvPr id="34818" name="Text Box 2"/>
          <p:cNvSpPr txBox="1">
            <a:spLocks noChangeArrowheads="1"/>
          </p:cNvSpPr>
          <p:nvPr/>
        </p:nvSpPr>
        <p:spPr bwMode="auto">
          <a:xfrm>
            <a:off x="697706" y="3601403"/>
            <a:ext cx="7649051" cy="2522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tabLst>
                <a:tab pos="5921375" algn="l"/>
              </a:tabLst>
              <a:defRPr>
                <a:solidFill>
                  <a:schemeClr val="tx1"/>
                </a:solidFill>
                <a:latin typeface="Arial" panose="020B0604020202020204" pitchFamily="34" charset="0"/>
                <a:ea typeface="宋体" panose="02010600030101010101" pitchFamily="2" charset="-122"/>
              </a:defRPr>
            </a:lvl1pPr>
            <a:lvl2pPr marL="914400" indent="-457200">
              <a:tabLst>
                <a:tab pos="5921375" algn="l"/>
              </a:tabLst>
              <a:defRPr>
                <a:solidFill>
                  <a:schemeClr val="tx1"/>
                </a:solidFill>
                <a:latin typeface="Arial" panose="020B0604020202020204" pitchFamily="34" charset="0"/>
                <a:ea typeface="宋体" panose="02010600030101010101" pitchFamily="2" charset="-122"/>
              </a:defRPr>
            </a:lvl2pPr>
            <a:lvl3pPr marL="1371600" indent="-457200">
              <a:tabLst>
                <a:tab pos="5921375" algn="l"/>
              </a:tabLst>
              <a:defRPr>
                <a:solidFill>
                  <a:schemeClr val="tx1"/>
                </a:solidFill>
                <a:latin typeface="Arial" panose="020B0604020202020204" pitchFamily="34" charset="0"/>
                <a:ea typeface="宋体" panose="02010600030101010101" pitchFamily="2" charset="-122"/>
              </a:defRPr>
            </a:lvl3pPr>
            <a:lvl4pPr marL="1828800" indent="-457200">
              <a:tabLst>
                <a:tab pos="5921375" algn="l"/>
              </a:tabLst>
              <a:defRPr>
                <a:solidFill>
                  <a:schemeClr val="tx1"/>
                </a:solidFill>
                <a:latin typeface="Arial" panose="020B0604020202020204" pitchFamily="34" charset="0"/>
                <a:ea typeface="宋体" panose="02010600030101010101" pitchFamily="2" charset="-122"/>
              </a:defRPr>
            </a:lvl4pPr>
            <a:lvl5pPr marL="2286000" indent="-457200">
              <a:tabLst>
                <a:tab pos="5921375" algn="l"/>
              </a:tabLst>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9p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3     4      2      3     4     1      3      4      2     3     4</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b="1" dirty="0">
                <a:solidFill>
                  <a:srgbClr val="FFFF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5     13    19    21   37   56    64    75    80   88   92</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1     2       3      4     5     6     7      8      9    10   11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用折半查找法：</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6</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个数仅需比较</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3</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9</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4</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7</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10</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3</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5</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8</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4</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buClr>
                <a:srgbClr val="00B0F0"/>
              </a:buClr>
              <a:buFont typeface="Wingdings" panose="05000000000000000000" charset="0"/>
              <a:buChar char="l"/>
            </a:pP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46" name="Rectangle 30"/>
          <p:cNvSpPr>
            <a:spLocks noChangeArrowheads="1"/>
          </p:cNvSpPr>
          <p:nvPr/>
        </p:nvSpPr>
        <p:spPr bwMode="auto">
          <a:xfrm>
            <a:off x="461645" y="1233170"/>
            <a:ext cx="8225790" cy="186245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oAutofit/>
          </a:bodyPr>
          <a:lstStyle/>
          <a:p>
            <a:pPr marL="342900" indent="-342900" algn="l">
              <a:lnSpc>
                <a:spcPct val="140000"/>
              </a:lnSpc>
              <a:buClr>
                <a:srgbClr val="00B0F0"/>
              </a:buClr>
              <a:buSzTx/>
              <a:buFont typeface="Wingdings" panose="05000000000000000000" charset="0"/>
              <a:buChar char="l"/>
            </a:pPr>
            <a:r>
              <a:rPr kumimoji="1" lang="zh-CN" altLang="en-US" sz="22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二分查找（也叫折半查找）</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是一种在</a:t>
            </a:r>
            <a:r>
              <a:rPr kumimoji="1" lang="zh-CN" altLang="en-US" sz="22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有序数组</a:t>
            </a:r>
            <a:r>
              <a:rPr kumimoji="1" lang="zh-CN" altLang="en-US" sz="2200">
                <a:latin typeface="Times New Roman" panose="02020603050405020304" pitchFamily="18" charset="0"/>
                <a:ea typeface="幼圆" panose="02010509060101010101" pitchFamily="49" charset="-122"/>
                <a:cs typeface="Times New Roman" panose="02020603050405020304" pitchFamily="18" charset="0"/>
              </a:rPr>
              <a:t>中查找特定元素的算法。它的核心思想是：每次都通过比较数组中间元素与目标值，将查找范围缩小一半，直到找到目标或确定不存在。</a:t>
            </a:r>
            <a:endParaRPr kumimoji="1" lang="zh-CN" altLang="en-US" sz="22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47" name="Rectangle 31"/>
          <p:cNvSpPr>
            <a:spLocks noChangeArrowheads="1"/>
          </p:cNvSpPr>
          <p:nvPr/>
        </p:nvSpPr>
        <p:spPr bwMode="auto">
          <a:xfrm>
            <a:off x="764381"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48" name="Rectangle 32"/>
          <p:cNvSpPr>
            <a:spLocks noChangeArrowheads="1"/>
          </p:cNvSpPr>
          <p:nvPr/>
        </p:nvSpPr>
        <p:spPr bwMode="auto">
          <a:xfrm>
            <a:off x="1196579"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49" name="Rectangle 33"/>
          <p:cNvSpPr>
            <a:spLocks noChangeArrowheads="1"/>
          </p:cNvSpPr>
          <p:nvPr/>
        </p:nvSpPr>
        <p:spPr bwMode="auto">
          <a:xfrm>
            <a:off x="1628775"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0" name="Rectangle 34"/>
          <p:cNvSpPr>
            <a:spLocks noChangeArrowheads="1"/>
          </p:cNvSpPr>
          <p:nvPr/>
        </p:nvSpPr>
        <p:spPr bwMode="auto">
          <a:xfrm>
            <a:off x="2059781"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1" name="Rectangle 35"/>
          <p:cNvSpPr>
            <a:spLocks noChangeArrowheads="1"/>
          </p:cNvSpPr>
          <p:nvPr/>
        </p:nvSpPr>
        <p:spPr bwMode="auto">
          <a:xfrm>
            <a:off x="2491979"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2" name="Rectangle 36"/>
          <p:cNvSpPr>
            <a:spLocks noChangeArrowheads="1"/>
          </p:cNvSpPr>
          <p:nvPr/>
        </p:nvSpPr>
        <p:spPr bwMode="auto">
          <a:xfrm>
            <a:off x="2924175"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3" name="Rectangle 37"/>
          <p:cNvSpPr>
            <a:spLocks noChangeArrowheads="1"/>
          </p:cNvSpPr>
          <p:nvPr/>
        </p:nvSpPr>
        <p:spPr bwMode="auto">
          <a:xfrm>
            <a:off x="3356372"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4" name="Rectangle 38"/>
          <p:cNvSpPr>
            <a:spLocks noChangeArrowheads="1"/>
          </p:cNvSpPr>
          <p:nvPr/>
        </p:nvSpPr>
        <p:spPr bwMode="auto">
          <a:xfrm>
            <a:off x="3788569"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5" name="Rectangle 39"/>
          <p:cNvSpPr>
            <a:spLocks noChangeArrowheads="1"/>
          </p:cNvSpPr>
          <p:nvPr/>
        </p:nvSpPr>
        <p:spPr bwMode="auto">
          <a:xfrm>
            <a:off x="4220766"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6" name="Rectangle 40"/>
          <p:cNvSpPr>
            <a:spLocks noChangeArrowheads="1"/>
          </p:cNvSpPr>
          <p:nvPr/>
        </p:nvSpPr>
        <p:spPr bwMode="auto">
          <a:xfrm>
            <a:off x="4652963"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7" name="Rectangle 41"/>
          <p:cNvSpPr>
            <a:spLocks noChangeArrowheads="1"/>
          </p:cNvSpPr>
          <p:nvPr/>
        </p:nvSpPr>
        <p:spPr bwMode="auto">
          <a:xfrm>
            <a:off x="5085160" y="3926444"/>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70" name="Rectangle 54"/>
          <p:cNvSpPr>
            <a:spLocks noChangeArrowheads="1"/>
          </p:cNvSpPr>
          <p:nvPr/>
        </p:nvSpPr>
        <p:spPr bwMode="auto">
          <a:xfrm>
            <a:off x="3168253" y="3223975"/>
            <a:ext cx="291719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以下面</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11</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个数的查找为例：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71" name="Rectangle 55"/>
          <p:cNvSpPr>
            <a:spLocks noChangeArrowheads="1"/>
          </p:cNvSpPr>
          <p:nvPr/>
        </p:nvSpPr>
        <p:spPr bwMode="auto">
          <a:xfrm>
            <a:off x="5886450" y="3591878"/>
            <a:ext cx="87376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50" b="1">
                <a:latin typeface="Times New Roman" panose="02020603050405020304" pitchFamily="18" charset="0"/>
                <a:ea typeface="幼圆" panose="02010509060101010101" pitchFamily="49" charset="-122"/>
              </a:rPr>
              <a:t>比较次数</a:t>
            </a:r>
            <a:endParaRPr kumimoji="1" lang="zh-CN" altLang="en-US" sz="1350" b="1">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kumimoji="1" lang="en-US" altLang="zh-CN"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8.2.3 </a:t>
            </a:r>
            <a:r>
              <a:rPr kumimoji="1" lang="en-US" altLang="en-US"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Dichotomy </a:t>
            </a:r>
            <a:r>
              <a:rPr kumimoji="1" lang="en-US" altLang="zh-CN"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(Binary) searching </a:t>
            </a:r>
            <a:br>
              <a:rPr kumimoji="1" lang="en-US" altLang="zh-CN"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br>
            <a:r>
              <a:rPr kumimoji="1" lang="zh-CN" altLang="en-US"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二分</a:t>
            </a:r>
            <a:r>
              <a:rPr kumimoji="1" lang="en-US" altLang="zh-CN"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a:t>
            </a:r>
            <a:r>
              <a:rPr kumimoji="1" lang="en-US" altLang="en-US" sz="2800" dirty="0" err="1">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折半</a:t>
            </a:r>
            <a:r>
              <a:rPr kumimoji="1" lang="en-US" altLang="zh-CN"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a:t>
            </a:r>
            <a:r>
              <a:rPr kumimoji="1" lang="zh-CN" altLang="en-US"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查找法</a:t>
            </a:r>
            <a:endParaRPr kumimoji="1" lang="zh-CN" altLang="en-US" sz="2800"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endParaRPr>
          </a:p>
        </p:txBody>
      </p:sp>
      <p:sp>
        <p:nvSpPr>
          <p:cNvPr id="33798" name="Text Box 6"/>
          <p:cNvSpPr txBox="1">
            <a:spLocks noChangeArrowheads="1"/>
          </p:cNvSpPr>
          <p:nvPr/>
        </p:nvSpPr>
        <p:spPr bwMode="auto">
          <a:xfrm>
            <a:off x="454025" y="1062990"/>
            <a:ext cx="8232775" cy="553212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1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dichotomySearch</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SeqDictionary</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*position)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latin typeface="Consolas" panose="020B0609020204030204" charset="0"/>
                <a:ea typeface="幼圆" panose="02010509060101010101" pitchFamily="49" charset="-122"/>
                <a:cs typeface="Consolas" panose="020B0609020204030204" charset="0"/>
              </a:rPr>
              <a:t>  low, mid, high;</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low = 0;  high = </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-&gt;n-1;</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while</a:t>
            </a:r>
            <a:r>
              <a:rPr kumimoji="1" lang="en-US" altLang="zh-CN" dirty="0">
                <a:latin typeface="Consolas" panose="020B0609020204030204" charset="0"/>
                <a:ea typeface="幼圆" panose="02010509060101010101" pitchFamily="49" charset="-122"/>
                <a:cs typeface="Consolas" panose="020B0609020204030204" charset="0"/>
              </a:rPr>
              <a:t>(low &lt;= high)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mid = (</a:t>
            </a:r>
            <a:r>
              <a:rPr kumimoji="1" lang="en-US" altLang="zh-CN" dirty="0" err="1">
                <a:latin typeface="Consolas" panose="020B0609020204030204" charset="0"/>
                <a:ea typeface="幼圆" panose="02010509060101010101" pitchFamily="49" charset="-122"/>
                <a:cs typeface="Consolas" panose="020B0609020204030204" charset="0"/>
              </a:rPr>
              <a:t>low + high</a:t>
            </a:r>
            <a:r>
              <a:rPr kumimoji="1" lang="en-US" altLang="zh-CN" dirty="0">
                <a:latin typeface="Consolas" panose="020B0609020204030204" charset="0"/>
                <a:ea typeface="幼圆" panose="02010509060101010101" pitchFamily="49" charset="-122"/>
                <a:cs typeface="Consolas" panose="020B0609020204030204" charset="0"/>
              </a:rPr>
              <a:t>)/2;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当前</a:t>
            </a:r>
            <a:r>
              <a:rPr kumimoji="1" lang="zh-CN" altLang="zh-CN" dirty="0">
                <a:solidFill>
                  <a:srgbClr val="00CC00"/>
                </a:solidFill>
                <a:latin typeface="Consolas" panose="020B0609020204030204" charset="0"/>
                <a:ea typeface="幼圆" panose="02010509060101010101" pitchFamily="49" charset="-122"/>
                <a:cs typeface="Consolas" panose="020B0609020204030204" charset="0"/>
              </a:rPr>
              <a:t>查找</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的中间位置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-&gt;element[mid].key == key)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zh-CN" dirty="0">
                <a:solidFill>
                  <a:srgbClr val="00CC00"/>
                </a:solidFill>
                <a:latin typeface="Consolas" panose="020B0609020204030204" charset="0"/>
                <a:ea typeface="幼圆" panose="02010509060101010101" pitchFamily="49" charset="-122"/>
                <a:cs typeface="Consolas" panose="020B0609020204030204" charset="0"/>
              </a:rPr>
              <a:t>查找</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成功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*position = mid;</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TRUE;</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pdic</a:t>
            </a:r>
            <a:r>
              <a:rPr kumimoji="1" lang="en-US" altLang="zh-CN" dirty="0">
                <a:latin typeface="Consolas" panose="020B0609020204030204" charset="0"/>
                <a:ea typeface="幼圆" panose="02010509060101010101" pitchFamily="49" charset="-122"/>
                <a:cs typeface="Consolas" panose="020B0609020204030204" charset="0"/>
              </a:rPr>
              <a:t>-&gt;element[mid].key &gt; key) {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high = mid - 1;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要</a:t>
            </a:r>
            <a:r>
              <a:rPr kumimoji="1" lang="zh-CN" altLang="zh-CN" dirty="0">
                <a:solidFill>
                  <a:srgbClr val="00CC00"/>
                </a:solidFill>
                <a:latin typeface="Consolas" panose="020B0609020204030204" charset="0"/>
                <a:ea typeface="幼圆" panose="02010509060101010101" pitchFamily="49" charset="-122"/>
                <a:cs typeface="Consolas" panose="020B0609020204030204" charset="0"/>
              </a:rPr>
              <a:t>查找</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的元素在左半区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low = </a:t>
            </a:r>
            <a:r>
              <a:rPr kumimoji="1" lang="en-US" altLang="zh-CN" dirty="0" err="1">
                <a:latin typeface="Consolas" panose="020B0609020204030204" charset="0"/>
                <a:ea typeface="幼圆" panose="02010509060101010101" pitchFamily="49" charset="-122"/>
                <a:cs typeface="Consolas" panose="020B0609020204030204" charset="0"/>
              </a:rPr>
              <a:t>mid + 1</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要</a:t>
            </a:r>
            <a:r>
              <a:rPr kumimoji="1" lang="zh-CN" altLang="zh-CN" dirty="0">
                <a:solidFill>
                  <a:srgbClr val="00CC00"/>
                </a:solidFill>
                <a:latin typeface="Consolas" panose="020B0609020204030204" charset="0"/>
                <a:ea typeface="幼圆" panose="02010509060101010101" pitchFamily="49" charset="-122"/>
                <a:cs typeface="Consolas" panose="020B0609020204030204" charset="0"/>
              </a:rPr>
              <a:t>查找</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的元素在右半区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*position = low;</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FALSE;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zh-CN" dirty="0">
                <a:solidFill>
                  <a:srgbClr val="00CC00"/>
                </a:solidFill>
                <a:latin typeface="Consolas" panose="020B0609020204030204" charset="0"/>
                <a:ea typeface="幼圆" panose="02010509060101010101" pitchFamily="49" charset="-122"/>
                <a:cs typeface="Consolas" panose="020B0609020204030204" charset="0"/>
              </a:rPr>
              <a:t>查找</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失败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10" name="Rectangle 6"/>
          <p:cNvSpPr>
            <a:spLocks noGrp="1" noChangeArrowheads="1"/>
          </p:cNvSpPr>
          <p:nvPr>
            <p:ph type="title"/>
          </p:nvPr>
        </p:nvSpPr>
        <p:spPr>
          <a:noFill/>
        </p:spPr>
        <p:txBody>
          <a:bodyPr anchorCtr="0">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Iterative algorithm</a:t>
            </a:r>
            <a:endParaRPr lang="en-US" altLang="zh-CN">
              <a:solidFill>
                <a:schemeClr val="bg1"/>
              </a:solidFill>
              <a:effectLst>
                <a:outerShdw blurRad="38100" dist="25400" dir="5400000" algn="ctr" rotWithShape="0">
                  <a:srgbClr val="6E747A">
                    <a:alpha val="43000"/>
                  </a:srgbClr>
                </a:outerShdw>
              </a:effectLst>
            </a:endParaRPr>
          </a:p>
        </p:txBody>
      </p:sp>
      <p:sp>
        <p:nvSpPr>
          <p:cNvPr id="277511" name="Text Box 7"/>
          <p:cNvSpPr txBox="1">
            <a:spLocks noChangeArrowheads="1"/>
          </p:cNvSpPr>
          <p:nvPr/>
        </p:nvSpPr>
        <p:spPr bwMode="auto">
          <a:xfrm>
            <a:off x="439420" y="1056005"/>
            <a:ext cx="8247380" cy="536003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chemeClr val="accent1">
                    <a:lumMod val="60000"/>
                    <a:lumOff val="40000"/>
                  </a:schemeClr>
                </a:solidFill>
                <a:latin typeface="Consolas" panose="020B0609020204030204" charset="0"/>
                <a:cs typeface="Consolas" panose="020B0609020204030204" charset="0"/>
              </a:rPr>
              <a:t>template </a:t>
            </a:r>
            <a:r>
              <a:rPr kumimoji="1" lang="en-US" altLang="zh-CN" dirty="0">
                <a:latin typeface="Consolas" panose="020B0609020204030204" charset="0"/>
                <a:cs typeface="Consolas" panose="020B0609020204030204" charset="0"/>
              </a:rPr>
              <a:t>&lt;</a:t>
            </a:r>
            <a:r>
              <a:rPr kumimoji="1" lang="en-US" altLang="zh-CN" dirty="0">
                <a:solidFill>
                  <a:schemeClr val="accent1">
                    <a:lumMod val="60000"/>
                    <a:lumOff val="40000"/>
                  </a:schemeClr>
                </a:solidFill>
                <a:latin typeface="Consolas" panose="020B0609020204030204" charset="0"/>
                <a:cs typeface="Consolas" panose="020B0609020204030204" charset="0"/>
              </a:rPr>
              <a:t>class </a:t>
            </a:r>
            <a:r>
              <a:rPr kumimoji="1" lang="en-US" altLang="zh-CN" dirty="0">
                <a:latin typeface="Consolas" panose="020B0609020204030204" charset="0"/>
                <a:cs typeface="Consolas" panose="020B0609020204030204" charset="0"/>
              </a:rPr>
              <a:t>Type&gt;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sortedList</a:t>
            </a:r>
            <a:r>
              <a:rPr kumimoji="1" lang="en-US" altLang="zh-CN" dirty="0">
                <a:latin typeface="Consolas" panose="020B0609020204030204" charset="0"/>
                <a:cs typeface="Consolas" panose="020B0609020204030204" charset="0"/>
              </a:rPr>
              <a:t> &lt;Type&gt; ::</a:t>
            </a:r>
            <a:endParaRPr kumimoji="1" lang="en-US" altLang="zh-CN" dirty="0">
              <a:latin typeface="Consolas" panose="020B0609020204030204" charset="0"/>
              <a:cs typeface="Consolas" panose="020B0609020204030204" charset="0"/>
            </a:endParaRPr>
          </a:p>
          <a:p>
            <a:pPr>
              <a:lnSpc>
                <a:spcPct val="130000"/>
              </a:lnSpc>
            </a:pPr>
            <a:r>
              <a:rPr kumimoji="1" lang="en-US" altLang="zh-CN" dirty="0" err="1">
                <a:latin typeface="Consolas" panose="020B0609020204030204" charset="0"/>
                <a:cs typeface="Consolas" panose="020B0609020204030204" charset="0"/>
              </a:rPr>
              <a:t>DichotomySearch</a:t>
            </a:r>
            <a:r>
              <a:rPr kumimoji="1" lang="en-US" altLang="zh-CN" dirty="0">
                <a:latin typeface="Consolas" panose="020B0609020204030204" charset="0"/>
                <a:cs typeface="Consolas" panose="020B0609020204030204" charset="0"/>
              </a:rPr>
              <a:t> ( </a:t>
            </a:r>
            <a:r>
              <a:rPr kumimoji="1" lang="en-US" altLang="zh-CN" dirty="0" err="1">
                <a:latin typeface="Consolas" panose="020B0609020204030204" charset="0"/>
                <a:cs typeface="Consolas" panose="020B0609020204030204" charset="0"/>
              </a:rPr>
              <a:t>const</a:t>
            </a:r>
            <a:r>
              <a:rPr kumimoji="1" lang="en-US" altLang="zh-CN" dirty="0">
                <a:latin typeface="Consolas" panose="020B0609020204030204" charset="0"/>
                <a:cs typeface="Consolas" panose="020B0609020204030204" charset="0"/>
              </a:rPr>
              <a:t> Type &amp; </a:t>
            </a:r>
            <a:r>
              <a:rPr kumimoji="1" lang="en-US" altLang="zh-CN" dirty="0">
                <a:latin typeface="Consolas" panose="020B0609020204030204" charset="0"/>
                <a:cs typeface="Consolas" panose="020B0609020204030204" charset="0"/>
              </a:rPr>
              <a:t>key ) </a:t>
            </a:r>
            <a:r>
              <a:rPr kumimoji="1" lang="en-US" altLang="zh-CN" dirty="0" err="1">
                <a:latin typeface="Consolas" panose="020B0609020204030204" charset="0"/>
                <a:cs typeface="Consolas" panose="020B0609020204030204" charset="0"/>
              </a:rPr>
              <a:t>const</a:t>
            </a:r>
            <a:r>
              <a:rPr kumimoji="1" lang="en-US" altLang="zh-CN" dirty="0">
                <a:latin typeface="Consolas" panose="020B0609020204030204" charset="0"/>
                <a:cs typeface="Consolas" panose="020B0609020204030204" charset="0"/>
              </a:rPr>
              <a:t> {	</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latin typeface="Consolas" panose="020B0609020204030204" charset="0"/>
                <a:cs typeface="Consolas" panose="020B0609020204030204" charset="0"/>
              </a:rPr>
              <a:t>high = CurrentSize</a:t>
            </a:r>
            <a:r>
              <a:rPr kumimoji="1" lang="en-US" altLang="zh-CN" dirty="0">
                <a:latin typeface="Consolas" panose="020B0609020204030204" charset="0"/>
                <a:ea typeface="仿宋_GB2312" panose="02010609030101010101" pitchFamily="49" charset="-122"/>
                <a:cs typeface="Consolas" panose="020B0609020204030204" charset="0"/>
              </a:rPr>
              <a:t>-</a:t>
            </a:r>
            <a:r>
              <a:rPr kumimoji="1" lang="en-US" altLang="zh-CN" dirty="0">
                <a:latin typeface="Consolas" panose="020B0609020204030204" charset="0"/>
                <a:cs typeface="Consolas" panose="020B0609020204030204" charset="0"/>
              </a:rPr>
              <a:t>1,  low</a:t>
            </a:r>
            <a:r>
              <a:rPr kumimoji="1" lang="en-US" altLang="zh-CN" dirty="0">
                <a:latin typeface="Consolas" panose="020B0609020204030204" charset="0"/>
                <a:cs typeface="Consolas" panose="020B0609020204030204" charset="0"/>
              </a:rPr>
              <a:t> = 0,  mid;</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solidFill>
                  <a:srgbClr val="FFFF00"/>
                </a:solidFill>
                <a:latin typeface="Consolas" panose="020B0609020204030204" charset="0"/>
                <a:cs typeface="Consolas" panose="020B0609020204030204" charset="0"/>
              </a:rPr>
              <a:t>    </a:t>
            </a:r>
            <a:r>
              <a:rPr kumimoji="1" lang="en-US" altLang="zh-CN" dirty="0">
                <a:solidFill>
                  <a:srgbClr val="FF0000"/>
                </a:solidFill>
                <a:latin typeface="Consolas" panose="020B0609020204030204" charset="0"/>
                <a:cs typeface="Consolas" panose="020B0609020204030204" charset="0"/>
              </a:rPr>
              <a:t>while(low &lt;= high) {</a:t>
            </a:r>
            <a:endParaRPr kumimoji="1" lang="en-US" altLang="zh-CN" dirty="0">
              <a:solidFill>
                <a:srgbClr val="FF0000"/>
              </a:solidFill>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mid = ( low</a:t>
            </a:r>
            <a:r>
              <a:rPr kumimoji="1" lang="en-US" altLang="zh-CN" dirty="0">
                <a:latin typeface="Consolas" panose="020B0609020204030204" charset="0"/>
                <a:cs typeface="Consolas" panose="020B0609020204030204" charset="0"/>
              </a:rPr>
              <a:t> + high ) / 2;</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latin typeface="Consolas" panose="020B0609020204030204" charset="0"/>
                <a:cs typeface="Consolas" panose="020B0609020204030204" charset="0"/>
              </a:rPr>
              <a:t>(</a:t>
            </a:r>
            <a:r>
              <a:rPr kumimoji="1" lang="en-US" altLang="zh-CN" dirty="0">
                <a:latin typeface="Consolas" panose="020B0609020204030204" charset="0"/>
                <a:cs typeface="Consolas" panose="020B0609020204030204" charset="0"/>
              </a:rPr>
              <a:t>Element[mid].</a:t>
            </a:r>
            <a:r>
              <a:rPr kumimoji="1" lang="en-US" altLang="zh-CN" dirty="0" err="1">
                <a:latin typeface="Consolas" panose="020B0609020204030204" charset="0"/>
                <a:cs typeface="Consolas" panose="020B0609020204030204" charset="0"/>
              </a:rPr>
              <a:t>getKey</a:t>
            </a:r>
            <a:r>
              <a:rPr kumimoji="1" lang="en-US" altLang="zh-CN" dirty="0">
                <a:latin typeface="Consolas" panose="020B0609020204030204" charset="0"/>
                <a:cs typeface="Consolas" panose="020B0609020204030204" charset="0"/>
              </a:rPr>
              <a:t>() &lt; key)</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low</a:t>
            </a:r>
            <a:r>
              <a:rPr kumimoji="1" lang="en-US" altLang="zh-CN" dirty="0">
                <a:latin typeface="Consolas" panose="020B0609020204030204" charset="0"/>
                <a:cs typeface="Consolas" panose="020B0609020204030204" charset="0"/>
              </a:rPr>
              <a:t> = mid + 1;</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else if</a:t>
            </a:r>
            <a:r>
              <a:rPr kumimoji="1" lang="en-US" altLang="zh-CN" dirty="0">
                <a:latin typeface="Consolas" panose="020B0609020204030204" charset="0"/>
                <a:cs typeface="Consolas" panose="020B0609020204030204" charset="0"/>
              </a:rPr>
              <a:t>(</a:t>
            </a:r>
            <a:r>
              <a:rPr kumimoji="1" lang="en-US" altLang="zh-CN" dirty="0">
                <a:latin typeface="Consolas" panose="020B0609020204030204" charset="0"/>
                <a:cs typeface="Consolas" panose="020B0609020204030204" charset="0"/>
              </a:rPr>
              <a:t>Element[mid].</a:t>
            </a:r>
            <a:r>
              <a:rPr kumimoji="1" lang="en-US" altLang="zh-CN" dirty="0" err="1">
                <a:latin typeface="Consolas" panose="020B0609020204030204" charset="0"/>
                <a:cs typeface="Consolas" panose="020B0609020204030204" charset="0"/>
              </a:rPr>
              <a:t>getKey</a:t>
            </a:r>
            <a:r>
              <a:rPr kumimoji="1" lang="en-US" altLang="zh-CN" dirty="0">
                <a:latin typeface="Consolas" panose="020B0609020204030204" charset="0"/>
                <a:cs typeface="Consolas" panose="020B0609020204030204" charset="0"/>
              </a:rPr>
              <a:t>() &gt; key)</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high = mid </a:t>
            </a:r>
            <a:r>
              <a:rPr kumimoji="1" lang="en-US" altLang="zh-CN" dirty="0">
                <a:latin typeface="Consolas" panose="020B0609020204030204" charset="0"/>
                <a:ea typeface="楷体_GB2312" panose="02010609030101010101" pitchFamily="49" charset="-122"/>
                <a:cs typeface="Consolas" panose="020B0609020204030204" charset="0"/>
              </a:rPr>
              <a:t>-</a:t>
            </a:r>
            <a:r>
              <a:rPr kumimoji="1" lang="en-US" altLang="zh-CN" dirty="0">
                <a:latin typeface="Consolas" panose="020B0609020204030204" charset="0"/>
                <a:cs typeface="Consolas" panose="020B0609020204030204" charset="0"/>
              </a:rPr>
              <a:t> 1;</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else</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latin typeface="Consolas" panose="020B0609020204030204" charset="0"/>
                <a:cs typeface="Consolas" panose="020B0609020204030204" charset="0"/>
              </a:rPr>
              <a:t>mid;</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rgbClr val="FF0000"/>
                </a:solidFill>
                <a:latin typeface="Consolas" panose="020B0609020204030204" charset="0"/>
                <a:cs typeface="Consolas" panose="020B0609020204030204" charset="0"/>
              </a:rPr>
              <a:t>  }</a:t>
            </a:r>
            <a:endParaRPr kumimoji="1" lang="en-US" altLang="zh-CN" dirty="0">
              <a:solidFill>
                <a:srgbClr val="FFFF00"/>
              </a:solidFill>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latin typeface="Consolas" panose="020B0609020204030204" charset="0"/>
                <a:ea typeface="仿宋_GB2312" panose="02010609030101010101" pitchFamily="49" charset="-122"/>
                <a:cs typeface="Consolas" panose="020B0609020204030204" charset="0"/>
              </a:rPr>
              <a:t>-</a:t>
            </a:r>
            <a:r>
              <a:rPr kumimoji="1" lang="en-US" altLang="zh-CN" dirty="0">
                <a:latin typeface="Consolas" panose="020B0609020204030204" charset="0"/>
                <a:cs typeface="Consolas" panose="020B0609020204030204" charset="0"/>
              </a:rPr>
              <a:t>1;</a:t>
            </a:r>
            <a:endParaRPr kumimoji="1" lang="en-US" altLang="zh-CN" dirty="0">
              <a:latin typeface="Consolas" panose="020B0609020204030204" charset="0"/>
              <a:cs typeface="Consolas" panose="020B0609020204030204" charset="0"/>
            </a:endParaRPr>
          </a:p>
          <a:p>
            <a:pPr>
              <a:lnSpc>
                <a:spcPct val="130000"/>
              </a:lnSpc>
            </a:pP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4" name="Rectangle 6"/>
          <p:cNvSpPr>
            <a:spLocks noGrp="1" noChangeArrowheads="1"/>
          </p:cNvSpPr>
          <p:nvPr>
            <p:ph type="title"/>
          </p:nvPr>
        </p:nvSpPr>
        <p:spPr>
          <a:noFill/>
        </p:spPr>
        <p:txBody>
          <a:bodyPr anchorCtr="0"/>
          <a:lstStyle/>
          <a:p>
            <a:r>
              <a:rPr lang="en-US" altLang="zh-CN">
                <a:solidFill>
                  <a:schemeClr val="bg1"/>
                </a:solidFill>
                <a:effectLst>
                  <a:outerShdw blurRad="38100" dist="25400" dir="5400000" algn="ctr" rotWithShape="0">
                    <a:srgbClr val="6E747A">
                      <a:alpha val="43000"/>
                    </a:srgbClr>
                  </a:outerShdw>
                </a:effectLst>
              </a:rPr>
              <a:t>Recursive algorithm</a:t>
            </a:r>
            <a:endParaRPr lang="en-US" altLang="zh-CN">
              <a:solidFill>
                <a:schemeClr val="bg1"/>
              </a:solidFill>
              <a:effectLst>
                <a:outerShdw blurRad="38100" dist="25400" dir="5400000" algn="ctr" rotWithShape="0">
                  <a:srgbClr val="6E747A">
                    <a:alpha val="43000"/>
                  </a:srgbClr>
                </a:outerShdw>
              </a:effectLst>
            </a:endParaRPr>
          </a:p>
        </p:txBody>
      </p:sp>
      <p:sp>
        <p:nvSpPr>
          <p:cNvPr id="278535" name="Text Box 7"/>
          <p:cNvSpPr txBox="1">
            <a:spLocks noChangeArrowheads="1"/>
          </p:cNvSpPr>
          <p:nvPr/>
        </p:nvSpPr>
        <p:spPr bwMode="auto">
          <a:xfrm>
            <a:off x="465455" y="1087755"/>
            <a:ext cx="8221345" cy="529971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a:solidFill>
                  <a:schemeClr val="accent1">
                    <a:lumMod val="60000"/>
                    <a:lumOff val="40000"/>
                  </a:schemeClr>
                </a:solidFill>
                <a:latin typeface="Consolas" panose="020B0609020204030204" charset="0"/>
                <a:cs typeface="Consolas" panose="020B0609020204030204" charset="0"/>
              </a:rPr>
              <a:t>template</a:t>
            </a:r>
            <a:r>
              <a:rPr kumimoji="1" lang="en-US" altLang="zh-CN" dirty="0">
                <a:latin typeface="Consolas" panose="020B0609020204030204" charset="0"/>
                <a:cs typeface="Consolas" panose="020B0609020204030204" charset="0"/>
              </a:rPr>
              <a:t>&lt;</a:t>
            </a:r>
            <a:r>
              <a:rPr kumimoji="1" lang="en-US" altLang="zh-CN" dirty="0">
                <a:solidFill>
                  <a:schemeClr val="accent1">
                    <a:lumMod val="60000"/>
                    <a:lumOff val="40000"/>
                  </a:schemeClr>
                </a:solidFill>
                <a:latin typeface="Consolas" panose="020B0609020204030204" charset="0"/>
                <a:cs typeface="Consolas" panose="020B0609020204030204" charset="0"/>
              </a:rPr>
              <a:t>class </a:t>
            </a:r>
            <a:r>
              <a:rPr kumimoji="1" lang="en-US" altLang="zh-CN" dirty="0">
                <a:latin typeface="Consolas" panose="020B0609020204030204" charset="0"/>
                <a:cs typeface="Consolas" panose="020B0609020204030204" charset="0"/>
              </a:rPr>
              <a:t>Type&gt;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latin typeface="Consolas" panose="020B0609020204030204" charset="0"/>
                <a:cs typeface="Consolas" panose="020B0609020204030204" charset="0"/>
              </a:rPr>
              <a:t>sortedList</a:t>
            </a:r>
            <a:r>
              <a:rPr kumimoji="1" lang="en-US" altLang="zh-CN" dirty="0">
                <a:latin typeface="Consolas" panose="020B0609020204030204" charset="0"/>
                <a:cs typeface="Consolas" panose="020B0609020204030204" charset="0"/>
              </a:rPr>
              <a:t>&lt;Type&gt;::</a:t>
            </a:r>
            <a:endParaRPr kumimoji="1" lang="en-US" altLang="zh-CN" dirty="0">
              <a:latin typeface="Consolas" panose="020B0609020204030204" charset="0"/>
              <a:cs typeface="Consolas" panose="020B0609020204030204" charset="0"/>
            </a:endParaRPr>
          </a:p>
          <a:p>
            <a:pPr>
              <a:lnSpc>
                <a:spcPct val="140000"/>
              </a:lnSpc>
            </a:pPr>
            <a:r>
              <a:rPr kumimoji="1" lang="en-US" altLang="zh-CN" dirty="0" err="1">
                <a:latin typeface="Consolas" panose="020B0609020204030204" charset="0"/>
                <a:cs typeface="Consolas" panose="020B0609020204030204" charset="0"/>
              </a:rPr>
              <a:t>DichotomySearch</a:t>
            </a:r>
            <a:r>
              <a:rPr kumimoji="1" lang="en-US" altLang="zh-CN" dirty="0">
                <a:latin typeface="Consolas" panose="020B0609020204030204" charset="0"/>
                <a:cs typeface="Consolas" panose="020B0609020204030204" charset="0"/>
              </a:rPr>
              <a:t>(</a:t>
            </a:r>
            <a:r>
              <a:rPr kumimoji="1" lang="en-US" altLang="zh-CN" dirty="0" err="1">
                <a:solidFill>
                  <a:schemeClr val="accent1">
                    <a:lumMod val="60000"/>
                    <a:lumOff val="40000"/>
                  </a:schemeClr>
                </a:solidFill>
                <a:latin typeface="Consolas" panose="020B0609020204030204" charset="0"/>
                <a:cs typeface="Consolas" panose="020B0609020204030204" charset="0"/>
              </a:rPr>
              <a:t>const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latin typeface="Consolas" panose="020B0609020204030204" charset="0"/>
                <a:cs typeface="Consolas" panose="020B0609020204030204" charset="0"/>
              </a:rPr>
              <a:t>Type &amp; key, </a:t>
            </a:r>
            <a:r>
              <a:rPr kumimoji="1" lang="en-US" altLang="zh-CN" dirty="0" err="1">
                <a:latin typeface="Consolas" panose="020B0609020204030204" charset="0"/>
                <a:cs typeface="Consolas" panose="020B0609020204030204" charset="0"/>
              </a:rPr>
              <a:t>const</a:t>
            </a:r>
            <a:r>
              <a:rPr kumimoji="1" lang="en-US" altLang="zh-CN" dirty="0">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latin typeface="Consolas" panose="020B0609020204030204" charset="0"/>
                <a:cs typeface="Consolas" panose="020B0609020204030204" charset="0"/>
              </a:rPr>
              <a:t>low, </a:t>
            </a:r>
            <a:r>
              <a:rPr kumimoji="1" lang="en-US" altLang="zh-CN" dirty="0" err="1">
                <a:latin typeface="Consolas" panose="020B0609020204030204" charset="0"/>
                <a:cs typeface="Consolas" panose="020B0609020204030204" charset="0"/>
              </a:rPr>
              <a:t>const</a:t>
            </a:r>
            <a:r>
              <a:rPr kumimoji="1" lang="en-US" altLang="zh-CN" dirty="0">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latin typeface="Consolas" panose="020B0609020204030204" charset="0"/>
                <a:cs typeface="Consolas" panose="020B0609020204030204" charset="0"/>
              </a:rPr>
              <a:t>high) </a:t>
            </a:r>
            <a:r>
              <a:rPr kumimoji="1" lang="en-US" altLang="zh-CN" dirty="0" err="1">
                <a:solidFill>
                  <a:schemeClr val="accent1">
                    <a:lumMod val="60000"/>
                    <a:lumOff val="40000"/>
                  </a:schemeClr>
                </a:solidFill>
                <a:latin typeface="Consolas" panose="020B0609020204030204" charset="0"/>
                <a:cs typeface="Consolas" panose="020B0609020204030204" charset="0"/>
              </a:rPr>
              <a:t>const</a:t>
            </a: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latin typeface="Consolas" panose="020B0609020204030204" charset="0"/>
                <a:cs typeface="Consolas" panose="020B0609020204030204" charset="0"/>
              </a:rPr>
              <a:t>mid = </a:t>
            </a:r>
            <a:r>
              <a:rPr kumimoji="1" lang="en-US" altLang="zh-CN" dirty="0">
                <a:latin typeface="Consolas" panose="020B0609020204030204" charset="0"/>
                <a:ea typeface="隶书" panose="02010509060101010101" pitchFamily="49" charset="-122"/>
                <a:cs typeface="Consolas" panose="020B0609020204030204" charset="0"/>
              </a:rPr>
              <a:t>-</a:t>
            </a:r>
            <a:r>
              <a:rPr kumimoji="1" lang="en-US" altLang="zh-CN" dirty="0">
                <a:latin typeface="Consolas" panose="020B0609020204030204" charset="0"/>
                <a:cs typeface="Consolas" panose="020B0609020204030204" charset="0"/>
              </a:rPr>
              <a:t>1;</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latin typeface="Consolas" panose="020B0609020204030204" charset="0"/>
                <a:cs typeface="Consolas" panose="020B0609020204030204" charset="0"/>
              </a:rPr>
              <a:t>(low</a:t>
            </a:r>
            <a:r>
              <a:rPr kumimoji="1" lang="en-US" altLang="zh-CN" dirty="0">
                <a:latin typeface="Consolas" panose="020B0609020204030204" charset="0"/>
                <a:cs typeface="Consolas" panose="020B0609020204030204" charset="0"/>
              </a:rPr>
              <a:t> &lt;= high ) {</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mid = (low</a:t>
            </a:r>
            <a:r>
              <a:rPr kumimoji="1" lang="en-US" altLang="zh-CN" dirty="0">
                <a:latin typeface="Consolas" panose="020B0609020204030204" charset="0"/>
                <a:cs typeface="Consolas" panose="020B0609020204030204" charset="0"/>
              </a:rPr>
              <a:t> + high) / 2;</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latin typeface="Consolas" panose="020B0609020204030204" charset="0"/>
                <a:cs typeface="Consolas" panose="020B0609020204030204" charset="0"/>
              </a:rPr>
              <a:t>(</a:t>
            </a:r>
            <a:r>
              <a:rPr kumimoji="1" lang="en-US" altLang="zh-CN" dirty="0">
                <a:latin typeface="Consolas" panose="020B0609020204030204" charset="0"/>
                <a:cs typeface="Consolas" panose="020B0609020204030204" charset="0"/>
              </a:rPr>
              <a:t>Element[mid].</a:t>
            </a:r>
            <a:r>
              <a:rPr kumimoji="1" lang="en-US" altLang="zh-CN" dirty="0" err="1">
                <a:latin typeface="Consolas" panose="020B0609020204030204" charset="0"/>
                <a:cs typeface="Consolas" panose="020B0609020204030204" charset="0"/>
              </a:rPr>
              <a:t>getKey</a:t>
            </a:r>
            <a:r>
              <a:rPr kumimoji="1" lang="en-US" altLang="zh-CN" dirty="0">
                <a:latin typeface="Consolas" panose="020B0609020204030204" charset="0"/>
                <a:cs typeface="Consolas" panose="020B0609020204030204" charset="0"/>
              </a:rPr>
              <a:t>() &lt; key)</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solidFill>
                  <a:srgbClr val="FFFF00"/>
                </a:solidFill>
                <a:latin typeface="Consolas" panose="020B0609020204030204" charset="0"/>
                <a:cs typeface="Consolas" panose="020B0609020204030204" charset="0"/>
              </a:rPr>
              <a:t>           </a:t>
            </a:r>
            <a:r>
              <a:rPr kumimoji="1" lang="en-US" altLang="zh-CN" dirty="0">
                <a:solidFill>
                  <a:srgbClr val="FF0000"/>
                </a:solidFill>
                <a:latin typeface="Consolas" panose="020B0609020204030204" charset="0"/>
                <a:cs typeface="Consolas" panose="020B0609020204030204" charset="0"/>
              </a:rPr>
              <a:t>mid = </a:t>
            </a:r>
            <a:r>
              <a:rPr kumimoji="1" lang="en-US" altLang="zh-CN" dirty="0" err="1">
                <a:solidFill>
                  <a:srgbClr val="FF0000"/>
                </a:solidFill>
                <a:latin typeface="Consolas" panose="020B0609020204030204" charset="0"/>
                <a:cs typeface="Consolas" panose="020B0609020204030204" charset="0"/>
              </a:rPr>
              <a:t>DichotomySearch</a:t>
            </a:r>
            <a:r>
              <a:rPr kumimoji="1" lang="en-US" altLang="zh-CN" dirty="0">
                <a:solidFill>
                  <a:srgbClr val="FF0000"/>
                </a:solidFill>
                <a:latin typeface="Consolas" panose="020B0609020204030204" charset="0"/>
                <a:cs typeface="Consolas" panose="020B0609020204030204" charset="0"/>
              </a:rPr>
              <a:t>(x, mid </a:t>
            </a:r>
            <a:r>
              <a:rPr kumimoji="1" lang="en-US" altLang="zh-CN" dirty="0">
                <a:solidFill>
                  <a:srgbClr val="FF0000"/>
                </a:solidFill>
                <a:latin typeface="Consolas" panose="020B0609020204030204" charset="0"/>
                <a:cs typeface="Consolas" panose="020B0609020204030204" charset="0"/>
              </a:rPr>
              <a:t>+1, high);</a:t>
            </a:r>
            <a:endParaRPr kumimoji="1" lang="en-US" altLang="zh-CN" dirty="0">
              <a:solidFill>
                <a:srgbClr val="FF0000"/>
              </a:solidFill>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 else if</a:t>
            </a:r>
            <a:r>
              <a:rPr kumimoji="1" lang="en-US" altLang="zh-CN" dirty="0">
                <a:latin typeface="Consolas" panose="020B0609020204030204" charset="0"/>
                <a:cs typeface="Consolas" panose="020B0609020204030204" charset="0"/>
              </a:rPr>
              <a:t>(</a:t>
            </a:r>
            <a:r>
              <a:rPr kumimoji="1" lang="en-US" altLang="zh-CN" dirty="0">
                <a:latin typeface="Consolas" panose="020B0609020204030204" charset="0"/>
                <a:cs typeface="Consolas" panose="020B0609020204030204" charset="0"/>
              </a:rPr>
              <a:t>Element[mid].</a:t>
            </a:r>
            <a:r>
              <a:rPr kumimoji="1" lang="en-US" altLang="zh-CN" dirty="0" err="1">
                <a:latin typeface="Consolas" panose="020B0609020204030204" charset="0"/>
                <a:cs typeface="Consolas" panose="020B0609020204030204" charset="0"/>
              </a:rPr>
              <a:t>getKey</a:t>
            </a:r>
            <a:r>
              <a:rPr kumimoji="1" lang="en-US" altLang="zh-CN" dirty="0">
                <a:latin typeface="Consolas" panose="020B0609020204030204" charset="0"/>
                <a:cs typeface="Consolas" panose="020B0609020204030204" charset="0"/>
              </a:rPr>
              <a:t>() &gt; key)</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solidFill>
                  <a:srgbClr val="FFFF00"/>
                </a:solidFill>
                <a:latin typeface="Consolas" panose="020B0609020204030204" charset="0"/>
                <a:cs typeface="Consolas" panose="020B0609020204030204" charset="0"/>
              </a:rPr>
              <a:t>	    </a:t>
            </a:r>
            <a:r>
              <a:rPr kumimoji="1" lang="en-US" altLang="zh-CN" dirty="0">
                <a:solidFill>
                  <a:srgbClr val="FF0000"/>
                </a:solidFill>
                <a:latin typeface="Consolas" panose="020B0609020204030204" charset="0"/>
                <a:cs typeface="Consolas" panose="020B0609020204030204" charset="0"/>
              </a:rPr>
              <a:t>mid = </a:t>
            </a:r>
            <a:r>
              <a:rPr kumimoji="1" lang="en-US" altLang="zh-CN" dirty="0" err="1">
                <a:solidFill>
                  <a:srgbClr val="FF0000"/>
                </a:solidFill>
                <a:latin typeface="Consolas" panose="020B0609020204030204" charset="0"/>
                <a:cs typeface="Consolas" panose="020B0609020204030204" charset="0"/>
              </a:rPr>
              <a:t>DichotomySearch</a:t>
            </a:r>
            <a:r>
              <a:rPr kumimoji="1" lang="en-US" altLang="zh-CN" dirty="0">
                <a:solidFill>
                  <a:srgbClr val="FF0000"/>
                </a:solidFill>
                <a:latin typeface="Consolas" panose="020B0609020204030204" charset="0"/>
                <a:cs typeface="Consolas" panose="020B0609020204030204" charset="0"/>
              </a:rPr>
              <a:t>(x</a:t>
            </a:r>
            <a:r>
              <a:rPr kumimoji="1" lang="en-US" altLang="zh-CN" dirty="0">
                <a:solidFill>
                  <a:srgbClr val="FF0000"/>
                </a:solidFill>
                <a:latin typeface="Consolas" panose="020B0609020204030204" charset="0"/>
                <a:cs typeface="Consolas" panose="020B0609020204030204" charset="0"/>
              </a:rPr>
              <a:t>, low, mid </a:t>
            </a:r>
            <a:r>
              <a:rPr kumimoji="1" lang="en-US" altLang="zh-CN" dirty="0">
                <a:solidFill>
                  <a:srgbClr val="FF0000"/>
                </a:solidFill>
                <a:latin typeface="Consolas" panose="020B0609020204030204" charset="0"/>
                <a:ea typeface="隶书" panose="02010509060101010101" pitchFamily="49" charset="-122"/>
                <a:cs typeface="Consolas" panose="020B0609020204030204" charset="0"/>
              </a:rPr>
              <a:t>-</a:t>
            </a:r>
            <a:r>
              <a:rPr kumimoji="1" lang="en-US" altLang="zh-CN" dirty="0">
                <a:solidFill>
                  <a:srgbClr val="FF0000"/>
                </a:solidFill>
                <a:latin typeface="Consolas" panose="020B0609020204030204" charset="0"/>
                <a:cs typeface="Consolas" panose="020B0609020204030204" charset="0"/>
              </a:rPr>
              <a:t>1); </a:t>
            </a:r>
            <a:endParaRPr kumimoji="1" lang="en-US" altLang="zh-CN" dirty="0">
              <a:solidFill>
                <a:srgbClr val="FF0000"/>
              </a:solidFill>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latin typeface="Consolas" panose="020B0609020204030204" charset="0"/>
                <a:cs typeface="Consolas" panose="020B0609020204030204" charset="0"/>
              </a:rPr>
              <a:t>mid;</a:t>
            </a:r>
            <a:endParaRPr kumimoji="1" lang="en-US" altLang="zh-CN" dirty="0">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8.2.3 </a:t>
            </a:r>
            <a:r>
              <a:rPr kumimoji="1" lang="en-US" altLang="en-US" dirty="0">
                <a:effectLst>
                  <a:outerShdw blurRad="38100" dist="25400" dir="5400000" algn="ctr" rotWithShape="0">
                    <a:srgbClr val="6E747A">
                      <a:alpha val="43000"/>
                    </a:srgbClr>
                  </a:outerShdw>
                </a:effectLst>
                <a:cs typeface="Times New Roman" panose="02020603050405020304" pitchFamily="18" charset="0"/>
                <a:sym typeface="+mn-ea"/>
              </a:rPr>
              <a:t>Dichotomy </a:t>
            </a:r>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(Binary) searching</a:t>
            </a:r>
            <a:endParaRPr lang="zh-CN" altLang="en-US"/>
          </a:p>
        </p:txBody>
      </p:sp>
      <p:sp>
        <p:nvSpPr>
          <p:cNvPr id="34818" name="Text Box 2"/>
          <p:cNvSpPr txBox="1">
            <a:spLocks noChangeArrowheads="1"/>
          </p:cNvSpPr>
          <p:nvPr/>
        </p:nvSpPr>
        <p:spPr bwMode="auto">
          <a:xfrm>
            <a:off x="697706" y="1538288"/>
            <a:ext cx="7649051" cy="4923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tabLst>
                <a:tab pos="5921375" algn="l"/>
              </a:tabLst>
              <a:defRPr>
                <a:solidFill>
                  <a:schemeClr val="tx1"/>
                </a:solidFill>
                <a:latin typeface="Arial" panose="020B0604020202020204" pitchFamily="34" charset="0"/>
                <a:ea typeface="宋体" panose="02010600030101010101" pitchFamily="2" charset="-122"/>
              </a:defRPr>
            </a:lvl1pPr>
            <a:lvl2pPr marL="914400" indent="-457200">
              <a:tabLst>
                <a:tab pos="5921375" algn="l"/>
              </a:tabLst>
              <a:defRPr>
                <a:solidFill>
                  <a:schemeClr val="tx1"/>
                </a:solidFill>
                <a:latin typeface="Arial" panose="020B0604020202020204" pitchFamily="34" charset="0"/>
                <a:ea typeface="宋体" panose="02010600030101010101" pitchFamily="2" charset="-122"/>
              </a:defRPr>
            </a:lvl2pPr>
            <a:lvl3pPr marL="1371600" indent="-457200">
              <a:tabLst>
                <a:tab pos="5921375" algn="l"/>
              </a:tabLst>
              <a:defRPr>
                <a:solidFill>
                  <a:schemeClr val="tx1"/>
                </a:solidFill>
                <a:latin typeface="Arial" panose="020B0604020202020204" pitchFamily="34" charset="0"/>
                <a:ea typeface="宋体" panose="02010600030101010101" pitchFamily="2" charset="-122"/>
              </a:defRPr>
            </a:lvl3pPr>
            <a:lvl4pPr marL="1828800" indent="-457200">
              <a:tabLst>
                <a:tab pos="5921375" algn="l"/>
              </a:tabLst>
              <a:defRPr>
                <a:solidFill>
                  <a:schemeClr val="tx1"/>
                </a:solidFill>
                <a:latin typeface="Arial" panose="020B0604020202020204" pitchFamily="34" charset="0"/>
                <a:ea typeface="宋体" panose="02010600030101010101" pitchFamily="2" charset="-122"/>
              </a:defRPr>
            </a:lvl4pPr>
            <a:lvl5pPr marL="2286000" indent="-457200">
              <a:tabLst>
                <a:tab pos="5921375" algn="l"/>
              </a:tabLst>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tabLst>
                <a:tab pos="5921375" algn="l"/>
              </a:tabLst>
              <a:defRPr>
                <a:solidFill>
                  <a:schemeClr val="tx1"/>
                </a:solidFill>
                <a:latin typeface="Arial" panose="020B0604020202020204" pitchFamily="34" charset="0"/>
                <a:ea typeface="宋体" panose="02010600030101010101" pitchFamily="2" charset="-122"/>
              </a:defRPr>
            </a:lvl9p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3     4      2      3     4     1      3      4      2     3     4</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b="1" dirty="0">
                <a:solidFill>
                  <a:srgbClr val="FFFF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5     13    19    21   37   56    64    75    80   88   92</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1     2       3      4     5     6     7      8      9    10   11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用折半查找法可知：</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6</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个数仅需比较</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3</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9</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4</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7</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10</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3</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次，找到第</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5</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8</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个数需</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4</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次。</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这个查找过程可以用右图的</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0" indent="0">
              <a:lnSpc>
                <a:spcPct val="130000"/>
              </a:lnSpc>
              <a:buClr>
                <a:srgbClr val="00B0F0"/>
              </a:buClr>
              <a:buFont typeface="Wingdings" panose="05000000000000000000" charset="0"/>
              <a:buNone/>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二叉树来表示，称为</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二叉判</a:t>
            </a:r>
            <a:endPar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0" indent="0">
              <a:lnSpc>
                <a:spcPct val="130000"/>
              </a:lnSpc>
              <a:buClr>
                <a:srgbClr val="00B0F0"/>
              </a:buClr>
              <a:buFont typeface="Wingdings" panose="05000000000000000000" charset="0"/>
              <a:buNone/>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定树</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。查找某个结点所比较</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0" indent="0">
              <a:lnSpc>
                <a:spcPct val="130000"/>
              </a:lnSpc>
              <a:buClr>
                <a:srgbClr val="00B0F0"/>
              </a:buClr>
              <a:buFont typeface="Wingdings" panose="05000000000000000000" charset="0"/>
              <a:buNone/>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的次数等于该结点的层次数。</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0" indent="0">
              <a:lnSpc>
                <a:spcPct val="130000"/>
              </a:lnSpc>
              <a:buClr>
                <a:srgbClr val="00B0F0"/>
              </a:buClr>
              <a:buFont typeface="Wingdings" panose="05000000000000000000" charset="0"/>
              <a:buNone/>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实际上查找某个结点的过程</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0" indent="0">
              <a:lnSpc>
                <a:spcPct val="130000"/>
              </a:lnSpc>
              <a:buClr>
                <a:srgbClr val="00B0F0"/>
              </a:buClr>
              <a:buFont typeface="Wingdings" panose="05000000000000000000" charset="0"/>
              <a:buNone/>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就是</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从根结点到与该记录相</a:t>
            </a:r>
            <a:endPar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marL="0" indent="0">
              <a:lnSpc>
                <a:spcPct val="130000"/>
              </a:lnSpc>
              <a:buClr>
                <a:srgbClr val="00B0F0"/>
              </a:buClr>
              <a:buFont typeface="Wingdings" panose="05000000000000000000" charset="0"/>
              <a:buNone/>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应的结点的路径</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46" name="Rectangle 30"/>
          <p:cNvSpPr>
            <a:spLocks noChangeArrowheads="1"/>
          </p:cNvSpPr>
          <p:nvPr/>
        </p:nvSpPr>
        <p:spPr bwMode="auto">
          <a:xfrm>
            <a:off x="697865" y="973455"/>
            <a:ext cx="1821815" cy="46037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4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Analysis</a:t>
            </a:r>
            <a:endParaRPr kumimoji="1" lang="en-US" altLang="zh-CN" sz="24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47" name="Rectangle 31"/>
          <p:cNvSpPr>
            <a:spLocks noChangeArrowheads="1"/>
          </p:cNvSpPr>
          <p:nvPr/>
        </p:nvSpPr>
        <p:spPr bwMode="auto">
          <a:xfrm>
            <a:off x="764381"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48" name="Rectangle 32"/>
          <p:cNvSpPr>
            <a:spLocks noChangeArrowheads="1"/>
          </p:cNvSpPr>
          <p:nvPr/>
        </p:nvSpPr>
        <p:spPr bwMode="auto">
          <a:xfrm>
            <a:off x="1196579"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49" name="Rectangle 33"/>
          <p:cNvSpPr>
            <a:spLocks noChangeArrowheads="1"/>
          </p:cNvSpPr>
          <p:nvPr/>
        </p:nvSpPr>
        <p:spPr bwMode="auto">
          <a:xfrm>
            <a:off x="1628775"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0" name="Rectangle 34"/>
          <p:cNvSpPr>
            <a:spLocks noChangeArrowheads="1"/>
          </p:cNvSpPr>
          <p:nvPr/>
        </p:nvSpPr>
        <p:spPr bwMode="auto">
          <a:xfrm>
            <a:off x="2059781"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1" name="Rectangle 35"/>
          <p:cNvSpPr>
            <a:spLocks noChangeArrowheads="1"/>
          </p:cNvSpPr>
          <p:nvPr/>
        </p:nvSpPr>
        <p:spPr bwMode="auto">
          <a:xfrm>
            <a:off x="2491979"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2" name="Rectangle 36"/>
          <p:cNvSpPr>
            <a:spLocks noChangeArrowheads="1"/>
          </p:cNvSpPr>
          <p:nvPr/>
        </p:nvSpPr>
        <p:spPr bwMode="auto">
          <a:xfrm>
            <a:off x="2924175"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3" name="Rectangle 37"/>
          <p:cNvSpPr>
            <a:spLocks noChangeArrowheads="1"/>
          </p:cNvSpPr>
          <p:nvPr/>
        </p:nvSpPr>
        <p:spPr bwMode="auto">
          <a:xfrm>
            <a:off x="3356372"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4" name="Rectangle 38"/>
          <p:cNvSpPr>
            <a:spLocks noChangeArrowheads="1"/>
          </p:cNvSpPr>
          <p:nvPr/>
        </p:nvSpPr>
        <p:spPr bwMode="auto">
          <a:xfrm>
            <a:off x="3788569"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5" name="Rectangle 39"/>
          <p:cNvSpPr>
            <a:spLocks noChangeArrowheads="1"/>
          </p:cNvSpPr>
          <p:nvPr/>
        </p:nvSpPr>
        <p:spPr bwMode="auto">
          <a:xfrm>
            <a:off x="4220766"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6" name="Rectangle 40"/>
          <p:cNvSpPr>
            <a:spLocks noChangeArrowheads="1"/>
          </p:cNvSpPr>
          <p:nvPr/>
        </p:nvSpPr>
        <p:spPr bwMode="auto">
          <a:xfrm>
            <a:off x="4652963"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34857" name="Rectangle 41"/>
          <p:cNvSpPr>
            <a:spLocks noChangeArrowheads="1"/>
          </p:cNvSpPr>
          <p:nvPr/>
        </p:nvSpPr>
        <p:spPr bwMode="auto">
          <a:xfrm>
            <a:off x="5085160" y="1863329"/>
            <a:ext cx="432197" cy="26908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grpSp>
        <p:nvGrpSpPr>
          <p:cNvPr id="4" name="组合 3"/>
          <p:cNvGrpSpPr/>
          <p:nvPr/>
        </p:nvGrpSpPr>
        <p:grpSpPr>
          <a:xfrm>
            <a:off x="4898390" y="3781425"/>
            <a:ext cx="3524885" cy="2391882"/>
            <a:chOff x="7284" y="5490"/>
            <a:chExt cx="4624" cy="3103"/>
          </a:xfrm>
        </p:grpSpPr>
        <p:sp>
          <p:nvSpPr>
            <p:cNvPr id="34823" name="Oval 7"/>
            <p:cNvSpPr>
              <a:spLocks noChangeArrowheads="1"/>
            </p:cNvSpPr>
            <p:nvPr/>
          </p:nvSpPr>
          <p:spPr bwMode="auto">
            <a:xfrm>
              <a:off x="9015" y="549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56</a:t>
              </a:r>
              <a:endParaRPr kumimoji="1" lang="en-US" altLang="zh-CN">
                <a:solidFill>
                  <a:srgbClr val="FF0000"/>
                </a:solidFill>
                <a:latin typeface="Times New Roman" panose="02020603050405020304" pitchFamily="18" charset="0"/>
                <a:cs typeface="Times New Roman" panose="02020603050405020304" pitchFamily="18" charset="0"/>
              </a:endParaRPr>
            </a:p>
          </p:txBody>
        </p:sp>
        <p:sp>
          <p:nvSpPr>
            <p:cNvPr id="34824" name="Oval 8"/>
            <p:cNvSpPr>
              <a:spLocks noChangeArrowheads="1"/>
            </p:cNvSpPr>
            <p:nvPr/>
          </p:nvSpPr>
          <p:spPr bwMode="auto">
            <a:xfrm>
              <a:off x="7770" y="612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rgbClr val="FF0000"/>
                  </a:solidFill>
                  <a:latin typeface="Times New Roman" panose="02020603050405020304" pitchFamily="18" charset="0"/>
                  <a:cs typeface="Times New Roman" panose="02020603050405020304" pitchFamily="18" charset="0"/>
                </a:rPr>
                <a:t>19</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
          <p:nvSpPr>
            <p:cNvPr id="34825" name="Oval 9"/>
            <p:cNvSpPr>
              <a:spLocks noChangeArrowheads="1"/>
            </p:cNvSpPr>
            <p:nvPr/>
          </p:nvSpPr>
          <p:spPr bwMode="auto">
            <a:xfrm>
              <a:off x="10260" y="612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80</a:t>
              </a:r>
              <a:endParaRPr kumimoji="1" lang="en-US" altLang="zh-CN">
                <a:solidFill>
                  <a:srgbClr val="FF0000"/>
                </a:solidFill>
                <a:latin typeface="Times New Roman" panose="02020603050405020304" pitchFamily="18" charset="0"/>
                <a:cs typeface="Times New Roman" panose="02020603050405020304" pitchFamily="18" charset="0"/>
              </a:endParaRPr>
            </a:p>
          </p:txBody>
        </p:sp>
        <p:sp>
          <p:nvSpPr>
            <p:cNvPr id="34826" name="Oval 10"/>
            <p:cNvSpPr>
              <a:spLocks noChangeArrowheads="1"/>
            </p:cNvSpPr>
            <p:nvPr/>
          </p:nvSpPr>
          <p:spPr bwMode="auto">
            <a:xfrm>
              <a:off x="7290" y="684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rgbClr val="FF0000"/>
                  </a:solidFill>
                  <a:latin typeface="Times New Roman" panose="02020603050405020304" pitchFamily="18" charset="0"/>
                  <a:cs typeface="Times New Roman" panose="02020603050405020304" pitchFamily="18" charset="0"/>
                </a:rPr>
                <a:t>5</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
          <p:nvSpPr>
            <p:cNvPr id="34827" name="Oval 11"/>
            <p:cNvSpPr>
              <a:spLocks noChangeArrowheads="1"/>
            </p:cNvSpPr>
            <p:nvPr/>
          </p:nvSpPr>
          <p:spPr bwMode="auto">
            <a:xfrm>
              <a:off x="8250" y="684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21</a:t>
              </a:r>
              <a:endParaRPr kumimoji="1" lang="en-US" altLang="zh-CN">
                <a:solidFill>
                  <a:srgbClr val="FF0000"/>
                </a:solidFill>
                <a:latin typeface="Times New Roman" panose="02020603050405020304" pitchFamily="18" charset="0"/>
                <a:cs typeface="Times New Roman" panose="02020603050405020304" pitchFamily="18" charset="0"/>
              </a:endParaRPr>
            </a:p>
          </p:txBody>
        </p:sp>
        <p:sp>
          <p:nvSpPr>
            <p:cNvPr id="34828" name="Oval 12"/>
            <p:cNvSpPr>
              <a:spLocks noChangeArrowheads="1"/>
            </p:cNvSpPr>
            <p:nvPr/>
          </p:nvSpPr>
          <p:spPr bwMode="auto">
            <a:xfrm>
              <a:off x="9720" y="684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rgbClr val="FF0000"/>
                  </a:solidFill>
                  <a:latin typeface="Times New Roman" panose="02020603050405020304" pitchFamily="18" charset="0"/>
                  <a:cs typeface="Times New Roman" panose="02020603050405020304" pitchFamily="18" charset="0"/>
                </a:rPr>
                <a:t>64</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
          <p:nvSpPr>
            <p:cNvPr id="34829" name="Oval 13"/>
            <p:cNvSpPr>
              <a:spLocks noChangeArrowheads="1"/>
            </p:cNvSpPr>
            <p:nvPr/>
          </p:nvSpPr>
          <p:spPr bwMode="auto">
            <a:xfrm>
              <a:off x="10800" y="684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rgbClr val="FF0000"/>
                  </a:solidFill>
                  <a:latin typeface="Times New Roman" panose="02020603050405020304" pitchFamily="18" charset="0"/>
                  <a:cs typeface="Times New Roman" panose="02020603050405020304" pitchFamily="18" charset="0"/>
                </a:rPr>
                <a:t>88</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
          <p:nvSpPr>
            <p:cNvPr id="34830" name="Oval 14"/>
            <p:cNvSpPr>
              <a:spLocks noChangeArrowheads="1"/>
            </p:cNvSpPr>
            <p:nvPr/>
          </p:nvSpPr>
          <p:spPr bwMode="auto">
            <a:xfrm>
              <a:off x="7770" y="765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srgbClr val="FF0000"/>
                  </a:solidFill>
                  <a:latin typeface="Times New Roman" panose="02020603050405020304" pitchFamily="18" charset="0"/>
                  <a:cs typeface="Times New Roman" panose="02020603050405020304" pitchFamily="18" charset="0"/>
                </a:rPr>
                <a:t>13</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
          <p:nvSpPr>
            <p:cNvPr id="34831" name="Oval 15"/>
            <p:cNvSpPr>
              <a:spLocks noChangeArrowheads="1"/>
            </p:cNvSpPr>
            <p:nvPr/>
          </p:nvSpPr>
          <p:spPr bwMode="auto">
            <a:xfrm>
              <a:off x="8730" y="765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37</a:t>
              </a:r>
              <a:endParaRPr kumimoji="1" lang="en-US" altLang="zh-CN">
                <a:solidFill>
                  <a:srgbClr val="FF0000"/>
                </a:solidFill>
                <a:latin typeface="Times New Roman" panose="02020603050405020304" pitchFamily="18" charset="0"/>
                <a:cs typeface="Times New Roman" panose="02020603050405020304" pitchFamily="18" charset="0"/>
              </a:endParaRPr>
            </a:p>
          </p:txBody>
        </p:sp>
        <p:sp>
          <p:nvSpPr>
            <p:cNvPr id="34832" name="Oval 16"/>
            <p:cNvSpPr>
              <a:spLocks noChangeArrowheads="1"/>
            </p:cNvSpPr>
            <p:nvPr/>
          </p:nvSpPr>
          <p:spPr bwMode="auto">
            <a:xfrm>
              <a:off x="10260" y="765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75</a:t>
              </a:r>
              <a:endParaRPr kumimoji="1" lang="en-US" altLang="zh-CN">
                <a:solidFill>
                  <a:srgbClr val="FF0000"/>
                </a:solidFill>
                <a:latin typeface="Times New Roman" panose="02020603050405020304" pitchFamily="18" charset="0"/>
                <a:cs typeface="Times New Roman" panose="02020603050405020304" pitchFamily="18" charset="0"/>
              </a:endParaRPr>
            </a:p>
          </p:txBody>
        </p:sp>
        <p:sp>
          <p:nvSpPr>
            <p:cNvPr id="34833" name="Oval 17"/>
            <p:cNvSpPr>
              <a:spLocks noChangeArrowheads="1"/>
            </p:cNvSpPr>
            <p:nvPr/>
          </p:nvSpPr>
          <p:spPr bwMode="auto">
            <a:xfrm>
              <a:off x="11340" y="7650"/>
              <a:ext cx="540" cy="5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cs typeface="Times New Roman" panose="02020603050405020304" pitchFamily="18" charset="0"/>
                </a:rPr>
                <a:t>92</a:t>
              </a:r>
              <a:endParaRPr kumimoji="1" lang="en-US" altLang="zh-CN">
                <a:solidFill>
                  <a:srgbClr val="FF0000"/>
                </a:solidFill>
                <a:latin typeface="Times New Roman" panose="02020603050405020304" pitchFamily="18" charset="0"/>
                <a:cs typeface="Times New Roman" panose="02020603050405020304" pitchFamily="18" charset="0"/>
              </a:endParaRPr>
            </a:p>
          </p:txBody>
        </p:sp>
        <p:cxnSp>
          <p:nvCxnSpPr>
            <p:cNvPr id="34834" name="AutoShape 18"/>
            <p:cNvCxnSpPr>
              <a:cxnSpLocks noChangeShapeType="1"/>
              <a:stCxn id="34823" idx="2"/>
              <a:endCxn id="34824" idx="7"/>
            </p:cNvCxnSpPr>
            <p:nvPr/>
          </p:nvCxnSpPr>
          <p:spPr bwMode="auto">
            <a:xfrm flipH="1">
              <a:off x="8231" y="5760"/>
              <a:ext cx="784" cy="43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5" name="AutoShape 19"/>
            <p:cNvCxnSpPr>
              <a:cxnSpLocks noChangeShapeType="1"/>
              <a:stCxn id="34824" idx="3"/>
              <a:endCxn id="34826" idx="0"/>
            </p:cNvCxnSpPr>
            <p:nvPr/>
          </p:nvCxnSpPr>
          <p:spPr bwMode="auto">
            <a:xfrm flipH="1">
              <a:off x="7560" y="6581"/>
              <a:ext cx="289" cy="25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6" name="AutoShape 20"/>
            <p:cNvCxnSpPr>
              <a:cxnSpLocks noChangeShapeType="1"/>
              <a:stCxn id="34823" idx="6"/>
              <a:endCxn id="34825" idx="1"/>
            </p:cNvCxnSpPr>
            <p:nvPr/>
          </p:nvCxnSpPr>
          <p:spPr bwMode="auto">
            <a:xfrm>
              <a:off x="9555" y="5760"/>
              <a:ext cx="784" cy="43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7" name="AutoShape 21"/>
            <p:cNvCxnSpPr>
              <a:cxnSpLocks noChangeShapeType="1"/>
              <a:stCxn id="34825" idx="5"/>
              <a:endCxn id="34829" idx="0"/>
            </p:cNvCxnSpPr>
            <p:nvPr/>
          </p:nvCxnSpPr>
          <p:spPr bwMode="auto">
            <a:xfrm>
              <a:off x="10721" y="6581"/>
              <a:ext cx="349" cy="25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8" name="AutoShape 22"/>
            <p:cNvCxnSpPr>
              <a:cxnSpLocks noChangeShapeType="1"/>
              <a:stCxn id="34829" idx="5"/>
              <a:endCxn id="34833" idx="0"/>
            </p:cNvCxnSpPr>
            <p:nvPr/>
          </p:nvCxnSpPr>
          <p:spPr bwMode="auto">
            <a:xfrm>
              <a:off x="11261" y="7301"/>
              <a:ext cx="349" cy="34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9" name="AutoShape 23"/>
            <p:cNvCxnSpPr>
              <a:cxnSpLocks noChangeShapeType="1"/>
              <a:stCxn id="34825" idx="3"/>
              <a:endCxn id="34828" idx="0"/>
            </p:cNvCxnSpPr>
            <p:nvPr/>
          </p:nvCxnSpPr>
          <p:spPr bwMode="auto">
            <a:xfrm flipH="1">
              <a:off x="9990" y="6581"/>
              <a:ext cx="349" cy="25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0" name="AutoShape 24"/>
            <p:cNvCxnSpPr>
              <a:cxnSpLocks noChangeShapeType="1"/>
              <a:stCxn id="34828" idx="5"/>
              <a:endCxn id="34832" idx="0"/>
            </p:cNvCxnSpPr>
            <p:nvPr/>
          </p:nvCxnSpPr>
          <p:spPr bwMode="auto">
            <a:xfrm>
              <a:off x="10181" y="7301"/>
              <a:ext cx="349" cy="34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1" name="AutoShape 25"/>
            <p:cNvCxnSpPr>
              <a:cxnSpLocks noChangeShapeType="1"/>
              <a:stCxn id="34824" idx="5"/>
              <a:endCxn id="34827" idx="0"/>
            </p:cNvCxnSpPr>
            <p:nvPr/>
          </p:nvCxnSpPr>
          <p:spPr bwMode="auto">
            <a:xfrm>
              <a:off x="8231" y="6581"/>
              <a:ext cx="289" cy="25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2" name="AutoShape 26"/>
            <p:cNvCxnSpPr>
              <a:cxnSpLocks noChangeShapeType="1"/>
              <a:stCxn id="34827" idx="5"/>
              <a:endCxn id="34831" idx="0"/>
            </p:cNvCxnSpPr>
            <p:nvPr/>
          </p:nvCxnSpPr>
          <p:spPr bwMode="auto">
            <a:xfrm>
              <a:off x="8711" y="7301"/>
              <a:ext cx="289" cy="34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3" name="AutoShape 27"/>
            <p:cNvCxnSpPr>
              <a:cxnSpLocks noChangeShapeType="1"/>
              <a:stCxn id="34826" idx="5"/>
              <a:endCxn id="34830" idx="0"/>
            </p:cNvCxnSpPr>
            <p:nvPr/>
          </p:nvCxnSpPr>
          <p:spPr bwMode="auto">
            <a:xfrm>
              <a:off x="7751" y="7301"/>
              <a:ext cx="289" cy="34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44" name="Line 28"/>
            <p:cNvSpPr>
              <a:spLocks noChangeShapeType="1"/>
            </p:cNvSpPr>
            <p:nvPr/>
          </p:nvSpPr>
          <p:spPr bwMode="auto">
            <a:xfrm flipH="1">
              <a:off x="8301" y="5676"/>
              <a:ext cx="628" cy="373"/>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4845" name="Line 29"/>
            <p:cNvSpPr>
              <a:spLocks noChangeShapeType="1"/>
            </p:cNvSpPr>
            <p:nvPr/>
          </p:nvSpPr>
          <p:spPr bwMode="auto">
            <a:xfrm>
              <a:off x="8391" y="6518"/>
              <a:ext cx="251" cy="27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4858" name="Text Box 42"/>
            <p:cNvSpPr txBox="1">
              <a:spLocks noChangeArrowheads="1"/>
            </p:cNvSpPr>
            <p:nvPr/>
          </p:nvSpPr>
          <p:spPr bwMode="auto">
            <a:xfrm>
              <a:off x="9071" y="6015"/>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200" b="1">
                  <a:latin typeface="Times New Roman" panose="02020603050405020304" pitchFamily="18" charset="0"/>
                  <a:cs typeface="Times New Roman" panose="02020603050405020304" pitchFamily="18" charset="0"/>
                </a:rPr>
                <a:t>6</a:t>
              </a:r>
              <a:endParaRPr lang="en-US" altLang="zh-CN" sz="1200" b="1">
                <a:latin typeface="Times New Roman" panose="02020603050405020304" pitchFamily="18" charset="0"/>
                <a:cs typeface="Times New Roman" panose="02020603050405020304" pitchFamily="18" charset="0"/>
              </a:endParaRPr>
            </a:p>
          </p:txBody>
        </p:sp>
        <p:sp>
          <p:nvSpPr>
            <p:cNvPr id="34859" name="Rectangle 43"/>
            <p:cNvSpPr>
              <a:spLocks noChangeArrowheads="1"/>
            </p:cNvSpPr>
            <p:nvPr/>
          </p:nvSpPr>
          <p:spPr bwMode="auto">
            <a:xfrm>
              <a:off x="7881" y="6619"/>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3</a:t>
              </a:r>
              <a:endParaRPr kumimoji="1" lang="en-US" altLang="zh-CN" sz="1200" b="1">
                <a:latin typeface="Times New Roman" panose="02020603050405020304" pitchFamily="18" charset="0"/>
                <a:cs typeface="Times New Roman" panose="02020603050405020304" pitchFamily="18" charset="0"/>
              </a:endParaRPr>
            </a:p>
          </p:txBody>
        </p:sp>
        <p:sp>
          <p:nvSpPr>
            <p:cNvPr id="34860" name="Rectangle 44"/>
            <p:cNvSpPr>
              <a:spLocks noChangeArrowheads="1"/>
            </p:cNvSpPr>
            <p:nvPr/>
          </p:nvSpPr>
          <p:spPr bwMode="auto">
            <a:xfrm>
              <a:off x="7284" y="7384"/>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1</a:t>
              </a:r>
              <a:endParaRPr kumimoji="1" lang="en-US" altLang="zh-CN" sz="1200" b="1">
                <a:latin typeface="Times New Roman" panose="02020603050405020304" pitchFamily="18" charset="0"/>
                <a:cs typeface="Times New Roman" panose="02020603050405020304" pitchFamily="18" charset="0"/>
              </a:endParaRPr>
            </a:p>
          </p:txBody>
        </p:sp>
        <p:sp>
          <p:nvSpPr>
            <p:cNvPr id="34861" name="Rectangle 45"/>
            <p:cNvSpPr>
              <a:spLocks noChangeArrowheads="1"/>
            </p:cNvSpPr>
            <p:nvPr/>
          </p:nvSpPr>
          <p:spPr bwMode="auto">
            <a:xfrm>
              <a:off x="7796" y="8235"/>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2</a:t>
              </a:r>
              <a:endParaRPr kumimoji="1" lang="en-US" altLang="zh-CN" sz="1200" b="1">
                <a:latin typeface="Times New Roman" panose="02020603050405020304" pitchFamily="18" charset="0"/>
                <a:cs typeface="Times New Roman" panose="02020603050405020304" pitchFamily="18" charset="0"/>
              </a:endParaRPr>
            </a:p>
          </p:txBody>
        </p:sp>
        <p:sp>
          <p:nvSpPr>
            <p:cNvPr id="34862" name="Rectangle 46"/>
            <p:cNvSpPr>
              <a:spLocks noChangeArrowheads="1"/>
            </p:cNvSpPr>
            <p:nvPr/>
          </p:nvSpPr>
          <p:spPr bwMode="auto">
            <a:xfrm>
              <a:off x="8816" y="8235"/>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5</a:t>
              </a:r>
              <a:endParaRPr kumimoji="1" lang="en-US" altLang="zh-CN" sz="1200" b="1">
                <a:latin typeface="Times New Roman" panose="02020603050405020304" pitchFamily="18" charset="0"/>
                <a:cs typeface="Times New Roman" panose="02020603050405020304" pitchFamily="18" charset="0"/>
              </a:endParaRPr>
            </a:p>
          </p:txBody>
        </p:sp>
        <p:sp>
          <p:nvSpPr>
            <p:cNvPr id="34863" name="Rectangle 47"/>
            <p:cNvSpPr>
              <a:spLocks noChangeArrowheads="1"/>
            </p:cNvSpPr>
            <p:nvPr/>
          </p:nvSpPr>
          <p:spPr bwMode="auto">
            <a:xfrm>
              <a:off x="8475" y="7384"/>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4</a:t>
              </a:r>
              <a:endParaRPr kumimoji="1" lang="en-US" altLang="zh-CN" sz="1200" b="1">
                <a:latin typeface="Times New Roman" panose="02020603050405020304" pitchFamily="18" charset="0"/>
                <a:cs typeface="Times New Roman" panose="02020603050405020304" pitchFamily="18" charset="0"/>
              </a:endParaRPr>
            </a:p>
          </p:txBody>
        </p:sp>
        <p:sp>
          <p:nvSpPr>
            <p:cNvPr id="34864" name="Rectangle 48"/>
            <p:cNvSpPr>
              <a:spLocks noChangeArrowheads="1"/>
            </p:cNvSpPr>
            <p:nvPr/>
          </p:nvSpPr>
          <p:spPr bwMode="auto">
            <a:xfrm>
              <a:off x="9752" y="7384"/>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7</a:t>
              </a:r>
              <a:endParaRPr kumimoji="1" lang="en-US" altLang="zh-CN" sz="1200" b="1">
                <a:latin typeface="Times New Roman" panose="02020603050405020304" pitchFamily="18" charset="0"/>
                <a:cs typeface="Times New Roman" panose="02020603050405020304" pitchFamily="18" charset="0"/>
              </a:endParaRPr>
            </a:p>
          </p:txBody>
        </p:sp>
        <p:sp>
          <p:nvSpPr>
            <p:cNvPr id="34865" name="Rectangle 49"/>
            <p:cNvSpPr>
              <a:spLocks noChangeArrowheads="1"/>
            </p:cNvSpPr>
            <p:nvPr/>
          </p:nvSpPr>
          <p:spPr bwMode="auto">
            <a:xfrm>
              <a:off x="10346" y="6619"/>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9</a:t>
              </a:r>
              <a:endParaRPr kumimoji="1" lang="en-US" altLang="zh-CN" sz="1200" b="1">
                <a:latin typeface="Times New Roman" panose="02020603050405020304" pitchFamily="18" charset="0"/>
                <a:cs typeface="Times New Roman" panose="02020603050405020304" pitchFamily="18" charset="0"/>
              </a:endParaRPr>
            </a:p>
          </p:txBody>
        </p:sp>
        <p:sp>
          <p:nvSpPr>
            <p:cNvPr id="34866" name="Rectangle 50"/>
            <p:cNvSpPr>
              <a:spLocks noChangeArrowheads="1"/>
            </p:cNvSpPr>
            <p:nvPr/>
          </p:nvSpPr>
          <p:spPr bwMode="auto">
            <a:xfrm>
              <a:off x="10856" y="7384"/>
              <a:ext cx="554"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10</a:t>
              </a:r>
              <a:endParaRPr kumimoji="1" lang="en-US" altLang="zh-CN" sz="1200" b="1">
                <a:latin typeface="Times New Roman" panose="02020603050405020304" pitchFamily="18" charset="0"/>
                <a:cs typeface="Times New Roman" panose="02020603050405020304" pitchFamily="18" charset="0"/>
              </a:endParaRPr>
            </a:p>
          </p:txBody>
        </p:sp>
        <p:sp>
          <p:nvSpPr>
            <p:cNvPr id="34867" name="Rectangle 51"/>
            <p:cNvSpPr>
              <a:spLocks noChangeArrowheads="1"/>
            </p:cNvSpPr>
            <p:nvPr/>
          </p:nvSpPr>
          <p:spPr bwMode="auto">
            <a:xfrm>
              <a:off x="11368" y="8235"/>
              <a:ext cx="540"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11</a:t>
              </a:r>
              <a:endParaRPr kumimoji="1" lang="en-US" altLang="zh-CN" sz="1200" b="1">
                <a:latin typeface="Times New Roman" panose="02020603050405020304" pitchFamily="18" charset="0"/>
                <a:cs typeface="Times New Roman" panose="02020603050405020304" pitchFamily="18" charset="0"/>
              </a:endParaRPr>
            </a:p>
          </p:txBody>
        </p:sp>
        <p:sp>
          <p:nvSpPr>
            <p:cNvPr id="34868" name="Rectangle 52"/>
            <p:cNvSpPr>
              <a:spLocks noChangeArrowheads="1"/>
            </p:cNvSpPr>
            <p:nvPr/>
          </p:nvSpPr>
          <p:spPr bwMode="auto">
            <a:xfrm>
              <a:off x="10178" y="8235"/>
              <a:ext cx="421"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200" b="1">
                  <a:latin typeface="Times New Roman" panose="02020603050405020304" pitchFamily="18" charset="0"/>
                  <a:cs typeface="Times New Roman" panose="02020603050405020304" pitchFamily="18" charset="0"/>
                </a:rPr>
                <a:t>8</a:t>
              </a:r>
              <a:endParaRPr kumimoji="1" lang="en-US" altLang="zh-CN" sz="1200" b="1">
                <a:latin typeface="Times New Roman" panose="02020603050405020304" pitchFamily="18" charset="0"/>
                <a:cs typeface="Times New Roman" panose="02020603050405020304" pitchFamily="18" charset="0"/>
              </a:endParaRPr>
            </a:p>
          </p:txBody>
        </p:sp>
      </p:grpSp>
      <p:sp>
        <p:nvSpPr>
          <p:cNvPr id="34870" name="Rectangle 54"/>
          <p:cNvSpPr>
            <a:spLocks noChangeArrowheads="1"/>
          </p:cNvSpPr>
          <p:nvPr/>
        </p:nvSpPr>
        <p:spPr bwMode="auto">
          <a:xfrm>
            <a:off x="3168253" y="1160860"/>
            <a:ext cx="291719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以下面</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11</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个数的查找为例：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871" name="Rectangle 55"/>
          <p:cNvSpPr>
            <a:spLocks noChangeArrowheads="1"/>
          </p:cNvSpPr>
          <p:nvPr/>
        </p:nvSpPr>
        <p:spPr bwMode="auto">
          <a:xfrm>
            <a:off x="5886450" y="1528763"/>
            <a:ext cx="87376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50" b="1">
                <a:latin typeface="Times New Roman" panose="02020603050405020304" pitchFamily="18" charset="0"/>
                <a:ea typeface="幼圆" panose="02010509060101010101" pitchFamily="49" charset="-122"/>
              </a:rPr>
              <a:t>比较次数</a:t>
            </a:r>
            <a:endParaRPr kumimoji="1" lang="zh-CN" altLang="en-US" sz="1350" b="1">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8.2.3 </a:t>
            </a:r>
            <a:r>
              <a:rPr kumimoji="1" lang="en-US" altLang="en-US" dirty="0">
                <a:effectLst>
                  <a:outerShdw blurRad="38100" dist="25400" dir="5400000" algn="ctr" rotWithShape="0">
                    <a:srgbClr val="6E747A">
                      <a:alpha val="43000"/>
                    </a:srgbClr>
                  </a:outerShdw>
                </a:effectLst>
                <a:cs typeface="Times New Roman" panose="02020603050405020304" pitchFamily="18" charset="0"/>
                <a:sym typeface="+mn-ea"/>
              </a:rPr>
              <a:t>Dichotomy </a:t>
            </a:r>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(Binary) searching</a:t>
            </a:r>
            <a:endParaRPr lang="zh-CN" altLang="en-US"/>
          </a:p>
        </p:txBody>
      </p:sp>
      <p:sp>
        <p:nvSpPr>
          <p:cNvPr id="35845" name="Text Box 5"/>
          <p:cNvSpPr txBox="1">
            <a:spLocks noChangeArrowheads="1"/>
          </p:cNvSpPr>
          <p:nvPr/>
        </p:nvSpPr>
        <p:spPr bwMode="auto">
          <a:xfrm>
            <a:off x="466725" y="998855"/>
            <a:ext cx="8220075" cy="228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4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用折半查找法在查找成功时进行比较的次数最多不超过该树的深度。而具有</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个结点的判定树的深度为</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log</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。所以折半查找法在查找成功时的比较次数最多</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log</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次。</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a:lnSpc>
                <a:spcPct val="14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如果考虑到</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查找不成功</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的情况，则二叉判定树（</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Binary Decision Tree</a:t>
            </a: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）如下所示（方框表示查找不成功的情况</a:t>
            </a:r>
            <a:r>
              <a:rPr kumimoji="1" 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nvGrpSpPr>
          <p:cNvPr id="35895" name="Group 55"/>
          <p:cNvGrpSpPr/>
          <p:nvPr/>
        </p:nvGrpSpPr>
        <p:grpSpPr bwMode="auto">
          <a:xfrm>
            <a:off x="1718310" y="3434080"/>
            <a:ext cx="5536565" cy="2822575"/>
            <a:chOff x="816" y="1888"/>
            <a:chExt cx="4128" cy="2086"/>
          </a:xfrm>
        </p:grpSpPr>
        <p:sp>
          <p:nvSpPr>
            <p:cNvPr id="35847" name="Oval 7"/>
            <p:cNvSpPr>
              <a:spLocks noChangeArrowheads="1"/>
            </p:cNvSpPr>
            <p:nvPr/>
          </p:nvSpPr>
          <p:spPr bwMode="auto">
            <a:xfrm>
              <a:off x="2400" y="188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6</a:t>
              </a:r>
              <a:endParaRPr kumimoji="1" lang="en-US" altLang="zh-CN">
                <a:latin typeface="Times New Roman" panose="02020603050405020304" pitchFamily="18" charset="0"/>
              </a:endParaRPr>
            </a:p>
          </p:txBody>
        </p:sp>
        <p:sp>
          <p:nvSpPr>
            <p:cNvPr id="35848" name="Oval 8"/>
            <p:cNvSpPr>
              <a:spLocks noChangeArrowheads="1"/>
            </p:cNvSpPr>
            <p:nvPr/>
          </p:nvSpPr>
          <p:spPr bwMode="auto">
            <a:xfrm>
              <a:off x="1632" y="222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3</a:t>
              </a:r>
              <a:endParaRPr kumimoji="1" lang="en-US" altLang="zh-CN">
                <a:latin typeface="Times New Roman" panose="02020603050405020304" pitchFamily="18" charset="0"/>
              </a:endParaRPr>
            </a:p>
          </p:txBody>
        </p:sp>
        <p:sp>
          <p:nvSpPr>
            <p:cNvPr id="35849" name="Oval 9"/>
            <p:cNvSpPr>
              <a:spLocks noChangeArrowheads="1"/>
            </p:cNvSpPr>
            <p:nvPr/>
          </p:nvSpPr>
          <p:spPr bwMode="auto">
            <a:xfrm>
              <a:off x="3408" y="222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9</a:t>
              </a:r>
              <a:endParaRPr kumimoji="1" lang="en-US" altLang="zh-CN">
                <a:latin typeface="Times New Roman" panose="02020603050405020304" pitchFamily="18" charset="0"/>
              </a:endParaRPr>
            </a:p>
          </p:txBody>
        </p:sp>
        <p:sp>
          <p:nvSpPr>
            <p:cNvPr id="35850" name="Oval 10"/>
            <p:cNvSpPr>
              <a:spLocks noChangeArrowheads="1"/>
            </p:cNvSpPr>
            <p:nvPr/>
          </p:nvSpPr>
          <p:spPr bwMode="auto">
            <a:xfrm>
              <a:off x="1152" y="2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1</a:t>
              </a:r>
              <a:endParaRPr kumimoji="1" lang="en-US" altLang="zh-CN" dirty="0">
                <a:latin typeface="Times New Roman" panose="02020603050405020304" pitchFamily="18" charset="0"/>
              </a:endParaRPr>
            </a:p>
          </p:txBody>
        </p:sp>
        <p:sp>
          <p:nvSpPr>
            <p:cNvPr id="35851" name="Oval 11"/>
            <p:cNvSpPr>
              <a:spLocks noChangeArrowheads="1"/>
            </p:cNvSpPr>
            <p:nvPr/>
          </p:nvSpPr>
          <p:spPr bwMode="auto">
            <a:xfrm>
              <a:off x="2064" y="2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4</a:t>
              </a:r>
              <a:endParaRPr kumimoji="1" lang="en-US" altLang="zh-CN">
                <a:latin typeface="Times New Roman" panose="02020603050405020304" pitchFamily="18" charset="0"/>
              </a:endParaRPr>
            </a:p>
          </p:txBody>
        </p:sp>
        <p:sp>
          <p:nvSpPr>
            <p:cNvPr id="35852" name="Oval 12"/>
            <p:cNvSpPr>
              <a:spLocks noChangeArrowheads="1"/>
            </p:cNvSpPr>
            <p:nvPr/>
          </p:nvSpPr>
          <p:spPr bwMode="auto">
            <a:xfrm>
              <a:off x="2928" y="2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7</a:t>
              </a:r>
              <a:endParaRPr kumimoji="1" lang="en-US" altLang="zh-CN">
                <a:latin typeface="Times New Roman" panose="02020603050405020304" pitchFamily="18" charset="0"/>
              </a:endParaRPr>
            </a:p>
          </p:txBody>
        </p:sp>
        <p:sp>
          <p:nvSpPr>
            <p:cNvPr id="35853" name="Oval 13"/>
            <p:cNvSpPr>
              <a:spLocks noChangeArrowheads="1"/>
            </p:cNvSpPr>
            <p:nvPr/>
          </p:nvSpPr>
          <p:spPr bwMode="auto">
            <a:xfrm>
              <a:off x="3936" y="2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10</a:t>
              </a:r>
              <a:endParaRPr kumimoji="1" lang="en-US" altLang="zh-CN">
                <a:latin typeface="Times New Roman" panose="02020603050405020304" pitchFamily="18" charset="0"/>
              </a:endParaRPr>
            </a:p>
          </p:txBody>
        </p:sp>
        <p:sp>
          <p:nvSpPr>
            <p:cNvPr id="35854" name="Oval 14"/>
            <p:cNvSpPr>
              <a:spLocks noChangeArrowheads="1"/>
            </p:cNvSpPr>
            <p:nvPr/>
          </p:nvSpPr>
          <p:spPr bwMode="auto">
            <a:xfrm>
              <a:off x="1488" y="318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2</a:t>
              </a:r>
              <a:endParaRPr kumimoji="1" lang="en-US" altLang="zh-CN">
                <a:latin typeface="Times New Roman" panose="02020603050405020304" pitchFamily="18" charset="0"/>
              </a:endParaRPr>
            </a:p>
          </p:txBody>
        </p:sp>
        <p:sp>
          <p:nvSpPr>
            <p:cNvPr id="35855" name="Oval 15"/>
            <p:cNvSpPr>
              <a:spLocks noChangeArrowheads="1"/>
            </p:cNvSpPr>
            <p:nvPr/>
          </p:nvSpPr>
          <p:spPr bwMode="auto">
            <a:xfrm>
              <a:off x="2400" y="318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5</a:t>
              </a:r>
              <a:endParaRPr kumimoji="1" lang="en-US" altLang="zh-CN">
                <a:latin typeface="Times New Roman" panose="02020603050405020304" pitchFamily="18" charset="0"/>
              </a:endParaRPr>
            </a:p>
          </p:txBody>
        </p:sp>
        <p:sp>
          <p:nvSpPr>
            <p:cNvPr id="35856" name="Oval 16"/>
            <p:cNvSpPr>
              <a:spLocks noChangeArrowheads="1"/>
            </p:cNvSpPr>
            <p:nvPr/>
          </p:nvSpPr>
          <p:spPr bwMode="auto">
            <a:xfrm>
              <a:off x="3264" y="318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8</a:t>
              </a:r>
              <a:endParaRPr kumimoji="1" lang="en-US" altLang="zh-CN">
                <a:latin typeface="Times New Roman" panose="02020603050405020304" pitchFamily="18" charset="0"/>
              </a:endParaRPr>
            </a:p>
          </p:txBody>
        </p:sp>
        <p:sp>
          <p:nvSpPr>
            <p:cNvPr id="35857" name="Oval 17"/>
            <p:cNvSpPr>
              <a:spLocks noChangeArrowheads="1"/>
            </p:cNvSpPr>
            <p:nvPr/>
          </p:nvSpPr>
          <p:spPr bwMode="auto">
            <a:xfrm>
              <a:off x="4272" y="3184"/>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11</a:t>
              </a:r>
              <a:endParaRPr kumimoji="1" lang="en-US" altLang="zh-CN" dirty="0">
                <a:latin typeface="Times New Roman" panose="02020603050405020304" pitchFamily="18" charset="0"/>
              </a:endParaRPr>
            </a:p>
          </p:txBody>
        </p:sp>
        <p:cxnSp>
          <p:nvCxnSpPr>
            <p:cNvPr id="35858" name="AutoShape 18"/>
            <p:cNvCxnSpPr>
              <a:cxnSpLocks noChangeShapeType="1"/>
              <a:stCxn id="35847" idx="2"/>
              <a:endCxn id="35848" idx="7"/>
            </p:cNvCxnSpPr>
            <p:nvPr/>
          </p:nvCxnSpPr>
          <p:spPr bwMode="auto">
            <a:xfrm flipH="1">
              <a:off x="1878" y="2032"/>
              <a:ext cx="522" cy="23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59" name="AutoShape 19"/>
            <p:cNvCxnSpPr>
              <a:cxnSpLocks noChangeShapeType="1"/>
              <a:stCxn id="35848" idx="3"/>
              <a:endCxn id="35850" idx="7"/>
            </p:cNvCxnSpPr>
            <p:nvPr/>
          </p:nvCxnSpPr>
          <p:spPr bwMode="auto">
            <a:xfrm flipH="1">
              <a:off x="1398" y="2470"/>
              <a:ext cx="276" cy="1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0" name="AutoShape 20"/>
            <p:cNvCxnSpPr>
              <a:cxnSpLocks noChangeShapeType="1"/>
              <a:stCxn id="35847" idx="6"/>
              <a:endCxn id="35849" idx="1"/>
            </p:cNvCxnSpPr>
            <p:nvPr/>
          </p:nvCxnSpPr>
          <p:spPr bwMode="auto">
            <a:xfrm>
              <a:off x="2688" y="2032"/>
              <a:ext cx="762" cy="23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1" name="AutoShape 21"/>
            <p:cNvCxnSpPr>
              <a:cxnSpLocks noChangeShapeType="1"/>
              <a:stCxn id="35849" idx="5"/>
              <a:endCxn id="35853" idx="1"/>
            </p:cNvCxnSpPr>
            <p:nvPr/>
          </p:nvCxnSpPr>
          <p:spPr bwMode="auto">
            <a:xfrm>
              <a:off x="3654" y="2470"/>
              <a:ext cx="324" cy="1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2" name="AutoShape 22"/>
            <p:cNvCxnSpPr>
              <a:cxnSpLocks noChangeShapeType="1"/>
              <a:stCxn id="35853" idx="5"/>
              <a:endCxn id="35857" idx="0"/>
            </p:cNvCxnSpPr>
            <p:nvPr/>
          </p:nvCxnSpPr>
          <p:spPr bwMode="auto">
            <a:xfrm>
              <a:off x="4182" y="2854"/>
              <a:ext cx="234" cy="33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3" name="AutoShape 23"/>
            <p:cNvCxnSpPr>
              <a:cxnSpLocks noChangeShapeType="1"/>
              <a:stCxn id="35849" idx="3"/>
              <a:endCxn id="35852" idx="7"/>
            </p:cNvCxnSpPr>
            <p:nvPr/>
          </p:nvCxnSpPr>
          <p:spPr bwMode="auto">
            <a:xfrm flipH="1">
              <a:off x="3174" y="2470"/>
              <a:ext cx="276" cy="1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4" name="AutoShape 24"/>
            <p:cNvCxnSpPr>
              <a:cxnSpLocks noChangeShapeType="1"/>
              <a:stCxn id="35852" idx="5"/>
              <a:endCxn id="35856" idx="0"/>
            </p:cNvCxnSpPr>
            <p:nvPr/>
          </p:nvCxnSpPr>
          <p:spPr bwMode="auto">
            <a:xfrm>
              <a:off x="3174" y="2854"/>
              <a:ext cx="234" cy="33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5" name="AutoShape 25"/>
            <p:cNvCxnSpPr>
              <a:cxnSpLocks noChangeShapeType="1"/>
              <a:stCxn id="35848" idx="5"/>
              <a:endCxn id="35851" idx="1"/>
            </p:cNvCxnSpPr>
            <p:nvPr/>
          </p:nvCxnSpPr>
          <p:spPr bwMode="auto">
            <a:xfrm>
              <a:off x="1878" y="2470"/>
              <a:ext cx="228" cy="1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6" name="AutoShape 26"/>
            <p:cNvCxnSpPr>
              <a:cxnSpLocks noChangeShapeType="1"/>
              <a:stCxn id="35851" idx="5"/>
              <a:endCxn id="35855" idx="0"/>
            </p:cNvCxnSpPr>
            <p:nvPr/>
          </p:nvCxnSpPr>
          <p:spPr bwMode="auto">
            <a:xfrm>
              <a:off x="2310" y="2854"/>
              <a:ext cx="234" cy="33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7" name="AutoShape 27"/>
            <p:cNvCxnSpPr>
              <a:cxnSpLocks noChangeShapeType="1"/>
              <a:stCxn id="35850" idx="5"/>
              <a:endCxn id="35854" idx="0"/>
            </p:cNvCxnSpPr>
            <p:nvPr/>
          </p:nvCxnSpPr>
          <p:spPr bwMode="auto">
            <a:xfrm>
              <a:off x="1398" y="2854"/>
              <a:ext cx="234" cy="33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68" name="Rectangle 28"/>
            <p:cNvSpPr>
              <a:spLocks noChangeArrowheads="1"/>
            </p:cNvSpPr>
            <p:nvPr/>
          </p:nvSpPr>
          <p:spPr bwMode="auto">
            <a:xfrm>
              <a:off x="816" y="3208"/>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&lt;1</a:t>
              </a:r>
              <a:endParaRPr kumimoji="1" lang="en-US" altLang="zh-CN" sz="1650" b="1">
                <a:solidFill>
                  <a:srgbClr val="FF0000"/>
                </a:solidFill>
                <a:latin typeface="Times New Roman" panose="02020603050405020304" pitchFamily="18" charset="0"/>
              </a:endParaRPr>
            </a:p>
          </p:txBody>
        </p:sp>
        <p:sp>
          <p:nvSpPr>
            <p:cNvPr id="35869" name="Rectangle 29"/>
            <p:cNvSpPr>
              <a:spLocks noChangeArrowheads="1"/>
            </p:cNvSpPr>
            <p:nvPr/>
          </p:nvSpPr>
          <p:spPr bwMode="auto">
            <a:xfrm>
              <a:off x="1920" y="3208"/>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3~4</a:t>
              </a:r>
              <a:endParaRPr kumimoji="1" lang="en-US" altLang="zh-CN" sz="1650" b="1">
                <a:solidFill>
                  <a:srgbClr val="FF0000"/>
                </a:solidFill>
                <a:latin typeface="Times New Roman" panose="02020603050405020304" pitchFamily="18" charset="0"/>
              </a:endParaRPr>
            </a:p>
          </p:txBody>
        </p:sp>
        <p:sp>
          <p:nvSpPr>
            <p:cNvPr id="35870" name="Rectangle 30"/>
            <p:cNvSpPr>
              <a:spLocks noChangeArrowheads="1"/>
            </p:cNvSpPr>
            <p:nvPr/>
          </p:nvSpPr>
          <p:spPr bwMode="auto">
            <a:xfrm>
              <a:off x="2784" y="3208"/>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6~7</a:t>
              </a:r>
              <a:endParaRPr kumimoji="1" lang="en-US" altLang="zh-CN" sz="1650" b="1">
                <a:solidFill>
                  <a:srgbClr val="FF0000"/>
                </a:solidFill>
                <a:latin typeface="Times New Roman" panose="02020603050405020304" pitchFamily="18" charset="0"/>
              </a:endParaRPr>
            </a:p>
          </p:txBody>
        </p:sp>
        <p:sp>
          <p:nvSpPr>
            <p:cNvPr id="35871" name="Rectangle 31"/>
            <p:cNvSpPr>
              <a:spLocks noChangeArrowheads="1"/>
            </p:cNvSpPr>
            <p:nvPr/>
          </p:nvSpPr>
          <p:spPr bwMode="auto">
            <a:xfrm>
              <a:off x="3696" y="3184"/>
              <a:ext cx="384" cy="28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9~10</a:t>
              </a:r>
              <a:endParaRPr kumimoji="1" lang="en-US" altLang="zh-CN" sz="1650" b="1">
                <a:solidFill>
                  <a:srgbClr val="FF0000"/>
                </a:solidFill>
                <a:latin typeface="Times New Roman" panose="02020603050405020304" pitchFamily="18" charset="0"/>
              </a:endParaRPr>
            </a:p>
          </p:txBody>
        </p:sp>
        <p:sp>
          <p:nvSpPr>
            <p:cNvPr id="35872" name="Rectangle 32"/>
            <p:cNvSpPr>
              <a:spLocks noChangeArrowheads="1"/>
            </p:cNvSpPr>
            <p:nvPr/>
          </p:nvSpPr>
          <p:spPr bwMode="auto">
            <a:xfrm>
              <a:off x="1104"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dirty="0">
                  <a:solidFill>
                    <a:srgbClr val="FF0000"/>
                  </a:solidFill>
                  <a:latin typeface="Times New Roman" panose="02020603050405020304" pitchFamily="18" charset="0"/>
                </a:rPr>
                <a:t>1~2</a:t>
              </a:r>
              <a:endParaRPr kumimoji="1" lang="en-US" altLang="zh-CN" sz="1650" b="1" dirty="0">
                <a:solidFill>
                  <a:srgbClr val="FF0000"/>
                </a:solidFill>
                <a:latin typeface="Times New Roman" panose="02020603050405020304" pitchFamily="18" charset="0"/>
              </a:endParaRPr>
            </a:p>
          </p:txBody>
        </p:sp>
        <p:sp>
          <p:nvSpPr>
            <p:cNvPr id="35873" name="Rectangle 33"/>
            <p:cNvSpPr>
              <a:spLocks noChangeArrowheads="1"/>
            </p:cNvSpPr>
            <p:nvPr/>
          </p:nvSpPr>
          <p:spPr bwMode="auto">
            <a:xfrm>
              <a:off x="1590"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2~3</a:t>
              </a:r>
              <a:endParaRPr kumimoji="1" lang="en-US" altLang="zh-CN" sz="1650" b="1">
                <a:solidFill>
                  <a:srgbClr val="FF0000"/>
                </a:solidFill>
                <a:latin typeface="Times New Roman" panose="02020603050405020304" pitchFamily="18" charset="0"/>
              </a:endParaRPr>
            </a:p>
          </p:txBody>
        </p:sp>
        <p:sp>
          <p:nvSpPr>
            <p:cNvPr id="35874" name="Rectangle 34"/>
            <p:cNvSpPr>
              <a:spLocks noChangeArrowheads="1"/>
            </p:cNvSpPr>
            <p:nvPr/>
          </p:nvSpPr>
          <p:spPr bwMode="auto">
            <a:xfrm>
              <a:off x="2077"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4~5</a:t>
              </a:r>
              <a:endParaRPr kumimoji="1" lang="en-US" altLang="zh-CN" sz="1650" b="1">
                <a:solidFill>
                  <a:srgbClr val="FF0000"/>
                </a:solidFill>
                <a:latin typeface="Times New Roman" panose="02020603050405020304" pitchFamily="18" charset="0"/>
              </a:endParaRPr>
            </a:p>
          </p:txBody>
        </p:sp>
        <p:sp>
          <p:nvSpPr>
            <p:cNvPr id="35875" name="Rectangle 35"/>
            <p:cNvSpPr>
              <a:spLocks noChangeArrowheads="1"/>
            </p:cNvSpPr>
            <p:nvPr/>
          </p:nvSpPr>
          <p:spPr bwMode="auto">
            <a:xfrm>
              <a:off x="2564"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5~6</a:t>
              </a:r>
              <a:endParaRPr kumimoji="1" lang="en-US" altLang="zh-CN" sz="1650" b="1">
                <a:solidFill>
                  <a:srgbClr val="FF0000"/>
                </a:solidFill>
                <a:latin typeface="Times New Roman" panose="02020603050405020304" pitchFamily="18" charset="0"/>
              </a:endParaRPr>
            </a:p>
          </p:txBody>
        </p:sp>
        <p:sp>
          <p:nvSpPr>
            <p:cNvPr id="35876" name="Rectangle 36"/>
            <p:cNvSpPr>
              <a:spLocks noChangeArrowheads="1"/>
            </p:cNvSpPr>
            <p:nvPr/>
          </p:nvSpPr>
          <p:spPr bwMode="auto">
            <a:xfrm>
              <a:off x="3051"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7~8</a:t>
              </a:r>
              <a:endParaRPr kumimoji="1" lang="en-US" altLang="zh-CN" sz="1650" b="1">
                <a:solidFill>
                  <a:srgbClr val="FF0000"/>
                </a:solidFill>
                <a:latin typeface="Times New Roman" panose="02020603050405020304" pitchFamily="18" charset="0"/>
              </a:endParaRPr>
            </a:p>
          </p:txBody>
        </p:sp>
        <p:sp>
          <p:nvSpPr>
            <p:cNvPr id="35877" name="Rectangle 37"/>
            <p:cNvSpPr>
              <a:spLocks noChangeArrowheads="1"/>
            </p:cNvSpPr>
            <p:nvPr/>
          </p:nvSpPr>
          <p:spPr bwMode="auto">
            <a:xfrm>
              <a:off x="3538"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8~9</a:t>
              </a:r>
              <a:endParaRPr kumimoji="1" lang="en-US" altLang="zh-CN" sz="1650" b="1">
                <a:solidFill>
                  <a:srgbClr val="FF0000"/>
                </a:solidFill>
                <a:latin typeface="Times New Roman" panose="02020603050405020304" pitchFamily="18" charset="0"/>
              </a:endParaRPr>
            </a:p>
          </p:txBody>
        </p:sp>
        <p:sp>
          <p:nvSpPr>
            <p:cNvPr id="35878" name="Rectangle 38"/>
            <p:cNvSpPr>
              <a:spLocks noChangeArrowheads="1"/>
            </p:cNvSpPr>
            <p:nvPr/>
          </p:nvSpPr>
          <p:spPr bwMode="auto">
            <a:xfrm>
              <a:off x="4025" y="3734"/>
              <a:ext cx="432"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10~11</a:t>
              </a:r>
              <a:endParaRPr kumimoji="1" lang="en-US" altLang="zh-CN" sz="1650" b="1">
                <a:solidFill>
                  <a:srgbClr val="FF0000"/>
                </a:solidFill>
                <a:latin typeface="Times New Roman" panose="02020603050405020304" pitchFamily="18" charset="0"/>
              </a:endParaRPr>
            </a:p>
          </p:txBody>
        </p:sp>
        <p:sp>
          <p:nvSpPr>
            <p:cNvPr id="35879" name="Rectangle 39"/>
            <p:cNvSpPr>
              <a:spLocks noChangeArrowheads="1"/>
            </p:cNvSpPr>
            <p:nvPr/>
          </p:nvSpPr>
          <p:spPr bwMode="auto">
            <a:xfrm>
              <a:off x="4608" y="3734"/>
              <a:ext cx="336" cy="24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50" b="1">
                  <a:solidFill>
                    <a:srgbClr val="FF0000"/>
                  </a:solidFill>
                  <a:latin typeface="Times New Roman" panose="02020603050405020304" pitchFamily="18" charset="0"/>
                </a:rPr>
                <a:t>&gt;11</a:t>
              </a:r>
              <a:endParaRPr kumimoji="1" lang="en-US" altLang="zh-CN" sz="1650" b="1">
                <a:solidFill>
                  <a:srgbClr val="FF0000"/>
                </a:solidFill>
                <a:latin typeface="Times New Roman" panose="02020603050405020304" pitchFamily="18" charset="0"/>
              </a:endParaRPr>
            </a:p>
          </p:txBody>
        </p:sp>
        <p:cxnSp>
          <p:nvCxnSpPr>
            <p:cNvPr id="35880" name="AutoShape 40"/>
            <p:cNvCxnSpPr>
              <a:cxnSpLocks noChangeShapeType="1"/>
              <a:stCxn id="35850" idx="3"/>
              <a:endCxn id="35868" idx="0"/>
            </p:cNvCxnSpPr>
            <p:nvPr/>
          </p:nvCxnSpPr>
          <p:spPr bwMode="auto">
            <a:xfrm flipH="1">
              <a:off x="984" y="2854"/>
              <a:ext cx="210" cy="35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1" name="AutoShape 41"/>
            <p:cNvCxnSpPr>
              <a:cxnSpLocks noChangeShapeType="1"/>
              <a:stCxn id="35852" idx="4"/>
              <a:endCxn id="35870" idx="0"/>
            </p:cNvCxnSpPr>
            <p:nvPr/>
          </p:nvCxnSpPr>
          <p:spPr bwMode="auto">
            <a:xfrm flipH="1">
              <a:off x="2952" y="2896"/>
              <a:ext cx="120" cy="31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2" name="AutoShape 42"/>
            <p:cNvCxnSpPr>
              <a:cxnSpLocks noChangeShapeType="1"/>
              <a:stCxn id="35854" idx="3"/>
              <a:endCxn id="35872" idx="0"/>
            </p:cNvCxnSpPr>
            <p:nvPr/>
          </p:nvCxnSpPr>
          <p:spPr bwMode="auto">
            <a:xfrm flipH="1">
              <a:off x="1272" y="3430"/>
              <a:ext cx="258"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3" name="AutoShape 43"/>
            <p:cNvCxnSpPr>
              <a:cxnSpLocks noChangeShapeType="1"/>
              <a:stCxn id="35854" idx="5"/>
              <a:endCxn id="35873" idx="0"/>
            </p:cNvCxnSpPr>
            <p:nvPr/>
          </p:nvCxnSpPr>
          <p:spPr bwMode="auto">
            <a:xfrm>
              <a:off x="1734" y="3430"/>
              <a:ext cx="24"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4" name="AutoShape 44"/>
            <p:cNvCxnSpPr>
              <a:cxnSpLocks noChangeShapeType="1"/>
              <a:stCxn id="35855" idx="3"/>
              <a:endCxn id="35874" idx="0"/>
            </p:cNvCxnSpPr>
            <p:nvPr/>
          </p:nvCxnSpPr>
          <p:spPr bwMode="auto">
            <a:xfrm flipH="1">
              <a:off x="2245" y="3430"/>
              <a:ext cx="197"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5" name="AutoShape 45"/>
            <p:cNvCxnSpPr>
              <a:cxnSpLocks noChangeShapeType="1"/>
              <a:stCxn id="35855" idx="5"/>
              <a:endCxn id="35875" idx="0"/>
            </p:cNvCxnSpPr>
            <p:nvPr/>
          </p:nvCxnSpPr>
          <p:spPr bwMode="auto">
            <a:xfrm>
              <a:off x="2646" y="3430"/>
              <a:ext cx="86"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6" name="AutoShape 46"/>
            <p:cNvCxnSpPr>
              <a:cxnSpLocks noChangeShapeType="1"/>
              <a:stCxn id="35856" idx="3"/>
              <a:endCxn id="35876" idx="0"/>
            </p:cNvCxnSpPr>
            <p:nvPr/>
          </p:nvCxnSpPr>
          <p:spPr bwMode="auto">
            <a:xfrm flipH="1">
              <a:off x="3219" y="3430"/>
              <a:ext cx="87"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7" name="AutoShape 47"/>
            <p:cNvCxnSpPr>
              <a:cxnSpLocks noChangeShapeType="1"/>
              <a:stCxn id="35856" idx="5"/>
              <a:endCxn id="35877" idx="0"/>
            </p:cNvCxnSpPr>
            <p:nvPr/>
          </p:nvCxnSpPr>
          <p:spPr bwMode="auto">
            <a:xfrm>
              <a:off x="3510" y="3430"/>
              <a:ext cx="196"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8" name="AutoShape 48"/>
            <p:cNvCxnSpPr>
              <a:cxnSpLocks noChangeShapeType="1"/>
              <a:stCxn id="35857" idx="3"/>
              <a:endCxn id="35878" idx="0"/>
            </p:cNvCxnSpPr>
            <p:nvPr/>
          </p:nvCxnSpPr>
          <p:spPr bwMode="auto">
            <a:xfrm flipH="1">
              <a:off x="4241" y="3430"/>
              <a:ext cx="73"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89" name="AutoShape 49"/>
            <p:cNvCxnSpPr>
              <a:cxnSpLocks noChangeShapeType="1"/>
              <a:stCxn id="35857" idx="5"/>
              <a:endCxn id="35879" idx="0"/>
            </p:cNvCxnSpPr>
            <p:nvPr/>
          </p:nvCxnSpPr>
          <p:spPr bwMode="auto">
            <a:xfrm>
              <a:off x="4518" y="3430"/>
              <a:ext cx="258" cy="3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90" name="AutoShape 50"/>
            <p:cNvCxnSpPr>
              <a:cxnSpLocks noChangeShapeType="1"/>
              <a:stCxn id="35853" idx="3"/>
              <a:endCxn id="35871" idx="0"/>
            </p:cNvCxnSpPr>
            <p:nvPr/>
          </p:nvCxnSpPr>
          <p:spPr bwMode="auto">
            <a:xfrm flipH="1">
              <a:off x="3888" y="2854"/>
              <a:ext cx="90" cy="33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91" name="AutoShape 51"/>
            <p:cNvCxnSpPr>
              <a:cxnSpLocks noChangeShapeType="1"/>
              <a:stCxn id="35851" idx="4"/>
              <a:endCxn id="35869" idx="0"/>
            </p:cNvCxnSpPr>
            <p:nvPr/>
          </p:nvCxnSpPr>
          <p:spPr bwMode="auto">
            <a:xfrm flipH="1">
              <a:off x="2088" y="2896"/>
              <a:ext cx="120" cy="31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92" name="Line 52"/>
            <p:cNvSpPr>
              <a:spLocks noChangeShapeType="1"/>
            </p:cNvSpPr>
            <p:nvPr/>
          </p:nvSpPr>
          <p:spPr bwMode="auto">
            <a:xfrm>
              <a:off x="2736" y="1984"/>
              <a:ext cx="720" cy="24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5893" name="Line 53"/>
            <p:cNvSpPr>
              <a:spLocks noChangeShapeType="1"/>
            </p:cNvSpPr>
            <p:nvPr/>
          </p:nvSpPr>
          <p:spPr bwMode="auto">
            <a:xfrm>
              <a:off x="3736" y="2434"/>
              <a:ext cx="277" cy="156"/>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5894" name="Line 54"/>
            <p:cNvSpPr>
              <a:spLocks noChangeShapeType="1"/>
            </p:cNvSpPr>
            <p:nvPr/>
          </p:nvSpPr>
          <p:spPr bwMode="auto">
            <a:xfrm flipH="1">
              <a:off x="3969" y="2934"/>
              <a:ext cx="67" cy="233"/>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8.2.3 </a:t>
            </a:r>
            <a:r>
              <a:rPr kumimoji="1" lang="en-US" altLang="en-US" dirty="0">
                <a:effectLst>
                  <a:outerShdw blurRad="38100" dist="25400" dir="5400000" algn="ctr" rotWithShape="0">
                    <a:srgbClr val="6E747A">
                      <a:alpha val="43000"/>
                    </a:srgbClr>
                  </a:outerShdw>
                </a:effectLst>
                <a:cs typeface="Times New Roman" panose="02020603050405020304" pitchFamily="18" charset="0"/>
                <a:sym typeface="+mn-ea"/>
              </a:rPr>
              <a:t>Dichotomy </a:t>
            </a:r>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(Binary) searching</a:t>
            </a:r>
            <a:endParaRPr lang="zh-CN" altLang="en-US"/>
          </a:p>
        </p:txBody>
      </p:sp>
      <p:sp>
        <p:nvSpPr>
          <p:cNvPr id="36869" name="Text Box 5"/>
          <p:cNvSpPr txBox="1">
            <a:spLocks noChangeArrowheads="1"/>
          </p:cNvSpPr>
          <p:nvPr/>
        </p:nvSpPr>
        <p:spPr bwMode="auto">
          <a:xfrm>
            <a:off x="509905" y="1029970"/>
            <a:ext cx="8176260" cy="503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rPr>
              <a:t>查找不成功时的最多比较次数也是</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log</a:t>
            </a:r>
            <a:r>
              <a:rPr kumimoji="1" lang="en-US" altLang="zh-CN" sz="2200" baseline="-25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a:t>
            </a:r>
            <a:r>
              <a:rPr kumimoji="1" lang="en-US" altLang="zh-CN" sz="22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n</a:t>
            </a: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a:lnSpc>
                <a:spcPct val="150000"/>
              </a:lnSpc>
              <a:buClr>
                <a:srgbClr val="00B0F0"/>
              </a:buClr>
              <a:buFont typeface="Wingdings" panose="05000000000000000000" charset="0"/>
              <a:buChar char="l"/>
            </a:pP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平均查找长度：从判定树可见，判定树上同一层次上所有结点的比较次数相等。第</a:t>
            </a:r>
            <a:r>
              <a:rPr kumimoji="1" lang="en-US" altLang="zh-CN" sz="22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h</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层的比较次数为</a:t>
            </a:r>
            <a:r>
              <a:rPr kumimoji="1" lang="en-US" altLang="zh-CN" sz="22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h</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，该层上的元素个数为</a:t>
            </a:r>
            <a:r>
              <a:rPr kumimoji="1" lang="en-US" altLang="zh-CN"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a:t>
            </a:r>
            <a:r>
              <a:rPr kumimoji="1" lang="en-US" altLang="zh-CN" sz="2200" i="1" baseline="30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h</a:t>
            </a:r>
            <a:r>
              <a:rPr kumimoji="1" lang="en-US" altLang="zh-CN" sz="2200" baseline="30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。因此，</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50000"/>
              </a:lnSpc>
            </a:pP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50000"/>
              </a:lnSpc>
            </a:pP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342900" indent="-342900" algn="l">
              <a:lnSpc>
                <a:spcPct val="150000"/>
              </a:lnSpc>
              <a:buClr>
                <a:srgbClr val="00B0F0"/>
              </a:buClr>
              <a:buSzTx/>
              <a:buFont typeface="Wingdings" panose="05000000000000000000" charset="0"/>
              <a:buChar char="l"/>
            </a:pP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折半查找法的优缺点：</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800100" lvl="1" indent="-342900">
              <a:lnSpc>
                <a:spcPct val="150000"/>
              </a:lnSpc>
              <a:buClr>
                <a:srgbClr val="98B4D2"/>
              </a:buClr>
              <a:buFont typeface="Wingdings" panose="05000000000000000000" charset="0"/>
              <a:buChar char="l"/>
            </a:pPr>
            <a:r>
              <a:rPr kumimoji="1" lang="zh-CN" altLang="en-US" sz="22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优点</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：速度快</a:t>
            </a:r>
            <a:endPar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800100" lvl="1" indent="-342900">
              <a:lnSpc>
                <a:spcPct val="150000"/>
              </a:lnSpc>
              <a:buClr>
                <a:srgbClr val="98B4D2"/>
              </a:buClr>
              <a:buFont typeface="Wingdings" panose="05000000000000000000" charset="0"/>
              <a:buChar char="l"/>
            </a:pPr>
            <a:r>
              <a:rPr kumimoji="1" lang="zh-CN" altLang="en-US" sz="22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缺点</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：只能适用于</a:t>
            </a:r>
            <a:r>
              <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有序表</a:t>
            </a:r>
            <a:r>
              <a:rPr kumimoji="1" lang="zh-CN" altLang="en-US" sz="22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，且仅限于</a:t>
            </a:r>
            <a:r>
              <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顺序存储结构</a:t>
            </a:r>
            <a:endParaRPr kumimoji="1" lang="zh-CN" altLang="en-US" sz="22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aphicFrame>
        <p:nvGraphicFramePr>
          <p:cNvPr id="36870" name="Object 6"/>
          <p:cNvGraphicFramePr>
            <a:graphicFrameLocks noChangeAspect="1"/>
          </p:cNvGraphicFramePr>
          <p:nvPr/>
        </p:nvGraphicFramePr>
        <p:xfrm>
          <a:off x="1921510" y="3195955"/>
          <a:ext cx="5634355" cy="833755"/>
        </p:xfrm>
        <a:graphic>
          <a:graphicData uri="http://schemas.openxmlformats.org/presentationml/2006/ole">
            <mc:AlternateContent xmlns:mc="http://schemas.openxmlformats.org/markup-compatibility/2006">
              <mc:Choice xmlns:v="urn:schemas-microsoft-com:vml" Requires="v">
                <p:oleObj spid="_x0000_s37036" name="公式" r:id="rId1" imgW="2997200" imgH="444500" progId="Equation.3">
                  <p:embed/>
                </p:oleObj>
              </mc:Choice>
              <mc:Fallback>
                <p:oleObj name="公式" r:id="rId1" imgW="2997200" imgH="444500" progId="Equation.3">
                  <p:embed/>
                  <p:pic>
                    <p:nvPicPr>
                      <p:cNvPr id="0" name="Object 6"/>
                      <p:cNvPicPr>
                        <a:picLocks noChangeAspect="1" noChangeArrowheads="1"/>
                      </p:cNvPicPr>
                      <p:nvPr/>
                    </p:nvPicPr>
                    <p:blipFill>
                      <a:blip r:embed="rId2"/>
                      <a:srcRect/>
                      <a:stretch>
                        <a:fillRect/>
                      </a:stretch>
                    </p:blipFill>
                    <p:spPr bwMode="auto">
                      <a:xfrm>
                        <a:off x="1921510" y="3195955"/>
                        <a:ext cx="5634355" cy="833755"/>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Question?</a:t>
            </a:r>
            <a:endParaRPr lang="en-US" altLang="zh-CN">
              <a:solidFill>
                <a:schemeClr val="bg1"/>
              </a:solidFill>
              <a:effectLst>
                <a:outerShdw blurRad="38100" dist="25400" dir="5400000" algn="ctr" rotWithShape="0">
                  <a:srgbClr val="6E747A">
                    <a:alpha val="43000"/>
                  </a:srgbClr>
                </a:outerShdw>
              </a:effectLst>
            </a:endParaRPr>
          </a:p>
        </p:txBody>
      </p:sp>
      <p:sp>
        <p:nvSpPr>
          <p:cNvPr id="263171" name="Rectangle 3"/>
          <p:cNvSpPr>
            <a:spLocks noGrp="1" noChangeArrowheads="1"/>
          </p:cNvSpPr>
          <p:nvPr>
            <p:ph type="body" idx="1"/>
          </p:nvPr>
        </p:nvSpPr>
        <p:spPr>
          <a:xfrm>
            <a:off x="488315" y="1025525"/>
            <a:ext cx="8228965" cy="5326380"/>
          </a:xfrm>
        </p:spPr>
        <p:txBody>
          <a:bodyPr/>
          <a:lstStyle/>
          <a:p>
            <a:pPr>
              <a:lnSpc>
                <a:spcPct val="120000"/>
              </a:lnSpc>
            </a:pPr>
            <a:r>
              <a:rPr lang="zh-CN" altLang="en-US" sz="2200" dirty="0">
                <a:latin typeface="Times New Roman" panose="02020603050405020304" pitchFamily="18" charset="0"/>
                <a:cs typeface="Times New Roman" panose="02020603050405020304" pitchFamily="18" charset="0"/>
              </a:rPr>
              <a:t>如果有序表中各记录的查找概率不等，情况如何呢？</a:t>
            </a:r>
            <a:endParaRPr lang="zh-CN" altLang="en-US" sz="2200" dirty="0">
              <a:latin typeface="Times New Roman" panose="02020603050405020304" pitchFamily="18" charset="0"/>
              <a:cs typeface="Times New Roman" panose="02020603050405020304" pitchFamily="18" charset="0"/>
            </a:endParaRPr>
          </a:p>
          <a:p>
            <a:pPr>
              <a:lnSpc>
                <a:spcPct val="120000"/>
              </a:lnSpc>
            </a:pPr>
            <a:r>
              <a:rPr lang="zh-CN" altLang="en-US" sz="2200" dirty="0">
                <a:latin typeface="Times New Roman" panose="02020603050405020304" pitchFamily="18" charset="0"/>
                <a:cs typeface="Times New Roman" panose="02020603050405020304" pitchFamily="18" charset="0"/>
              </a:rPr>
              <a:t>简单地按照原来的思路，构造的二叉查找树未必是最优的。</a:t>
            </a:r>
            <a:endParaRPr lang="zh-CN" altLang="en-US" sz="2200" dirty="0">
              <a:latin typeface="Times New Roman" panose="02020603050405020304" pitchFamily="18" charset="0"/>
              <a:cs typeface="Times New Roman" panose="02020603050405020304" pitchFamily="18" charset="0"/>
            </a:endParaRPr>
          </a:p>
          <a:p>
            <a:pPr>
              <a:lnSpc>
                <a:spcPct val="120000"/>
              </a:lnSpc>
            </a:pPr>
            <a:r>
              <a:rPr lang="zh-CN" altLang="en-US" sz="2200" dirty="0">
                <a:latin typeface="Times New Roman" panose="02020603050405020304" pitchFamily="18" charset="0"/>
                <a:cs typeface="Times New Roman" panose="02020603050405020304" pitchFamily="18" charset="0"/>
              </a:rPr>
              <a:t>在只考虑查找成功的情况下，产生性能最佳的判定树的目标是使                    </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最小。</a:t>
            </a:r>
            <a:endParaRPr lang="zh-CN" altLang="en-US" sz="2200" dirty="0">
              <a:latin typeface="Times New Roman" panose="02020603050405020304" pitchFamily="18" charset="0"/>
              <a:cs typeface="Times New Roman" panose="02020603050405020304" pitchFamily="18" charset="0"/>
            </a:endParaRPr>
          </a:p>
          <a:p>
            <a:pPr eaLnBrk="1" latinLnBrk="0" hangingPunct="1">
              <a:lnSpc>
                <a:spcPct val="140000"/>
              </a:lnSpc>
              <a:spcBef>
                <a:spcPts val="2400"/>
              </a:spcBef>
            </a:pPr>
            <a:r>
              <a:rPr lang="zh-CN" altLang="en-US" sz="2200">
                <a:latin typeface="Times New Roman" panose="02020603050405020304" pitchFamily="18" charset="0"/>
                <a:cs typeface="Times New Roman" panose="02020603050405020304" pitchFamily="18" charset="0"/>
                <a:sym typeface="+mn-ea"/>
              </a:rPr>
              <a:t>其中：</a:t>
            </a:r>
            <a:r>
              <a:rPr lang="zh-CN" altLang="en-US" sz="2200" i="1">
                <a:latin typeface="Times New Roman" panose="02020603050405020304" pitchFamily="18" charset="0"/>
                <a:cs typeface="Times New Roman" panose="02020603050405020304" pitchFamily="18" charset="0"/>
                <a:sym typeface="+mn-ea"/>
              </a:rPr>
              <a:t>n</a:t>
            </a:r>
            <a:r>
              <a:rPr lang="en-US" altLang="zh-CN" sz="2200" i="1">
                <a:latin typeface="Times New Roman" panose="02020603050405020304" pitchFamily="18" charset="0"/>
                <a:cs typeface="Times New Roman" panose="02020603050405020304" pitchFamily="18" charset="0"/>
                <a:sym typeface="+mn-ea"/>
              </a:rPr>
              <a:t> </a:t>
            </a:r>
            <a:r>
              <a:rPr lang="zh-CN" altLang="en-US" sz="2200">
                <a:latin typeface="Times New Roman" panose="02020603050405020304" pitchFamily="18" charset="0"/>
                <a:cs typeface="Times New Roman" panose="02020603050405020304" pitchFamily="18" charset="0"/>
                <a:sym typeface="+mn-ea"/>
              </a:rPr>
              <a:t>为二叉树上结点的个数；</a:t>
            </a:r>
            <a:r>
              <a:rPr lang="zh-CN" altLang="en-US" sz="2200" i="1">
                <a:latin typeface="Times New Roman" panose="02020603050405020304" pitchFamily="18" charset="0"/>
                <a:cs typeface="Times New Roman" panose="02020603050405020304" pitchFamily="18" charset="0"/>
                <a:sym typeface="+mn-ea"/>
              </a:rPr>
              <a:t>h</a:t>
            </a:r>
            <a:r>
              <a:rPr lang="en-US" altLang="zh-CN" sz="2200" i="1" baseline="-25000">
                <a:latin typeface="Times New Roman" panose="02020603050405020304" pitchFamily="18" charset="0"/>
                <a:cs typeface="Times New Roman" panose="02020603050405020304" pitchFamily="18" charset="0"/>
                <a:sym typeface="+mn-ea"/>
              </a:rPr>
              <a:t>i </a:t>
            </a:r>
            <a:r>
              <a:rPr lang="zh-CN" altLang="en-US" sz="2200">
                <a:latin typeface="Times New Roman" panose="02020603050405020304" pitchFamily="18" charset="0"/>
                <a:cs typeface="Times New Roman" panose="02020603050405020304" pitchFamily="18" charset="0"/>
                <a:sym typeface="+mn-ea"/>
              </a:rPr>
              <a:t>为第</a:t>
            </a:r>
            <a:r>
              <a:rPr lang="en-US" altLang="zh-CN" sz="2200">
                <a:latin typeface="Times New Roman" panose="02020603050405020304" pitchFamily="18" charset="0"/>
                <a:cs typeface="Times New Roman" panose="02020603050405020304" pitchFamily="18" charset="0"/>
                <a:sym typeface="+mn-ea"/>
              </a:rPr>
              <a:t> </a:t>
            </a:r>
            <a:r>
              <a:rPr lang="zh-CN" altLang="en-US" sz="2200" i="1">
                <a:latin typeface="Times New Roman" panose="02020603050405020304" pitchFamily="18" charset="0"/>
                <a:cs typeface="Times New Roman" panose="02020603050405020304" pitchFamily="18" charset="0"/>
                <a:sym typeface="+mn-ea"/>
              </a:rPr>
              <a:t>i</a:t>
            </a:r>
            <a:r>
              <a:rPr lang="en-US" altLang="zh-CN" sz="2200" i="1">
                <a:latin typeface="Times New Roman" panose="02020603050405020304" pitchFamily="18" charset="0"/>
                <a:cs typeface="Times New Roman" panose="02020603050405020304" pitchFamily="18" charset="0"/>
                <a:sym typeface="+mn-ea"/>
              </a:rPr>
              <a:t> </a:t>
            </a:r>
            <a:r>
              <a:rPr lang="zh-CN" altLang="en-US" sz="2200">
                <a:latin typeface="Times New Roman" panose="02020603050405020304" pitchFamily="18" charset="0"/>
                <a:cs typeface="Times New Roman" panose="02020603050405020304" pitchFamily="18" charset="0"/>
                <a:sym typeface="+mn-ea"/>
              </a:rPr>
              <a:t>个结点在二叉树上的层次数；结点的权</a:t>
            </a:r>
            <a:r>
              <a:rPr lang="zh-CN" altLang="en-US" sz="2200" i="1">
                <a:latin typeface="Times New Roman" panose="02020603050405020304" pitchFamily="18" charset="0"/>
                <a:cs typeface="Times New Roman" panose="02020603050405020304" pitchFamily="18" charset="0"/>
                <a:sym typeface="+mn-ea"/>
              </a:rPr>
              <a:t>w</a:t>
            </a:r>
            <a:r>
              <a:rPr lang="en-US" altLang="zh-CN" sz="2200" i="1" baseline="-25000">
                <a:latin typeface="Times New Roman" panose="02020603050405020304" pitchFamily="18" charset="0"/>
                <a:cs typeface="Times New Roman" panose="02020603050405020304" pitchFamily="18" charset="0"/>
                <a:sym typeface="+mn-ea"/>
              </a:rPr>
              <a:t>i </a:t>
            </a:r>
            <a:r>
              <a:rPr lang="zh-CN" altLang="en-US" sz="2200">
                <a:latin typeface="Times New Roman" panose="02020603050405020304" pitchFamily="18" charset="0"/>
                <a:cs typeface="Times New Roman" panose="02020603050405020304" pitchFamily="18" charset="0"/>
                <a:sym typeface="+mn-ea"/>
              </a:rPr>
              <a:t>=</a:t>
            </a:r>
            <a:r>
              <a:rPr lang="en-US" altLang="zh-CN" sz="2200">
                <a:latin typeface="Times New Roman" panose="02020603050405020304" pitchFamily="18" charset="0"/>
                <a:cs typeface="Times New Roman" panose="02020603050405020304" pitchFamily="18" charset="0"/>
                <a:sym typeface="+mn-ea"/>
              </a:rPr>
              <a:t> </a:t>
            </a:r>
            <a:r>
              <a:rPr lang="zh-CN" altLang="en-US" sz="2200" i="1">
                <a:latin typeface="Times New Roman" panose="02020603050405020304" pitchFamily="18" charset="0"/>
                <a:cs typeface="Times New Roman" panose="02020603050405020304" pitchFamily="18" charset="0"/>
                <a:sym typeface="+mn-ea"/>
              </a:rPr>
              <a:t>cp</a:t>
            </a:r>
            <a:r>
              <a:rPr lang="en-US" altLang="zh-CN" sz="2200" i="1" baseline="-25000">
                <a:latin typeface="Times New Roman" panose="02020603050405020304" pitchFamily="18" charset="0"/>
                <a:cs typeface="Times New Roman" panose="02020603050405020304" pitchFamily="18" charset="0"/>
                <a:sym typeface="+mn-ea"/>
              </a:rPr>
              <a:t>i</a:t>
            </a:r>
            <a:r>
              <a:rPr lang="zh-CN" altLang="en-US" sz="2200">
                <a:latin typeface="Times New Roman" panose="02020603050405020304" pitchFamily="18" charset="0"/>
                <a:cs typeface="Times New Roman" panose="02020603050405020304" pitchFamily="18" charset="0"/>
                <a:sym typeface="+mn-ea"/>
              </a:rPr>
              <a:t>(</a:t>
            </a:r>
            <a:r>
              <a:rPr lang="zh-CN" altLang="en-US" sz="2200" i="1">
                <a:latin typeface="Times New Roman" panose="02020603050405020304" pitchFamily="18" charset="0"/>
                <a:cs typeface="Times New Roman" panose="02020603050405020304" pitchFamily="18" charset="0"/>
                <a:sym typeface="+mn-ea"/>
              </a:rPr>
              <a:t>i</a:t>
            </a:r>
            <a:r>
              <a:rPr lang="zh-CN" altLang="en-US" sz="2200">
                <a:latin typeface="Times New Roman" panose="02020603050405020304" pitchFamily="18" charset="0"/>
                <a:cs typeface="Times New Roman" panose="02020603050405020304" pitchFamily="18" charset="0"/>
                <a:sym typeface="+mn-ea"/>
              </a:rPr>
              <a:t>=1,2,…,</a:t>
            </a:r>
            <a:r>
              <a:rPr lang="zh-CN" altLang="en-US" sz="2200" i="1">
                <a:latin typeface="Times New Roman" panose="02020603050405020304" pitchFamily="18" charset="0"/>
                <a:cs typeface="Times New Roman" panose="02020603050405020304" pitchFamily="18" charset="0"/>
                <a:sym typeface="+mn-ea"/>
              </a:rPr>
              <a:t>n</a:t>
            </a:r>
            <a:r>
              <a:rPr lang="zh-CN" altLang="en-US" sz="2200">
                <a:latin typeface="Times New Roman" panose="02020603050405020304" pitchFamily="18" charset="0"/>
                <a:cs typeface="Times New Roman" panose="02020603050405020304" pitchFamily="18" charset="0"/>
                <a:sym typeface="+mn-ea"/>
              </a:rPr>
              <a:t>)，其中</a:t>
            </a:r>
            <a:r>
              <a:rPr lang="zh-CN" altLang="en-US" sz="2200" i="1">
                <a:latin typeface="Times New Roman" panose="02020603050405020304" pitchFamily="18" charset="0"/>
                <a:cs typeface="Times New Roman" panose="02020603050405020304" pitchFamily="18" charset="0"/>
                <a:sym typeface="+mn-ea"/>
              </a:rPr>
              <a:t>p</a:t>
            </a:r>
            <a:r>
              <a:rPr lang="en-US" altLang="zh-CN" sz="2200" i="1" baseline="-25000">
                <a:latin typeface="Times New Roman" panose="02020603050405020304" pitchFamily="18" charset="0"/>
                <a:cs typeface="Times New Roman" panose="02020603050405020304" pitchFamily="18" charset="0"/>
                <a:sym typeface="+mn-ea"/>
              </a:rPr>
              <a:t>i</a:t>
            </a:r>
            <a:r>
              <a:rPr lang="zh-CN" altLang="en-US" sz="2200">
                <a:latin typeface="Times New Roman" panose="02020603050405020304" pitchFamily="18" charset="0"/>
                <a:cs typeface="Times New Roman" panose="02020603050405020304" pitchFamily="18" charset="0"/>
                <a:sym typeface="+mn-ea"/>
              </a:rPr>
              <a:t>为结点的査找概率，</a:t>
            </a:r>
            <a:r>
              <a:rPr lang="zh-CN" altLang="en-US" sz="2200" i="1">
                <a:latin typeface="Times New Roman" panose="02020603050405020304" pitchFamily="18" charset="0"/>
                <a:cs typeface="Times New Roman" panose="02020603050405020304" pitchFamily="18" charset="0"/>
                <a:sym typeface="+mn-ea"/>
              </a:rPr>
              <a:t>c</a:t>
            </a:r>
            <a:r>
              <a:rPr lang="en-US" altLang="zh-CN" sz="2200" i="1">
                <a:latin typeface="Times New Roman" panose="02020603050405020304" pitchFamily="18" charset="0"/>
                <a:cs typeface="Times New Roman" panose="02020603050405020304" pitchFamily="18" charset="0"/>
                <a:sym typeface="+mn-ea"/>
              </a:rPr>
              <a:t> </a:t>
            </a:r>
            <a:r>
              <a:rPr lang="zh-CN" altLang="en-US" sz="2200">
                <a:latin typeface="Times New Roman" panose="02020603050405020304" pitchFamily="18" charset="0"/>
                <a:cs typeface="Times New Roman" panose="02020603050405020304" pitchFamily="18" charset="0"/>
                <a:sym typeface="+mn-ea"/>
              </a:rPr>
              <a:t>为某个常量。</a:t>
            </a:r>
            <a:endParaRPr lang="zh-CN" altLang="en-US" sz="2200">
              <a:latin typeface="Times New Roman" panose="02020603050405020304" pitchFamily="18" charset="0"/>
              <a:cs typeface="Times New Roman" panose="02020603050405020304" pitchFamily="18" charset="0"/>
              <a:sym typeface="+mn-ea"/>
            </a:endParaRPr>
          </a:p>
          <a:p>
            <a:pPr eaLnBrk="1" latinLnBrk="0" hangingPunct="1">
              <a:lnSpc>
                <a:spcPct val="140000"/>
              </a:lnSpc>
              <a:spcBef>
                <a:spcPts val="0"/>
              </a:spcBef>
            </a:pPr>
            <a:r>
              <a:rPr lang="zh-CN" altLang="en-US" sz="2200">
                <a:latin typeface="Times New Roman" panose="02020603050405020304" pitchFamily="18" charset="0"/>
                <a:cs typeface="Times New Roman" panose="02020603050405020304" pitchFamily="18" charset="0"/>
                <a:sym typeface="+mn-ea"/>
              </a:rPr>
              <a:t>称 </a:t>
            </a:r>
            <a:r>
              <a:rPr lang="zh-CN" altLang="en-US" sz="2200" i="1">
                <a:latin typeface="Times New Roman" panose="02020603050405020304" pitchFamily="18" charset="0"/>
                <a:cs typeface="Times New Roman" panose="02020603050405020304" pitchFamily="18" charset="0"/>
                <a:sym typeface="+mn-ea"/>
              </a:rPr>
              <a:t>PH</a:t>
            </a:r>
            <a:r>
              <a:rPr lang="en-US" altLang="zh-CN" sz="2200" i="1">
                <a:latin typeface="Times New Roman" panose="02020603050405020304" pitchFamily="18" charset="0"/>
                <a:cs typeface="Times New Roman" panose="02020603050405020304" pitchFamily="18" charset="0"/>
                <a:sym typeface="+mn-ea"/>
              </a:rPr>
              <a:t> </a:t>
            </a:r>
            <a:r>
              <a:rPr lang="zh-CN" altLang="en-US" sz="2200">
                <a:latin typeface="Times New Roman" panose="02020603050405020304" pitchFamily="18" charset="0"/>
                <a:cs typeface="Times New Roman" panose="02020603050405020304" pitchFamily="18" charset="0"/>
                <a:sym typeface="+mn-ea"/>
              </a:rPr>
              <a:t>值取最小的二叉树为</a:t>
            </a:r>
            <a:r>
              <a:rPr lang="zh-CN" altLang="en-US" sz="2200" b="1">
                <a:solidFill>
                  <a:srgbClr val="FF0000"/>
                </a:solidFill>
                <a:latin typeface="Times New Roman" panose="02020603050405020304" pitchFamily="18" charset="0"/>
                <a:cs typeface="Times New Roman" panose="02020603050405020304" pitchFamily="18" charset="0"/>
                <a:sym typeface="+mn-ea"/>
              </a:rPr>
              <a:t>静态最优查找树(Static Optimal Search Tree)</a:t>
            </a:r>
            <a:r>
              <a:rPr lang="zh-CN" altLang="en-US" sz="2200">
                <a:latin typeface="Times New Roman" panose="02020603050405020304" pitchFamily="18" charset="0"/>
                <a:cs typeface="Times New Roman" panose="02020603050405020304" pitchFamily="18" charset="0"/>
                <a:sym typeface="+mn-ea"/>
              </a:rPr>
              <a:t>。</a:t>
            </a:r>
            <a:endParaRPr lang="zh-CN" altLang="en-US" sz="2200">
              <a:latin typeface="Times New Roman" panose="02020603050405020304" pitchFamily="18" charset="0"/>
              <a:cs typeface="Times New Roman" panose="02020603050405020304" pitchFamily="18" charset="0"/>
              <a:sym typeface="+mn-ea"/>
            </a:endParaRPr>
          </a:p>
          <a:p>
            <a:pPr eaLnBrk="1" latinLnBrk="0" hangingPunct="1">
              <a:lnSpc>
                <a:spcPct val="140000"/>
              </a:lnSpc>
              <a:spcBef>
                <a:spcPts val="0"/>
              </a:spcBef>
            </a:pPr>
            <a:r>
              <a:rPr lang="zh-CN" altLang="en-US" sz="2200">
                <a:latin typeface="Times New Roman" panose="02020603050405020304" pitchFamily="18" charset="0"/>
                <a:cs typeface="Times New Roman" panose="02020603050405020304" pitchFamily="18" charset="0"/>
                <a:sym typeface="+mn-ea"/>
              </a:rPr>
              <a:t>构造静态最优查找树花费的时间代价较高。</a:t>
            </a:r>
            <a:endParaRPr lang="zh-CN" altLang="en-US" sz="2200" dirty="0">
              <a:latin typeface="Times New Roman" panose="02020603050405020304" pitchFamily="18" charset="0"/>
              <a:cs typeface="Times New Roman" panose="02020603050405020304" pitchFamily="18" charset="0"/>
            </a:endParaRPr>
          </a:p>
        </p:txBody>
      </p:sp>
      <p:graphicFrame>
        <p:nvGraphicFramePr>
          <p:cNvPr id="263172" name="Object 4"/>
          <p:cNvGraphicFramePr>
            <a:graphicFrameLocks noChangeAspect="1"/>
          </p:cNvGraphicFramePr>
          <p:nvPr/>
        </p:nvGraphicFramePr>
        <p:xfrm>
          <a:off x="1464310" y="2267585"/>
          <a:ext cx="1878330" cy="955675"/>
        </p:xfrm>
        <a:graphic>
          <a:graphicData uri="http://schemas.openxmlformats.org/presentationml/2006/ole">
            <mc:AlternateContent xmlns:mc="http://schemas.openxmlformats.org/markup-compatibility/2006">
              <mc:Choice xmlns:v="urn:schemas-microsoft-com:vml" Requires="v">
                <p:oleObj spid="_x0000_s263342" name="Equation" r:id="rId1" imgW="723900" imgH="368300" progId="Equation.DSMT4">
                  <p:embed/>
                </p:oleObj>
              </mc:Choice>
              <mc:Fallback>
                <p:oleObj name="Equation" r:id="rId1" imgW="723900" imgH="368300" progId="Equation.DSMT4">
                  <p:embed/>
                  <p:pic>
                    <p:nvPicPr>
                      <p:cNvPr id="0" name="Object 4"/>
                      <p:cNvPicPr>
                        <a:picLocks noChangeAspect="1" noChangeArrowheads="1"/>
                      </p:cNvPicPr>
                      <p:nvPr/>
                    </p:nvPicPr>
                    <p:blipFill>
                      <a:blip r:embed="rId2">
                        <a:lum bright="-78000" contrast="-18000"/>
                      </a:blip>
                      <a:srcRect/>
                      <a:stretch>
                        <a:fillRect/>
                      </a:stretch>
                    </p:blipFill>
                    <p:spPr bwMode="auto">
                      <a:xfrm>
                        <a:off x="1464310" y="2267585"/>
                        <a:ext cx="1878330"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5" name="Text Box 7"/>
          <p:cNvSpPr txBox="1">
            <a:spLocks noChangeArrowheads="1"/>
          </p:cNvSpPr>
          <p:nvPr/>
        </p:nvSpPr>
        <p:spPr bwMode="auto">
          <a:xfrm>
            <a:off x="1269524" y="2838332"/>
            <a:ext cx="1040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350" dirty="0">
                <a:ea typeface="幼圆" panose="02010509060101010101" pitchFamily="49" charset="-122"/>
              </a:rPr>
              <a:t>带权内路径</a:t>
            </a:r>
            <a:endParaRPr lang="zh-CN" altLang="en-US" sz="1350" dirty="0">
              <a:ea typeface="幼圆" panose="020105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b="1">
                <a:solidFill>
                  <a:schemeClr val="bg1"/>
                </a:solidFill>
                <a:latin typeface="Times New Roman" panose="02020603050405020304" pitchFamily="18" charset="0"/>
                <a:cs typeface="Times New Roman" panose="02020603050405020304" pitchFamily="18" charset="0"/>
                <a:sym typeface="+mn-ea"/>
              </a:rPr>
              <a:t>次优查找树</a:t>
            </a:r>
            <a:endParaRPr lang="zh-CN" altLang="en-US" b="1">
              <a:solidFill>
                <a:schemeClr val="bg1"/>
              </a:solidFill>
              <a:latin typeface="Times New Roman" panose="02020603050405020304" pitchFamily="18" charset="0"/>
              <a:cs typeface="Times New Roman" panose="02020603050405020304" pitchFamily="18" charset="0"/>
              <a:sym typeface="+mn-ea"/>
            </a:endParaRPr>
          </a:p>
        </p:txBody>
      </p:sp>
      <p:sp>
        <p:nvSpPr>
          <p:cNvPr id="5" name="文本框 4"/>
          <p:cNvSpPr txBox="1"/>
          <p:nvPr/>
        </p:nvSpPr>
        <p:spPr>
          <a:xfrm>
            <a:off x="508635" y="1085850"/>
            <a:ext cx="8178165" cy="5352415"/>
          </a:xfrm>
          <a:prstGeom prst="rect">
            <a:avLst/>
          </a:prstGeom>
          <a:noFill/>
        </p:spPr>
        <p:txBody>
          <a:bodyPr wrap="square" rtlCol="0">
            <a:noAutofit/>
          </a:bodyPr>
          <a:p>
            <a:pPr marL="342900" indent="-342900">
              <a:lnSpc>
                <a:spcPct val="150000"/>
              </a:lnSpc>
              <a:buClr>
                <a:srgbClr val="00B0F0"/>
              </a:buClr>
              <a:buFont typeface="Wingdings" panose="05000000000000000000" charset="0"/>
              <a:buChar char="l"/>
            </a:pPr>
            <a:r>
              <a:rPr lang="zh-CN" altLang="en-US" sz="2200">
                <a:latin typeface="Times New Roman" panose="02020603050405020304" pitchFamily="18" charset="0"/>
                <a:cs typeface="Times New Roman" panose="02020603050405020304" pitchFamily="18" charset="0"/>
              </a:rPr>
              <a:t>构造近似最优查找的有效算法：</a:t>
            </a:r>
            <a:endParaRPr lang="zh-CN" altLang="en-US" sz="2200">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lang="zh-CN" altLang="en-US" sz="2200">
                <a:latin typeface="Times New Roman" panose="02020603050405020304" pitchFamily="18" charset="0"/>
                <a:cs typeface="Times New Roman" panose="02020603050405020304" pitchFamily="18" charset="0"/>
              </a:rPr>
              <a:t>已知一个按关键字有序的记录序列</a:t>
            </a:r>
            <a:r>
              <a:rPr lang="en-US" altLang="zh-CN" sz="2200">
                <a:latin typeface="Times New Roman" panose="02020603050405020304" pitchFamily="18" charset="0"/>
                <a:cs typeface="Times New Roman" panose="02020603050405020304" pitchFamily="18" charset="0"/>
              </a:rPr>
              <a:t> </a:t>
            </a:r>
            <a:endParaRPr lang="en-US" altLang="zh-CN" sz="2200">
              <a:latin typeface="Times New Roman" panose="02020603050405020304" pitchFamily="18" charset="0"/>
              <a:cs typeface="Times New Roman" panose="02020603050405020304" pitchFamily="18" charset="0"/>
            </a:endParaRPr>
          </a:p>
          <a:p>
            <a:pPr marL="457200" lvl="1" indent="457200">
              <a:lnSpc>
                <a:spcPct val="150000"/>
              </a:lnSpc>
              <a:buFont typeface="Wingdings" panose="05000000000000000000" charset="0"/>
              <a:buNone/>
            </a:pPr>
            <a:r>
              <a:rPr lang="en-US" altLang="zh-CN" sz="2200">
                <a:latin typeface="Times New Roman" panose="02020603050405020304" pitchFamily="18"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r</a:t>
            </a:r>
            <a:r>
              <a:rPr lang="en-US" altLang="zh-CN" sz="2200" i="1" baseline="-25000">
                <a:latin typeface="Times New Roman" panose="02020603050405020304" pitchFamily="18" charset="0"/>
                <a:cs typeface="Times New Roman" panose="02020603050405020304" pitchFamily="18" charset="0"/>
              </a:rPr>
              <a:t>l</a:t>
            </a:r>
            <a:r>
              <a:rPr lang="en-US" altLang="zh-CN" sz="2200">
                <a:latin typeface="Times New Roman" panose="02020603050405020304" pitchFamily="18" charset="0"/>
                <a:cs typeface="Times New Roman" panose="02020603050405020304" pitchFamily="18" charset="0"/>
              </a:rPr>
              <a:t>,  </a:t>
            </a:r>
            <a:r>
              <a:rPr lang="en-US" altLang="zh-CN" sz="2200" i="1">
                <a:latin typeface="Times New Roman" panose="02020603050405020304" pitchFamily="18" charset="0"/>
                <a:cs typeface="Times New Roman" panose="02020603050405020304" pitchFamily="18" charset="0"/>
              </a:rPr>
              <a:t>r</a:t>
            </a:r>
            <a:r>
              <a:rPr lang="en-US" altLang="zh-CN" sz="2200" i="1" baseline="-25000">
                <a:latin typeface="Times New Roman" panose="02020603050405020304" pitchFamily="18" charset="0"/>
                <a:cs typeface="Times New Roman" panose="02020603050405020304" pitchFamily="18" charset="0"/>
              </a:rPr>
              <a:t>l+1</a:t>
            </a:r>
            <a:r>
              <a:rPr lang="en-US" altLang="zh-CN" sz="2200">
                <a:latin typeface="Times New Roman" panose="02020603050405020304" pitchFamily="18" charset="0"/>
                <a:cs typeface="Times New Roman" panose="02020603050405020304" pitchFamily="18" charset="0"/>
              </a:rPr>
              <a:t>, ..., </a:t>
            </a:r>
            <a:r>
              <a:rPr lang="en-US" altLang="zh-CN" sz="2200" i="1">
                <a:latin typeface="Times New Roman" panose="02020603050405020304" pitchFamily="18" charset="0"/>
                <a:cs typeface="Times New Roman" panose="02020603050405020304" pitchFamily="18" charset="0"/>
              </a:rPr>
              <a:t>r</a:t>
            </a:r>
            <a:r>
              <a:rPr lang="en-US" altLang="zh-CN" sz="2200" i="1" baseline="-25000">
                <a:latin typeface="Times New Roman" panose="02020603050405020304" pitchFamily="18" charset="0"/>
                <a:cs typeface="Times New Roman" panose="02020603050405020304" pitchFamily="18" charset="0"/>
              </a:rPr>
              <a:t>h</a:t>
            </a:r>
            <a:r>
              <a:rPr lang="en-US" altLang="zh-CN" sz="2200">
                <a:latin typeface="Times New Roman" panose="02020603050405020304" pitchFamily="18" charset="0"/>
                <a:cs typeface="Times New Roman" panose="02020603050405020304" pitchFamily="18" charset="0"/>
              </a:rPr>
              <a:t>)</a:t>
            </a:r>
            <a:r>
              <a:rPr lang="zh-CN" altLang="en-US" sz="2200">
                <a:latin typeface="Times New Roman" panose="02020603050405020304" pitchFamily="18" charset="0"/>
                <a:cs typeface="Times New Roman" panose="02020603050405020304" pitchFamily="18" charset="0"/>
              </a:rPr>
              <a:t>，其中：</a:t>
            </a:r>
            <a:r>
              <a:rPr lang="en-US" altLang="zh-CN" sz="2200" i="1">
                <a:latin typeface="Times New Roman" panose="02020603050405020304" pitchFamily="18" charset="0"/>
                <a:cs typeface="Times New Roman" panose="02020603050405020304" pitchFamily="18" charset="0"/>
              </a:rPr>
              <a:t>r</a:t>
            </a:r>
            <a:r>
              <a:rPr lang="en-US" altLang="zh-CN" sz="2200" i="1" baseline="-25000">
                <a:latin typeface="Times New Roman" panose="02020603050405020304" pitchFamily="18" charset="0"/>
                <a:cs typeface="Times New Roman" panose="02020603050405020304" pitchFamily="18" charset="0"/>
              </a:rPr>
              <a:t>l</a:t>
            </a:r>
            <a:r>
              <a:rPr lang="en-US" altLang="zh-CN" sz="2200" i="1">
                <a:latin typeface="Times New Roman" panose="02020603050405020304" pitchFamily="18" charset="0"/>
                <a:cs typeface="Times New Roman" panose="02020603050405020304" pitchFamily="18" charset="0"/>
              </a:rPr>
              <a:t>.key &lt; r</a:t>
            </a:r>
            <a:r>
              <a:rPr lang="en-US" altLang="zh-CN" sz="2200" i="1" baseline="-25000">
                <a:latin typeface="Times New Roman" panose="02020603050405020304" pitchFamily="18" charset="0"/>
                <a:cs typeface="Times New Roman" panose="02020603050405020304" pitchFamily="18" charset="0"/>
              </a:rPr>
              <a:t>l+1</a:t>
            </a:r>
            <a:r>
              <a:rPr lang="en-US" altLang="zh-CN" sz="2200" i="1">
                <a:latin typeface="Times New Roman" panose="02020603050405020304" pitchFamily="18" charset="0"/>
                <a:cs typeface="Times New Roman" panose="02020603050405020304" pitchFamily="18" charset="0"/>
              </a:rPr>
              <a:t>.key &lt; ... &lt; r</a:t>
            </a:r>
            <a:r>
              <a:rPr lang="en-US" altLang="zh-CN" sz="2200" i="1" baseline="-25000">
                <a:latin typeface="Times New Roman" panose="02020603050405020304" pitchFamily="18" charset="0"/>
                <a:cs typeface="Times New Roman" panose="02020603050405020304" pitchFamily="18" charset="0"/>
              </a:rPr>
              <a:t>h</a:t>
            </a:r>
            <a:r>
              <a:rPr lang="en-US" altLang="zh-CN" sz="2200" i="1">
                <a:latin typeface="Times New Roman" panose="02020603050405020304" pitchFamily="18" charset="0"/>
                <a:cs typeface="Times New Roman" panose="02020603050405020304" pitchFamily="18" charset="0"/>
              </a:rPr>
              <a:t>.key</a:t>
            </a:r>
            <a:endParaRPr lang="en-US" altLang="zh-CN" sz="2200" i="1">
              <a:latin typeface="Times New Roman" panose="02020603050405020304" pitchFamily="18" charset="0"/>
              <a:cs typeface="Times New Roman" panose="02020603050405020304" pitchFamily="18" charset="0"/>
            </a:endParaRPr>
          </a:p>
          <a:p>
            <a:pPr marL="0" lvl="0" indent="457200">
              <a:lnSpc>
                <a:spcPct val="150000"/>
              </a:lnSpc>
              <a:buFont typeface="Wingdings" panose="05000000000000000000" charset="0"/>
              <a:buNone/>
            </a:pPr>
            <a:r>
              <a:rPr lang="zh-CN" altLang="en-US" sz="2200">
                <a:solidFill>
                  <a:schemeClr val="tx1"/>
                </a:solidFill>
                <a:latin typeface="Times New Roman" panose="02020603050405020304" pitchFamily="18" charset="0"/>
                <a:cs typeface="Times New Roman" panose="02020603050405020304" pitchFamily="18" charset="0"/>
              </a:rPr>
              <a:t>与每个记录相应的权值为：</a:t>
            </a:r>
            <a:r>
              <a:rPr lang="en-US" altLang="zh-CN" sz="2200" i="1">
                <a:latin typeface="Times New Roman" panose="02020603050405020304" pitchFamily="18" charset="0"/>
                <a:cs typeface="Times New Roman" panose="02020603050405020304" pitchFamily="18" charset="0"/>
              </a:rPr>
              <a:t>w</a:t>
            </a:r>
            <a:r>
              <a:rPr lang="en-US" altLang="zh-CN" sz="2200" i="1" baseline="-25000">
                <a:latin typeface="Times New Roman" panose="02020603050405020304" pitchFamily="18" charset="0"/>
                <a:cs typeface="Times New Roman" panose="02020603050405020304" pitchFamily="18" charset="0"/>
              </a:rPr>
              <a:t>l</a:t>
            </a:r>
            <a:r>
              <a:rPr lang="en-US" altLang="zh-CN" sz="2200" i="1">
                <a:latin typeface="Times New Roman" panose="02020603050405020304" pitchFamily="18" charset="0"/>
                <a:cs typeface="Times New Roman" panose="02020603050405020304" pitchFamily="18" charset="0"/>
              </a:rPr>
              <a:t>, w</a:t>
            </a:r>
            <a:r>
              <a:rPr lang="en-US" altLang="zh-CN" sz="2200" i="1" baseline="-25000">
                <a:latin typeface="Times New Roman" panose="02020603050405020304" pitchFamily="18" charset="0"/>
                <a:cs typeface="Times New Roman" panose="02020603050405020304" pitchFamily="18" charset="0"/>
              </a:rPr>
              <a:t>l+1</a:t>
            </a:r>
            <a:r>
              <a:rPr lang="en-US" altLang="zh-CN" sz="2200" i="1">
                <a:latin typeface="Times New Roman" panose="02020603050405020304" pitchFamily="18" charset="0"/>
                <a:cs typeface="Times New Roman" panose="02020603050405020304" pitchFamily="18" charset="0"/>
              </a:rPr>
              <a:t>, ..., w</a:t>
            </a:r>
            <a:r>
              <a:rPr lang="en-US" altLang="zh-CN" sz="2200" i="1" baseline="-25000">
                <a:latin typeface="Times New Roman" panose="02020603050405020304" pitchFamily="18" charset="0"/>
                <a:cs typeface="Times New Roman" panose="02020603050405020304" pitchFamily="18" charset="0"/>
              </a:rPr>
              <a:t>h</a:t>
            </a:r>
            <a:endParaRPr lang="en-US" altLang="zh-CN" sz="2200" i="1" baseline="-25000">
              <a:latin typeface="Times New Roman" panose="02020603050405020304" pitchFamily="18" charset="0"/>
              <a:cs typeface="Times New Roman" panose="02020603050405020304" pitchFamily="18" charset="0"/>
            </a:endParaRPr>
          </a:p>
          <a:p>
            <a:pPr marL="342900" lvl="0" indent="-342900">
              <a:lnSpc>
                <a:spcPct val="150000"/>
              </a:lnSpc>
              <a:buClr>
                <a:srgbClr val="00B0F0"/>
              </a:buClr>
              <a:buFont typeface="Wingdings" panose="05000000000000000000" charset="0"/>
              <a:buChar char="l"/>
            </a:pPr>
            <a:r>
              <a:rPr lang="zh-CN" altLang="en-US" sz="2200">
                <a:latin typeface="Times New Roman" panose="02020603050405020304" pitchFamily="18" charset="0"/>
                <a:cs typeface="Times New Roman" panose="02020603050405020304" pitchFamily="18" charset="0"/>
              </a:rPr>
              <a:t>现构造一棵二叉树，使这棵二叉树的带权内路径长度</a:t>
            </a:r>
            <a:r>
              <a:rPr lang="en-US" altLang="zh-CN" sz="2200">
                <a:latin typeface="Times New Roman" panose="02020603050405020304" pitchFamily="18" charset="0"/>
                <a:cs typeface="Times New Roman" panose="02020603050405020304" pitchFamily="18" charset="0"/>
              </a:rPr>
              <a:t> </a:t>
            </a:r>
            <a:r>
              <a:rPr lang="zh-CN" altLang="en-US" sz="2200" i="1">
                <a:latin typeface="Times New Roman" panose="02020603050405020304" pitchFamily="18" charset="0"/>
                <a:cs typeface="Times New Roman" panose="02020603050405020304" pitchFamily="18" charset="0"/>
              </a:rPr>
              <a:t>PH</a:t>
            </a:r>
            <a:r>
              <a:rPr lang="en-US" altLang="zh-CN" sz="2200" i="1">
                <a:latin typeface="Times New Roman" panose="02020603050405020304" pitchFamily="18" charset="0"/>
                <a:cs typeface="Times New Roman" panose="02020603050405020304" pitchFamily="18" charset="0"/>
              </a:rPr>
              <a:t> </a:t>
            </a:r>
            <a:r>
              <a:rPr lang="zh-CN" altLang="en-US" sz="2200">
                <a:latin typeface="Times New Roman" panose="02020603050405020304" pitchFamily="18" charset="0"/>
                <a:cs typeface="Times New Roman" panose="02020603050405020304" pitchFamily="18" charset="0"/>
              </a:rPr>
              <a:t>值在所有具有同样权值的二叉树中近似为最小，称这类二叉树为</a:t>
            </a:r>
            <a:r>
              <a:rPr lang="zh-CN" altLang="en-US" sz="2200" b="1">
                <a:solidFill>
                  <a:srgbClr val="FF0000"/>
                </a:solidFill>
                <a:latin typeface="Times New Roman" panose="02020603050405020304" pitchFamily="18" charset="0"/>
                <a:cs typeface="Times New Roman" panose="02020603050405020304" pitchFamily="18" charset="0"/>
              </a:rPr>
              <a:t>次优查找树(Nearly Optimal Search Tree)</a:t>
            </a:r>
            <a:endParaRPr lang="zh-CN" altLang="en-US" sz="2200">
              <a:latin typeface="Times New Roman" panose="02020603050405020304" pitchFamily="18" charset="0"/>
              <a:cs typeface="Times New Roman" panose="02020603050405020304" pitchFamily="18" charset="0"/>
            </a:endParaRPr>
          </a:p>
          <a:p>
            <a:pPr>
              <a:lnSpc>
                <a:spcPct val="150000"/>
              </a:lnSpc>
            </a:pPr>
            <a:endParaRPr lang="zh-CN" altLang="en-US" sz="2200">
              <a:latin typeface="Times New Roman" panose="02020603050405020304" pitchFamily="18" charset="0"/>
              <a:cs typeface="Times New Roman" panose="02020603050405020304" pitchFamily="18" charset="0"/>
            </a:endParaRPr>
          </a:p>
          <a:p>
            <a:pPr>
              <a:lnSpc>
                <a:spcPct val="150000"/>
              </a:lnSpc>
            </a:pPr>
            <a:endParaRPr lang="zh-CN" altLang="en-US" sz="2200">
              <a:latin typeface="Times New Roman" panose="02020603050405020304" pitchFamily="18" charset="0"/>
              <a:cs typeface="Times New Roman" panose="02020603050405020304" pitchFamily="18" charset="0"/>
            </a:endParaRPr>
          </a:p>
          <a:p>
            <a:endParaRPr lang="zh-CN" altLang="en-US" sz="220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b="1">
                <a:solidFill>
                  <a:schemeClr val="bg1"/>
                </a:solidFill>
                <a:effectLst/>
                <a:sym typeface="+mn-ea"/>
              </a:rPr>
              <a:t>次优查找树的</a:t>
            </a:r>
            <a:r>
              <a:rPr lang="zh-CN" altLang="en-US" b="1">
                <a:effectLst/>
                <a:sym typeface="+mn-ea"/>
              </a:rPr>
              <a:t>构造</a:t>
            </a:r>
            <a:endParaRPr lang="zh-CN" altLang="en-US" b="1">
              <a:solidFill>
                <a:schemeClr val="bg1"/>
              </a:solidFill>
              <a:effectLst/>
              <a:sym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394970" y="983615"/>
                <a:ext cx="8409940" cy="5548630"/>
              </a:xfrm>
              <a:prstGeom prst="rect">
                <a:avLst/>
              </a:prstGeom>
              <a:noFill/>
            </p:spPr>
            <p:txBody>
              <a:bodyPr wrap="square" rtlCol="0">
                <a:noAutofit/>
              </a:bodyPr>
              <a:p>
                <a:pPr marL="457200" indent="-457200">
                  <a:lnSpc>
                    <a:spcPct val="140000"/>
                  </a:lnSpc>
                  <a:buClr>
                    <a:srgbClr val="00B0F0"/>
                  </a:buClr>
                  <a:buFont typeface="+mj-ea"/>
                  <a:buAutoNum type="circleNumDbPlain"/>
                </a:pPr>
                <a:r>
                  <a:rPr lang="zh-CN" altLang="en-US" sz="2000">
                    <a:latin typeface="Times New Roman" panose="02020603050405020304" pitchFamily="18" charset="0"/>
                    <a:cs typeface="Times New Roman" panose="02020603050405020304" pitchFamily="18" charset="0"/>
                  </a:rPr>
                  <a:t>首先在</a:t>
                </a:r>
                <a:r>
                  <a:rPr lang="zh-CN" altLang="en-US" sz="2000">
                    <a:latin typeface="Times New Roman" panose="02020603050405020304" pitchFamily="18" charset="0"/>
                    <a:cs typeface="Times New Roman" panose="02020603050405020304" pitchFamily="18" charset="0"/>
                    <a:sym typeface="+mn-ea"/>
                  </a:rPr>
                  <a:t>记录序列</a:t>
                </a:r>
                <a:r>
                  <a:rPr lang="en-US" altLang="zh-CN" sz="2000">
                    <a:latin typeface="Times New Roman" panose="02020603050405020304" pitchFamily="18" charset="0"/>
                    <a:cs typeface="Times New Roman" panose="02020603050405020304" pitchFamily="18" charset="0"/>
                    <a:sym typeface="+mn-ea"/>
                  </a:rPr>
                  <a:t>(</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l</a:t>
                </a:r>
                <a:r>
                  <a:rPr lang="en-US" altLang="zh-CN" sz="2000">
                    <a:latin typeface="Times New Roman" panose="02020603050405020304" pitchFamily="18" charset="0"/>
                    <a:cs typeface="Times New Roman" panose="02020603050405020304" pitchFamily="18" charset="0"/>
                    <a:sym typeface="+mn-ea"/>
                  </a:rPr>
                  <a:t>,  </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l+1</a:t>
                </a:r>
                <a:r>
                  <a:rPr lang="en-US" altLang="zh-CN" sz="2000">
                    <a:latin typeface="Times New Roman" panose="02020603050405020304" pitchFamily="18" charset="0"/>
                    <a:cs typeface="Times New Roman" panose="02020603050405020304" pitchFamily="18" charset="0"/>
                    <a:sym typeface="+mn-ea"/>
                  </a:rPr>
                  <a:t>, ..., </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h</a:t>
                </a:r>
                <a:r>
                  <a:rPr lang="en-US" altLang="zh-CN" sz="2000">
                    <a:latin typeface="Times New Roman" panose="02020603050405020304" pitchFamily="18" charset="0"/>
                    <a:cs typeface="Times New Roman" panose="02020603050405020304" pitchFamily="18" charset="0"/>
                    <a:sym typeface="+mn-ea"/>
                  </a:rPr>
                  <a:t>)</a:t>
                </a:r>
                <a:r>
                  <a:rPr lang="zh-CN" altLang="en-US" sz="2000">
                    <a:latin typeface="Times New Roman" panose="02020603050405020304" pitchFamily="18" charset="0"/>
                    <a:cs typeface="Times New Roman" panose="02020603050405020304" pitchFamily="18" charset="0"/>
                  </a:rPr>
                  <a:t>中取第</a:t>
                </a:r>
                <a:r>
                  <a:rPr lang="zh-CN" altLang="en-US" sz="2000" i="1">
                    <a:latin typeface="Times New Roman" panose="02020603050405020304" pitchFamily="18" charset="0"/>
                    <a:cs typeface="Times New Roman" panose="02020603050405020304" pitchFamily="18" charset="0"/>
                  </a:rPr>
                  <a:t>i</a:t>
                </a:r>
                <a:r>
                  <a:rPr lang="en-US" altLang="zh-CN" sz="2000" i="1">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(l&lt;i&lt;h)</a:t>
                </a:r>
                <a:r>
                  <a:rPr lang="zh-CN" altLang="en-US" sz="2000">
                    <a:latin typeface="Times New Roman" panose="02020603050405020304" pitchFamily="18" charset="0"/>
                    <a:cs typeface="Times New Roman" panose="02020603050405020304" pitchFamily="18" charset="0"/>
                  </a:rPr>
                  <a:t>个记录构造根结点</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a:p>
                <a:pPr marL="457200" indent="-457200">
                  <a:lnSpc>
                    <a:spcPct val="140000"/>
                  </a:lnSpc>
                  <a:buClr>
                    <a:srgbClr val="00B0F0"/>
                  </a:buClr>
                  <a:buFont typeface="+mj-ea"/>
                  <a:buAutoNum type="circleNumDbPlain"/>
                </a:pPr>
                <a:endParaRPr lang="zh-CN" altLang="en-US" sz="2000">
                  <a:latin typeface="Times New Roman" panose="02020603050405020304" pitchFamily="18" charset="0"/>
                  <a:cs typeface="Times New Roman" panose="02020603050405020304" pitchFamily="18" charset="0"/>
                </a:endParaRPr>
              </a:p>
              <a:p>
                <a:pPr indent="457200">
                  <a:lnSpc>
                    <a:spcPct val="80000"/>
                  </a:lnSpc>
                  <a:buClr>
                    <a:srgbClr val="00B0F0"/>
                  </a:buClr>
                  <a:buFont typeface="+mj-ea"/>
                  <a:buNone/>
                </a:pPr>
                <a:r>
                  <a:rPr lang="zh-CN" altLang="en-US" sz="2000">
                    <a:latin typeface="Times New Roman" panose="02020603050405020304" pitchFamily="18" charset="0"/>
                    <a:cs typeface="Times New Roman" panose="02020603050405020304" pitchFamily="18" charset="0"/>
                  </a:rPr>
                  <a:t>使得</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sym typeface="+mn-ea"/>
                  </a:rPr>
                  <a:t>取最小值（</a:t>
                </a:r>
                <a14:m>
                  <m:oMath xmlns:m="http://schemas.openxmlformats.org/officeDocument/2006/math">
                    <m:r>
                      <a:rPr lang="en-US" altLang="zh-CN" sz="2000" i="1">
                        <a:latin typeface="Cambria Math" panose="02040503050406030204" charset="0"/>
                        <a:ea typeface="MS Mincho" panose="02020609040205080304" charset="-128"/>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𝑃</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panose="02020609040205080304" charset="-128"/>
                        <a:cs typeface="Cambria Math" panose="02040503050406030204" charset="0"/>
                      </a:rPr>
                      <m:t>=</m:t>
                    </m:r>
                    <m:func>
                      <m:funcPr>
                        <m:ctrlPr>
                          <a:rPr lang="en-US" altLang="zh-CN" sz="2000" i="1">
                            <a:latin typeface="Cambria Math" panose="02040503050406030204" charset="0"/>
                            <a:cs typeface="Cambria Math" panose="02040503050406030204" charset="0"/>
                          </a:rPr>
                        </m:ctrlPr>
                      </m:funcPr>
                      <m:fName>
                        <m:limLow>
                          <m:limLowPr>
                            <m:ctrlPr>
                              <a:rPr lang="en-US" altLang="zh-CN" sz="2000">
                                <a:latin typeface="Cambria Math" panose="02040503050406030204" charset="0"/>
                                <a:cs typeface="Cambria Math" panose="02040503050406030204" charset="0"/>
                              </a:rPr>
                            </m:ctrlPr>
                          </m:limLowPr>
                          <m:e>
                            <m:r>
                              <m:rPr>
                                <m:sty m:val="p"/>
                              </m:rPr>
                              <a:rPr lang="en-US" altLang="zh-CN" sz="2000">
                                <a:latin typeface="Cambria Math" panose="02040503050406030204" charset="0"/>
                                <a:cs typeface="Cambria Math" panose="02040503050406030204" charset="0"/>
                              </a:rPr>
                              <m:t>min</m:t>
                            </m:r>
                          </m:e>
                          <m:lim>
                            <m:r>
                              <a:rPr lang="en-US" altLang="zh-CN" sz="2000" i="1">
                                <a:latin typeface="Cambria Math" panose="02040503050406030204" charset="0"/>
                                <a:cs typeface="Cambria Math" panose="02040503050406030204" charset="0"/>
                              </a:rPr>
                              <m:t>𝑙</m:t>
                            </m:r>
                            <m:r>
                              <a:rPr lang="en-US" altLang="zh-CN" sz="2000" i="1">
                                <a:latin typeface="Cambria Math" panose="02040503050406030204" charset="0"/>
                                <a:ea typeface="MS Mincho" panose="02020609040205080304" charset="-128"/>
                                <a:cs typeface="Cambria Math" panose="02040503050406030204" charset="0"/>
                              </a:rPr>
                              <m:t>≤</m:t>
                            </m:r>
                            <m:r>
                              <a:rPr lang="en-US" altLang="zh-CN" sz="2000" i="1">
                                <a:latin typeface="Cambria Math" panose="02040503050406030204" charset="0"/>
                                <a:cs typeface="Cambria Math" panose="02040503050406030204" charset="0"/>
                              </a:rPr>
                              <m:t>𝑗</m:t>
                            </m:r>
                            <m:r>
                              <a:rPr lang="en-US" altLang="zh-CN" sz="2000" i="1">
                                <a:latin typeface="Cambria Math" panose="02040503050406030204" charset="0"/>
                                <a:ea typeface="MS Mincho" panose="02020609040205080304" charset="-128"/>
                                <a:cs typeface="Cambria Math" panose="02040503050406030204" charset="0"/>
                              </a:rPr>
                              <m:t>≤</m:t>
                            </m:r>
                            <m:r>
                              <a:rPr lang="en-US" altLang="zh-CN" sz="2000" i="1">
                                <a:latin typeface="Cambria Math" panose="02040503050406030204" charset="0"/>
                                <a:cs typeface="Cambria Math" panose="02040503050406030204" charset="0"/>
                              </a:rPr>
                              <m:t>ℎ</m:t>
                            </m:r>
                          </m:lim>
                        </m:limLow>
                      </m:fName>
                      <m:e>
                        <m:r>
                          <a:rPr lang="en-US" altLang="zh-CN" sz="2000" i="1">
                            <a:latin typeface="Cambria Math" panose="02040503050406030204" charset="0"/>
                            <a:ea typeface="MS Mincho" panose="02020609040205080304" charset="-128"/>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𝑃</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panose="02020609040205080304" charset="-128"/>
                            <a:cs typeface="Cambria Math" panose="02040503050406030204" charset="0"/>
                          </a:rPr>
                          <m:t>}</m:t>
                        </m:r>
                      </m:e>
                    </m:func>
                  </m:oMath>
                </a14:m>
                <a:r>
                  <a:rPr lang="zh-CN" altLang="en-US" sz="2000">
                    <a:latin typeface="Times New Roman" panose="02020603050405020304" pitchFamily="18" charset="0"/>
                    <a:cs typeface="Times New Roman" panose="02020603050405020304" pitchFamily="18" charset="0"/>
                    <a:sym typeface="+mn-ea"/>
                  </a:rPr>
                  <a:t>）</a:t>
                </a:r>
                <a:endParaRPr lang="zh-CN" altLang="en-US" sz="2000">
                  <a:latin typeface="Times New Roman" panose="02020603050405020304" pitchFamily="18" charset="0"/>
                  <a:cs typeface="Times New Roman" panose="02020603050405020304" pitchFamily="18" charset="0"/>
                </a:endParaRPr>
              </a:p>
              <a:p>
                <a:pPr marL="457200" indent="-457200" fontAlgn="auto">
                  <a:lnSpc>
                    <a:spcPct val="130000"/>
                  </a:lnSpc>
                  <a:spcBef>
                    <a:spcPts val="2400"/>
                  </a:spcBef>
                  <a:buClr>
                    <a:srgbClr val="00B0F0"/>
                  </a:buClr>
                  <a:buFont typeface="+mj-ea"/>
                  <a:buAutoNum type="circleNumDbPlain" startAt="2"/>
                </a:pPr>
                <a:r>
                  <a:rPr lang="en-US" altLang="zh-CN" sz="2000">
                    <a:latin typeface="Times New Roman" panose="02020603050405020304" pitchFamily="18" charset="0"/>
                    <a:cs typeface="Times New Roman" panose="02020603050405020304" pitchFamily="18" charset="0"/>
                  </a:rPr>
                  <a:t>然后分别对子序列</a:t>
                </a:r>
                <a:r>
                  <a:rPr lang="en-US" altLang="zh-CN" sz="2000">
                    <a:latin typeface="Times New Roman" panose="02020603050405020304" pitchFamily="18" charset="0"/>
                    <a:cs typeface="Times New Roman" panose="02020603050405020304" pitchFamily="18" charset="0"/>
                    <a:sym typeface="+mn-ea"/>
                  </a:rPr>
                  <a:t>{</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l</a:t>
                </a:r>
                <a:r>
                  <a:rPr lang="en-US" altLang="zh-CN" sz="2000">
                    <a:latin typeface="Times New Roman" panose="02020603050405020304" pitchFamily="18" charset="0"/>
                    <a:cs typeface="Times New Roman" panose="02020603050405020304" pitchFamily="18" charset="0"/>
                    <a:sym typeface="+mn-ea"/>
                  </a:rPr>
                  <a:t>,  </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l+1</a:t>
                </a:r>
                <a:r>
                  <a:rPr lang="en-US" altLang="zh-CN" sz="2000">
                    <a:latin typeface="Times New Roman" panose="02020603050405020304" pitchFamily="18" charset="0"/>
                    <a:cs typeface="Times New Roman" panose="02020603050405020304" pitchFamily="18" charset="0"/>
                    <a:sym typeface="+mn-ea"/>
                  </a:rPr>
                  <a:t>, ..., </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i-1</a:t>
                </a:r>
                <a:r>
                  <a:rPr lang="en-US" altLang="zh-CN" sz="2000">
                    <a:latin typeface="Times New Roman" panose="02020603050405020304" pitchFamily="18" charset="0"/>
                    <a:cs typeface="Times New Roman" panose="02020603050405020304" pitchFamily="18" charset="0"/>
                    <a:sym typeface="+mn-ea"/>
                  </a:rPr>
                  <a:t>}</a:t>
                </a:r>
                <a:r>
                  <a:rPr lang="zh-CN" altLang="en-US" sz="2000">
                    <a:latin typeface="Times New Roman" panose="02020603050405020304" pitchFamily="18" charset="0"/>
                    <a:cs typeface="Times New Roman" panose="02020603050405020304" pitchFamily="18" charset="0"/>
                    <a:sym typeface="+mn-ea"/>
                  </a:rPr>
                  <a:t>和</a:t>
                </a:r>
                <a:r>
                  <a:rPr lang="en-US" altLang="zh-CN" sz="2000">
                    <a:latin typeface="Times New Roman" panose="02020603050405020304" pitchFamily="18" charset="0"/>
                    <a:cs typeface="Times New Roman" panose="02020603050405020304" pitchFamily="18" charset="0"/>
                    <a:sym typeface="+mn-ea"/>
                  </a:rPr>
                  <a:t>{</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i+1</a:t>
                </a:r>
                <a:r>
                  <a:rPr lang="en-US" altLang="zh-CN" sz="2000">
                    <a:latin typeface="Times New Roman" panose="02020603050405020304" pitchFamily="18" charset="0"/>
                    <a:cs typeface="Times New Roman" panose="02020603050405020304" pitchFamily="18" charset="0"/>
                    <a:sym typeface="+mn-ea"/>
                  </a:rPr>
                  <a:t>, ..., </a:t>
                </a:r>
                <a:r>
                  <a:rPr lang="en-US" altLang="zh-CN" sz="2000" i="1">
                    <a:latin typeface="Times New Roman" panose="02020603050405020304" pitchFamily="18" charset="0"/>
                    <a:cs typeface="Times New Roman" panose="02020603050405020304" pitchFamily="18" charset="0"/>
                    <a:sym typeface="+mn-ea"/>
                  </a:rPr>
                  <a:t>r</a:t>
                </a:r>
                <a:r>
                  <a:rPr lang="en-US" altLang="zh-CN" sz="2000" i="1" baseline="-25000">
                    <a:latin typeface="Times New Roman" panose="02020603050405020304" pitchFamily="18" charset="0"/>
                    <a:cs typeface="Times New Roman" panose="02020603050405020304" pitchFamily="18" charset="0"/>
                    <a:sym typeface="+mn-ea"/>
                  </a:rPr>
                  <a:t>h</a:t>
                </a:r>
                <a:r>
                  <a:rPr lang="en-US" altLang="zh-CN" sz="2000">
                    <a:latin typeface="Times New Roman" panose="02020603050405020304" pitchFamily="18" charset="0"/>
                    <a:cs typeface="Times New Roman" panose="02020603050405020304" pitchFamily="18" charset="0"/>
                    <a:sym typeface="+mn-ea"/>
                  </a:rPr>
                  <a:t>}</a:t>
                </a:r>
                <a:r>
                  <a:rPr lang="zh-CN" altLang="en-US" sz="2000">
                    <a:latin typeface="Times New Roman" panose="02020603050405020304" pitchFamily="18" charset="0"/>
                    <a:cs typeface="Times New Roman" panose="02020603050405020304" pitchFamily="18" charset="0"/>
                    <a:sym typeface="+mn-ea"/>
                  </a:rPr>
                  <a:t>构造次优查找树，并分别设为根结点</a:t>
                </a:r>
                <a:r>
                  <a:rPr lang="en-US" altLang="zh-CN" sz="2000">
                    <a:latin typeface="Times New Roman" panose="02020603050405020304" pitchFamily="18" charset="0"/>
                    <a:cs typeface="Times New Roman" panose="02020603050405020304" pitchFamily="18" charset="0"/>
                    <a:sym typeface="+mn-ea"/>
                  </a:rPr>
                  <a:t>       </a:t>
                </a:r>
                <a:r>
                  <a:rPr lang="zh-CN" altLang="en-US" sz="2000">
                    <a:latin typeface="Times New Roman" panose="02020603050405020304" pitchFamily="18" charset="0"/>
                    <a:cs typeface="Times New Roman" panose="02020603050405020304" pitchFamily="18" charset="0"/>
                    <a:sym typeface="+mn-ea"/>
                  </a:rPr>
                  <a:t>的左子树和右子树。</a:t>
                </a:r>
                <a:endParaRPr lang="zh-CN" altLang="en-US" sz="2000">
                  <a:latin typeface="Times New Roman" panose="02020603050405020304" pitchFamily="18" charset="0"/>
                  <a:cs typeface="Times New Roman" panose="02020603050405020304" pitchFamily="18" charset="0"/>
                  <a:sym typeface="+mn-ea"/>
                </a:endParaRPr>
              </a:p>
              <a:p>
                <a:pPr marL="457200" indent="-457200" fontAlgn="auto">
                  <a:lnSpc>
                    <a:spcPct val="140000"/>
                  </a:lnSpc>
                  <a:spcBef>
                    <a:spcPts val="1200"/>
                  </a:spcBef>
                  <a:buClr>
                    <a:srgbClr val="00B0F0"/>
                  </a:buClr>
                  <a:buFont typeface="+mj-ea"/>
                  <a:buAutoNum type="circleNumDbPlain" startAt="3"/>
                </a:pPr>
                <a:r>
                  <a:rPr lang="zh-CN" altLang="en-US" sz="2000">
                    <a:latin typeface="Times New Roman" panose="02020603050405020304" pitchFamily="18" charset="0"/>
                    <a:cs typeface="Times New Roman" panose="02020603050405020304" pitchFamily="18" charset="0"/>
                    <a:sym typeface="+mn-ea"/>
                  </a:rPr>
                  <a:t>为便于计算</a:t>
                </a:r>
                <a14:m>
                  <m:oMath xmlns:m="http://schemas.openxmlformats.org/officeDocument/2006/math">
                    <m:r>
                      <a:rPr lang="en-US" altLang="zh-CN" sz="2000" i="1">
                        <a:latin typeface="Cambria Math" panose="02040503050406030204" charset="0"/>
                        <a:ea typeface="MS Mincho" panose="02020609040205080304" charset="-128"/>
                        <a:cs typeface="Cambria Math" panose="02040503050406030204" charset="0"/>
                      </a:rPr>
                      <m:t>∆</m:t>
                    </m:r>
                    <m:r>
                      <a:rPr lang="en-US" altLang="zh-CN" sz="2000" i="1">
                        <a:latin typeface="Cambria Math" panose="02040503050406030204" charset="0"/>
                        <a:cs typeface="Cambria Math" panose="02040503050406030204" charset="0"/>
                      </a:rPr>
                      <m:t>𝑃</m:t>
                    </m:r>
                  </m:oMath>
                </a14:m>
                <a:r>
                  <a:rPr lang="zh-CN" altLang="en-US" sz="2000">
                    <a:latin typeface="Times New Roman" panose="02020603050405020304" pitchFamily="18" charset="0"/>
                    <a:cs typeface="Times New Roman" panose="02020603050405020304" pitchFamily="18" charset="0"/>
                  </a:rPr>
                  <a:t>，引入累计权值和</a:t>
                </a:r>
                <a:endParaRPr lang="zh-CN" altLang="en-US" sz="2000">
                  <a:latin typeface="Times New Roman" panose="02020603050405020304" pitchFamily="18" charset="0"/>
                  <a:cs typeface="Times New Roman" panose="02020603050405020304" pitchFamily="18" charset="0"/>
                </a:endParaRPr>
              </a:p>
              <a:p>
                <a:pPr indent="0">
                  <a:lnSpc>
                    <a:spcPct val="140000"/>
                  </a:lnSpc>
                  <a:buClr>
                    <a:srgbClr val="00B0F0"/>
                  </a:buClr>
                  <a:buFont typeface="Wingdings" panose="05000000000000000000" charset="0"/>
                  <a:buNone/>
                </a:pPr>
                <a:endParaRPr lang="zh-CN" altLang="en-US" sz="2000">
                  <a:latin typeface="Times New Roman" panose="02020603050405020304" pitchFamily="18" charset="0"/>
                  <a:cs typeface="Times New Roman" panose="02020603050405020304" pitchFamily="18" charset="0"/>
                  <a:sym typeface="+mn-ea"/>
                </a:endParaRPr>
              </a:p>
              <a:p>
                <a:pPr indent="0">
                  <a:lnSpc>
                    <a:spcPct val="140000"/>
                  </a:lnSpc>
                  <a:buClr>
                    <a:srgbClr val="00B0F0"/>
                  </a:buClr>
                  <a:buFont typeface="Wingdings" panose="05000000000000000000" charset="0"/>
                  <a:buNone/>
                </a:pPr>
                <a:r>
                  <a:rPr lang="en-US" altLang="zh-CN" sz="2000">
                    <a:latin typeface="Times New Roman" panose="02020603050405020304" pitchFamily="18" charset="0"/>
                    <a:cs typeface="Times New Roman" panose="02020603050405020304" pitchFamily="18" charset="0"/>
                    <a:sym typeface="+mn-ea"/>
                  </a:rPr>
                  <a:t>       </a:t>
                </a:r>
                <a:endParaRPr lang="en-US" altLang="zh-CN" sz="2000">
                  <a:latin typeface="Times New Roman" panose="02020603050405020304" pitchFamily="18" charset="0"/>
                  <a:cs typeface="Times New Roman" panose="02020603050405020304" pitchFamily="18" charset="0"/>
                  <a:sym typeface="+mn-ea"/>
                </a:endParaRPr>
              </a:p>
              <a:p>
                <a:pPr indent="0" fontAlgn="auto">
                  <a:lnSpc>
                    <a:spcPct val="100000"/>
                  </a:lnSpc>
                  <a:buClr>
                    <a:srgbClr val="00B0F0"/>
                  </a:buClr>
                  <a:buFont typeface="Wingdings" panose="05000000000000000000" charset="0"/>
                  <a:buNone/>
                </a:pPr>
                <a:r>
                  <a:rPr lang="en-US" altLang="zh-CN" sz="2000">
                    <a:latin typeface="Times New Roman" panose="02020603050405020304" pitchFamily="18" charset="0"/>
                    <a:cs typeface="Times New Roman" panose="02020603050405020304" pitchFamily="18" charset="0"/>
                    <a:sym typeface="+mn-ea"/>
                  </a:rPr>
                  <a:t>       </a:t>
                </a:r>
                <a:r>
                  <a:rPr lang="zh-CN" altLang="en-US" sz="2000">
                    <a:latin typeface="Times New Roman" panose="02020603050405020304" pitchFamily="18" charset="0"/>
                    <a:cs typeface="Times New Roman" panose="02020603050405020304" pitchFamily="18" charset="0"/>
                    <a:sym typeface="+mn-ea"/>
                  </a:rPr>
                  <a:t>并设</a:t>
                </a:r>
                <a:r>
                  <a:rPr lang="en-US" altLang="zh-CN" sz="2000" i="1">
                    <a:latin typeface="Times New Roman" panose="02020603050405020304" pitchFamily="18" charset="0"/>
                    <a:cs typeface="Times New Roman" panose="02020603050405020304" pitchFamily="18" charset="0"/>
                    <a:sym typeface="+mn-ea"/>
                  </a:rPr>
                  <a:t>w</a:t>
                </a:r>
                <a:r>
                  <a:rPr lang="en-US" altLang="zh-CN" sz="2000" i="1" baseline="-25000">
                    <a:latin typeface="Times New Roman" panose="02020603050405020304" pitchFamily="18" charset="0"/>
                    <a:cs typeface="Times New Roman" panose="02020603050405020304" pitchFamily="18" charset="0"/>
                    <a:sym typeface="+mn-ea"/>
                  </a:rPr>
                  <a:t>l</a:t>
                </a:r>
                <a:r>
                  <a:rPr lang="en-US" altLang="zh-CN" sz="2000" baseline="-25000">
                    <a:latin typeface="Times New Roman" panose="02020603050405020304" pitchFamily="18" charset="0"/>
                    <a:cs typeface="Times New Roman" panose="02020603050405020304" pitchFamily="18" charset="0"/>
                    <a:sym typeface="+mn-ea"/>
                  </a:rPr>
                  <a:t>-1</a:t>
                </a:r>
                <a:r>
                  <a:rPr lang="en-US" altLang="zh-CN" sz="2000" i="1">
                    <a:latin typeface="Times New Roman" panose="02020603050405020304" pitchFamily="18" charset="0"/>
                    <a:cs typeface="Times New Roman" panose="02020603050405020304" pitchFamily="18" charset="0"/>
                    <a:sym typeface="+mn-ea"/>
                  </a:rPr>
                  <a:t>=0</a:t>
                </a:r>
                <a:r>
                  <a:rPr lang="zh-CN" altLang="en-US" sz="2000">
                    <a:latin typeface="Times New Roman" panose="02020603050405020304" pitchFamily="18" charset="0"/>
                    <a:cs typeface="Times New Roman" panose="02020603050405020304" pitchFamily="18" charset="0"/>
                    <a:sym typeface="+mn-ea"/>
                  </a:rPr>
                  <a:t>和</a:t>
                </a:r>
                <a:r>
                  <a:rPr lang="en-US" altLang="zh-CN" sz="2000" i="1">
                    <a:latin typeface="Times New Roman" panose="02020603050405020304" pitchFamily="18" charset="0"/>
                    <a:cs typeface="Times New Roman" panose="02020603050405020304" pitchFamily="18" charset="0"/>
                    <a:sym typeface="+mn-ea"/>
                  </a:rPr>
                  <a:t>sw</a:t>
                </a:r>
                <a:r>
                  <a:rPr lang="en-US" altLang="zh-CN" sz="2000" i="1" baseline="-25000">
                    <a:latin typeface="Times New Roman" panose="02020603050405020304" pitchFamily="18" charset="0"/>
                    <a:cs typeface="Times New Roman" panose="02020603050405020304" pitchFamily="18" charset="0"/>
                    <a:sym typeface="+mn-ea"/>
                  </a:rPr>
                  <a:t>l</a:t>
                </a:r>
                <a:r>
                  <a:rPr lang="en-US" altLang="zh-CN" sz="2000" baseline="-25000">
                    <a:latin typeface="Times New Roman" panose="02020603050405020304" pitchFamily="18" charset="0"/>
                    <a:cs typeface="Times New Roman" panose="02020603050405020304" pitchFamily="18" charset="0"/>
                    <a:sym typeface="+mn-ea"/>
                  </a:rPr>
                  <a:t>-1</a:t>
                </a:r>
                <a:r>
                  <a:rPr lang="en-US" altLang="zh-CN" sz="2000" i="1">
                    <a:latin typeface="Times New Roman" panose="02020603050405020304" pitchFamily="18" charset="0"/>
                    <a:cs typeface="Times New Roman" panose="02020603050405020304" pitchFamily="18" charset="0"/>
                    <a:sym typeface="+mn-ea"/>
                  </a:rPr>
                  <a:t>=0</a:t>
                </a:r>
                <a:r>
                  <a:rPr lang="zh-CN" altLang="en-US" sz="2000">
                    <a:latin typeface="Times New Roman" panose="02020603050405020304" pitchFamily="18" charset="0"/>
                    <a:cs typeface="Times New Roman" panose="02020603050405020304" pitchFamily="18" charset="0"/>
                    <a:sym typeface="+mn-ea"/>
                  </a:rPr>
                  <a:t>，则</a:t>
                </a:r>
                <a:endParaRPr lang="zh-CN" altLang="en-US" sz="2000">
                  <a:latin typeface="Times New Roman" panose="02020603050405020304" pitchFamily="18" charset="0"/>
                  <a:cs typeface="Times New Roman" panose="02020603050405020304" pitchFamily="18" charset="0"/>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394970" y="983615"/>
                <a:ext cx="8409940" cy="5548630"/>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8" name="组合 7"/>
          <p:cNvGrpSpPr/>
          <p:nvPr/>
        </p:nvGrpSpPr>
        <p:grpSpPr>
          <a:xfrm>
            <a:off x="7981950" y="1021501"/>
            <a:ext cx="354330" cy="418044"/>
            <a:chOff x="1150" y="4102"/>
            <a:chExt cx="744" cy="753"/>
          </a:xfrm>
        </p:grpSpPr>
        <p:sp>
          <p:nvSpPr>
            <p:cNvPr id="4" name="椭圆 3"/>
            <p:cNvSpPr/>
            <p:nvPr/>
          </p:nvSpPr>
          <p:spPr>
            <a:xfrm>
              <a:off x="1150" y="4255"/>
              <a:ext cx="673" cy="600"/>
            </a:xfrm>
            <a:prstGeom prst="ellips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350"/>
            </a:p>
          </p:txBody>
        </p:sp>
        <p:sp>
          <p:nvSpPr>
            <p:cNvPr id="7" name="文本框 6"/>
            <p:cNvSpPr txBox="1"/>
            <p:nvPr/>
          </p:nvSpPr>
          <p:spPr>
            <a:xfrm>
              <a:off x="1150" y="4102"/>
              <a:ext cx="744" cy="666"/>
            </a:xfrm>
            <a:prstGeom prst="rect">
              <a:avLst/>
            </a:prstGeom>
            <a:noFill/>
          </p:spPr>
          <p:txBody>
            <a:bodyPr wrap="square" rtlCol="0">
              <a:noAutofit/>
            </a:bodyPr>
            <a:p>
              <a:r>
                <a:rPr lang="en-US" altLang="zh-CN" sz="2000" i="1">
                  <a:latin typeface="+mn-cs"/>
                </a:rPr>
                <a:t>r</a:t>
              </a:r>
              <a:r>
                <a:rPr lang="en-US" altLang="zh-CN" sz="2000" i="1" baseline="-25000">
                  <a:latin typeface="+mn-cs"/>
                </a:rPr>
                <a:t>i</a:t>
              </a:r>
              <a:endParaRPr lang="en-US" altLang="zh-CN" sz="2000" i="1" baseline="-25000">
                <a:latin typeface="+mn-cs"/>
              </a:endParaRPr>
            </a:p>
          </p:txBody>
        </p:sp>
      </p:grpSp>
      <mc:AlternateContent xmlns:mc="http://schemas.openxmlformats.org/markup-compatibility/2006">
        <mc:Choice xmlns:a14="http://schemas.microsoft.com/office/drawing/2010/main" Requires="a14">
          <p:sp>
            <p:nvSpPr>
              <p:cNvPr id="10" name="文本框 9"/>
              <p:cNvSpPr txBox="1"/>
              <p:nvPr/>
            </p:nvSpPr>
            <p:spPr>
              <a:xfrm>
                <a:off x="1636395" y="1497965"/>
                <a:ext cx="2524125" cy="9137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ℎ</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sub>
                              </m:sSub>
                            </m:e>
                          </m:nary>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sub>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𝑗</m:t>
                                  </m:r>
                                </m:sub>
                              </m:sSub>
                            </m:e>
                          </m:nary>
                        </m:e>
                      </m:d>
                    </m:oMath>
                  </m:oMathPara>
                </a14:m>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636395" y="1497965"/>
                <a:ext cx="2524125" cy="913765"/>
              </a:xfrm>
              <a:prstGeom prst="rect">
                <a:avLst/>
              </a:prstGeom>
              <a:blipFill rotWithShape="1">
                <a:blip r:embed="rId2"/>
                <a:stretch>
                  <a:fillRect r="-7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546552" y="3300444"/>
                <a:ext cx="1417955" cy="9144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sub>
                        <m:sup>
                          <m:r>
                            <a:rPr lang="en-US" altLang="zh-CN" i="1">
                              <a:latin typeface="Cambria Math" panose="02040503050406030204" charset="0"/>
                              <a:cs typeface="Cambria Math" panose="02040503050406030204" charset="0"/>
                            </a:rPr>
                            <m:t>𝑖</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𝑗</m:t>
                              </m:r>
                            </m:sub>
                          </m:sSub>
                        </m:e>
                      </m:nary>
                    </m:oMath>
                  </m:oMathPara>
                </a14:m>
                <a:endParaRPr lang="en-US" altLang="zh-CN" i="1">
                  <a:latin typeface="Cambria Math" panose="02040503050406030204" charset="0"/>
                  <a:cs typeface="Cambria Math" panose="0204050305040603020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4546552" y="3300444"/>
                <a:ext cx="1417955" cy="914400"/>
              </a:xfrm>
              <a:prstGeom prst="rect">
                <a:avLst/>
              </a:prstGeom>
              <a:blipFill rotWithShape="1">
                <a:blip r:embed="rId3"/>
                <a:stretch>
                  <a:fillRect l="-41" t="-38" r="41"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3629612" y="4127373"/>
                <a:ext cx="2619375" cy="178752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sub>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𝑗</m:t>
                                      </m:r>
                                    </m:sub>
                                  </m:sSub>
                                </m:e>
                              </m:nary>
                            </m:e>
                            <m:e>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ℎ</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ℎ</m:t>
                                  </m:r>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𝑗</m:t>
                                      </m:r>
                                    </m:sub>
                                  </m:sSub>
                                </m:e>
                              </m:nary>
                            </m:e>
                          </m:eqArr>
                        </m:e>
                      </m:d>
                    </m:oMath>
                  </m:oMathPara>
                </a14:m>
                <a:endParaRPr lang="en-US" altLang="zh-CN" i="1">
                  <a:latin typeface="Cambria Math" panose="02040503050406030204" charset="0"/>
                  <a:cs typeface="Cambria Math" panose="02040503050406030204"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3629612" y="4127373"/>
                <a:ext cx="2619375" cy="1787525"/>
              </a:xfrm>
              <a:prstGeom prst="rect">
                <a:avLst/>
              </a:prstGeom>
              <a:blipFill rotWithShape="1">
                <a:blip r:embed="rId4"/>
                <a:stretch>
                  <a:fillRect l="-22" t="-28" r="22"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37235" y="5915025"/>
                <a:ext cx="8208010" cy="368300"/>
              </a:xfrm>
              <a:prstGeom prst="rect">
                <a:avLst/>
              </a:prstGeom>
              <a:noFill/>
            </p:spPr>
            <p:txBody>
              <a:bodyPr wrap="square" rtlCol="0" anchor="t">
                <a:spAutoFit/>
              </a:bodyPr>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ℎ</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e>
                      </m:d>
                      <m:r>
                        <a:rPr lang="en-US" altLang="zh-CN" i="1">
                          <a:latin typeface="Cambria Math" panose="02040503050406030204" charset="0"/>
                          <a:cs typeface="Cambria Math" panose="02040503050406030204" charset="0"/>
                        </a:rPr>
                        <m:t> =</m:t>
                      </m:r>
                      <m:d>
                        <m:dPr>
                          <m:begChr m:val="|"/>
                          <m:endChr m:val="|"/>
                          <m:ctrlPr>
                            <a:rPr lang="en-US" altLang="zh-CN" i="1">
                              <a:latin typeface="Cambria Math" panose="02040503050406030204" charset="0"/>
                              <a:cs typeface="Cambria Math" panose="02040503050406030204" charset="0"/>
                            </a:rPr>
                          </m:ctrlPr>
                        </m:d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ℎ</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𝑠</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e>
                      </m:d>
                    </m:oMath>
                  </m:oMathPara>
                </a14:m>
                <a:endParaRPr lang="en-US" altLang="zh-CN" i="1">
                  <a:latin typeface="Cambria Math" panose="02040503050406030204" charset="0"/>
                  <a:cs typeface="Cambria Math" panose="02040503050406030204"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737235" y="5915025"/>
                <a:ext cx="8208010" cy="368300"/>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6" name="组合 5"/>
          <p:cNvGrpSpPr/>
          <p:nvPr/>
        </p:nvGrpSpPr>
        <p:grpSpPr>
          <a:xfrm>
            <a:off x="2541905" y="2924810"/>
            <a:ext cx="375285" cy="424815"/>
            <a:chOff x="1150" y="4099"/>
            <a:chExt cx="744" cy="756"/>
          </a:xfrm>
        </p:grpSpPr>
        <p:sp>
          <p:nvSpPr>
            <p:cNvPr id="9" name="椭圆 8"/>
            <p:cNvSpPr/>
            <p:nvPr/>
          </p:nvSpPr>
          <p:spPr>
            <a:xfrm>
              <a:off x="1150" y="4255"/>
              <a:ext cx="673" cy="600"/>
            </a:xfrm>
            <a:prstGeom prst="ellips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350"/>
            </a:p>
          </p:txBody>
        </p:sp>
        <p:sp>
          <p:nvSpPr>
            <p:cNvPr id="11" name="文本框 10"/>
            <p:cNvSpPr txBox="1"/>
            <p:nvPr/>
          </p:nvSpPr>
          <p:spPr>
            <a:xfrm>
              <a:off x="1150" y="4099"/>
              <a:ext cx="744" cy="669"/>
            </a:xfrm>
            <a:prstGeom prst="rect">
              <a:avLst/>
            </a:prstGeom>
            <a:noFill/>
          </p:spPr>
          <p:txBody>
            <a:bodyPr wrap="square" rtlCol="0">
              <a:noAutofit/>
            </a:bodyPr>
            <a:p>
              <a:r>
                <a:rPr lang="en-US" altLang="zh-CN" sz="2000" i="1">
                  <a:latin typeface="+mn-cs"/>
                </a:rPr>
                <a:t>r</a:t>
              </a:r>
              <a:r>
                <a:rPr lang="en-US" altLang="zh-CN" sz="2000" i="1" baseline="-25000">
                  <a:latin typeface="+mn-cs"/>
                </a:rPr>
                <a:t>i</a:t>
              </a:r>
              <a:endParaRPr lang="en-US" altLang="zh-CN" sz="2000" i="1" baseline="-25000">
                <a:latin typeface="+mn-c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r>
              <a:rPr lang="zh-CN" altLang="en-US">
                <a:effectLst>
                  <a:outerShdw blurRad="38100" dist="25400" dir="5400000" algn="ctr" rotWithShape="0">
                    <a:srgbClr val="6E747A">
                      <a:alpha val="43000"/>
                    </a:srgbClr>
                  </a:outerShdw>
                </a:effectLst>
                <a:sym typeface="+mn-ea"/>
              </a:rPr>
              <a:t>次优查找树的构造</a:t>
            </a:r>
            <a:endParaRPr lang="zh-CN" altLang="en-US"/>
          </a:p>
        </p:txBody>
      </p:sp>
      <p:sp>
        <p:nvSpPr>
          <p:cNvPr id="3" name="文本框 2"/>
          <p:cNvSpPr txBox="1"/>
          <p:nvPr/>
        </p:nvSpPr>
        <p:spPr>
          <a:xfrm>
            <a:off x="508000" y="999490"/>
            <a:ext cx="8178800" cy="1814830"/>
          </a:xfrm>
          <a:prstGeom prst="rect">
            <a:avLst/>
          </a:prstGeom>
          <a:noFill/>
        </p:spPr>
        <p:txBody>
          <a:bodyPr wrap="square" rtlCol="0">
            <a:spAutoFit/>
          </a:bodyPr>
          <a:p>
            <a:pPr>
              <a:lnSpc>
                <a:spcPct val="140000"/>
              </a:lnSpc>
            </a:pPr>
            <a:r>
              <a:rPr lang="zh-CN" altLang="en-US" sz="2000">
                <a:latin typeface="Times New Roman" panose="02020603050405020304" pitchFamily="18" charset="0"/>
                <a:cs typeface="Times New Roman" panose="02020603050405020304" pitchFamily="18" charset="0"/>
              </a:rPr>
              <a:t>例：已知含</a:t>
            </a:r>
            <a:r>
              <a:rPr lang="en-US" altLang="zh-CN" sz="2000">
                <a:latin typeface="Times New Roman" panose="02020603050405020304" pitchFamily="18" charset="0"/>
                <a:cs typeface="Times New Roman" panose="02020603050405020304" pitchFamily="18" charset="0"/>
              </a:rPr>
              <a:t>9</a:t>
            </a:r>
            <a:r>
              <a:rPr lang="zh-CN" altLang="en-US" sz="2000">
                <a:latin typeface="Times New Roman" panose="02020603050405020304" pitchFamily="18" charset="0"/>
                <a:cs typeface="Times New Roman" panose="02020603050405020304" pitchFamily="18" charset="0"/>
              </a:rPr>
              <a:t>个关键字的有序表及其相应权值为：</a:t>
            </a:r>
            <a:endParaRPr lang="zh-CN" altLang="en-US" sz="2000">
              <a:latin typeface="Times New Roman" panose="02020603050405020304" pitchFamily="18" charset="0"/>
              <a:cs typeface="Times New Roman" panose="02020603050405020304" pitchFamily="18" charset="0"/>
            </a:endParaRPr>
          </a:p>
          <a:p>
            <a:pPr>
              <a:lnSpc>
                <a:spcPct val="140000"/>
              </a:lnSpc>
            </a:pPr>
            <a:r>
              <a:rPr lang="zh-CN" altLang="en-US" sz="2000">
                <a:latin typeface="Times New Roman" panose="02020603050405020304" pitchFamily="18" charset="0"/>
                <a:cs typeface="Times New Roman" panose="02020603050405020304" pitchFamily="18" charset="0"/>
              </a:rPr>
              <a:t>关键字</a:t>
            </a:r>
            <a:r>
              <a:rPr lang="en-US" altLang="zh-CN" sz="2000">
                <a:latin typeface="Times New Roman" panose="02020603050405020304" pitchFamily="18" charset="0"/>
                <a:cs typeface="Times New Roman" panose="02020603050405020304" pitchFamily="18" charset="0"/>
              </a:rPr>
              <a:t>	A    B    C    D    E    F    G    H    I</a:t>
            </a:r>
            <a:endParaRPr lang="en-US" altLang="zh-CN" sz="2000">
              <a:latin typeface="Times New Roman" panose="02020603050405020304" pitchFamily="18" charset="0"/>
              <a:cs typeface="Times New Roman" panose="02020603050405020304" pitchFamily="18" charset="0"/>
            </a:endParaRPr>
          </a:p>
          <a:p>
            <a:pPr>
              <a:lnSpc>
                <a:spcPct val="140000"/>
              </a:lnSpc>
            </a:pP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权值</a:t>
            </a:r>
            <a:r>
              <a:rPr lang="en-US" altLang="zh-CN" sz="2000">
                <a:latin typeface="Times New Roman" panose="02020603050405020304" pitchFamily="18" charset="0"/>
                <a:cs typeface="Times New Roman" panose="02020603050405020304" pitchFamily="18" charset="0"/>
              </a:rPr>
              <a:t>    1    1     2    5     3    4     4     3    5</a:t>
            </a:r>
            <a:endParaRPr lang="en-US" altLang="zh-CN" sz="2000">
              <a:latin typeface="Times New Roman" panose="02020603050405020304" pitchFamily="18" charset="0"/>
              <a:cs typeface="Times New Roman" panose="02020603050405020304" pitchFamily="18" charset="0"/>
            </a:endParaRPr>
          </a:p>
          <a:p>
            <a:pPr>
              <a:lnSpc>
                <a:spcPct val="140000"/>
              </a:lnSpc>
            </a:pPr>
            <a:r>
              <a:rPr lang="zh-CN" altLang="en-US" sz="2000">
                <a:latin typeface="Times New Roman" panose="02020603050405020304" pitchFamily="18" charset="0"/>
                <a:cs typeface="Times New Roman" panose="02020603050405020304" pitchFamily="18" charset="0"/>
              </a:rPr>
              <a:t>构造次优查找树。</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2550" y="2892425"/>
            <a:ext cx="5795645" cy="2805430"/>
          </a:xfrm>
          <a:prstGeom prst="rect">
            <a:avLst/>
          </a:prstGeom>
        </p:spPr>
      </p:pic>
      <p:pic>
        <p:nvPicPr>
          <p:cNvPr id="5" name="图片 4"/>
          <p:cNvPicPr>
            <a:picLocks noChangeAspect="1"/>
          </p:cNvPicPr>
          <p:nvPr/>
        </p:nvPicPr>
        <p:blipFill>
          <a:blip r:embed="rId2"/>
          <a:stretch>
            <a:fillRect/>
          </a:stretch>
        </p:blipFill>
        <p:spPr>
          <a:xfrm>
            <a:off x="5878195" y="3342005"/>
            <a:ext cx="3265805" cy="14865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379095" y="215265"/>
                <a:ext cx="8422005" cy="6328410"/>
              </a:xfrm>
              <a:prstGeom prst="rect">
                <a:avLst/>
              </a:prstGeom>
              <a:noFill/>
              <a:ln w="12700" cmpd="sng">
                <a:solidFill>
                  <a:schemeClr val="accent1">
                    <a:shade val="50000"/>
                  </a:schemeClr>
                </a:solidFill>
                <a:prstDash val="solid"/>
              </a:ln>
            </p:spPr>
            <p:txBody>
              <a:bodyPr wrap="square" rtlCol="0">
                <a:noAutofit/>
              </a:bodyPr>
              <a:p>
                <a:pPr>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void </a:t>
                </a:r>
                <a:r>
                  <a:rPr lang="en-US" altLang="zh-CN" sz="1600">
                    <a:solidFill>
                      <a:srgbClr val="FF0000"/>
                    </a:solidFill>
                    <a:latin typeface="Consolas" panose="020B0609020204030204" charset="0"/>
                    <a:cs typeface="Consolas" panose="020B0609020204030204" charset="0"/>
                  </a:rPr>
                  <a:t>SecondOptimal</a:t>
                </a:r>
                <a:r>
                  <a:rPr lang="en-US" altLang="zh-CN" sz="1600">
                    <a:latin typeface="Consolas" panose="020B0609020204030204" charset="0"/>
                    <a:cs typeface="Consolas" panose="020B0609020204030204" charset="0"/>
                  </a:rPr>
                  <a:t>(BiTree &amp;T,ElemType R[],float sw[],</a:t>
                </a: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low,</a:t>
                </a: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high){</a:t>
                </a:r>
                <a:endParaRPr lang="en-US" altLang="zh-CN" sz="1600">
                  <a:latin typeface="Consolas" panose="020B0609020204030204" charset="0"/>
                  <a:cs typeface="Consolas" panose="020B0609020204030204" charset="0"/>
                </a:endParaRPr>
              </a:p>
              <a:p>
                <a:pPr indent="457200">
                  <a:lnSpc>
                    <a:spcPct val="150000"/>
                  </a:lnSpc>
                </a:pPr>
                <a:r>
                  <a:rPr lang="en-US" altLang="zh-CN" sz="1600">
                    <a:solidFill>
                      <a:srgbClr val="00B050"/>
                    </a:solidFill>
                    <a:latin typeface="Consolas" panose="020B0609020204030204" charset="0"/>
                    <a:cs typeface="Consolas" panose="020B0609020204030204" charset="0"/>
                  </a:rPr>
                  <a:t>//由有序表R[1ow..high]及其累计权值表sw(其中sw[0]==0)递归构造次优查找树T</a:t>
                </a:r>
                <a:endParaRPr lang="en-US" altLang="zh-CN" sz="1600">
                  <a:solidFill>
                    <a:srgbClr val="00B050"/>
                  </a:solidFill>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i = low; </a:t>
                </a:r>
                <a:endParaRPr lang="en-US" altLang="zh-CN" sz="1600">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min = abs(sw[high]-sw[low]); </a:t>
                </a:r>
                <a:endParaRPr lang="en-US" altLang="zh-CN" sz="1600">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dw = sw[high] + sw[low-1];</a:t>
                </a:r>
                <a:endParaRPr lang="en-US" altLang="zh-CN" sz="1600">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for</a:t>
                </a:r>
                <a:r>
                  <a:rPr lang="en-US" altLang="zh-CN" sz="1600">
                    <a:latin typeface="Consolas" panose="020B0609020204030204" charset="0"/>
                    <a:cs typeface="Consolas" panose="020B0609020204030204" charset="0"/>
                  </a:rPr>
                  <a:t>(</a:t>
                </a:r>
                <a:r>
                  <a:rPr lang="en-US" altLang="zh-CN" sz="1600">
                    <a:solidFill>
                      <a:schemeClr val="accent1">
                        <a:lumMod val="60000"/>
                        <a:lumOff val="40000"/>
                      </a:schemeClr>
                    </a:solidFill>
                    <a:latin typeface="Consolas" panose="020B0609020204030204" charset="0"/>
                    <a:cs typeface="Consolas" panose="020B0609020204030204" charset="0"/>
                  </a:rPr>
                  <a:t>int </a:t>
                </a:r>
                <a:r>
                  <a:rPr lang="en-US" altLang="zh-CN" sz="1600">
                    <a:latin typeface="Consolas" panose="020B0609020204030204" charset="0"/>
                    <a:cs typeface="Consolas" panose="020B0609020204030204" charset="0"/>
                  </a:rPr>
                  <a:t>j = low + l; j &lt;= high; ++j)      </a:t>
                </a:r>
                <a:r>
                  <a:rPr lang="en-US" altLang="zh-CN" sz="1600">
                    <a:solidFill>
                      <a:srgbClr val="00B050"/>
                    </a:solidFill>
                    <a:latin typeface="Consolas" panose="020B0609020204030204" charset="0"/>
                    <a:cs typeface="Consolas" panose="020B0609020204030204" charset="0"/>
                  </a:rPr>
                  <a:t>//选择最小的</a:t>
                </a:r>
                <a14:m>
                  <m:oMath xmlns:m="http://schemas.openxmlformats.org/officeDocument/2006/math">
                    <m:r>
                      <a:rPr lang="en-US" altLang="zh-CN" sz="1600" i="1">
                        <a:solidFill>
                          <a:srgbClr val="00B050"/>
                        </a:solidFill>
                        <a:latin typeface="Cambria Math" panose="02040503050406030204" charset="0"/>
                        <a:ea typeface="MS Mincho" panose="02020609040205080304" charset="-128"/>
                        <a:cs typeface="Cambria Math" panose="02040503050406030204" charset="0"/>
                      </a:rPr>
                      <m:t>∆</m:t>
                    </m:r>
                    <m:sSub>
                      <m:sSubPr>
                        <m:ctrlPr>
                          <a:rPr lang="en-US" altLang="zh-CN" sz="1600" i="1">
                            <a:solidFill>
                              <a:srgbClr val="00B050"/>
                            </a:solidFill>
                            <a:latin typeface="Cambria Math" panose="02040503050406030204" charset="0"/>
                            <a:cs typeface="Cambria Math" panose="02040503050406030204" charset="0"/>
                          </a:rPr>
                        </m:ctrlPr>
                      </m:sSubPr>
                      <m:e>
                        <m:r>
                          <a:rPr lang="en-US" altLang="zh-CN" sz="1600" i="1">
                            <a:solidFill>
                              <a:srgbClr val="00B050"/>
                            </a:solidFill>
                            <a:latin typeface="Cambria Math" panose="02040503050406030204" charset="0"/>
                            <a:cs typeface="Cambria Math" panose="02040503050406030204" charset="0"/>
                          </a:rPr>
                          <m:t>𝑃</m:t>
                        </m:r>
                      </m:e>
                      <m:sub>
                        <m:r>
                          <a:rPr lang="en-US" altLang="zh-CN" sz="1600" i="1">
                            <a:solidFill>
                              <a:srgbClr val="00B050"/>
                            </a:solidFill>
                            <a:latin typeface="Cambria Math" panose="02040503050406030204" charset="0"/>
                            <a:cs typeface="Cambria Math" panose="02040503050406030204" charset="0"/>
                          </a:rPr>
                          <m:t>𝑖</m:t>
                        </m:r>
                      </m:sub>
                    </m:sSub>
                  </m:oMath>
                </a14:m>
                <a:r>
                  <a:rPr lang="en-US" altLang="zh-CN" sz="1600">
                    <a:solidFill>
                      <a:srgbClr val="00B050"/>
                    </a:solidFill>
                    <a:latin typeface="Consolas" panose="020B0609020204030204" charset="0"/>
                    <a:cs typeface="Consolas" panose="020B0609020204030204" charset="0"/>
                  </a:rPr>
                  <a:t>值</a:t>
                </a:r>
                <a:endParaRPr lang="en-US" altLang="zh-CN" sz="1600">
                  <a:solidFill>
                    <a:srgbClr val="00B050"/>
                  </a:solidFill>
                  <a:latin typeface="Consolas" panose="020B0609020204030204" charset="0"/>
                  <a:cs typeface="Consolas" panose="020B0609020204030204" charset="0"/>
                </a:endParaRPr>
              </a:p>
              <a:p>
                <a:pPr marL="457200" lvl="1" indent="457200">
                  <a:lnSpc>
                    <a:spcPct val="150000"/>
                  </a:lnSpc>
                </a:pPr>
                <a:r>
                  <a:rPr lang="en-US" altLang="zh-CN" sz="1600">
                    <a:latin typeface="Consolas" panose="020B0609020204030204" charset="0"/>
                    <a:cs typeface="Consolas" panose="020B0609020204030204" charset="0"/>
                  </a:rPr>
                  <a:t>if(abs(dw - sw[j] - sw[j-1]) &lt;  min){</a:t>
                </a:r>
                <a:endParaRPr lang="en-US" altLang="zh-CN" sz="1600">
                  <a:latin typeface="Consolas" panose="020B0609020204030204" charset="0"/>
                  <a:cs typeface="Consolas" panose="020B0609020204030204" charset="0"/>
                </a:endParaRPr>
              </a:p>
              <a:p>
                <a:pPr marL="914400" lvl="2" indent="457200">
                  <a:lnSpc>
                    <a:spcPct val="150000"/>
                  </a:lnSpc>
                </a:pPr>
                <a:r>
                  <a:rPr lang="en-US" altLang="zh-CN" sz="1600">
                    <a:latin typeface="Consolas" panose="020B0609020204030204" charset="0"/>
                    <a:cs typeface="Consolas" panose="020B0609020204030204" charset="0"/>
                  </a:rPr>
                  <a:t>i = j; min = abs(dw-sw[j]-sw[j-1]);</a:t>
                </a:r>
                <a:endParaRPr lang="en-US" altLang="zh-CN" sz="1600">
                  <a:latin typeface="Consolas" panose="020B0609020204030204" charset="0"/>
                  <a:cs typeface="Consolas" panose="020B0609020204030204" charset="0"/>
                </a:endParaRPr>
              </a:p>
              <a:p>
                <a:pPr marL="457200" lvl="1" indent="457200">
                  <a:lnSpc>
                    <a:spcPct val="150000"/>
                  </a:lnSpc>
                </a:pPr>
                <a:r>
                  <a:rPr lang="en-US" altLang="zh-CN" sz="1600">
                    <a:latin typeface="Consolas" panose="020B0609020204030204" charset="0"/>
                    <a:cs typeface="Consolas" panose="020B0609020204030204" charset="0"/>
                  </a:rPr>
                  <a:t>}</a:t>
                </a:r>
                <a:endParaRPr lang="en-US" altLang="zh-CN" sz="1600">
                  <a:latin typeface="Consolas" panose="020B0609020204030204" charset="0"/>
                  <a:cs typeface="Consolas" panose="020B0609020204030204" charset="0"/>
                </a:endParaRPr>
              </a:p>
              <a:p>
                <a:pPr indent="457200">
                  <a:lnSpc>
                    <a:spcPct val="150000"/>
                  </a:lnSpc>
                </a:pPr>
                <a:r>
                  <a:rPr lang="en-US" altLang="zh-CN" sz="1600">
                    <a:latin typeface="Consolas" panose="020B0609020204030204" charset="0"/>
                    <a:cs typeface="Consolas" panose="020B0609020204030204" charset="0"/>
                  </a:rPr>
                  <a:t>T = (BiTree)malloc(sizeof(BiTNode));</a:t>
                </a:r>
                <a:endParaRPr lang="en-US" altLang="zh-CN" sz="1600">
                  <a:latin typeface="Consolas" panose="020B0609020204030204" charset="0"/>
                  <a:cs typeface="Consolas" panose="020B0609020204030204" charset="0"/>
                </a:endParaRPr>
              </a:p>
              <a:p>
                <a:pPr indent="457200">
                  <a:lnSpc>
                    <a:spcPct val="150000"/>
                  </a:lnSpc>
                </a:pPr>
                <a:r>
                  <a:rPr lang="en-US" altLang="zh-CN" sz="1600">
                    <a:latin typeface="Consolas" panose="020B0609020204030204" charset="0"/>
                    <a:cs typeface="Consolas" panose="020B0609020204030204" charset="0"/>
                  </a:rPr>
                  <a:t>T-&gt;data = R[i];					</a:t>
                </a:r>
                <a:r>
                  <a:rPr lang="en-US" altLang="zh-CN" sz="1600">
                    <a:solidFill>
                      <a:srgbClr val="00B050"/>
                    </a:solidFill>
                    <a:latin typeface="Consolas" panose="020B0609020204030204" charset="0"/>
                    <a:cs typeface="Consolas" panose="020B0609020204030204" charset="0"/>
                  </a:rPr>
                  <a:t>//生成结点</a:t>
                </a:r>
                <a:endParaRPr lang="en-US" altLang="zh-CN" sz="1600">
                  <a:solidFill>
                    <a:srgbClr val="00B050"/>
                  </a:solidFill>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sym typeface="+mn-ea"/>
                  </a:rPr>
                  <a:t>if</a:t>
                </a:r>
                <a:r>
                  <a:rPr lang="en-US" altLang="zh-CN" sz="1600">
                    <a:latin typeface="Consolas" panose="020B0609020204030204" charset="0"/>
                    <a:cs typeface="Consolas" panose="020B0609020204030204" charset="0"/>
                    <a:sym typeface="+mn-ea"/>
                  </a:rPr>
                  <a:t>(i == low) T&gt;lchild = NULL;   			</a:t>
                </a:r>
                <a:r>
                  <a:rPr lang="en-US" altLang="zh-CN" sz="1600">
                    <a:solidFill>
                      <a:srgbClr val="00B050"/>
                    </a:solidFill>
                    <a:latin typeface="Consolas" panose="020B0609020204030204" charset="0"/>
                    <a:cs typeface="Consolas" panose="020B0609020204030204" charset="0"/>
                    <a:sym typeface="+mn-ea"/>
                  </a:rPr>
                  <a:t>//</a:t>
                </a:r>
                <a:r>
                  <a:rPr lang="en-US" altLang="zh-CN" sz="1600">
                    <a:solidFill>
                      <a:srgbClr val="00B050"/>
                    </a:solidFill>
                    <a:latin typeface="Consolas" panose="020B0609020204030204" charset="0"/>
                    <a:cs typeface="Consolas" panose="020B0609020204030204" charset="0"/>
                  </a:rPr>
                  <a:t>左子树空</a:t>
                </a:r>
                <a:endParaRPr lang="en-US" altLang="zh-CN" sz="1600">
                  <a:solidFill>
                    <a:srgbClr val="00B050"/>
                  </a:solidFill>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else </a:t>
                </a:r>
                <a:r>
                  <a:rPr lang="en-US" altLang="zh-CN" sz="1600">
                    <a:solidFill>
                      <a:srgbClr val="FF0000"/>
                    </a:solidFill>
                    <a:latin typeface="Consolas" panose="020B0609020204030204" charset="0"/>
                    <a:cs typeface="Consolas" panose="020B0609020204030204" charset="0"/>
                  </a:rPr>
                  <a:t>SecondOptimal</a:t>
                </a:r>
                <a:r>
                  <a:rPr lang="en-US" altLang="zh-CN" sz="1600">
                    <a:latin typeface="Consolas" panose="020B0609020204030204" charset="0"/>
                    <a:cs typeface="Consolas" panose="020B0609020204030204" charset="0"/>
                  </a:rPr>
                  <a:t>(T-&gt;lchild，R，sw，low，i-1);	</a:t>
                </a:r>
                <a:r>
                  <a:rPr lang="en-US" altLang="zh-CN" sz="1600">
                    <a:solidFill>
                      <a:srgbClr val="00B050"/>
                    </a:solidFill>
                    <a:latin typeface="Consolas" panose="020B0609020204030204" charset="0"/>
                    <a:cs typeface="Consolas" panose="020B0609020204030204" charset="0"/>
                  </a:rPr>
                  <a:t>/</a:t>
                </a:r>
                <a:r>
                  <a:rPr lang="en-US" altLang="zh-CN" sz="1600">
                    <a:solidFill>
                      <a:srgbClr val="00B050"/>
                    </a:solidFill>
                    <a:latin typeface="Consolas" panose="020B0609020204030204" charset="0"/>
                    <a:cs typeface="Consolas" panose="020B0609020204030204" charset="0"/>
                    <a:sym typeface="+mn-ea"/>
                  </a:rPr>
                  <a:t>/构造左子树</a:t>
                </a:r>
                <a:endParaRPr lang="en-US" altLang="zh-CN" sz="1600">
                  <a:solidFill>
                    <a:srgbClr val="00B050"/>
                  </a:solidFill>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if</a:t>
                </a:r>
                <a:r>
                  <a:rPr lang="en-US" altLang="zh-CN" sz="1600">
                    <a:latin typeface="Consolas" panose="020B0609020204030204" charset="0"/>
                    <a:cs typeface="Consolas" panose="020B0609020204030204" charset="0"/>
                  </a:rPr>
                  <a:t>(i == high) T-&gt;rchild = NUL;   			</a:t>
                </a:r>
                <a:r>
                  <a:rPr lang="en-US" altLang="zh-CN" sz="1600">
                    <a:solidFill>
                      <a:srgbClr val="00B050"/>
                    </a:solidFill>
                    <a:latin typeface="Consolas" panose="020B0609020204030204" charset="0"/>
                    <a:cs typeface="Consolas" panose="020B0609020204030204" charset="0"/>
                    <a:sym typeface="+mn-ea"/>
                  </a:rPr>
                  <a:t>//右子树空</a:t>
                </a:r>
                <a:endParaRPr lang="en-US" altLang="zh-CN" sz="1600">
                  <a:solidFill>
                    <a:srgbClr val="00B050"/>
                  </a:solidFill>
                  <a:latin typeface="Consolas" panose="020B0609020204030204" charset="0"/>
                  <a:cs typeface="Consolas" panose="020B0609020204030204" charset="0"/>
                </a:endParaRPr>
              </a:p>
              <a:p>
                <a:pPr indent="457200">
                  <a:lnSpc>
                    <a:spcPct val="150000"/>
                  </a:lnSpc>
                </a:pPr>
                <a:r>
                  <a:rPr lang="en-US" altLang="zh-CN" sz="1600">
                    <a:solidFill>
                      <a:schemeClr val="accent1">
                        <a:lumMod val="60000"/>
                        <a:lumOff val="40000"/>
                      </a:schemeClr>
                    </a:solidFill>
                    <a:latin typeface="Consolas" panose="020B0609020204030204" charset="0"/>
                    <a:cs typeface="Consolas" panose="020B0609020204030204" charset="0"/>
                  </a:rPr>
                  <a:t>else </a:t>
                </a:r>
                <a:r>
                  <a:rPr lang="en-US" altLang="zh-CN" sz="1600">
                    <a:solidFill>
                      <a:srgbClr val="FF0000"/>
                    </a:solidFill>
                    <a:latin typeface="Consolas" panose="020B0609020204030204" charset="0"/>
                    <a:cs typeface="Consolas" panose="020B0609020204030204" charset="0"/>
                  </a:rPr>
                  <a:t>SecondOptimal</a:t>
                </a:r>
                <a:r>
                  <a:rPr lang="en-US" altLang="zh-CN" sz="1600">
                    <a:latin typeface="Consolas" panose="020B0609020204030204" charset="0"/>
                    <a:cs typeface="Consolas" panose="020B0609020204030204" charset="0"/>
                  </a:rPr>
                  <a:t>(T-&gt;rchild，R，sw，i+1，high);	</a:t>
                </a:r>
                <a:r>
                  <a:rPr lang="en-US" altLang="zh-CN" sz="1600">
                    <a:solidFill>
                      <a:srgbClr val="00B050"/>
                    </a:solidFill>
                    <a:latin typeface="Consolas" panose="020B0609020204030204" charset="0"/>
                    <a:cs typeface="Consolas" panose="020B0609020204030204" charset="0"/>
                  </a:rPr>
                  <a:t>//构造右子树</a:t>
                </a:r>
                <a:endParaRPr lang="en-US" altLang="zh-CN" sz="1600">
                  <a:solidFill>
                    <a:srgbClr val="00B050"/>
                  </a:solidFill>
                  <a:latin typeface="Consolas" panose="020B0609020204030204" charset="0"/>
                  <a:cs typeface="Consolas" panose="020B0609020204030204" charset="0"/>
                </a:endParaRPr>
              </a:p>
              <a:p>
                <a:pPr marL="0" lvl="0" indent="0">
                  <a:lnSpc>
                    <a:spcPct val="150000"/>
                  </a:lnSpc>
                  <a:buNone/>
                </a:pPr>
                <a:r>
                  <a:rPr lang="en-US" altLang="zh-CN" sz="1600">
                    <a:solidFill>
                      <a:schemeClr val="tx1"/>
                    </a:solidFill>
                    <a:latin typeface="Consolas" panose="020B0609020204030204" charset="0"/>
                    <a:cs typeface="Consolas" panose="020B0609020204030204" charset="0"/>
                  </a:rPr>
                  <a:t>}</a:t>
                </a:r>
                <a:r>
                  <a:rPr lang="en-US" altLang="zh-CN" sz="1600">
                    <a:solidFill>
                      <a:srgbClr val="00B050"/>
                    </a:solidFill>
                    <a:latin typeface="Consolas" panose="020B0609020204030204" charset="0"/>
                    <a:cs typeface="Consolas" panose="020B0609020204030204" charset="0"/>
                  </a:rPr>
                  <a:t>//Secondoptimal</a:t>
                </a:r>
                <a:endParaRPr lang="en-US" altLang="zh-CN" sz="1600">
                  <a:solidFill>
                    <a:srgbClr val="00B050"/>
                  </a:solidFill>
                  <a:latin typeface="Consolas" panose="020B0609020204030204" charset="0"/>
                  <a:cs typeface="Consolas" panose="020B0609020204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379095" y="215265"/>
                <a:ext cx="8422005" cy="6328410"/>
              </a:xfrm>
              <a:prstGeom prst="rect">
                <a:avLst/>
              </a:prstGeom>
              <a:blipFill rotWithShape="1">
                <a:blip r:embed="rId1"/>
                <a:stretch>
                  <a:fillRect l="-75" t="-100" r="-75" b="-100"/>
                </a:stretch>
              </a:blipFill>
              <a:ln w="12700" cmpd="sng">
                <a:solidFill>
                  <a:schemeClr val="accent1">
                    <a:shade val="50000"/>
                  </a:schemeClr>
                </a:solidFill>
                <a:prstDash val="solid"/>
              </a:ln>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kumimoji="1" lang="en-US" altLang="zh-CN"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rPr>
              <a:t>8.2.4 Other searching methods</a:t>
            </a:r>
            <a:endParaRPr kumimoji="1" lang="en-US" altLang="zh-CN" dirty="0">
              <a:solidFill>
                <a:schemeClr val="bg1"/>
              </a:solidFill>
              <a:effectLst>
                <a:outerShdw blurRad="38100" dist="25400" dir="5400000" algn="ctr" rotWithShape="0">
                  <a:srgbClr val="6E747A">
                    <a:alpha val="43000"/>
                  </a:srgbClr>
                </a:outerShdw>
              </a:effectLst>
              <a:cs typeface="Times New Roman" panose="02020603050405020304" pitchFamily="18" charset="0"/>
              <a:sym typeface="+mn-ea"/>
            </a:endParaRPr>
          </a:p>
        </p:txBody>
      </p:sp>
      <p:sp>
        <p:nvSpPr>
          <p:cNvPr id="37893" name="Text Box 5"/>
          <p:cNvSpPr txBox="1">
            <a:spLocks noChangeArrowheads="1"/>
          </p:cNvSpPr>
          <p:nvPr/>
        </p:nvSpPr>
        <p:spPr bwMode="auto">
          <a:xfrm>
            <a:off x="410845" y="986790"/>
            <a:ext cx="8275955" cy="514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50000"/>
              </a:lnSpc>
            </a:pP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 Other sequential searching (</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顺序查找</a:t>
            </a: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5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对于有序表，除了折半查找法外，还有</a:t>
            </a:r>
            <a:r>
              <a:rPr kumimoji="1" lang="zh-CN" altLang="en-US" sz="2000" b="1" u="sng"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斐波那契查找</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a:t>
            </a:r>
            <a:r>
              <a:rPr kumimoji="1" lang="zh-CN" altLang="en-US" sz="2000" b="1" u="sng"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插值查找</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。斐波那契查找的平均查找长度小于折半查找，但最坏情况下的性能</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仍是</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O(</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2000" baseline="-25000" dirty="0" err="1">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i="1" dirty="0" err="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比折半查找差。</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5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插值查找只适用于关键字分布均匀的情况，在这种情况下其平均性能比折半查找法好。其确定比较关键字的方法为：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50000"/>
              </a:lnSpc>
            </a:pP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50000"/>
              </a:lnSpc>
            </a:pP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indent="0" fontAlgn="auto">
              <a:lnSpc>
                <a:spcPct val="150000"/>
              </a:lnSpc>
              <a:spcBef>
                <a:spcPts val="1200"/>
              </a:spcBef>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其中</a:t>
            </a:r>
            <a:r>
              <a:rPr kumimoji="1" lang="en-US" altLang="zh-CN" sz="2000" i="1" dirty="0" err="1">
                <a:latin typeface="Times New Roman" panose="02020603050405020304" pitchFamily="18" charset="0"/>
                <a:ea typeface="幼圆" panose="02010509060101010101" pitchFamily="49" charset="-122"/>
                <a:cs typeface="Times New Roman" panose="02020603050405020304" pitchFamily="18" charset="0"/>
              </a:rPr>
              <a:t>h, 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为有序表中具有最小关键字和最大关键字的记录的位置。</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aphicFrame>
        <p:nvGraphicFramePr>
          <p:cNvPr id="37894" name="Object 6"/>
          <p:cNvGraphicFramePr>
            <a:graphicFrameLocks noChangeAspect="1"/>
          </p:cNvGraphicFramePr>
          <p:nvPr/>
        </p:nvGraphicFramePr>
        <p:xfrm>
          <a:off x="1695450" y="3955415"/>
          <a:ext cx="5547360" cy="721360"/>
        </p:xfrm>
        <a:graphic>
          <a:graphicData uri="http://schemas.openxmlformats.org/presentationml/2006/ole">
            <mc:AlternateContent xmlns:mc="http://schemas.openxmlformats.org/markup-compatibility/2006">
              <mc:Choice xmlns:v="urn:schemas-microsoft-com:vml" Requires="v">
                <p:oleObj spid="_x0000_s38061" name="Equation" r:id="rId1" imgW="2755900" imgH="419100" progId="Equation.DSMT4">
                  <p:embed/>
                </p:oleObj>
              </mc:Choice>
              <mc:Fallback>
                <p:oleObj name="Equation" r:id="rId1" imgW="2755900" imgH="4191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450" y="3955415"/>
                        <a:ext cx="5547360" cy="721360"/>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8.2.4 Other searching methods</a:t>
            </a:r>
            <a:endParaRPr lang="zh-CN" altLang="en-US"/>
          </a:p>
        </p:txBody>
      </p:sp>
      <p:sp>
        <p:nvSpPr>
          <p:cNvPr id="38917" name="Text Box 5"/>
          <p:cNvSpPr txBox="1">
            <a:spLocks noChangeArrowheads="1"/>
          </p:cNvSpPr>
          <p:nvPr/>
        </p:nvSpPr>
        <p:spPr bwMode="auto">
          <a:xfrm>
            <a:off x="516255" y="1012825"/>
            <a:ext cx="8170545" cy="162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 Indexed sequential searching (</a:t>
            </a:r>
            <a:r>
              <a:rPr kumimoji="1" lang="zh-CN" altLang="en-US"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索引顺序法</a:t>
            </a: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just">
              <a:lnSpc>
                <a:spcPct val="14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查找方法：分块查找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索引顺序查找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，是顺序查找的一个改进方法。在这种查找法中，除顺序表外还有一个</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Index Table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索引表</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。如下图：</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38979" name="Group 67"/>
          <p:cNvGrpSpPr/>
          <p:nvPr/>
        </p:nvGrpSpPr>
        <p:grpSpPr bwMode="auto">
          <a:xfrm>
            <a:off x="1044575" y="2499995"/>
            <a:ext cx="7083425" cy="2297430"/>
            <a:chOff x="336" y="1357"/>
            <a:chExt cx="5242" cy="1416"/>
          </a:xfrm>
        </p:grpSpPr>
        <p:sp>
          <p:nvSpPr>
            <p:cNvPr id="38978" name="Rectangle 66"/>
            <p:cNvSpPr>
              <a:spLocks noChangeArrowheads="1"/>
            </p:cNvSpPr>
            <p:nvPr/>
          </p:nvSpPr>
          <p:spPr bwMode="auto">
            <a:xfrm>
              <a:off x="3787" y="2478"/>
              <a:ext cx="1724" cy="295"/>
            </a:xfrm>
            <a:prstGeom prst="rect">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8977" name="Rectangle 65"/>
            <p:cNvSpPr>
              <a:spLocks noChangeArrowheads="1"/>
            </p:cNvSpPr>
            <p:nvPr/>
          </p:nvSpPr>
          <p:spPr bwMode="auto">
            <a:xfrm>
              <a:off x="2064" y="2478"/>
              <a:ext cx="1724" cy="295"/>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8976" name="Rectangle 64"/>
            <p:cNvSpPr>
              <a:spLocks noChangeArrowheads="1"/>
            </p:cNvSpPr>
            <p:nvPr/>
          </p:nvSpPr>
          <p:spPr bwMode="auto">
            <a:xfrm>
              <a:off x="340" y="2478"/>
              <a:ext cx="1724" cy="29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rgbClr val="FFC000"/>
                </a:solidFill>
              </a:endParaRPr>
            </a:p>
          </p:txBody>
        </p:sp>
        <p:grpSp>
          <p:nvGrpSpPr>
            <p:cNvPr id="38919" name="Group 7"/>
            <p:cNvGrpSpPr/>
            <p:nvPr/>
          </p:nvGrpSpPr>
          <p:grpSpPr bwMode="auto">
            <a:xfrm>
              <a:off x="2448" y="1667"/>
              <a:ext cx="937" cy="480"/>
              <a:chOff x="2256" y="1536"/>
              <a:chExt cx="937" cy="480"/>
            </a:xfrm>
          </p:grpSpPr>
          <p:grpSp>
            <p:nvGrpSpPr>
              <p:cNvPr id="38920" name="Group 8"/>
              <p:cNvGrpSpPr/>
              <p:nvPr/>
            </p:nvGrpSpPr>
            <p:grpSpPr bwMode="auto">
              <a:xfrm>
                <a:off x="2256" y="1536"/>
                <a:ext cx="864" cy="480"/>
                <a:chOff x="2256" y="1536"/>
                <a:chExt cx="864" cy="480"/>
              </a:xfrm>
            </p:grpSpPr>
            <p:sp>
              <p:nvSpPr>
                <p:cNvPr id="38921" name="Rectangle 9"/>
                <p:cNvSpPr>
                  <a:spLocks noChangeArrowheads="1"/>
                </p:cNvSpPr>
                <p:nvPr/>
              </p:nvSpPr>
              <p:spPr bwMode="auto">
                <a:xfrm>
                  <a:off x="2256" y="1536"/>
                  <a:ext cx="864" cy="48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cxnSp>
              <p:nvCxnSpPr>
                <p:cNvPr id="38922" name="AutoShape 10"/>
                <p:cNvCxnSpPr>
                  <a:cxnSpLocks noChangeShapeType="1"/>
                  <a:stCxn id="38921" idx="1"/>
                  <a:endCxn id="38921" idx="3"/>
                </p:cNvCxnSpPr>
                <p:nvPr/>
              </p:nvCxnSpPr>
              <p:spPr bwMode="auto">
                <a:xfrm>
                  <a:off x="2256" y="1776"/>
                  <a:ext cx="864" cy="0"/>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3" name="Line 11"/>
                <p:cNvSpPr>
                  <a:spLocks noChangeShapeType="1"/>
                </p:cNvSpPr>
                <p:nvPr/>
              </p:nvSpPr>
              <p:spPr bwMode="auto">
                <a:xfrm>
                  <a:off x="2832" y="153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8924" name="Line 12"/>
                <p:cNvSpPr>
                  <a:spLocks noChangeShapeType="1"/>
                </p:cNvSpPr>
                <p:nvPr/>
              </p:nvSpPr>
              <p:spPr bwMode="auto">
                <a:xfrm>
                  <a:off x="2544" y="153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
            <p:nvSpPr>
              <p:cNvPr id="38925" name="Text Box 13"/>
              <p:cNvSpPr txBox="1">
                <a:spLocks noChangeArrowheads="1"/>
              </p:cNvSpPr>
              <p:nvPr/>
            </p:nvSpPr>
            <p:spPr bwMode="auto">
              <a:xfrm>
                <a:off x="2256" y="1584"/>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22</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26" name="Text Box 14"/>
              <p:cNvSpPr txBox="1">
                <a:spLocks noChangeArrowheads="1"/>
              </p:cNvSpPr>
              <p:nvPr/>
            </p:nvSpPr>
            <p:spPr bwMode="auto">
              <a:xfrm>
                <a:off x="2304" y="1782"/>
                <a:ext cx="25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27" name="Text Box 15"/>
              <p:cNvSpPr txBox="1">
                <a:spLocks noChangeArrowheads="1"/>
              </p:cNvSpPr>
              <p:nvPr/>
            </p:nvSpPr>
            <p:spPr bwMode="auto">
              <a:xfrm>
                <a:off x="2592" y="1782"/>
                <a:ext cx="25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7</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28" name="Text Box 16"/>
              <p:cNvSpPr txBox="1">
                <a:spLocks noChangeArrowheads="1"/>
              </p:cNvSpPr>
              <p:nvPr/>
            </p:nvSpPr>
            <p:spPr bwMode="auto">
              <a:xfrm>
                <a:off x="2832" y="1782"/>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13</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29" name="Text Box 17"/>
              <p:cNvSpPr txBox="1">
                <a:spLocks noChangeArrowheads="1"/>
              </p:cNvSpPr>
              <p:nvPr/>
            </p:nvSpPr>
            <p:spPr bwMode="auto">
              <a:xfrm>
                <a:off x="2544" y="1584"/>
                <a:ext cx="36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48</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30" name="Text Box 18"/>
              <p:cNvSpPr txBox="1">
                <a:spLocks noChangeArrowheads="1"/>
              </p:cNvSpPr>
              <p:nvPr/>
            </p:nvSpPr>
            <p:spPr bwMode="auto">
              <a:xfrm>
                <a:off x="2832" y="1584"/>
                <a:ext cx="36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86</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8931" name="Group 19"/>
            <p:cNvGrpSpPr/>
            <p:nvPr/>
          </p:nvGrpSpPr>
          <p:grpSpPr bwMode="auto">
            <a:xfrm>
              <a:off x="336" y="2483"/>
              <a:ext cx="5242" cy="288"/>
              <a:chOff x="432" y="2352"/>
              <a:chExt cx="5242" cy="288"/>
            </a:xfrm>
          </p:grpSpPr>
          <p:grpSp>
            <p:nvGrpSpPr>
              <p:cNvPr id="38932" name="Group 20"/>
              <p:cNvGrpSpPr/>
              <p:nvPr/>
            </p:nvGrpSpPr>
            <p:grpSpPr bwMode="auto">
              <a:xfrm>
                <a:off x="432" y="2352"/>
                <a:ext cx="5184" cy="288"/>
                <a:chOff x="432" y="2352"/>
                <a:chExt cx="5184" cy="288"/>
              </a:xfrm>
            </p:grpSpPr>
            <p:sp>
              <p:nvSpPr>
                <p:cNvPr id="38933" name="Rectangle 21"/>
                <p:cNvSpPr>
                  <a:spLocks noChangeArrowheads="1"/>
                </p:cNvSpPr>
                <p:nvPr/>
              </p:nvSpPr>
              <p:spPr bwMode="auto">
                <a:xfrm>
                  <a:off x="432" y="2352"/>
                  <a:ext cx="5184" cy="28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cxnSp>
              <p:nvCxnSpPr>
                <p:cNvPr id="38934" name="AutoShape 22"/>
                <p:cNvCxnSpPr>
                  <a:cxnSpLocks noChangeShapeType="1"/>
                </p:cNvCxnSpPr>
                <p:nvPr/>
              </p:nvCxnSpPr>
              <p:spPr bwMode="auto">
                <a:xfrm>
                  <a:off x="2448"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5" name="AutoShape 23"/>
                <p:cNvCxnSpPr>
                  <a:cxnSpLocks noChangeShapeType="1"/>
                </p:cNvCxnSpPr>
                <p:nvPr/>
              </p:nvCxnSpPr>
              <p:spPr bwMode="auto">
                <a:xfrm>
                  <a:off x="1584"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6" name="AutoShape 24"/>
                <p:cNvCxnSpPr>
                  <a:cxnSpLocks noChangeShapeType="1"/>
                </p:cNvCxnSpPr>
                <p:nvPr/>
              </p:nvCxnSpPr>
              <p:spPr bwMode="auto">
                <a:xfrm>
                  <a:off x="1008"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7" name="AutoShape 25"/>
                <p:cNvCxnSpPr>
                  <a:cxnSpLocks noChangeShapeType="1"/>
                </p:cNvCxnSpPr>
                <p:nvPr/>
              </p:nvCxnSpPr>
              <p:spPr bwMode="auto">
                <a:xfrm>
                  <a:off x="1296"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8" name="AutoShape 26"/>
                <p:cNvCxnSpPr>
                  <a:cxnSpLocks noChangeShapeType="1"/>
                </p:cNvCxnSpPr>
                <p:nvPr/>
              </p:nvCxnSpPr>
              <p:spPr bwMode="auto">
                <a:xfrm>
                  <a:off x="1872"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9" name="AutoShape 27"/>
                <p:cNvCxnSpPr>
                  <a:cxnSpLocks noChangeShapeType="1"/>
                </p:cNvCxnSpPr>
                <p:nvPr/>
              </p:nvCxnSpPr>
              <p:spPr bwMode="auto">
                <a:xfrm>
                  <a:off x="2160"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0" name="AutoShape 28"/>
                <p:cNvCxnSpPr>
                  <a:cxnSpLocks noChangeShapeType="1"/>
                </p:cNvCxnSpPr>
                <p:nvPr/>
              </p:nvCxnSpPr>
              <p:spPr bwMode="auto">
                <a:xfrm>
                  <a:off x="2736"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1" name="AutoShape 29"/>
                <p:cNvCxnSpPr>
                  <a:cxnSpLocks noChangeShapeType="1"/>
                </p:cNvCxnSpPr>
                <p:nvPr/>
              </p:nvCxnSpPr>
              <p:spPr bwMode="auto">
                <a:xfrm>
                  <a:off x="3024"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2" name="AutoShape 30"/>
                <p:cNvCxnSpPr>
                  <a:cxnSpLocks noChangeShapeType="1"/>
                </p:cNvCxnSpPr>
                <p:nvPr/>
              </p:nvCxnSpPr>
              <p:spPr bwMode="auto">
                <a:xfrm>
                  <a:off x="3312"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3" name="AutoShape 31"/>
                <p:cNvCxnSpPr>
                  <a:cxnSpLocks noChangeShapeType="1"/>
                </p:cNvCxnSpPr>
                <p:nvPr/>
              </p:nvCxnSpPr>
              <p:spPr bwMode="auto">
                <a:xfrm>
                  <a:off x="3600"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4" name="AutoShape 32"/>
                <p:cNvCxnSpPr>
                  <a:cxnSpLocks noChangeShapeType="1"/>
                </p:cNvCxnSpPr>
                <p:nvPr/>
              </p:nvCxnSpPr>
              <p:spPr bwMode="auto">
                <a:xfrm>
                  <a:off x="3888"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5" name="AutoShape 33"/>
                <p:cNvCxnSpPr>
                  <a:cxnSpLocks noChangeShapeType="1"/>
                </p:cNvCxnSpPr>
                <p:nvPr/>
              </p:nvCxnSpPr>
              <p:spPr bwMode="auto">
                <a:xfrm>
                  <a:off x="4176"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6" name="AutoShape 34"/>
                <p:cNvCxnSpPr>
                  <a:cxnSpLocks noChangeShapeType="1"/>
                </p:cNvCxnSpPr>
                <p:nvPr/>
              </p:nvCxnSpPr>
              <p:spPr bwMode="auto">
                <a:xfrm>
                  <a:off x="720"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7" name="AutoShape 35"/>
                <p:cNvCxnSpPr>
                  <a:cxnSpLocks noChangeShapeType="1"/>
                </p:cNvCxnSpPr>
                <p:nvPr/>
              </p:nvCxnSpPr>
              <p:spPr bwMode="auto">
                <a:xfrm>
                  <a:off x="4464"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8" name="AutoShape 36"/>
                <p:cNvCxnSpPr>
                  <a:cxnSpLocks noChangeShapeType="1"/>
                </p:cNvCxnSpPr>
                <p:nvPr/>
              </p:nvCxnSpPr>
              <p:spPr bwMode="auto">
                <a:xfrm>
                  <a:off x="4752"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49" name="AutoShape 37"/>
                <p:cNvCxnSpPr>
                  <a:cxnSpLocks noChangeShapeType="1"/>
                </p:cNvCxnSpPr>
                <p:nvPr/>
              </p:nvCxnSpPr>
              <p:spPr bwMode="auto">
                <a:xfrm>
                  <a:off x="5040"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50" name="AutoShape 38"/>
                <p:cNvCxnSpPr>
                  <a:cxnSpLocks noChangeShapeType="1"/>
                </p:cNvCxnSpPr>
                <p:nvPr/>
              </p:nvCxnSpPr>
              <p:spPr bwMode="auto">
                <a:xfrm>
                  <a:off x="5328" y="2352"/>
                  <a:ext cx="0" cy="288"/>
                </a:xfrm>
                <a:prstGeom prst="straightConnector1">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951" name="Text Box 39"/>
              <p:cNvSpPr txBox="1">
                <a:spLocks noChangeArrowheads="1"/>
              </p:cNvSpPr>
              <p:nvPr/>
            </p:nvSpPr>
            <p:spPr bwMode="auto">
              <a:xfrm>
                <a:off x="432"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22</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2" name="Text Box 40"/>
              <p:cNvSpPr txBox="1">
                <a:spLocks noChangeArrowheads="1"/>
              </p:cNvSpPr>
              <p:nvPr/>
            </p:nvSpPr>
            <p:spPr bwMode="auto">
              <a:xfrm>
                <a:off x="720"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12</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3" name="Text Box 41"/>
              <p:cNvSpPr txBox="1">
                <a:spLocks noChangeArrowheads="1"/>
              </p:cNvSpPr>
              <p:nvPr/>
            </p:nvSpPr>
            <p:spPr bwMode="auto">
              <a:xfrm>
                <a:off x="1008"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13</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4" name="Text Box 42"/>
              <p:cNvSpPr txBox="1">
                <a:spLocks noChangeArrowheads="1"/>
              </p:cNvSpPr>
              <p:nvPr/>
            </p:nvSpPr>
            <p:spPr bwMode="auto">
              <a:xfrm>
                <a:off x="1296" y="2388"/>
                <a:ext cx="25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8</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5" name="Text Box 43"/>
              <p:cNvSpPr txBox="1">
                <a:spLocks noChangeArrowheads="1"/>
              </p:cNvSpPr>
              <p:nvPr/>
            </p:nvSpPr>
            <p:spPr bwMode="auto">
              <a:xfrm>
                <a:off x="1584" y="2388"/>
                <a:ext cx="250"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9</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6" name="Text Box 44"/>
              <p:cNvSpPr txBox="1">
                <a:spLocks noChangeArrowheads="1"/>
              </p:cNvSpPr>
              <p:nvPr/>
            </p:nvSpPr>
            <p:spPr bwMode="auto">
              <a:xfrm>
                <a:off x="1872"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rPr>
                  <a:t>20</a:t>
                </a:r>
                <a:endParaRPr kumimoji="1" lang="en-US" altLang="zh-CN">
                  <a:solidFill>
                    <a:srgbClr val="FFC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7" name="Text Box 45"/>
              <p:cNvSpPr txBox="1">
                <a:spLocks noChangeArrowheads="1"/>
              </p:cNvSpPr>
              <p:nvPr/>
            </p:nvSpPr>
            <p:spPr bwMode="auto">
              <a:xfrm>
                <a:off x="2160"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33</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8" name="Text Box 46"/>
              <p:cNvSpPr txBox="1">
                <a:spLocks noChangeArrowheads="1"/>
              </p:cNvSpPr>
              <p:nvPr/>
            </p:nvSpPr>
            <p:spPr bwMode="auto">
              <a:xfrm>
                <a:off x="2448"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42</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59" name="Text Box 47"/>
              <p:cNvSpPr txBox="1">
                <a:spLocks noChangeArrowheads="1"/>
              </p:cNvSpPr>
              <p:nvPr/>
            </p:nvSpPr>
            <p:spPr bwMode="auto">
              <a:xfrm>
                <a:off x="2736"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44</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0" name="Text Box 48"/>
              <p:cNvSpPr txBox="1">
                <a:spLocks noChangeArrowheads="1"/>
              </p:cNvSpPr>
              <p:nvPr/>
            </p:nvSpPr>
            <p:spPr bwMode="auto">
              <a:xfrm>
                <a:off x="3024"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38</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1" name="Text Box 49"/>
              <p:cNvSpPr txBox="1">
                <a:spLocks noChangeArrowheads="1"/>
              </p:cNvSpPr>
              <p:nvPr/>
            </p:nvSpPr>
            <p:spPr bwMode="auto">
              <a:xfrm>
                <a:off x="3312"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24</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2" name="Text Box 50"/>
              <p:cNvSpPr txBox="1">
                <a:spLocks noChangeArrowheads="1"/>
              </p:cNvSpPr>
              <p:nvPr/>
            </p:nvSpPr>
            <p:spPr bwMode="auto">
              <a:xfrm>
                <a:off x="3600"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rPr>
                  <a:t>48</a:t>
                </a:r>
                <a:endParaRPr kumimoji="1" lang="en-US" altLang="zh-CN">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3" name="Text Box 51"/>
              <p:cNvSpPr txBox="1">
                <a:spLocks noChangeArrowheads="1"/>
              </p:cNvSpPr>
              <p:nvPr/>
            </p:nvSpPr>
            <p:spPr bwMode="auto">
              <a:xfrm>
                <a:off x="3888"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60</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4" name="Text Box 52"/>
              <p:cNvSpPr txBox="1">
                <a:spLocks noChangeArrowheads="1"/>
              </p:cNvSpPr>
              <p:nvPr/>
            </p:nvSpPr>
            <p:spPr bwMode="auto">
              <a:xfrm>
                <a:off x="4176"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58</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5" name="Text Box 53"/>
              <p:cNvSpPr txBox="1">
                <a:spLocks noChangeArrowheads="1"/>
              </p:cNvSpPr>
              <p:nvPr/>
            </p:nvSpPr>
            <p:spPr bwMode="auto">
              <a:xfrm>
                <a:off x="4464"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74</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6" name="Text Box 54"/>
              <p:cNvSpPr txBox="1">
                <a:spLocks noChangeArrowheads="1"/>
              </p:cNvSpPr>
              <p:nvPr/>
            </p:nvSpPr>
            <p:spPr bwMode="auto">
              <a:xfrm>
                <a:off x="4752"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49</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7" name="Text Box 55"/>
              <p:cNvSpPr txBox="1">
                <a:spLocks noChangeArrowheads="1"/>
              </p:cNvSpPr>
              <p:nvPr/>
            </p:nvSpPr>
            <p:spPr bwMode="auto">
              <a:xfrm>
                <a:off x="5040"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86</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68" name="Text Box 56"/>
              <p:cNvSpPr txBox="1">
                <a:spLocks noChangeArrowheads="1"/>
              </p:cNvSpPr>
              <p:nvPr/>
            </p:nvSpPr>
            <p:spPr bwMode="auto">
              <a:xfrm>
                <a:off x="5328" y="2388"/>
                <a:ext cx="34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53</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38969" name="AutoShape 57"/>
            <p:cNvCxnSpPr>
              <a:cxnSpLocks noChangeShapeType="1"/>
              <a:stCxn id="38926" idx="2"/>
              <a:endCxn id="38951" idx="0"/>
            </p:cNvCxnSpPr>
            <p:nvPr/>
          </p:nvCxnSpPr>
          <p:spPr bwMode="auto">
            <a:xfrm rot="5400000">
              <a:off x="1375" y="1274"/>
              <a:ext cx="379" cy="2112"/>
            </a:xfrm>
            <a:prstGeom prst="curvedConnector3">
              <a:avLst>
                <a:gd name="adj1" fmla="val 50000"/>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70" name="AutoShape 58"/>
            <p:cNvCxnSpPr>
              <a:cxnSpLocks noChangeShapeType="1"/>
              <a:stCxn id="38927" idx="2"/>
              <a:endCxn id="38957" idx="0"/>
            </p:cNvCxnSpPr>
            <p:nvPr/>
          </p:nvCxnSpPr>
          <p:spPr bwMode="auto">
            <a:xfrm rot="5400000">
              <a:off x="2383" y="1994"/>
              <a:ext cx="379" cy="672"/>
            </a:xfrm>
            <a:prstGeom prst="curvedConnector3">
              <a:avLst>
                <a:gd name="adj1" fmla="val 50000"/>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71" name="AutoShape 59"/>
            <p:cNvCxnSpPr>
              <a:cxnSpLocks noChangeShapeType="1"/>
              <a:stCxn id="38928" idx="2"/>
              <a:endCxn id="38963" idx="0"/>
            </p:cNvCxnSpPr>
            <p:nvPr/>
          </p:nvCxnSpPr>
          <p:spPr bwMode="auto">
            <a:xfrm rot="5400000" flipV="1">
              <a:off x="3391" y="1946"/>
              <a:ext cx="379" cy="768"/>
            </a:xfrm>
            <a:prstGeom prst="curvedConnector3">
              <a:avLst>
                <a:gd name="adj1" fmla="val 50000"/>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72" name="Text Box 60"/>
            <p:cNvSpPr txBox="1">
              <a:spLocks noChangeArrowheads="1"/>
            </p:cNvSpPr>
            <p:nvPr/>
          </p:nvSpPr>
          <p:spPr bwMode="auto">
            <a:xfrm>
              <a:off x="2342" y="1357"/>
              <a:ext cx="1059"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Index Table</a:t>
              </a:r>
              <a:endParaRPr kumimoji="1" lang="en-US" altLang="zh-CN"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73" name="Text Box 61"/>
            <p:cNvSpPr txBox="1">
              <a:spLocks noChangeArrowheads="1"/>
            </p:cNvSpPr>
            <p:nvPr/>
          </p:nvSpPr>
          <p:spPr bwMode="auto">
            <a:xfrm>
              <a:off x="1488" y="1678"/>
              <a:ext cx="718"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Max key</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974" name="Text Box 62"/>
            <p:cNvSpPr txBox="1">
              <a:spLocks noChangeArrowheads="1"/>
            </p:cNvSpPr>
            <p:nvPr/>
          </p:nvSpPr>
          <p:spPr bwMode="auto">
            <a:xfrm>
              <a:off x="1478" y="1916"/>
              <a:ext cx="975"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Start address</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38975" name="Text Box 63"/>
          <p:cNvSpPr txBox="1">
            <a:spLocks noChangeArrowheads="1"/>
          </p:cNvSpPr>
          <p:nvPr/>
        </p:nvSpPr>
        <p:spPr bwMode="auto">
          <a:xfrm>
            <a:off x="681990" y="4796790"/>
            <a:ext cx="782383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整个表分成三个子表，对每个子表建立一个索引项，其中包括两项内容：关键字项</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其值为该子表内的最大关键字</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和指针项</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指示该子表的第一个记录在表中的位置</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kumimoji="1" lang="en-US" altLang="zh-CN" dirty="0">
                <a:effectLst>
                  <a:outerShdw blurRad="38100" dist="25400" dir="5400000" algn="ctr" rotWithShape="0">
                    <a:srgbClr val="6E747A">
                      <a:alpha val="43000"/>
                    </a:srgbClr>
                  </a:outerShdw>
                </a:effectLst>
                <a:cs typeface="Times New Roman" panose="02020603050405020304" pitchFamily="18" charset="0"/>
                <a:sym typeface="+mn-ea"/>
              </a:rPr>
              <a:t>8.2.4 Other searching methods</a:t>
            </a:r>
            <a:endParaRPr lang="zh-CN" altLang="en-US"/>
          </a:p>
        </p:txBody>
      </p:sp>
      <p:sp>
        <p:nvSpPr>
          <p:cNvPr id="39941" name="Text Box 5"/>
          <p:cNvSpPr txBox="1">
            <a:spLocks noChangeArrowheads="1"/>
          </p:cNvSpPr>
          <p:nvPr/>
        </p:nvSpPr>
        <p:spPr bwMode="auto">
          <a:xfrm>
            <a:off x="287020" y="992505"/>
            <a:ext cx="8399145" cy="5408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索引表按关键字有序，表或者有序或者分块有序。分块有序指的是后一个子表中所有记录的关键字均大于前一个子表中的最大关键字。</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由此，分块查找需分</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两步</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进行：</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(1) </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先确定待查记录所在的块</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子表</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(2) </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然后在块中顺序查找。</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因此，分块查找的</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平均查找长度</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为</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ASL </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rPr>
              <a:t>L</a:t>
            </a:r>
            <a:r>
              <a:rPr kumimoji="1" lang="en-US" altLang="zh-CN" i="1" baseline="-25000" dirty="0" err="1">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 </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rPr>
              <a:t>L</a:t>
            </a:r>
            <a:r>
              <a:rPr kumimoji="1" lang="en-US" altLang="zh-CN" i="1" baseline="-25000" dirty="0" err="1">
                <a:latin typeface="Times New Roman" panose="02020603050405020304" pitchFamily="18" charset="0"/>
                <a:ea typeface="幼圆" panose="02010509060101010101" pitchFamily="49" charset="-122"/>
                <a:cs typeface="Times New Roman" panose="02020603050405020304" pitchFamily="18" charset="0"/>
              </a:rPr>
              <a:t>w</a:t>
            </a:r>
            <a:endPar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一般情况下，为进行分块查找，可将长度为</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的表均匀地分成</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块，每块含有</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rPr>
              <a:t>s</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个记录，即</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n</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；再假定表中每个记录的查找概率相等，则每块查找的概率为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，块中每个记录的查找概率为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若用顺序查找确定所在块，则</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a:lnSpc>
                <a:spcPct val="14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ASL = </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a:t>
            </a:r>
            <a:r>
              <a:rPr kumimoji="1" lang="en-US" altLang="zh-CN" sz="2000" i="1" baseline="-25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a:t>
            </a:r>
            <a:r>
              <a:rPr kumimoji="1" lang="en-US" altLang="zh-CN" sz="2000" i="1" baseline="-25000" dirty="0" err="1">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w</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+1)/2 +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+1)/2  =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s</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/2 +1</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Contents</a:t>
            </a:r>
            <a:endParaRPr lang="en-US" altLang="zh-CN">
              <a:solidFill>
                <a:schemeClr val="bg1"/>
              </a:solidFill>
              <a:effectLst>
                <a:outerShdw blurRad="38100" dist="25400" dir="5400000" algn="ctr" rotWithShape="0">
                  <a:srgbClr val="6E747A">
                    <a:alpha val="43000"/>
                  </a:srgbClr>
                </a:outerShdw>
              </a:effectLst>
            </a:endParaRPr>
          </a:p>
        </p:txBody>
      </p:sp>
      <p:sp>
        <p:nvSpPr>
          <p:cNvPr id="122883" name="Rectangle 3"/>
          <p:cNvSpPr>
            <a:spLocks noGrp="1" noChangeArrowheads="1"/>
          </p:cNvSpPr>
          <p:nvPr>
            <p:ph type="body" idx="1"/>
          </p:nvPr>
        </p:nvSpPr>
        <p:spPr/>
        <p:txBody>
          <a:bodyPr/>
          <a:lstStyle/>
          <a:p>
            <a:r>
              <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rPr>
              <a:t>Definition of searching (Retrieval)</a:t>
            </a:r>
            <a:endPar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rPr>
              <a:t>Static searching table</a:t>
            </a:r>
            <a:endParaRPr lang="en-US" altLang="zh-CN" dirty="0">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lang="en-US" altLang="zh-CN" dirty="0">
                <a:solidFill>
                  <a:srgbClr val="FF0000"/>
                </a:solidFill>
                <a:latin typeface="Times New Roman" panose="02020603050405020304" pitchFamily="18" charset="0"/>
                <a:cs typeface="Times New Roman" panose="02020603050405020304" pitchFamily="18" charset="0"/>
              </a:rPr>
              <a:t>Dynamic searching table</a:t>
            </a:r>
            <a:endParaRPr lang="en-US"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Hash table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Searching efficiency analysis</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Conclusion</a:t>
            </a:r>
            <a:endParaRPr lang="en-US" altLang="zh-CN"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Text Box 5"/>
          <p:cNvSpPr txBox="1">
            <a:spLocks noChangeArrowheads="1"/>
          </p:cNvSpPr>
          <p:nvPr/>
        </p:nvSpPr>
        <p:spPr bwMode="auto">
          <a:xfrm>
            <a:off x="566420" y="1093470"/>
            <a:ext cx="8119745" cy="5306695"/>
          </a:xfrm>
          <a:prstGeom prst="rect">
            <a:avLst/>
          </a:prstGeom>
          <a:noFill/>
          <a:ln>
            <a:noFill/>
          </a:ln>
          <a:effectLst/>
          <a:extLst>
            <a:ext uri="{909E8E84-426E-40DD-AFC4-6F175D3DCCD1}">
              <a14:hiddenFill xmlns:a14="http://schemas.microsoft.com/office/drawing/2010/main">
                <a:gradFill rotWithShape="0">
                  <a:gsLst>
                    <a:gs pos="0">
                      <a:srgbClr val="6E6E6E"/>
                    </a:gs>
                    <a:gs pos="100000">
                      <a:schemeClr val="folHlink"/>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1. Binary Searching </a:t>
            </a:r>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Tree </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400">
                <a:latin typeface="Times New Roman" panose="02020603050405020304" pitchFamily="18" charset="0"/>
                <a:ea typeface="幼圆" panose="02010509060101010101" pitchFamily="49" charset="-122"/>
                <a:cs typeface="Times New Roman" panose="02020603050405020304" pitchFamily="18" charset="0"/>
              </a:rPr>
              <a:t>二叉排序树</a:t>
            </a:r>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hlinkClick r:id="rId1" action="ppaction://hlinksldjump"/>
            </a:endParaRPr>
          </a:p>
          <a:p>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hlinkClick r:id="rId1" action="ppaction://hlinksldjump"/>
            </a:endParaRPr>
          </a:p>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2. Balanced binary searching </a:t>
            </a:r>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Tree </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400">
                <a:latin typeface="Times New Roman" panose="02020603050405020304" pitchFamily="18" charset="0"/>
                <a:ea typeface="幼圆" panose="02010509060101010101" pitchFamily="49" charset="-122"/>
                <a:cs typeface="Times New Roman" panose="02020603050405020304" pitchFamily="18" charset="0"/>
              </a:rPr>
              <a:t>平衡二叉树</a:t>
            </a:r>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 AVL</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a:p>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3. B tree and B</a:t>
            </a:r>
            <a:r>
              <a:rPr kumimoji="1" lang="zh-CN" altLang="en-US" sz="2400" baseline="3000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40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Tree</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a:p>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3254" name="Rectangle 6"/>
          <p:cNvSpPr>
            <a:spLocks noGrp="1" noChangeArrowheads="1"/>
          </p:cNvSpPr>
          <p:nvPr>
            <p:ph type="title"/>
          </p:nvPr>
        </p:nvSpPr>
        <p:spPr/>
        <p:txBody>
          <a:bodyPr>
            <a:scene3d>
              <a:camera prst="orthographicFront"/>
              <a:lightRig rig="threePt" dir="t"/>
            </a:scene3d>
          </a:bodyPr>
          <a:lstStyle/>
          <a:p>
            <a:pPr algn="l"/>
            <a:r>
              <a:rPr lang="en-US" altLang="zh-CN" dirty="0">
                <a:solidFill>
                  <a:schemeClr val="bg1"/>
                </a:solidFill>
                <a:effectLst>
                  <a:outerShdw blurRad="38100" dist="25400" dir="5400000" algn="ctr" rotWithShape="0">
                    <a:srgbClr val="6E747A">
                      <a:alpha val="43000"/>
                    </a:srgbClr>
                  </a:outerShdw>
                </a:effectLst>
              </a:rPr>
              <a:t>8.3 Dynamic searching table</a:t>
            </a:r>
            <a:endParaRPr lang="en-US" altLang="zh-CN" dirty="0">
              <a:solidFill>
                <a:schemeClr val="bg1"/>
              </a:solidFill>
              <a:effectLst>
                <a:outerShdw blurRad="38100" dist="25400" dir="5400000" algn="ctr" rotWithShape="0">
                  <a:srgbClr val="6E747A">
                    <a:alpha val="43000"/>
                  </a:srgbClr>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dirty="0">
                <a:effectLst>
                  <a:outerShdw blurRad="38100" dist="25400" dir="5400000" algn="ctr" rotWithShape="0">
                    <a:srgbClr val="6E747A">
                      <a:alpha val="43000"/>
                    </a:srgbClr>
                  </a:outerShdw>
                </a:effectLst>
                <a:sym typeface="+mn-ea"/>
              </a:rPr>
              <a:t>8.3 Dynamic searching table</a:t>
            </a:r>
            <a:endParaRPr lang="zh-CN" altLang="en-US"/>
          </a:p>
        </p:txBody>
      </p:sp>
      <p:sp>
        <p:nvSpPr>
          <p:cNvPr id="2" name="文本框 1"/>
          <p:cNvSpPr txBox="1"/>
          <p:nvPr/>
        </p:nvSpPr>
        <p:spPr>
          <a:xfrm>
            <a:off x="439420" y="1042670"/>
            <a:ext cx="8247380" cy="5448935"/>
          </a:xfrm>
          <a:prstGeom prst="rect">
            <a:avLst/>
          </a:prstGeom>
          <a:noFill/>
        </p:spPr>
        <p:txBody>
          <a:bodyPr wrap="square" rtlCol="0">
            <a:noAutofit/>
          </a:bodyPr>
          <a:p>
            <a:pPr>
              <a:lnSpc>
                <a:spcPct val="140000"/>
              </a:lnSpc>
            </a:pPr>
            <a:r>
              <a:rPr lang="en-US" altLang="zh-CN">
                <a:latin typeface="Times New Roman" panose="02020603050405020304" pitchFamily="18" charset="0"/>
                <a:cs typeface="Times New Roman" panose="02020603050405020304" pitchFamily="18" charset="0"/>
              </a:rPr>
              <a:t>ADT  </a:t>
            </a:r>
            <a:r>
              <a:rPr lang="en-US" altLang="zh-CN">
                <a:solidFill>
                  <a:srgbClr val="FF0000"/>
                </a:solidFill>
                <a:latin typeface="Times New Roman" panose="02020603050405020304" pitchFamily="18" charset="0"/>
                <a:cs typeface="Times New Roman" panose="02020603050405020304" pitchFamily="18" charset="0"/>
              </a:rPr>
              <a:t>DynamicSearchTable </a:t>
            </a: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indent="457200">
              <a:lnSpc>
                <a:spcPct val="140000"/>
              </a:lnSpc>
            </a:pPr>
            <a:r>
              <a:rPr lang="en-US" altLang="zh-CN">
                <a:latin typeface="Times New Roman" panose="02020603050405020304" pitchFamily="18" charset="0"/>
                <a:cs typeface="Times New Roman" panose="02020603050405020304" pitchFamily="18" charset="0"/>
              </a:rPr>
              <a:t>数据对象D</a:t>
            </a:r>
            <a:r>
              <a:rPr lang="zh-CN" altLang="en-US">
                <a:latin typeface="Times New Roman" panose="02020603050405020304" pitchFamily="18" charset="0"/>
                <a:cs typeface="Times New Roman" panose="02020603050405020304" pitchFamily="18" charset="0"/>
              </a:rPr>
              <a:t>：具</a:t>
            </a:r>
            <a:r>
              <a:rPr lang="en-US" altLang="zh-CN">
                <a:latin typeface="Times New Roman" panose="02020603050405020304" pitchFamily="18" charset="0"/>
                <a:cs typeface="Times New Roman" panose="02020603050405020304" pitchFamily="18" charset="0"/>
              </a:rPr>
              <a:t>有相同特性的数据元素的集合。各个数据元素均含有类型相同</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可推</a:t>
            </a:r>
            <a:r>
              <a:rPr lang="zh-CN" altLang="en-US">
                <a:latin typeface="Times New Roman" panose="02020603050405020304" pitchFamily="18" charset="0"/>
                <a:cs typeface="Times New Roman" panose="02020603050405020304" pitchFamily="18" charset="0"/>
              </a:rPr>
              <a:t>一</a:t>
            </a:r>
            <a:r>
              <a:rPr lang="en-US" altLang="zh-CN">
                <a:latin typeface="Times New Roman" panose="02020603050405020304" pitchFamily="18" charset="0"/>
                <a:cs typeface="Times New Roman" panose="02020603050405020304" pitchFamily="18" charset="0"/>
              </a:rPr>
              <a:t>标识数据元素的关键字。</a:t>
            </a:r>
            <a:endParaRPr lang="en-US" altLang="zh-CN">
              <a:latin typeface="Times New Roman" panose="02020603050405020304" pitchFamily="18" charset="0"/>
              <a:cs typeface="Times New Roman" panose="02020603050405020304" pitchFamily="18" charset="0"/>
            </a:endParaRPr>
          </a:p>
          <a:p>
            <a:pPr indent="457200">
              <a:lnSpc>
                <a:spcPct val="140000"/>
              </a:lnSpc>
            </a:pPr>
            <a:r>
              <a:rPr lang="en-US" altLang="zh-CN">
                <a:latin typeface="Times New Roman" panose="02020603050405020304" pitchFamily="18" charset="0"/>
                <a:cs typeface="Times New Roman" panose="02020603050405020304" pitchFamily="18" charset="0"/>
              </a:rPr>
              <a:t>数据关系R</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数据元素同属一个集合。</a:t>
            </a:r>
            <a:endParaRPr lang="en-US" altLang="zh-CN">
              <a:latin typeface="Times New Roman" panose="02020603050405020304" pitchFamily="18" charset="0"/>
              <a:cs typeface="Times New Roman" panose="02020603050405020304" pitchFamily="18" charset="0"/>
            </a:endParaRPr>
          </a:p>
          <a:p>
            <a:pPr indent="457200">
              <a:lnSpc>
                <a:spcPct val="140000"/>
              </a:lnSpc>
            </a:pPr>
            <a:r>
              <a:rPr lang="zh-CN" altLang="en-US">
                <a:latin typeface="Times New Roman" panose="02020603050405020304" pitchFamily="18" charset="0"/>
                <a:cs typeface="Times New Roman" panose="02020603050405020304" pitchFamily="18" charset="0"/>
              </a:rPr>
              <a:t>基本操作</a:t>
            </a:r>
            <a:r>
              <a:rPr lang="en-US" altLang="zh-CN">
                <a:latin typeface="Times New Roman" panose="02020603050405020304" pitchFamily="18" charset="0"/>
                <a:cs typeface="Times New Roman" panose="02020603050405020304" pitchFamily="18" charset="0"/>
              </a:rPr>
              <a:t>P</a:t>
            </a:r>
            <a:r>
              <a:rPr lang="zh-CN" altLang="en-US">
                <a:latin typeface="Times New Roman" panose="02020603050405020304" pitchFamily="18" charset="0"/>
                <a:cs typeface="Times New Roman" panose="02020603050405020304" pitchFamily="18" charset="0"/>
              </a:rPr>
              <a:t>：</a:t>
            </a:r>
            <a:endParaRPr lang="zh-CN" altLang="en-US">
              <a:latin typeface="Times New Roman" panose="02020603050405020304" pitchFamily="18" charset="0"/>
              <a:cs typeface="Times New Roman" panose="02020603050405020304" pitchFamily="18" charset="0"/>
            </a:endParaRPr>
          </a:p>
          <a:p>
            <a:pPr indent="457200">
              <a:lnSpc>
                <a:spcPct val="140000"/>
              </a:lnSpc>
            </a:pPr>
            <a:r>
              <a:rPr lang="zh-CN" altLang="en-US">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  InitDSTable(&amp;DT);</a:t>
            </a:r>
            <a:endParaRPr lang="en-US" altLang="zh-CN">
              <a:latin typeface="Times New Roman" panose="02020603050405020304" pitchFamily="18" charset="0"/>
              <a:cs typeface="Times New Roman" panose="02020603050405020304" pitchFamily="18" charset="0"/>
            </a:endParaRPr>
          </a:p>
          <a:p>
            <a:pPr marL="457200" lvl="1" indent="457200">
              <a:lnSpc>
                <a:spcPct val="140000"/>
              </a:lnSpc>
            </a:pPr>
            <a:r>
              <a:rPr lang="en-US" altLang="zh-CN">
                <a:latin typeface="Times New Roman" panose="02020603050405020304" pitchFamily="18" charset="0"/>
                <a:cs typeface="Times New Roman" panose="02020603050405020304" pitchFamily="18" charset="0"/>
              </a:rPr>
              <a:t>操作结果</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构造一个空的</a:t>
            </a:r>
            <a:r>
              <a:rPr lang="zh-CN" altLang="en-US">
                <a:latin typeface="Times New Roman" panose="02020603050405020304" pitchFamily="18" charset="0"/>
                <a:cs typeface="Times New Roman" panose="02020603050405020304" pitchFamily="18" charset="0"/>
              </a:rPr>
              <a:t>动</a:t>
            </a:r>
            <a:r>
              <a:rPr lang="en-US" altLang="zh-CN">
                <a:latin typeface="Times New Roman" panose="02020603050405020304" pitchFamily="18" charset="0"/>
                <a:cs typeface="Times New Roman" panose="02020603050405020304" pitchFamily="18" charset="0"/>
              </a:rPr>
              <a:t>态查找表DT。</a:t>
            </a:r>
            <a:endParaRPr lang="en-US" altLang="zh-CN">
              <a:latin typeface="Times New Roman" panose="02020603050405020304" pitchFamily="18" charset="0"/>
              <a:cs typeface="Times New Roman" panose="02020603050405020304" pitchFamily="18" charset="0"/>
            </a:endParaRPr>
          </a:p>
          <a:p>
            <a:pPr marL="0" lvl="0" indent="457200">
              <a:lnSpc>
                <a:spcPct val="140000"/>
              </a:lnSpc>
            </a:pPr>
            <a:r>
              <a:rPr lang="en-US" altLang="zh-CN">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DestroyDSTable(&amp;DT);</a:t>
            </a:r>
            <a:endParaRPr lang="en-US" altLang="zh-CN">
              <a:latin typeface="Times New Roman" panose="02020603050405020304" pitchFamily="18" charset="0"/>
              <a:cs typeface="Times New Roman" panose="02020603050405020304" pitchFamily="18" charset="0"/>
            </a:endParaRPr>
          </a:p>
          <a:p>
            <a:pPr marL="457200" lvl="1" indent="457200">
              <a:lnSpc>
                <a:spcPct val="140000"/>
              </a:lnSpc>
            </a:pPr>
            <a:r>
              <a:rPr lang="en-US" altLang="zh-CN">
                <a:latin typeface="Times New Roman" panose="02020603050405020304" pitchFamily="18" charset="0"/>
                <a:cs typeface="Times New Roman" panose="02020603050405020304" pitchFamily="18" charset="0"/>
              </a:rPr>
              <a:t>初始条件</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动态查找</a:t>
            </a:r>
            <a:r>
              <a:rPr lang="zh-CN" altLang="en-US">
                <a:latin typeface="Times New Roman" panose="02020603050405020304" pitchFamily="18" charset="0"/>
                <a:cs typeface="Times New Roman" panose="02020603050405020304" pitchFamily="18" charset="0"/>
              </a:rPr>
              <a:t>表</a:t>
            </a:r>
            <a:r>
              <a:rPr lang="en-US" altLang="zh-CN">
                <a:latin typeface="Times New Roman" panose="02020603050405020304" pitchFamily="18" charset="0"/>
                <a:cs typeface="Times New Roman" panose="02020603050405020304" pitchFamily="18" charset="0"/>
              </a:rPr>
              <a:t>DT存在</a:t>
            </a:r>
            <a:r>
              <a:rPr lang="zh-CN" altLang="en-US">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marL="457200" lvl="1" indent="457200">
              <a:lnSpc>
                <a:spcPct val="140000"/>
              </a:lnSpc>
            </a:pPr>
            <a:r>
              <a:rPr lang="en-US" altLang="zh-CN">
                <a:latin typeface="Times New Roman" panose="02020603050405020304" pitchFamily="18" charset="0"/>
                <a:cs typeface="Times New Roman" panose="02020603050405020304" pitchFamily="18" charset="0"/>
              </a:rPr>
              <a:t>操作结果</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销毁动态查找表DT。</a:t>
            </a:r>
            <a:endParaRPr lang="en-US" altLang="zh-CN">
              <a:latin typeface="Times New Roman" panose="02020603050405020304" pitchFamily="18" charset="0"/>
              <a:cs typeface="Times New Roman" panose="02020603050405020304" pitchFamily="18" charset="0"/>
            </a:endParaRPr>
          </a:p>
          <a:p>
            <a:pPr indent="457200">
              <a:lnSpc>
                <a:spcPct val="140000"/>
              </a:lnSpc>
            </a:pPr>
            <a:r>
              <a:rPr lang="en-US" altLang="zh-CN">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 SearchDSTable(DT, key);</a:t>
            </a:r>
            <a:endParaRPr lang="en-US" altLang="zh-CN">
              <a:solidFill>
                <a:srgbClr val="FF0000"/>
              </a:solidFill>
              <a:latin typeface="Times New Roman" panose="02020603050405020304" pitchFamily="18" charset="0"/>
              <a:cs typeface="Times New Roman" panose="02020603050405020304" pitchFamily="18" charset="0"/>
            </a:endParaRPr>
          </a:p>
          <a:p>
            <a:pPr marL="457200" lvl="1" indent="457200">
              <a:lnSpc>
                <a:spcPct val="140000"/>
              </a:lnSpc>
            </a:pPr>
            <a:r>
              <a:rPr lang="zh-CN" altLang="en-US">
                <a:latin typeface="Times New Roman" panose="02020603050405020304" pitchFamily="18" charset="0"/>
                <a:cs typeface="Times New Roman" panose="02020603050405020304" pitchFamily="18" charset="0"/>
              </a:rPr>
              <a:t>初</a:t>
            </a:r>
            <a:r>
              <a:rPr lang="en-US" altLang="zh-CN">
                <a:latin typeface="Times New Roman" panose="02020603050405020304" pitchFamily="18" charset="0"/>
                <a:cs typeface="Times New Roman" panose="02020603050405020304" pitchFamily="18" charset="0"/>
              </a:rPr>
              <a:t>始条件</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动态查找表DT存在</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key为和关键字类型相同的给定值</a:t>
            </a:r>
            <a:r>
              <a:rPr lang="zh-CN" altLang="en-US">
                <a:latin typeface="Times New Roman" panose="02020603050405020304" pitchFamily="18" charset="0"/>
                <a:cs typeface="Times New Roman" panose="02020603050405020304" pitchFamily="18" charset="0"/>
              </a:rPr>
              <a:t>。</a:t>
            </a:r>
            <a:endParaRPr lang="zh-CN" altLang="en-US">
              <a:latin typeface="Times New Roman" panose="02020603050405020304" pitchFamily="18" charset="0"/>
              <a:cs typeface="Times New Roman" panose="02020603050405020304" pitchFamily="18" charset="0"/>
            </a:endParaRPr>
          </a:p>
          <a:p>
            <a:pPr marL="457200" lvl="1" indent="457200">
              <a:lnSpc>
                <a:spcPct val="140000"/>
              </a:lnSpc>
            </a:pPr>
            <a:r>
              <a:rPr lang="en-US" altLang="zh-CN">
                <a:latin typeface="Times New Roman" panose="02020603050405020304" pitchFamily="18" charset="0"/>
                <a:cs typeface="Times New Roman" panose="02020603050405020304" pitchFamily="18" charset="0"/>
              </a:rPr>
              <a:t>操作结果</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若</a:t>
            </a:r>
            <a:r>
              <a:rPr lang="en-US" altLang="zh-CN">
                <a:latin typeface="Times New Roman" panose="02020603050405020304" pitchFamily="18" charset="0"/>
                <a:cs typeface="Times New Roman" panose="02020603050405020304" pitchFamily="18" charset="0"/>
                <a:sym typeface="+mn-ea"/>
              </a:rPr>
              <a:t>DT</a:t>
            </a:r>
            <a:r>
              <a:rPr lang="en-US" altLang="zh-CN">
                <a:latin typeface="Times New Roman" panose="02020603050405020304" pitchFamily="18" charset="0"/>
                <a:cs typeface="Times New Roman" panose="02020603050405020304" pitchFamily="18" charset="0"/>
              </a:rPr>
              <a:t>中</a:t>
            </a:r>
            <a:r>
              <a:rPr lang="zh-CN" altLang="en-US">
                <a:latin typeface="Times New Roman" panose="02020603050405020304" pitchFamily="18" charset="0"/>
                <a:cs typeface="Times New Roman" panose="02020603050405020304" pitchFamily="18" charset="0"/>
              </a:rPr>
              <a:t>存</a:t>
            </a:r>
            <a:r>
              <a:rPr lang="en-US" altLang="zh-CN">
                <a:latin typeface="Times New Roman" panose="02020603050405020304" pitchFamily="18" charset="0"/>
                <a:cs typeface="Times New Roman" panose="02020603050405020304" pitchFamily="18" charset="0"/>
              </a:rPr>
              <a:t>在其关键</a:t>
            </a:r>
            <a:r>
              <a:rPr lang="zh-CN" altLang="en-US">
                <a:latin typeface="Times New Roman" panose="02020603050405020304" pitchFamily="18" charset="0"/>
                <a:cs typeface="Times New Roman" panose="02020603050405020304" pitchFamily="18" charset="0"/>
              </a:rPr>
              <a:t>字</a:t>
            </a:r>
            <a:r>
              <a:rPr lang="en-US" altLang="zh-CN">
                <a:latin typeface="Times New Roman" panose="02020603050405020304" pitchFamily="18" charset="0"/>
                <a:cs typeface="Times New Roman" panose="02020603050405020304" pitchFamily="18" charset="0"/>
              </a:rPr>
              <a:t>等于key的数据元素</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则</a:t>
            </a:r>
            <a:r>
              <a:rPr lang="zh-CN" altLang="en-US">
                <a:latin typeface="Times New Roman" panose="02020603050405020304" pitchFamily="18" charset="0"/>
                <a:cs typeface="Times New Roman" panose="02020603050405020304" pitchFamily="18" charset="0"/>
              </a:rPr>
              <a:t>函</a:t>
            </a:r>
            <a:r>
              <a:rPr lang="en-US" altLang="zh-CN">
                <a:latin typeface="Times New Roman" panose="02020603050405020304" pitchFamily="18" charset="0"/>
                <a:cs typeface="Times New Roman" panose="02020603050405020304" pitchFamily="18" charset="0"/>
              </a:rPr>
              <a:t>数值为该元素的值或在表中的位置</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否则为“</a:t>
            </a:r>
            <a:r>
              <a:rPr lang="zh-CN" altLang="en-US">
                <a:latin typeface="Times New Roman" panose="02020603050405020304" pitchFamily="18" charset="0"/>
                <a:cs typeface="Times New Roman" panose="02020603050405020304" pitchFamily="18" charset="0"/>
              </a:rPr>
              <a:t>空</a:t>
            </a:r>
            <a:r>
              <a:rPr lang="en-US"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dirty="0">
                <a:effectLst>
                  <a:outerShdw blurRad="38100" dist="25400" dir="5400000" algn="ctr" rotWithShape="0">
                    <a:srgbClr val="6E747A">
                      <a:alpha val="43000"/>
                    </a:srgbClr>
                  </a:outerShdw>
                </a:effectLst>
                <a:sym typeface="+mn-ea"/>
              </a:rPr>
              <a:t>8.3 Dynamic searching table</a:t>
            </a:r>
            <a:endParaRPr lang="zh-CN" altLang="en-US"/>
          </a:p>
        </p:txBody>
      </p:sp>
      <p:sp>
        <p:nvSpPr>
          <p:cNvPr id="2" name="文本框 1"/>
          <p:cNvSpPr txBox="1"/>
          <p:nvPr/>
        </p:nvSpPr>
        <p:spPr>
          <a:xfrm>
            <a:off x="556895" y="1071245"/>
            <a:ext cx="8129905" cy="5190490"/>
          </a:xfrm>
          <a:prstGeom prst="rect">
            <a:avLst/>
          </a:prstGeom>
          <a:noFill/>
        </p:spPr>
        <p:txBody>
          <a:bodyPr wrap="square" rtlCol="0">
            <a:noAutofit/>
          </a:bodyPr>
          <a:p>
            <a:pPr marL="0" lvl="0" indent="457200">
              <a:lnSpc>
                <a:spcPct val="130000"/>
              </a:lnSpc>
            </a:pPr>
            <a:r>
              <a:rPr lang="en-US" altLang="zh-CN">
                <a:solidFill>
                  <a:srgbClr val="FF0000"/>
                </a:solidFill>
                <a:latin typeface="Times New Roman" panose="02020603050405020304" pitchFamily="18" charset="0"/>
                <a:cs typeface="Times New Roman" panose="02020603050405020304" pitchFamily="18" charset="0"/>
                <a:sym typeface="+mn-ea"/>
              </a:rPr>
              <a:t>    InsertDSTable(&amp;DT, e);</a:t>
            </a:r>
            <a:endParaRPr lang="zh-CN" altLang="en-US">
              <a:latin typeface="Times New Roman" panose="02020603050405020304" pitchFamily="18" charset="0"/>
              <a:cs typeface="Times New Roman" panose="02020603050405020304" pitchFamily="18" charset="0"/>
            </a:endParaRPr>
          </a:p>
          <a:p>
            <a:pPr marL="457200" lvl="1" indent="457200">
              <a:lnSpc>
                <a:spcPct val="130000"/>
              </a:lnSpc>
            </a:pPr>
            <a:r>
              <a:rPr lang="en-US" altLang="zh-CN">
                <a:latin typeface="Times New Roman" panose="02020603050405020304" pitchFamily="18" charset="0"/>
                <a:cs typeface="Times New Roman" panose="02020603050405020304" pitchFamily="18" charset="0"/>
                <a:sym typeface="+mn-ea"/>
              </a:rPr>
              <a:t>初始条件</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动</a:t>
            </a:r>
            <a:r>
              <a:rPr lang="zh-CN" altLang="en-US">
                <a:latin typeface="Times New Roman" panose="02020603050405020304" pitchFamily="18" charset="0"/>
                <a:cs typeface="Times New Roman" panose="02020603050405020304" pitchFamily="18" charset="0"/>
                <a:sym typeface="+mn-ea"/>
              </a:rPr>
              <a:t>态</a:t>
            </a:r>
            <a:r>
              <a:rPr lang="en-US" altLang="zh-CN">
                <a:latin typeface="Times New Roman" panose="02020603050405020304" pitchFamily="18" charset="0"/>
                <a:cs typeface="Times New Roman" panose="02020603050405020304" pitchFamily="18" charset="0"/>
                <a:sym typeface="+mn-ea"/>
              </a:rPr>
              <a:t>查找表DT存</a:t>
            </a:r>
            <a:r>
              <a:rPr lang="zh-CN" altLang="en-US">
                <a:latin typeface="Times New Roman" panose="02020603050405020304" pitchFamily="18" charset="0"/>
                <a:cs typeface="Times New Roman" panose="02020603050405020304" pitchFamily="18" charset="0"/>
                <a:sym typeface="+mn-ea"/>
              </a:rPr>
              <a:t>在，</a:t>
            </a:r>
            <a:r>
              <a:rPr lang="en-US" altLang="zh-CN">
                <a:latin typeface="Times New Roman" panose="02020603050405020304" pitchFamily="18" charset="0"/>
                <a:cs typeface="Times New Roman" panose="02020603050405020304" pitchFamily="18" charset="0"/>
                <a:sym typeface="+mn-ea"/>
              </a:rPr>
              <a:t>e为待插入的数据元素。</a:t>
            </a:r>
            <a:endParaRPr lang="en-US" altLang="zh-CN">
              <a:latin typeface="Times New Roman" panose="02020603050405020304" pitchFamily="18" charset="0"/>
              <a:cs typeface="Times New Roman" panose="02020603050405020304" pitchFamily="18" charset="0"/>
            </a:endParaRPr>
          </a:p>
          <a:p>
            <a:pPr marL="457200" lvl="1" indent="457200">
              <a:lnSpc>
                <a:spcPct val="130000"/>
              </a:lnSpc>
            </a:pPr>
            <a:r>
              <a:rPr lang="en-US" altLang="zh-CN">
                <a:latin typeface="Times New Roman" panose="02020603050405020304" pitchFamily="18" charset="0"/>
                <a:cs typeface="Times New Roman" panose="02020603050405020304" pitchFamily="18" charset="0"/>
                <a:sym typeface="+mn-ea"/>
              </a:rPr>
              <a:t>操作结果</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若DT中不存在其关键字等于e.key的数据元素</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则插人e到DT</a:t>
            </a:r>
            <a:r>
              <a:rPr lang="zh-CN" altLang="en-US">
                <a:latin typeface="Times New Roman" panose="02020603050405020304" pitchFamily="18" charset="0"/>
                <a:cs typeface="Times New Roman" panose="02020603050405020304" pitchFamily="18" charset="0"/>
                <a:sym typeface="+mn-ea"/>
              </a:rPr>
              <a:t>。</a:t>
            </a:r>
            <a:r>
              <a:rPr lang="en-US" altLang="zh-CN">
                <a:solidFill>
                  <a:srgbClr val="FF0000"/>
                </a:solidFill>
                <a:latin typeface="Times New Roman" panose="02020603050405020304" pitchFamily="18" charset="0"/>
                <a:cs typeface="Times New Roman" panose="02020603050405020304" pitchFamily="18" charset="0"/>
              </a:rPr>
              <a:t> </a:t>
            </a:r>
            <a:endParaRPr lang="en-US" altLang="zh-CN">
              <a:solidFill>
                <a:srgbClr val="FF0000"/>
              </a:solidFill>
              <a:latin typeface="Times New Roman" panose="02020603050405020304" pitchFamily="18" charset="0"/>
              <a:cs typeface="Times New Roman" panose="02020603050405020304" pitchFamily="18" charset="0"/>
            </a:endParaRPr>
          </a:p>
          <a:p>
            <a:pPr indent="457200">
              <a:lnSpc>
                <a:spcPct val="150000"/>
              </a:lnSpc>
            </a:pPr>
            <a:r>
              <a:rPr lang="en-US" altLang="zh-CN">
                <a:solidFill>
                  <a:srgbClr val="FF0000"/>
                </a:solidFill>
                <a:latin typeface="Times New Roman" panose="02020603050405020304" pitchFamily="18" charset="0"/>
                <a:cs typeface="Times New Roman" panose="02020603050405020304" pitchFamily="18" charset="0"/>
              </a:rPr>
              <a:t>    DeleteDSTable(&amp;DT, key);</a:t>
            </a:r>
            <a:endParaRPr lang="en-US" altLang="zh-CN">
              <a:solidFill>
                <a:srgbClr val="FF0000"/>
              </a:solidFill>
              <a:latin typeface="Times New Roman" panose="02020603050405020304" pitchFamily="18" charset="0"/>
              <a:cs typeface="Times New Roman" panose="02020603050405020304" pitchFamily="18" charset="0"/>
            </a:endParaRPr>
          </a:p>
          <a:p>
            <a:pPr marL="457200" lvl="1" indent="457200">
              <a:lnSpc>
                <a:spcPct val="150000"/>
              </a:lnSpc>
            </a:pPr>
            <a:r>
              <a:rPr lang="en-US" altLang="zh-CN">
                <a:latin typeface="Times New Roman" panose="02020603050405020304" pitchFamily="18" charset="0"/>
                <a:cs typeface="Times New Roman" panose="02020603050405020304" pitchFamily="18" charset="0"/>
              </a:rPr>
              <a:t>初始条件</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动态查</a:t>
            </a:r>
            <a:r>
              <a:rPr lang="zh-CN" altLang="en-US">
                <a:latin typeface="Times New Roman" panose="02020603050405020304" pitchFamily="18" charset="0"/>
                <a:cs typeface="Times New Roman" panose="02020603050405020304" pitchFamily="18" charset="0"/>
              </a:rPr>
              <a:t>找</a:t>
            </a:r>
            <a:r>
              <a:rPr lang="en-US" altLang="zh-CN">
                <a:latin typeface="Times New Roman" panose="02020603050405020304" pitchFamily="18" charset="0"/>
                <a:cs typeface="Times New Roman" panose="02020603050405020304" pitchFamily="18" charset="0"/>
              </a:rPr>
              <a:t>表DT存在</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key为和关键字类型相同的给定值</a:t>
            </a:r>
            <a:r>
              <a:rPr lang="zh-CN" altLang="en-US">
                <a:latin typeface="Times New Roman" panose="02020603050405020304" pitchFamily="18" charset="0"/>
                <a:cs typeface="Times New Roman" panose="02020603050405020304" pitchFamily="18" charset="0"/>
              </a:rPr>
              <a:t>。</a:t>
            </a:r>
            <a:endParaRPr lang="zh-CN" altLang="en-US">
              <a:latin typeface="Times New Roman" panose="02020603050405020304" pitchFamily="18" charset="0"/>
              <a:cs typeface="Times New Roman" panose="02020603050405020304" pitchFamily="18" charset="0"/>
            </a:endParaRPr>
          </a:p>
          <a:p>
            <a:pPr marL="457200" lvl="1" indent="457200">
              <a:lnSpc>
                <a:spcPct val="150000"/>
              </a:lnSpc>
            </a:pPr>
            <a:r>
              <a:rPr lang="en-US" altLang="zh-CN">
                <a:latin typeface="Times New Roman" panose="02020603050405020304" pitchFamily="18" charset="0"/>
                <a:cs typeface="Times New Roman" panose="02020603050405020304" pitchFamily="18" charset="0"/>
              </a:rPr>
              <a:t>操作结果</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若DT中</a:t>
            </a:r>
            <a:r>
              <a:rPr lang="zh-CN" altLang="en-US">
                <a:latin typeface="Times New Roman" panose="02020603050405020304" pitchFamily="18" charset="0"/>
                <a:cs typeface="Times New Roman" panose="02020603050405020304" pitchFamily="18" charset="0"/>
              </a:rPr>
              <a:t>存</a:t>
            </a:r>
            <a:r>
              <a:rPr lang="en-US" altLang="zh-CN">
                <a:latin typeface="Times New Roman" panose="02020603050405020304" pitchFamily="18" charset="0"/>
                <a:cs typeface="Times New Roman" panose="02020603050405020304" pitchFamily="18" charset="0"/>
              </a:rPr>
              <a:t>在其关键字等于key的数元系</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则删除之</a:t>
            </a:r>
            <a:r>
              <a:rPr lang="zh-CN" altLang="en-US">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marL="0" lvl="0" indent="457200">
              <a:lnSpc>
                <a:spcPct val="150000"/>
              </a:lnSpc>
            </a:pPr>
            <a:r>
              <a:rPr lang="en-US" altLang="zh-CN">
                <a:latin typeface="Times New Roman" panose="02020603050405020304" pitchFamily="18" charset="0"/>
                <a:cs typeface="Times New Roman" panose="02020603050405020304" pitchFamily="18" charset="0"/>
              </a:rPr>
              <a:t> </a:t>
            </a:r>
            <a:r>
              <a:rPr lang="en-US" altLang="zh-CN">
                <a:solidFill>
                  <a:srgbClr val="FF0000"/>
                </a:solidFill>
                <a:latin typeface="Times New Roman" panose="02020603050405020304" pitchFamily="18" charset="0"/>
                <a:cs typeface="Times New Roman" panose="02020603050405020304" pitchFamily="18" charset="0"/>
              </a:rPr>
              <a:t>   TraverseDSTable(DT, Visit());</a:t>
            </a:r>
            <a:endParaRPr lang="en-US" altLang="zh-CN">
              <a:latin typeface="Times New Roman" panose="02020603050405020304" pitchFamily="18" charset="0"/>
              <a:cs typeface="Times New Roman" panose="02020603050405020304" pitchFamily="18" charset="0"/>
            </a:endParaRPr>
          </a:p>
          <a:p>
            <a:pPr marL="457200" lvl="1" indent="457200">
              <a:lnSpc>
                <a:spcPct val="150000"/>
              </a:lnSpc>
            </a:pPr>
            <a:r>
              <a:rPr lang="en-US" altLang="zh-CN">
                <a:latin typeface="Times New Roman" panose="02020603050405020304" pitchFamily="18" charset="0"/>
                <a:cs typeface="Times New Roman" panose="02020603050405020304" pitchFamily="18" charset="0"/>
              </a:rPr>
              <a:t>初始条件</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动态查找</a:t>
            </a:r>
            <a:r>
              <a:rPr lang="zh-CN" altLang="en-US">
                <a:latin typeface="Times New Roman" panose="02020603050405020304" pitchFamily="18" charset="0"/>
                <a:cs typeface="Times New Roman" panose="02020603050405020304" pitchFamily="18" charset="0"/>
              </a:rPr>
              <a:t>表</a:t>
            </a:r>
            <a:r>
              <a:rPr lang="en-US" altLang="zh-CN">
                <a:latin typeface="Times New Roman" panose="02020603050405020304" pitchFamily="18" charset="0"/>
                <a:cs typeface="Times New Roman" panose="02020603050405020304" pitchFamily="18" charset="0"/>
              </a:rPr>
              <a:t>DT存</a:t>
            </a:r>
            <a:r>
              <a:rPr lang="zh-CN" altLang="en-US">
                <a:latin typeface="Times New Roman" panose="02020603050405020304" pitchFamily="18" charset="0"/>
                <a:cs typeface="Times New Roman" panose="02020603050405020304" pitchFamily="18" charset="0"/>
              </a:rPr>
              <a:t>在，</a:t>
            </a:r>
            <a:r>
              <a:rPr lang="en-US" altLang="zh-CN">
                <a:latin typeface="Times New Roman" panose="02020603050405020304" pitchFamily="18" charset="0"/>
                <a:cs typeface="Times New Roman" panose="02020603050405020304" pitchFamily="18" charset="0"/>
              </a:rPr>
              <a:t>Visit是对结点操作的应用</a:t>
            </a:r>
            <a:r>
              <a:rPr lang="zh-CN" altLang="en-US">
                <a:latin typeface="Times New Roman" panose="02020603050405020304" pitchFamily="18" charset="0"/>
                <a:cs typeface="Times New Roman" panose="02020603050405020304" pitchFamily="18" charset="0"/>
              </a:rPr>
              <a:t>函</a:t>
            </a:r>
            <a:r>
              <a:rPr lang="en-US" altLang="zh-CN">
                <a:latin typeface="Times New Roman" panose="02020603050405020304" pitchFamily="18" charset="0"/>
                <a:cs typeface="Times New Roman" panose="02020603050405020304" pitchFamily="18" charset="0"/>
              </a:rPr>
              <a:t>数。</a:t>
            </a:r>
            <a:endParaRPr lang="en-US" altLang="zh-CN">
              <a:latin typeface="Times New Roman" panose="02020603050405020304" pitchFamily="18" charset="0"/>
              <a:cs typeface="Times New Roman" panose="02020603050405020304" pitchFamily="18" charset="0"/>
            </a:endParaRPr>
          </a:p>
          <a:p>
            <a:pPr marL="457200" lvl="1" indent="457200">
              <a:lnSpc>
                <a:spcPct val="150000"/>
              </a:lnSpc>
            </a:pPr>
            <a:r>
              <a:rPr lang="en-US" altLang="zh-CN">
                <a:latin typeface="Times New Roman" panose="02020603050405020304" pitchFamily="18" charset="0"/>
                <a:cs typeface="Times New Roman" panose="02020603050405020304" pitchFamily="18" charset="0"/>
              </a:rPr>
              <a:t>操作结果</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按某种次对DT的每个结点调用函数 Visit()一次且至多</a:t>
            </a:r>
            <a:r>
              <a:rPr lang="zh-CN" altLang="en-US">
                <a:latin typeface="Times New Roman" panose="02020603050405020304" pitchFamily="18" charset="0"/>
                <a:cs typeface="Times New Roman" panose="02020603050405020304" pitchFamily="18" charset="0"/>
              </a:rPr>
              <a:t>一</a:t>
            </a:r>
            <a:r>
              <a:rPr lang="en-US" altLang="zh-CN">
                <a:latin typeface="Times New Roman" panose="02020603050405020304" pitchFamily="18" charset="0"/>
                <a:cs typeface="Times New Roman" panose="02020603050405020304" pitchFamily="18" charset="0"/>
              </a:rPr>
              <a:t>次。一旦Visit()失败</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则操作失败</a:t>
            </a:r>
            <a:r>
              <a:rPr lang="zh-CN" altLang="en-US">
                <a:latin typeface="Times New Roman" panose="02020603050405020304" pitchFamily="18" charset="0"/>
                <a:cs typeface="Times New Roman" panose="02020603050405020304" pitchFamily="18" charset="0"/>
              </a:rPr>
              <a:t>。</a:t>
            </a:r>
            <a:endParaRPr lang="en-US" altLang="zh-CN">
              <a:solidFill>
                <a:schemeClr val="tx1"/>
              </a:solidFill>
              <a:latin typeface="Times New Roman" panose="02020603050405020304" pitchFamily="18" charset="0"/>
              <a:cs typeface="Times New Roman" panose="02020603050405020304" pitchFamily="18" charset="0"/>
            </a:endParaRPr>
          </a:p>
          <a:p>
            <a:pPr marL="0" lvl="0" algn="l">
              <a:lnSpc>
                <a:spcPct val="150000"/>
              </a:lnSpc>
              <a:buClrTx/>
              <a:buSzTx/>
              <a:buFontTx/>
              <a:buNone/>
            </a:pPr>
            <a:r>
              <a:rPr lang="en-US" altLang="zh-CN">
                <a:solidFill>
                  <a:schemeClr val="tx1"/>
                </a:solidFill>
                <a:latin typeface="Times New Roman" panose="02020603050405020304" pitchFamily="18" charset="0"/>
                <a:cs typeface="Times New Roman" panose="02020603050405020304" pitchFamily="18" charset="0"/>
              </a:rPr>
              <a:t>} ADT </a:t>
            </a:r>
            <a:r>
              <a:rPr lang="en-US" altLang="zh-CN">
                <a:solidFill>
                  <a:srgbClr val="FF0000"/>
                </a:solidFill>
                <a:latin typeface="Times New Roman" panose="02020603050405020304" pitchFamily="18" charset="0"/>
                <a:cs typeface="Times New Roman" panose="02020603050405020304" pitchFamily="18" charset="0"/>
              </a:rPr>
              <a:t>DynanicSearchTable</a:t>
            </a:r>
            <a:endParaRPr lang="en-US" altLang="zh-CN">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rPr>
              <a:t>8.3 Binary searching tree</a:t>
            </a:r>
            <a:endParaRPr lang="en-US" altLang="zh-CN" dirty="0">
              <a:solidFill>
                <a:schemeClr val="bg1"/>
              </a:solidFill>
              <a:effectLst>
                <a:outerShdw blurRad="38100" dist="25400" dir="5400000" algn="ctr" rotWithShape="0">
                  <a:srgbClr val="6E747A">
                    <a:alpha val="43000"/>
                  </a:srgbClr>
                </a:outerShdw>
              </a:effectLst>
            </a:endParaRPr>
          </a:p>
        </p:txBody>
      </p:sp>
      <p:sp>
        <p:nvSpPr>
          <p:cNvPr id="3" name="内容占位符 2"/>
          <p:cNvSpPr>
            <a:spLocks noGrp="1"/>
          </p:cNvSpPr>
          <p:nvPr>
            <p:ph idx="1"/>
          </p:nvPr>
        </p:nvSpPr>
        <p:spPr>
          <a:xfrm>
            <a:off x="639445" y="1147445"/>
            <a:ext cx="8047355" cy="4333875"/>
          </a:xfrm>
        </p:spPr>
        <p:txBody>
          <a:bodyPr/>
          <a:lstStyle/>
          <a:p>
            <a:r>
              <a:rPr lang="en-US" altLang="zh-CN" dirty="0">
                <a:solidFill>
                  <a:schemeClr val="accent1"/>
                </a:solidFill>
                <a:latin typeface="Times New Roman" panose="02020603050405020304" pitchFamily="18" charset="0"/>
                <a:cs typeface="Times New Roman" panose="02020603050405020304" pitchFamily="18" charset="0"/>
              </a:rPr>
              <a:t>Definition</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Search</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Insert</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Remove</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Analysis</a:t>
            </a:r>
            <a:endParaRPr lang="en-US" altLang="zh-CN" dirty="0">
              <a:solidFill>
                <a:schemeClr val="accent1"/>
              </a:solidFill>
              <a:latin typeface="Times New Roman" panose="02020603050405020304" pitchFamily="18" charset="0"/>
              <a:cs typeface="Times New Roman" panose="02020603050405020304" pitchFamily="18" charset="0"/>
            </a:endParaRPr>
          </a:p>
          <a:p>
            <a:r>
              <a:rPr lang="en-US" altLang="zh-CN" dirty="0">
                <a:solidFill>
                  <a:schemeClr val="accent1"/>
                </a:solidFill>
                <a:latin typeface="Times New Roman" panose="02020603050405020304" pitchFamily="18" charset="0"/>
                <a:cs typeface="Times New Roman" panose="02020603050405020304" pitchFamily="18" charset="0"/>
              </a:rPr>
              <a:t>Improvement</a:t>
            </a:r>
            <a:endParaRPr lang="en-US" altLang="zh-CN"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Text Box 5"/>
          <p:cNvSpPr txBox="1">
            <a:spLocks noChangeArrowheads="1"/>
          </p:cNvSpPr>
          <p:nvPr/>
        </p:nvSpPr>
        <p:spPr bwMode="auto">
          <a:xfrm>
            <a:off x="564515" y="1066800"/>
            <a:ext cx="8122285" cy="5233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二叉排序</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搜索</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a:t>
            </a:r>
            <a:r>
              <a:rPr kumimoji="1" lang="zh-CN" altLang="en-US" sz="2000" b="1" dirty="0">
                <a:solidFill>
                  <a:srgbClr val="FFFF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(Binary </a:t>
            </a:r>
            <a:r>
              <a:rPr kumimoji="1" lang="en-US" altLang="en-US" sz="2000" dirty="0">
                <a:latin typeface="Times New Roman" panose="02020603050405020304" pitchFamily="18" charset="0"/>
                <a:ea typeface="幼圆" panose="02010509060101010101" pitchFamily="49" charset="-122"/>
                <a:cs typeface="Times New Roman" panose="02020603050405020304" pitchFamily="18" charset="0"/>
              </a:rPr>
              <a:t>Searching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Tree)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或者是一棵空二叉树，或者是具有下列性质的二叉树：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若它的左子树不空，则左子树上所有结点的值均小于它的根结点的值；</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若它的右子树不空，则右子树上所有结点的值均大于它的根结点的值；</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它的左右子树也分别为</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二叉排序</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搜索</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4279" name="Rectangle 7"/>
          <p:cNvSpPr>
            <a:spLocks noGrp="1" noChangeArrowheads="1"/>
          </p:cNvSpPr>
          <p:nvPr>
            <p:ph type="title"/>
          </p:nvPr>
        </p:nvSpPr>
        <p:spPr/>
        <p:txBody>
          <a:bodyPr>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rPr>
              <a:t>8.3.1 </a:t>
            </a:r>
            <a:r>
              <a:rPr kumimoji="1" lang="en-US" altLang="zh-CN" dirty="0">
                <a:solidFill>
                  <a:schemeClr val="bg1"/>
                </a:solidFill>
                <a:latin typeface="Times New Roman" panose="02020603050405020304" pitchFamily="18" charset="0"/>
                <a:ea typeface="幼圆" panose="02010509060101010101" pitchFamily="49" charset="-122"/>
                <a:cs typeface="Times New Roman" panose="02020603050405020304" pitchFamily="18" charset="0"/>
                <a:sym typeface="+mn-ea"/>
              </a:rPr>
              <a:t>Definition</a:t>
            </a:r>
            <a:endParaRPr kumimoji="1" lang="en-US" altLang="zh-CN" dirty="0">
              <a:solidFill>
                <a:schemeClr val="bg1"/>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dirty="0">
                <a:effectLst>
                  <a:outerShdw blurRad="38100" dist="25400" dir="5400000" algn="ctr" rotWithShape="0">
                    <a:srgbClr val="6E747A">
                      <a:alpha val="43000"/>
                    </a:srgbClr>
                  </a:outerShdw>
                </a:effectLst>
                <a:sym typeface="+mn-ea"/>
              </a:rPr>
              <a:t>8.3.1 </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sym typeface="+mn-ea"/>
              </a:rPr>
              <a:t>Definition</a:t>
            </a:r>
            <a:endParaRPr lang="zh-CN" altLang="en-US"/>
          </a:p>
        </p:txBody>
      </p:sp>
      <p:sp>
        <p:nvSpPr>
          <p:cNvPr id="55322" name="Text Box 26"/>
          <p:cNvSpPr txBox="1">
            <a:spLocks noChangeArrowheads="1"/>
          </p:cNvSpPr>
          <p:nvPr/>
        </p:nvSpPr>
        <p:spPr bwMode="auto">
          <a:xfrm>
            <a:off x="705485" y="3074035"/>
            <a:ext cx="7926070" cy="323723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nSpc>
                <a:spcPct val="150000"/>
              </a:lnSpc>
            </a:pP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 二叉排序树的存储结构 */</a:t>
            </a:r>
            <a:endParaRPr kumimoji="1" lang="zh-CN" altLang="en-US"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BinNode</a:t>
            </a:r>
            <a:endParaRPr kumimoji="1" lang="en-US" altLang="zh-CN" dirty="0">
              <a:solidFill>
                <a:srgbClr val="FFFF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结点的关键码字段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DataType</a:t>
            </a:r>
            <a:r>
              <a:rPr kumimoji="1" lang="en-US" altLang="zh-CN" dirty="0">
                <a:latin typeface="Consolas" panose="020B0609020204030204" charset="0"/>
                <a:ea typeface="幼圆" panose="02010509060101010101" pitchFamily="49" charset="-122"/>
                <a:cs typeface="Consolas" panose="020B0609020204030204" charset="0"/>
              </a:rPr>
              <a:t> other;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结点的属性字段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二叉树的左、右指针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BinTree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pic>
        <p:nvPicPr>
          <p:cNvPr id="55326" name="Picture 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5010" y="1149350"/>
            <a:ext cx="7917180" cy="164973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Rectangle 5"/>
          <p:cNvSpPr>
            <a:spLocks noGrp="1" noChangeArrowheads="1"/>
          </p:cNvSpPr>
          <p:nvPr>
            <p:ph idx="1"/>
          </p:nvPr>
        </p:nvSpPr>
        <p:spPr>
          <a:xfrm>
            <a:off x="457200" y="1087120"/>
            <a:ext cx="8229600" cy="5397500"/>
          </a:xfrm>
          <a:noFill/>
        </p:spPr>
        <p:txBody>
          <a:bodyPr/>
          <a:lstStyle/>
          <a:p>
            <a:pPr>
              <a:lnSpc>
                <a:spcPct val="120000"/>
              </a:lnSpc>
            </a:pPr>
            <a:r>
              <a:rPr lang="en-US" altLang="zh-CN" sz="2400" dirty="0">
                <a:latin typeface="Times New Roman" panose="02020603050405020304" pitchFamily="18" charset="0"/>
              </a:rPr>
              <a:t>Method</a:t>
            </a:r>
            <a:endParaRPr lang="en-US" altLang="zh-CN" sz="2800" dirty="0">
              <a:latin typeface="Times New Roman" panose="02020603050405020304" pitchFamily="18" charset="0"/>
            </a:endParaRPr>
          </a:p>
          <a:p>
            <a:pPr lvl="1">
              <a:lnSpc>
                <a:spcPct val="120000"/>
              </a:lnSpc>
            </a:pPr>
            <a:r>
              <a:rPr lang="en-US" altLang="zh-CN" sz="2400" dirty="0">
                <a:latin typeface="Times New Roman" panose="02020603050405020304" pitchFamily="18" charset="0"/>
              </a:rPr>
              <a:t>From the root of BST, if </a:t>
            </a:r>
            <a:endParaRPr lang="en-US" altLang="zh-CN" sz="2400" dirty="0">
              <a:latin typeface="Times New Roman" panose="02020603050405020304" pitchFamily="18" charset="0"/>
            </a:endParaRPr>
          </a:p>
          <a:p>
            <a:pPr lvl="1">
              <a:lnSpc>
                <a:spcPct val="120000"/>
              </a:lnSpc>
            </a:pPr>
            <a:r>
              <a:rPr lang="en-US" altLang="zh-CN" sz="2400" dirty="0">
                <a:latin typeface="Times New Roman" panose="02020603050405020304" pitchFamily="18" charset="0"/>
              </a:rPr>
              <a:t>BST == NULL, return Failure; else compare the given key x with the key in root node, if</a:t>
            </a:r>
            <a:endParaRPr lang="en-US" altLang="zh-CN" sz="2400" dirty="0">
              <a:latin typeface="Times New Roman" panose="02020603050405020304" pitchFamily="18" charset="0"/>
            </a:endParaRPr>
          </a:p>
          <a:p>
            <a:pPr lvl="2">
              <a:lnSpc>
                <a:spcPct val="120000"/>
              </a:lnSpc>
            </a:pPr>
            <a:r>
              <a:rPr lang="en-US" altLang="zh-CN" sz="2000" dirty="0">
                <a:latin typeface="Times New Roman" panose="02020603050405020304" pitchFamily="18" charset="0"/>
              </a:rPr>
              <a:t>Equal, return the position of the root</a:t>
            </a:r>
            <a:endParaRPr lang="en-US" altLang="zh-CN" sz="2000" dirty="0">
              <a:latin typeface="Times New Roman" panose="02020603050405020304" pitchFamily="18" charset="0"/>
            </a:endParaRPr>
          </a:p>
          <a:p>
            <a:pPr lvl="2">
              <a:lnSpc>
                <a:spcPct val="120000"/>
              </a:lnSpc>
            </a:pPr>
            <a:r>
              <a:rPr lang="en-US" altLang="zh-CN" sz="2000" dirty="0">
                <a:latin typeface="Times New Roman" panose="02020603050405020304" pitchFamily="18" charset="0"/>
              </a:rPr>
              <a:t>X &lt; </a:t>
            </a:r>
            <a:r>
              <a:rPr lang="en-US" altLang="zh-CN" sz="2000" dirty="0" err="1">
                <a:latin typeface="Times New Roman" panose="02020603050405020304" pitchFamily="18" charset="0"/>
              </a:rPr>
              <a:t>root.getKey</a:t>
            </a:r>
            <a:r>
              <a:rPr lang="en-US" altLang="zh-CN" sz="2000" dirty="0">
                <a:latin typeface="Times New Roman" panose="02020603050405020304" pitchFamily="18" charset="0"/>
              </a:rPr>
              <a:t>(), search in the left sub BST</a:t>
            </a:r>
            <a:endParaRPr lang="en-US" altLang="zh-CN" sz="2000" dirty="0">
              <a:latin typeface="Times New Roman" panose="02020603050405020304" pitchFamily="18" charset="0"/>
            </a:endParaRPr>
          </a:p>
          <a:p>
            <a:pPr lvl="2">
              <a:lnSpc>
                <a:spcPct val="120000"/>
              </a:lnSpc>
            </a:pPr>
            <a:r>
              <a:rPr lang="en-US" altLang="zh-CN" sz="2000" dirty="0">
                <a:latin typeface="Times New Roman" panose="02020603050405020304" pitchFamily="18" charset="0"/>
              </a:rPr>
              <a:t>X &gt; </a:t>
            </a:r>
            <a:r>
              <a:rPr lang="en-US" altLang="zh-CN" sz="2000" dirty="0" err="1">
                <a:latin typeface="Times New Roman" panose="02020603050405020304" pitchFamily="18" charset="0"/>
              </a:rPr>
              <a:t>root.getKey</a:t>
            </a:r>
            <a:r>
              <a:rPr lang="en-US" altLang="zh-CN" sz="2000" dirty="0">
                <a:latin typeface="Times New Roman" panose="02020603050405020304" pitchFamily="18" charset="0"/>
              </a:rPr>
              <a:t>(), search in the right sub BST</a:t>
            </a:r>
            <a:endParaRPr lang="en-US" altLang="zh-CN" sz="2000" dirty="0">
              <a:latin typeface="Times New Roman" panose="02020603050405020304" pitchFamily="18" charset="0"/>
            </a:endParaRPr>
          </a:p>
          <a:p>
            <a:pPr lvl="2">
              <a:lnSpc>
                <a:spcPct val="120000"/>
              </a:lnSpc>
            </a:pPr>
            <a:r>
              <a:rPr lang="en-US" altLang="zh-CN" sz="2000" dirty="0">
                <a:latin typeface="Times New Roman" panose="02020603050405020304" pitchFamily="18" charset="0"/>
              </a:rPr>
              <a:t>Until found or BST== NULL</a:t>
            </a:r>
            <a:endParaRPr lang="en-US" altLang="zh-CN" sz="20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Example</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Implementation</a:t>
            </a:r>
            <a:endParaRPr kumimoji="1" lang="en-US" altLang="zh-CN" sz="2400" dirty="0">
              <a:latin typeface="Times New Roman" panose="02020603050405020304" pitchFamily="18" charset="0"/>
            </a:endParaRPr>
          </a:p>
        </p:txBody>
      </p:sp>
      <p:sp>
        <p:nvSpPr>
          <p:cNvPr id="2" name="标题 1"/>
          <p:cNvSpPr>
            <a:spLocks noGrp="1"/>
          </p:cNvSpPr>
          <p:nvPr>
            <p:ph type="title"/>
          </p:nvPr>
        </p:nvSpPr>
        <p:spPr/>
        <p:txBody>
          <a:bodyPr/>
          <a:p>
            <a:r>
              <a:rPr lang="en-US" altLang="zh-CN"/>
              <a:t>8.3.2 </a:t>
            </a:r>
            <a:r>
              <a:rPr kumimoji="1" lang="en-US" altLang="zh-CN" dirty="0">
                <a:solidFill>
                  <a:schemeClr val="bg1"/>
                </a:solidFill>
                <a:latin typeface="Times New Roman" panose="02020603050405020304" pitchFamily="18" charset="0"/>
                <a:sym typeface="+mn-ea"/>
              </a:rPr>
              <a:t>Search algorithm in BST</a:t>
            </a:r>
            <a:endParaRPr kumimoji="1" lang="en-US" altLang="zh-CN" dirty="0">
              <a:solidFill>
                <a:schemeClr val="bg1"/>
              </a:solidFill>
              <a:latin typeface="Times New Roman" panose="02020603050405020304" pitchFamily="18"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sym typeface="+mn-ea"/>
              </a:rPr>
              <a:t>8.3.2 </a:t>
            </a:r>
            <a:r>
              <a:rPr kumimoji="1" lang="en-US" altLang="zh-CN" dirty="0">
                <a:latin typeface="Times New Roman" panose="02020603050405020304" pitchFamily="18" charset="0"/>
                <a:sym typeface="+mn-ea"/>
              </a:rPr>
              <a:t>Search algorithm in BST</a:t>
            </a:r>
            <a:endParaRPr lang="zh-CN" altLang="en-US"/>
          </a:p>
        </p:txBody>
      </p:sp>
      <p:pic>
        <p:nvPicPr>
          <p:cNvPr id="151572" name="Picture 20"/>
          <p:cNvPicPr>
            <a:picLocks noGrp="1" noChangeAspect="1" noChangeArrowheads="1"/>
          </p:cNvPicPr>
          <p:nvPr>
            <p:ph sz="half" idx="2"/>
          </p:nvPr>
        </p:nvPicPr>
        <p:blipFill>
          <a:blip r:embed="rId1" cstate="print">
            <a:extLst>
              <a:ext uri="{28A0092B-C50C-407E-A947-70E740481C1C}">
                <a14:useLocalDpi xmlns:a14="http://schemas.microsoft.com/office/drawing/2010/main" val="0"/>
              </a:ext>
            </a:extLst>
          </a:blip>
          <a:srcRect b="-5684"/>
          <a:stretch>
            <a:fillRect/>
          </a:stretch>
        </p:blipFill>
        <p:spPr>
          <a:xfrm>
            <a:off x="1301354" y="2495630"/>
            <a:ext cx="3570684" cy="3121819"/>
          </a:xfrm>
          <a:noFill/>
        </p:spPr>
      </p:pic>
      <p:sp>
        <p:nvSpPr>
          <p:cNvPr id="151554" name="Rectangle 2"/>
          <p:cNvSpPr>
            <a:spLocks noGrp="1" noChangeArrowheads="1"/>
          </p:cNvSpPr>
          <p:nvPr/>
        </p:nvSpPr>
        <p:spPr>
          <a:xfrm>
            <a:off x="501650" y="1108075"/>
            <a:ext cx="2007235" cy="561340"/>
          </a:xfrm>
          <a:prstGeom prst="rect">
            <a:avLst/>
          </a:prstGeom>
          <a:noFill/>
          <a:ln>
            <a:noFill/>
          </a:ln>
          <a:effectLst/>
        </p:spPr>
        <p:txBody>
          <a:bodyPr vert="horz" wrap="square" lIns="91440" tIns="45720" rIns="91440" bIns="45720" numCol="1" anchor="ctr" anchorCtr="1" compatLnSpc="1"/>
          <a:lst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a:lstStyle>
          <a:p>
            <a:r>
              <a:rPr lang="en-US" altLang="zh-CN" sz="2800">
                <a:solidFill>
                  <a:schemeClr val="accent1">
                    <a:lumMod val="60000"/>
                    <a:lumOff val="40000"/>
                  </a:schemeClr>
                </a:solidFill>
              </a:rPr>
              <a:t>Example</a:t>
            </a:r>
            <a:endParaRPr lang="en-US" altLang="zh-CN" sz="2800">
              <a:solidFill>
                <a:schemeClr val="accent1">
                  <a:lumMod val="60000"/>
                  <a:lumOff val="40000"/>
                </a:schemeClr>
              </a:solidFill>
            </a:endParaRPr>
          </a:p>
        </p:txBody>
      </p:sp>
      <p:pic>
        <p:nvPicPr>
          <p:cNvPr id="151566" name="Picture 14"/>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b="-14999"/>
          <a:stretch>
            <a:fillRect/>
          </a:stretch>
        </p:blipFill>
        <p:spPr>
          <a:xfrm>
            <a:off x="4586288" y="2495630"/>
            <a:ext cx="3330179" cy="3395663"/>
          </a:xfrm>
          <a:noFill/>
        </p:spPr>
      </p:pic>
      <p:sp>
        <p:nvSpPr>
          <p:cNvPr id="151563" name="Oval 11"/>
          <p:cNvSpPr>
            <a:spLocks noChangeArrowheads="1"/>
          </p:cNvSpPr>
          <p:nvPr/>
        </p:nvSpPr>
        <p:spPr bwMode="auto">
          <a:xfrm>
            <a:off x="1851422" y="4600655"/>
            <a:ext cx="377428" cy="378619"/>
          </a:xfrm>
          <a:prstGeom prst="ellipse">
            <a:avLst/>
          </a:prstGeom>
          <a:noFill/>
          <a:ln w="38100">
            <a:solidFill>
              <a:srgbClr val="CC0000"/>
            </a:solidFill>
            <a:rou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1565" name="Oval 13"/>
          <p:cNvSpPr>
            <a:spLocks noChangeArrowheads="1"/>
          </p:cNvSpPr>
          <p:nvPr/>
        </p:nvSpPr>
        <p:spPr bwMode="auto">
          <a:xfrm>
            <a:off x="6933010" y="4962605"/>
            <a:ext cx="351234" cy="351234"/>
          </a:xfrm>
          <a:prstGeom prst="ellipse">
            <a:avLst/>
          </a:prstGeom>
          <a:solidFill>
            <a:srgbClr val="FFFF00">
              <a:alpha val="50000"/>
            </a:srgbClr>
          </a:solidFill>
          <a:ln w="38100">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5" name="任意多边形 4"/>
          <p:cNvSpPr/>
          <p:nvPr/>
        </p:nvSpPr>
        <p:spPr>
          <a:xfrm>
            <a:off x="3136106" y="2599214"/>
            <a:ext cx="1164431" cy="264319"/>
          </a:xfrm>
          <a:custGeom>
            <a:avLst/>
            <a:gdLst>
              <a:gd name="connsiteX0" fmla="*/ 0 w 1552575"/>
              <a:gd name="connsiteY0" fmla="*/ 0 h 352425"/>
              <a:gd name="connsiteX1" fmla="*/ 28575 w 1552575"/>
              <a:gd name="connsiteY1" fmla="*/ 295275 h 352425"/>
              <a:gd name="connsiteX2" fmla="*/ 1533525 w 1552575"/>
              <a:gd name="connsiteY2" fmla="*/ 352425 h 352425"/>
              <a:gd name="connsiteX3" fmla="*/ 1552575 w 1552575"/>
              <a:gd name="connsiteY3" fmla="*/ 9525 h 352425"/>
              <a:gd name="connsiteX4" fmla="*/ 0 w 1552575"/>
              <a:gd name="connsiteY4" fmla="*/ 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575" h="352425">
                <a:moveTo>
                  <a:pt x="0" y="0"/>
                </a:moveTo>
                <a:lnTo>
                  <a:pt x="28575" y="295275"/>
                </a:lnTo>
                <a:lnTo>
                  <a:pt x="1533525" y="352425"/>
                </a:lnTo>
                <a:lnTo>
                  <a:pt x="1552575" y="9525"/>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任意多边形 5"/>
          <p:cNvSpPr/>
          <p:nvPr/>
        </p:nvSpPr>
        <p:spPr>
          <a:xfrm>
            <a:off x="3093244" y="2842101"/>
            <a:ext cx="478631" cy="342900"/>
          </a:xfrm>
          <a:custGeom>
            <a:avLst/>
            <a:gdLst>
              <a:gd name="connsiteX0" fmla="*/ 0 w 638175"/>
              <a:gd name="connsiteY0" fmla="*/ 0 h 457200"/>
              <a:gd name="connsiteX1" fmla="*/ 0 w 638175"/>
              <a:gd name="connsiteY1" fmla="*/ 0 h 457200"/>
              <a:gd name="connsiteX2" fmla="*/ 19050 w 638175"/>
              <a:gd name="connsiteY2" fmla="*/ 114300 h 457200"/>
              <a:gd name="connsiteX3" fmla="*/ 38100 w 638175"/>
              <a:gd name="connsiteY3" fmla="*/ 142875 h 457200"/>
              <a:gd name="connsiteX4" fmla="*/ 66675 w 638175"/>
              <a:gd name="connsiteY4" fmla="*/ 152400 h 457200"/>
              <a:gd name="connsiteX5" fmla="*/ 85725 w 638175"/>
              <a:gd name="connsiteY5" fmla="*/ 180975 h 457200"/>
              <a:gd name="connsiteX6" fmla="*/ 142875 w 638175"/>
              <a:gd name="connsiteY6" fmla="*/ 219075 h 457200"/>
              <a:gd name="connsiteX7" fmla="*/ 161925 w 638175"/>
              <a:gd name="connsiteY7" fmla="*/ 247650 h 457200"/>
              <a:gd name="connsiteX8" fmla="*/ 219075 w 638175"/>
              <a:gd name="connsiteY8" fmla="*/ 285750 h 457200"/>
              <a:gd name="connsiteX9" fmla="*/ 276225 w 638175"/>
              <a:gd name="connsiteY9" fmla="*/ 314325 h 457200"/>
              <a:gd name="connsiteX10" fmla="*/ 304800 w 638175"/>
              <a:gd name="connsiteY10" fmla="*/ 342900 h 457200"/>
              <a:gd name="connsiteX11" fmla="*/ 371475 w 638175"/>
              <a:gd name="connsiteY11" fmla="*/ 381000 h 457200"/>
              <a:gd name="connsiteX12" fmla="*/ 400050 w 638175"/>
              <a:gd name="connsiteY12" fmla="*/ 390525 h 457200"/>
              <a:gd name="connsiteX13" fmla="*/ 428625 w 638175"/>
              <a:gd name="connsiteY13" fmla="*/ 409575 h 457200"/>
              <a:gd name="connsiteX14" fmla="*/ 485775 w 638175"/>
              <a:gd name="connsiteY14" fmla="*/ 428625 h 457200"/>
              <a:gd name="connsiteX15" fmla="*/ 514350 w 638175"/>
              <a:gd name="connsiteY15" fmla="*/ 438150 h 457200"/>
              <a:gd name="connsiteX16" fmla="*/ 542925 w 638175"/>
              <a:gd name="connsiteY16" fmla="*/ 447675 h 457200"/>
              <a:gd name="connsiteX17" fmla="*/ 571500 w 638175"/>
              <a:gd name="connsiteY17" fmla="*/ 457200 h 457200"/>
              <a:gd name="connsiteX18" fmla="*/ 638175 w 638175"/>
              <a:gd name="connsiteY18" fmla="*/ 438150 h 457200"/>
              <a:gd name="connsiteX19" fmla="*/ 638175 w 638175"/>
              <a:gd name="connsiteY19" fmla="*/ 438150 h 457200"/>
              <a:gd name="connsiteX20" fmla="*/ 590550 w 638175"/>
              <a:gd name="connsiteY20" fmla="*/ 295275 h 457200"/>
              <a:gd name="connsiteX21" fmla="*/ 533400 w 638175"/>
              <a:gd name="connsiteY21" fmla="*/ 257175 h 457200"/>
              <a:gd name="connsiteX22" fmla="*/ 504825 w 638175"/>
              <a:gd name="connsiteY22" fmla="*/ 238125 h 457200"/>
              <a:gd name="connsiteX23" fmla="*/ 485775 w 638175"/>
              <a:gd name="connsiteY23" fmla="*/ 209550 h 457200"/>
              <a:gd name="connsiteX24" fmla="*/ 447675 w 638175"/>
              <a:gd name="connsiteY24" fmla="*/ 190500 h 457200"/>
              <a:gd name="connsiteX25" fmla="*/ 390525 w 638175"/>
              <a:gd name="connsiteY25" fmla="*/ 152400 h 457200"/>
              <a:gd name="connsiteX26" fmla="*/ 333375 w 638175"/>
              <a:gd name="connsiteY26" fmla="*/ 104775 h 457200"/>
              <a:gd name="connsiteX27" fmla="*/ 304800 w 638175"/>
              <a:gd name="connsiteY27" fmla="*/ 95250 h 457200"/>
              <a:gd name="connsiteX28" fmla="*/ 219075 w 638175"/>
              <a:gd name="connsiteY28" fmla="*/ 38100 h 457200"/>
              <a:gd name="connsiteX29" fmla="*/ 161925 w 638175"/>
              <a:gd name="connsiteY29" fmla="*/ 19050 h 457200"/>
              <a:gd name="connsiteX30" fmla="*/ 133350 w 638175"/>
              <a:gd name="connsiteY30" fmla="*/ 9525 h 457200"/>
              <a:gd name="connsiteX31" fmla="*/ 104775 w 638175"/>
              <a:gd name="connsiteY31" fmla="*/ 0 h 457200"/>
              <a:gd name="connsiteX32" fmla="*/ 0 w 638175"/>
              <a:gd name="connsiteY32"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8175" h="457200">
                <a:moveTo>
                  <a:pt x="0" y="0"/>
                </a:moveTo>
                <a:lnTo>
                  <a:pt x="0" y="0"/>
                </a:lnTo>
                <a:cubicBezTo>
                  <a:pt x="3018" y="27162"/>
                  <a:pt x="3093" y="82385"/>
                  <a:pt x="19050" y="114300"/>
                </a:cubicBezTo>
                <a:cubicBezTo>
                  <a:pt x="24170" y="124539"/>
                  <a:pt x="29161" y="135724"/>
                  <a:pt x="38100" y="142875"/>
                </a:cubicBezTo>
                <a:cubicBezTo>
                  <a:pt x="45940" y="149147"/>
                  <a:pt x="57150" y="149225"/>
                  <a:pt x="66675" y="152400"/>
                </a:cubicBezTo>
                <a:cubicBezTo>
                  <a:pt x="73025" y="161925"/>
                  <a:pt x="77110" y="173437"/>
                  <a:pt x="85725" y="180975"/>
                </a:cubicBezTo>
                <a:cubicBezTo>
                  <a:pt x="102955" y="196052"/>
                  <a:pt x="142875" y="219075"/>
                  <a:pt x="142875" y="219075"/>
                </a:cubicBezTo>
                <a:cubicBezTo>
                  <a:pt x="149225" y="228600"/>
                  <a:pt x="153310" y="240112"/>
                  <a:pt x="161925" y="247650"/>
                </a:cubicBezTo>
                <a:cubicBezTo>
                  <a:pt x="179155" y="262727"/>
                  <a:pt x="200025" y="273050"/>
                  <a:pt x="219075" y="285750"/>
                </a:cubicBezTo>
                <a:cubicBezTo>
                  <a:pt x="256004" y="310369"/>
                  <a:pt x="236790" y="301180"/>
                  <a:pt x="276225" y="314325"/>
                </a:cubicBezTo>
                <a:cubicBezTo>
                  <a:pt x="285750" y="323850"/>
                  <a:pt x="294452" y="334276"/>
                  <a:pt x="304800" y="342900"/>
                </a:cubicBezTo>
                <a:cubicBezTo>
                  <a:pt x="321681" y="356967"/>
                  <a:pt x="352294" y="372780"/>
                  <a:pt x="371475" y="381000"/>
                </a:cubicBezTo>
                <a:cubicBezTo>
                  <a:pt x="380703" y="384955"/>
                  <a:pt x="390525" y="387350"/>
                  <a:pt x="400050" y="390525"/>
                </a:cubicBezTo>
                <a:cubicBezTo>
                  <a:pt x="409575" y="396875"/>
                  <a:pt x="418164" y="404926"/>
                  <a:pt x="428625" y="409575"/>
                </a:cubicBezTo>
                <a:cubicBezTo>
                  <a:pt x="446975" y="417730"/>
                  <a:pt x="466725" y="422275"/>
                  <a:pt x="485775" y="428625"/>
                </a:cubicBezTo>
                <a:lnTo>
                  <a:pt x="514350" y="438150"/>
                </a:lnTo>
                <a:lnTo>
                  <a:pt x="542925" y="447675"/>
                </a:lnTo>
                <a:lnTo>
                  <a:pt x="571500" y="457200"/>
                </a:lnTo>
                <a:cubicBezTo>
                  <a:pt x="626087" y="446283"/>
                  <a:pt x="604645" y="454915"/>
                  <a:pt x="638175" y="438150"/>
                </a:cubicBezTo>
                <a:lnTo>
                  <a:pt x="638175" y="438150"/>
                </a:lnTo>
                <a:cubicBezTo>
                  <a:pt x="626122" y="329670"/>
                  <a:pt x="644598" y="376347"/>
                  <a:pt x="590550" y="295275"/>
                </a:cubicBezTo>
                <a:cubicBezTo>
                  <a:pt x="577850" y="276225"/>
                  <a:pt x="552450" y="269875"/>
                  <a:pt x="533400" y="257175"/>
                </a:cubicBezTo>
                <a:lnTo>
                  <a:pt x="504825" y="238125"/>
                </a:lnTo>
                <a:cubicBezTo>
                  <a:pt x="498475" y="228600"/>
                  <a:pt x="494569" y="216879"/>
                  <a:pt x="485775" y="209550"/>
                </a:cubicBezTo>
                <a:cubicBezTo>
                  <a:pt x="474867" y="200460"/>
                  <a:pt x="459851" y="197805"/>
                  <a:pt x="447675" y="190500"/>
                </a:cubicBezTo>
                <a:cubicBezTo>
                  <a:pt x="428042" y="178720"/>
                  <a:pt x="406714" y="168589"/>
                  <a:pt x="390525" y="152400"/>
                </a:cubicBezTo>
                <a:cubicBezTo>
                  <a:pt x="369459" y="131334"/>
                  <a:pt x="359897" y="118036"/>
                  <a:pt x="333375" y="104775"/>
                </a:cubicBezTo>
                <a:cubicBezTo>
                  <a:pt x="324395" y="100285"/>
                  <a:pt x="314325" y="98425"/>
                  <a:pt x="304800" y="95250"/>
                </a:cubicBezTo>
                <a:lnTo>
                  <a:pt x="219075" y="38100"/>
                </a:lnTo>
                <a:cubicBezTo>
                  <a:pt x="202367" y="26961"/>
                  <a:pt x="180975" y="25400"/>
                  <a:pt x="161925" y="19050"/>
                </a:cubicBezTo>
                <a:lnTo>
                  <a:pt x="133350" y="9525"/>
                </a:lnTo>
                <a:cubicBezTo>
                  <a:pt x="123825" y="6350"/>
                  <a:pt x="114815" y="0"/>
                  <a:pt x="104775" y="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任意多边形 6"/>
          <p:cNvSpPr/>
          <p:nvPr/>
        </p:nvSpPr>
        <p:spPr>
          <a:xfrm>
            <a:off x="3835347" y="3490913"/>
            <a:ext cx="229447" cy="329882"/>
          </a:xfrm>
          <a:custGeom>
            <a:avLst/>
            <a:gdLst>
              <a:gd name="connsiteX0" fmla="*/ 48754 w 305929"/>
              <a:gd name="connsiteY0" fmla="*/ 1693 h 439843"/>
              <a:gd name="connsiteX1" fmla="*/ 48754 w 305929"/>
              <a:gd name="connsiteY1" fmla="*/ 1693 h 439843"/>
              <a:gd name="connsiteX2" fmla="*/ 1129 w 305929"/>
              <a:gd name="connsiteY2" fmla="*/ 68368 h 439843"/>
              <a:gd name="connsiteX3" fmla="*/ 20179 w 305929"/>
              <a:gd name="connsiteY3" fmla="*/ 163618 h 439843"/>
              <a:gd name="connsiteX4" fmla="*/ 29704 w 305929"/>
              <a:gd name="connsiteY4" fmla="*/ 201718 h 439843"/>
              <a:gd name="connsiteX5" fmla="*/ 58279 w 305929"/>
              <a:gd name="connsiteY5" fmla="*/ 220768 h 439843"/>
              <a:gd name="connsiteX6" fmla="*/ 105904 w 305929"/>
              <a:gd name="connsiteY6" fmla="*/ 287443 h 439843"/>
              <a:gd name="connsiteX7" fmla="*/ 172579 w 305929"/>
              <a:gd name="connsiteY7" fmla="*/ 373168 h 439843"/>
              <a:gd name="connsiteX8" fmla="*/ 182104 w 305929"/>
              <a:gd name="connsiteY8" fmla="*/ 401743 h 439843"/>
              <a:gd name="connsiteX9" fmla="*/ 201154 w 305929"/>
              <a:gd name="connsiteY9" fmla="*/ 430318 h 439843"/>
              <a:gd name="connsiteX10" fmla="*/ 248779 w 305929"/>
              <a:gd name="connsiteY10" fmla="*/ 439843 h 439843"/>
              <a:gd name="connsiteX11" fmla="*/ 267829 w 305929"/>
              <a:gd name="connsiteY11" fmla="*/ 354118 h 439843"/>
              <a:gd name="connsiteX12" fmla="*/ 305929 w 305929"/>
              <a:gd name="connsiteY12" fmla="*/ 296968 h 439843"/>
              <a:gd name="connsiteX13" fmla="*/ 296404 w 305929"/>
              <a:gd name="connsiteY13" fmla="*/ 258868 h 439843"/>
              <a:gd name="connsiteX14" fmla="*/ 239254 w 305929"/>
              <a:gd name="connsiteY14" fmla="*/ 192193 h 439843"/>
              <a:gd name="connsiteX15" fmla="*/ 210679 w 305929"/>
              <a:gd name="connsiteY15" fmla="*/ 182668 h 439843"/>
              <a:gd name="connsiteX16" fmla="*/ 144004 w 305929"/>
              <a:gd name="connsiteY16" fmla="*/ 115993 h 439843"/>
              <a:gd name="connsiteX17" fmla="*/ 124954 w 305929"/>
              <a:gd name="connsiteY17" fmla="*/ 58843 h 439843"/>
              <a:gd name="connsiteX18" fmla="*/ 96379 w 305929"/>
              <a:gd name="connsiteY18" fmla="*/ 1693 h 439843"/>
              <a:gd name="connsiteX19" fmla="*/ 48754 w 305929"/>
              <a:gd name="connsiteY19" fmla="*/ 1693 h 43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5929" h="439843">
                <a:moveTo>
                  <a:pt x="48754" y="1693"/>
                </a:moveTo>
                <a:lnTo>
                  <a:pt x="48754" y="1693"/>
                </a:lnTo>
                <a:cubicBezTo>
                  <a:pt x="32879" y="23918"/>
                  <a:pt x="5875" y="41471"/>
                  <a:pt x="1129" y="68368"/>
                </a:cubicBezTo>
                <a:cubicBezTo>
                  <a:pt x="-4498" y="100254"/>
                  <a:pt x="12326" y="132206"/>
                  <a:pt x="20179" y="163618"/>
                </a:cubicBezTo>
                <a:cubicBezTo>
                  <a:pt x="23354" y="176318"/>
                  <a:pt x="22442" y="190826"/>
                  <a:pt x="29704" y="201718"/>
                </a:cubicBezTo>
                <a:cubicBezTo>
                  <a:pt x="36054" y="211243"/>
                  <a:pt x="48754" y="214418"/>
                  <a:pt x="58279" y="220768"/>
                </a:cubicBezTo>
                <a:cubicBezTo>
                  <a:pt x="99635" y="303480"/>
                  <a:pt x="51843" y="217936"/>
                  <a:pt x="105904" y="287443"/>
                </a:cubicBezTo>
                <a:cubicBezTo>
                  <a:pt x="185655" y="389980"/>
                  <a:pt x="107705" y="308294"/>
                  <a:pt x="172579" y="373168"/>
                </a:cubicBezTo>
                <a:cubicBezTo>
                  <a:pt x="175754" y="382693"/>
                  <a:pt x="177614" y="392763"/>
                  <a:pt x="182104" y="401743"/>
                </a:cubicBezTo>
                <a:cubicBezTo>
                  <a:pt x="187224" y="411982"/>
                  <a:pt x="201154" y="430318"/>
                  <a:pt x="201154" y="430318"/>
                </a:cubicBezTo>
                <a:lnTo>
                  <a:pt x="248779" y="439843"/>
                </a:lnTo>
                <a:cubicBezTo>
                  <a:pt x="255129" y="411268"/>
                  <a:pt x="256958" y="381296"/>
                  <a:pt x="267829" y="354118"/>
                </a:cubicBezTo>
                <a:cubicBezTo>
                  <a:pt x="276332" y="332860"/>
                  <a:pt x="305929" y="296968"/>
                  <a:pt x="305929" y="296968"/>
                </a:cubicBezTo>
                <a:cubicBezTo>
                  <a:pt x="302754" y="284268"/>
                  <a:pt x="301561" y="270900"/>
                  <a:pt x="296404" y="258868"/>
                </a:cubicBezTo>
                <a:cubicBezTo>
                  <a:pt x="287520" y="238139"/>
                  <a:pt x="253868" y="202631"/>
                  <a:pt x="239254" y="192193"/>
                </a:cubicBezTo>
                <a:cubicBezTo>
                  <a:pt x="231084" y="186357"/>
                  <a:pt x="220204" y="185843"/>
                  <a:pt x="210679" y="182668"/>
                </a:cubicBezTo>
                <a:cubicBezTo>
                  <a:pt x="167010" y="117164"/>
                  <a:pt x="194299" y="132758"/>
                  <a:pt x="144004" y="115993"/>
                </a:cubicBezTo>
                <a:lnTo>
                  <a:pt x="124954" y="58843"/>
                </a:lnTo>
                <a:cubicBezTo>
                  <a:pt x="119006" y="41000"/>
                  <a:pt x="112792" y="14003"/>
                  <a:pt x="96379" y="1693"/>
                </a:cubicBezTo>
                <a:cubicBezTo>
                  <a:pt x="91299" y="-2117"/>
                  <a:pt x="56691" y="1693"/>
                  <a:pt x="48754" y="169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nvSpPr>
        <p:spPr>
          <a:xfrm>
            <a:off x="4186238" y="4212909"/>
            <a:ext cx="221456" cy="322262"/>
          </a:xfrm>
          <a:custGeom>
            <a:avLst/>
            <a:gdLst>
              <a:gd name="connsiteX0" fmla="*/ 47625 w 295275"/>
              <a:gd name="connsiteY0" fmla="*/ 1057 h 429682"/>
              <a:gd name="connsiteX1" fmla="*/ 47625 w 295275"/>
              <a:gd name="connsiteY1" fmla="*/ 1057 h 429682"/>
              <a:gd name="connsiteX2" fmla="*/ 9525 w 295275"/>
              <a:gd name="connsiteY2" fmla="*/ 77257 h 429682"/>
              <a:gd name="connsiteX3" fmla="*/ 0 w 295275"/>
              <a:gd name="connsiteY3" fmla="*/ 105832 h 429682"/>
              <a:gd name="connsiteX4" fmla="*/ 9525 w 295275"/>
              <a:gd name="connsiteY4" fmla="*/ 134407 h 429682"/>
              <a:gd name="connsiteX5" fmla="*/ 28575 w 295275"/>
              <a:gd name="connsiteY5" fmla="*/ 201082 h 429682"/>
              <a:gd name="connsiteX6" fmla="*/ 57150 w 295275"/>
              <a:gd name="connsiteY6" fmla="*/ 220132 h 429682"/>
              <a:gd name="connsiteX7" fmla="*/ 76200 w 295275"/>
              <a:gd name="connsiteY7" fmla="*/ 248707 h 429682"/>
              <a:gd name="connsiteX8" fmla="*/ 104775 w 295275"/>
              <a:gd name="connsiteY8" fmla="*/ 267757 h 429682"/>
              <a:gd name="connsiteX9" fmla="*/ 142875 w 295275"/>
              <a:gd name="connsiteY9" fmla="*/ 315382 h 429682"/>
              <a:gd name="connsiteX10" fmla="*/ 161925 w 295275"/>
              <a:gd name="connsiteY10" fmla="*/ 343957 h 429682"/>
              <a:gd name="connsiteX11" fmla="*/ 171450 w 295275"/>
              <a:gd name="connsiteY11" fmla="*/ 382057 h 429682"/>
              <a:gd name="connsiteX12" fmla="*/ 257175 w 295275"/>
              <a:gd name="connsiteY12" fmla="*/ 429682 h 429682"/>
              <a:gd name="connsiteX13" fmla="*/ 285750 w 295275"/>
              <a:gd name="connsiteY13" fmla="*/ 420157 h 429682"/>
              <a:gd name="connsiteX14" fmla="*/ 295275 w 295275"/>
              <a:gd name="connsiteY14" fmla="*/ 391582 h 429682"/>
              <a:gd name="connsiteX15" fmla="*/ 285750 w 295275"/>
              <a:gd name="connsiteY15" fmla="*/ 286807 h 429682"/>
              <a:gd name="connsiteX16" fmla="*/ 247650 w 295275"/>
              <a:gd name="connsiteY16" fmla="*/ 201082 h 429682"/>
              <a:gd name="connsiteX17" fmla="*/ 238125 w 295275"/>
              <a:gd name="connsiteY17" fmla="*/ 172507 h 429682"/>
              <a:gd name="connsiteX18" fmla="*/ 200025 w 295275"/>
              <a:gd name="connsiteY18" fmla="*/ 115357 h 429682"/>
              <a:gd name="connsiteX19" fmla="*/ 190500 w 295275"/>
              <a:gd name="connsiteY19" fmla="*/ 86782 h 429682"/>
              <a:gd name="connsiteX20" fmla="*/ 152400 w 295275"/>
              <a:gd name="connsiteY20" fmla="*/ 58207 h 429682"/>
              <a:gd name="connsiteX21" fmla="*/ 104775 w 295275"/>
              <a:gd name="connsiteY21" fmla="*/ 20107 h 429682"/>
              <a:gd name="connsiteX22" fmla="*/ 47625 w 295275"/>
              <a:gd name="connsiteY22" fmla="*/ 1057 h 429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5275" h="429682">
                <a:moveTo>
                  <a:pt x="47625" y="1057"/>
                </a:moveTo>
                <a:lnTo>
                  <a:pt x="47625" y="1057"/>
                </a:lnTo>
                <a:cubicBezTo>
                  <a:pt x="34925" y="26457"/>
                  <a:pt x="21276" y="51404"/>
                  <a:pt x="9525" y="77257"/>
                </a:cubicBezTo>
                <a:cubicBezTo>
                  <a:pt x="5370" y="86397"/>
                  <a:pt x="0" y="95792"/>
                  <a:pt x="0" y="105832"/>
                </a:cubicBezTo>
                <a:cubicBezTo>
                  <a:pt x="0" y="115872"/>
                  <a:pt x="6767" y="124753"/>
                  <a:pt x="9525" y="134407"/>
                </a:cubicBezTo>
                <a:cubicBezTo>
                  <a:pt x="10286" y="137069"/>
                  <a:pt x="23500" y="194738"/>
                  <a:pt x="28575" y="201082"/>
                </a:cubicBezTo>
                <a:cubicBezTo>
                  <a:pt x="35726" y="210021"/>
                  <a:pt x="47625" y="213782"/>
                  <a:pt x="57150" y="220132"/>
                </a:cubicBezTo>
                <a:cubicBezTo>
                  <a:pt x="63500" y="229657"/>
                  <a:pt x="68105" y="240612"/>
                  <a:pt x="76200" y="248707"/>
                </a:cubicBezTo>
                <a:cubicBezTo>
                  <a:pt x="84295" y="256802"/>
                  <a:pt x="97624" y="258818"/>
                  <a:pt x="104775" y="267757"/>
                </a:cubicBezTo>
                <a:cubicBezTo>
                  <a:pt x="157355" y="333482"/>
                  <a:pt x="60983" y="260787"/>
                  <a:pt x="142875" y="315382"/>
                </a:cubicBezTo>
                <a:cubicBezTo>
                  <a:pt x="149225" y="324907"/>
                  <a:pt x="157416" y="333435"/>
                  <a:pt x="161925" y="343957"/>
                </a:cubicBezTo>
                <a:cubicBezTo>
                  <a:pt x="167082" y="355989"/>
                  <a:pt x="162830" y="372205"/>
                  <a:pt x="171450" y="382057"/>
                </a:cubicBezTo>
                <a:cubicBezTo>
                  <a:pt x="198422" y="412882"/>
                  <a:pt x="223777" y="418549"/>
                  <a:pt x="257175" y="429682"/>
                </a:cubicBezTo>
                <a:cubicBezTo>
                  <a:pt x="266700" y="426507"/>
                  <a:pt x="278650" y="427257"/>
                  <a:pt x="285750" y="420157"/>
                </a:cubicBezTo>
                <a:cubicBezTo>
                  <a:pt x="292850" y="413057"/>
                  <a:pt x="295275" y="401622"/>
                  <a:pt x="295275" y="391582"/>
                </a:cubicBezTo>
                <a:cubicBezTo>
                  <a:pt x="295275" y="356513"/>
                  <a:pt x="291844" y="321342"/>
                  <a:pt x="285750" y="286807"/>
                </a:cubicBezTo>
                <a:cubicBezTo>
                  <a:pt x="272346" y="210852"/>
                  <a:pt x="272556" y="250894"/>
                  <a:pt x="247650" y="201082"/>
                </a:cubicBezTo>
                <a:cubicBezTo>
                  <a:pt x="243160" y="192102"/>
                  <a:pt x="243001" y="181284"/>
                  <a:pt x="238125" y="172507"/>
                </a:cubicBezTo>
                <a:cubicBezTo>
                  <a:pt x="227006" y="152493"/>
                  <a:pt x="207265" y="137077"/>
                  <a:pt x="200025" y="115357"/>
                </a:cubicBezTo>
                <a:cubicBezTo>
                  <a:pt x="196850" y="105832"/>
                  <a:pt x="196928" y="94495"/>
                  <a:pt x="190500" y="86782"/>
                </a:cubicBezTo>
                <a:cubicBezTo>
                  <a:pt x="180337" y="74586"/>
                  <a:pt x="163625" y="69432"/>
                  <a:pt x="152400" y="58207"/>
                </a:cubicBezTo>
                <a:cubicBezTo>
                  <a:pt x="109316" y="15123"/>
                  <a:pt x="160405" y="38650"/>
                  <a:pt x="104775" y="20107"/>
                </a:cubicBezTo>
                <a:cubicBezTo>
                  <a:pt x="63083" y="-11162"/>
                  <a:pt x="57150" y="4232"/>
                  <a:pt x="47625" y="10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nvSpPr>
        <p:spPr>
          <a:xfrm>
            <a:off x="4029075" y="4913789"/>
            <a:ext cx="228600" cy="371475"/>
          </a:xfrm>
          <a:custGeom>
            <a:avLst/>
            <a:gdLst>
              <a:gd name="connsiteX0" fmla="*/ 190500 w 304800"/>
              <a:gd name="connsiteY0" fmla="*/ 0 h 495300"/>
              <a:gd name="connsiteX1" fmla="*/ 190500 w 304800"/>
              <a:gd name="connsiteY1" fmla="*/ 0 h 495300"/>
              <a:gd name="connsiteX2" fmla="*/ 95250 w 304800"/>
              <a:gd name="connsiteY2" fmla="*/ 76200 h 495300"/>
              <a:gd name="connsiteX3" fmla="*/ 66675 w 304800"/>
              <a:gd name="connsiteY3" fmla="*/ 142875 h 495300"/>
              <a:gd name="connsiteX4" fmla="*/ 28575 w 304800"/>
              <a:gd name="connsiteY4" fmla="*/ 228600 h 495300"/>
              <a:gd name="connsiteX5" fmla="*/ 0 w 304800"/>
              <a:gd name="connsiteY5" fmla="*/ 342900 h 495300"/>
              <a:gd name="connsiteX6" fmla="*/ 19050 w 304800"/>
              <a:gd name="connsiteY6" fmla="*/ 409575 h 495300"/>
              <a:gd name="connsiteX7" fmla="*/ 47625 w 304800"/>
              <a:gd name="connsiteY7" fmla="*/ 428625 h 495300"/>
              <a:gd name="connsiteX8" fmla="*/ 114300 w 304800"/>
              <a:gd name="connsiteY8" fmla="*/ 485775 h 495300"/>
              <a:gd name="connsiteX9" fmla="*/ 142875 w 304800"/>
              <a:gd name="connsiteY9" fmla="*/ 495300 h 495300"/>
              <a:gd name="connsiteX10" fmla="*/ 200025 w 304800"/>
              <a:gd name="connsiteY10" fmla="*/ 447675 h 495300"/>
              <a:gd name="connsiteX11" fmla="*/ 209550 w 304800"/>
              <a:gd name="connsiteY11" fmla="*/ 409575 h 495300"/>
              <a:gd name="connsiteX12" fmla="*/ 238125 w 304800"/>
              <a:gd name="connsiteY12" fmla="*/ 352425 h 495300"/>
              <a:gd name="connsiteX13" fmla="*/ 247650 w 304800"/>
              <a:gd name="connsiteY13" fmla="*/ 314325 h 495300"/>
              <a:gd name="connsiteX14" fmla="*/ 266700 w 304800"/>
              <a:gd name="connsiteY14" fmla="*/ 190500 h 495300"/>
              <a:gd name="connsiteX15" fmla="*/ 295275 w 304800"/>
              <a:gd name="connsiteY15" fmla="*/ 133350 h 495300"/>
              <a:gd name="connsiteX16" fmla="*/ 304800 w 304800"/>
              <a:gd name="connsiteY16" fmla="*/ 104775 h 495300"/>
              <a:gd name="connsiteX17" fmla="*/ 295275 w 304800"/>
              <a:gd name="connsiteY17" fmla="*/ 57150 h 495300"/>
              <a:gd name="connsiteX18" fmla="*/ 190500 w 304800"/>
              <a:gd name="connsiteY18" fmla="*/ 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800" h="495300">
                <a:moveTo>
                  <a:pt x="190500" y="0"/>
                </a:moveTo>
                <a:lnTo>
                  <a:pt x="190500" y="0"/>
                </a:lnTo>
                <a:cubicBezTo>
                  <a:pt x="158750" y="25400"/>
                  <a:pt x="124001" y="47449"/>
                  <a:pt x="95250" y="76200"/>
                </a:cubicBezTo>
                <a:cubicBezTo>
                  <a:pt x="75430" y="96020"/>
                  <a:pt x="78060" y="120105"/>
                  <a:pt x="66675" y="142875"/>
                </a:cubicBezTo>
                <a:cubicBezTo>
                  <a:pt x="21392" y="233441"/>
                  <a:pt x="77722" y="81158"/>
                  <a:pt x="28575" y="228600"/>
                </a:cubicBezTo>
                <a:cubicBezTo>
                  <a:pt x="16156" y="265857"/>
                  <a:pt x="0" y="342900"/>
                  <a:pt x="0" y="342900"/>
                </a:cubicBezTo>
                <a:cubicBezTo>
                  <a:pt x="622" y="345389"/>
                  <a:pt x="14081" y="403364"/>
                  <a:pt x="19050" y="409575"/>
                </a:cubicBezTo>
                <a:cubicBezTo>
                  <a:pt x="26201" y="418514"/>
                  <a:pt x="38933" y="421175"/>
                  <a:pt x="47625" y="428625"/>
                </a:cubicBezTo>
                <a:cubicBezTo>
                  <a:pt x="80434" y="456747"/>
                  <a:pt x="79312" y="468281"/>
                  <a:pt x="114300" y="485775"/>
                </a:cubicBezTo>
                <a:cubicBezTo>
                  <a:pt x="123280" y="490265"/>
                  <a:pt x="133350" y="492125"/>
                  <a:pt x="142875" y="495300"/>
                </a:cubicBezTo>
                <a:cubicBezTo>
                  <a:pt x="161083" y="483161"/>
                  <a:pt x="188742" y="467420"/>
                  <a:pt x="200025" y="447675"/>
                </a:cubicBezTo>
                <a:cubicBezTo>
                  <a:pt x="206520" y="436309"/>
                  <a:pt x="205954" y="422162"/>
                  <a:pt x="209550" y="409575"/>
                </a:cubicBezTo>
                <a:cubicBezTo>
                  <a:pt x="219409" y="375069"/>
                  <a:pt x="217253" y="383734"/>
                  <a:pt x="238125" y="352425"/>
                </a:cubicBezTo>
                <a:cubicBezTo>
                  <a:pt x="241300" y="339725"/>
                  <a:pt x="245308" y="327205"/>
                  <a:pt x="247650" y="314325"/>
                </a:cubicBezTo>
                <a:cubicBezTo>
                  <a:pt x="255246" y="272548"/>
                  <a:pt x="257493" y="231931"/>
                  <a:pt x="266700" y="190500"/>
                </a:cubicBezTo>
                <a:cubicBezTo>
                  <a:pt x="276277" y="147406"/>
                  <a:pt x="274724" y="174451"/>
                  <a:pt x="295275" y="133350"/>
                </a:cubicBezTo>
                <a:cubicBezTo>
                  <a:pt x="299765" y="124370"/>
                  <a:pt x="301625" y="114300"/>
                  <a:pt x="304800" y="104775"/>
                </a:cubicBezTo>
                <a:cubicBezTo>
                  <a:pt x="301625" y="88900"/>
                  <a:pt x="306723" y="68598"/>
                  <a:pt x="295275" y="57150"/>
                </a:cubicBezTo>
                <a:cubicBezTo>
                  <a:pt x="274217" y="36092"/>
                  <a:pt x="207963" y="9525"/>
                  <a:pt x="1905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1564" name="Rectangle 12"/>
          <p:cNvSpPr>
            <a:spLocks noChangeArrowheads="1"/>
          </p:cNvSpPr>
          <p:nvPr/>
        </p:nvSpPr>
        <p:spPr bwMode="auto">
          <a:xfrm>
            <a:off x="6931557" y="4948947"/>
            <a:ext cx="417855" cy="364892"/>
          </a:xfrm>
          <a:prstGeom prst="rect">
            <a:avLst/>
          </a:prstGeom>
          <a:noFill/>
          <a:ln w="381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CC0000"/>
                </a:solidFill>
              </a:rPr>
              <a:t>F</a:t>
            </a:r>
            <a:endParaRPr lang="en-US" altLang="zh-CN" sz="1350" b="1" dirty="0">
              <a:solidFill>
                <a:srgbClr val="CC0000"/>
              </a:solidFill>
            </a:endParaRPr>
          </a:p>
        </p:txBody>
      </p:sp>
      <p:sp>
        <p:nvSpPr>
          <p:cNvPr id="10" name="任意多边形 9"/>
          <p:cNvSpPr/>
          <p:nvPr/>
        </p:nvSpPr>
        <p:spPr>
          <a:xfrm>
            <a:off x="2157024" y="2863011"/>
            <a:ext cx="479020" cy="343422"/>
          </a:xfrm>
          <a:custGeom>
            <a:avLst/>
            <a:gdLst>
              <a:gd name="connsiteX0" fmla="*/ 10043 w 638693"/>
              <a:gd name="connsiteY0" fmla="*/ 315021 h 457896"/>
              <a:gd name="connsiteX1" fmla="*/ 10043 w 638693"/>
              <a:gd name="connsiteY1" fmla="*/ 315021 h 457896"/>
              <a:gd name="connsiteX2" fmla="*/ 38618 w 638693"/>
              <a:gd name="connsiteY2" fmla="*/ 238821 h 457896"/>
              <a:gd name="connsiteX3" fmla="*/ 105293 w 638693"/>
              <a:gd name="connsiteY3" fmla="*/ 191196 h 457896"/>
              <a:gd name="connsiteX4" fmla="*/ 133868 w 638693"/>
              <a:gd name="connsiteY4" fmla="*/ 172146 h 457896"/>
              <a:gd name="connsiteX5" fmla="*/ 191018 w 638693"/>
              <a:gd name="connsiteY5" fmla="*/ 153096 h 457896"/>
              <a:gd name="connsiteX6" fmla="*/ 229118 w 638693"/>
              <a:gd name="connsiteY6" fmla="*/ 134046 h 457896"/>
              <a:gd name="connsiteX7" fmla="*/ 286268 w 638693"/>
              <a:gd name="connsiteY7" fmla="*/ 114996 h 457896"/>
              <a:gd name="connsiteX8" fmla="*/ 314843 w 638693"/>
              <a:gd name="connsiteY8" fmla="*/ 95946 h 457896"/>
              <a:gd name="connsiteX9" fmla="*/ 381518 w 638693"/>
              <a:gd name="connsiteY9" fmla="*/ 86421 h 457896"/>
              <a:gd name="connsiteX10" fmla="*/ 410093 w 638693"/>
              <a:gd name="connsiteY10" fmla="*/ 76896 h 457896"/>
              <a:gd name="connsiteX11" fmla="*/ 438668 w 638693"/>
              <a:gd name="connsiteY11" fmla="*/ 57846 h 457896"/>
              <a:gd name="connsiteX12" fmla="*/ 486293 w 638693"/>
              <a:gd name="connsiteY12" fmla="*/ 48321 h 457896"/>
              <a:gd name="connsiteX13" fmla="*/ 552968 w 638693"/>
              <a:gd name="connsiteY13" fmla="*/ 29271 h 457896"/>
              <a:gd name="connsiteX14" fmla="*/ 610118 w 638693"/>
              <a:gd name="connsiteY14" fmla="*/ 696 h 457896"/>
              <a:gd name="connsiteX15" fmla="*/ 638693 w 638693"/>
              <a:gd name="connsiteY15" fmla="*/ 696 h 457896"/>
              <a:gd name="connsiteX16" fmla="*/ 638693 w 638693"/>
              <a:gd name="connsiteY16" fmla="*/ 696 h 457896"/>
              <a:gd name="connsiteX17" fmla="*/ 600593 w 638693"/>
              <a:gd name="connsiteY17" fmla="*/ 105471 h 457896"/>
              <a:gd name="connsiteX18" fmla="*/ 562493 w 638693"/>
              <a:gd name="connsiteY18" fmla="*/ 162621 h 457896"/>
              <a:gd name="connsiteX19" fmla="*/ 505343 w 638693"/>
              <a:gd name="connsiteY19" fmla="*/ 181671 h 457896"/>
              <a:gd name="connsiteX20" fmla="*/ 476768 w 638693"/>
              <a:gd name="connsiteY20" fmla="*/ 200721 h 457896"/>
              <a:gd name="connsiteX21" fmla="*/ 419618 w 638693"/>
              <a:gd name="connsiteY21" fmla="*/ 219771 h 457896"/>
              <a:gd name="connsiteX22" fmla="*/ 400568 w 638693"/>
              <a:gd name="connsiteY22" fmla="*/ 248346 h 457896"/>
              <a:gd name="connsiteX23" fmla="*/ 343418 w 638693"/>
              <a:gd name="connsiteY23" fmla="*/ 267396 h 457896"/>
              <a:gd name="connsiteX24" fmla="*/ 305318 w 638693"/>
              <a:gd name="connsiteY24" fmla="*/ 315021 h 457896"/>
              <a:gd name="connsiteX25" fmla="*/ 248168 w 638693"/>
              <a:gd name="connsiteY25" fmla="*/ 343596 h 457896"/>
              <a:gd name="connsiteX26" fmla="*/ 238643 w 638693"/>
              <a:gd name="connsiteY26" fmla="*/ 372171 h 457896"/>
              <a:gd name="connsiteX27" fmla="*/ 162443 w 638693"/>
              <a:gd name="connsiteY27" fmla="*/ 438846 h 457896"/>
              <a:gd name="connsiteX28" fmla="*/ 133868 w 638693"/>
              <a:gd name="connsiteY28" fmla="*/ 457896 h 457896"/>
              <a:gd name="connsiteX29" fmla="*/ 19568 w 638693"/>
              <a:gd name="connsiteY29" fmla="*/ 448371 h 457896"/>
              <a:gd name="connsiteX30" fmla="*/ 518 w 638693"/>
              <a:gd name="connsiteY30" fmla="*/ 419796 h 457896"/>
              <a:gd name="connsiteX31" fmla="*/ 10043 w 638693"/>
              <a:gd name="connsiteY31" fmla="*/ 324546 h 457896"/>
              <a:gd name="connsiteX32" fmla="*/ 10043 w 638693"/>
              <a:gd name="connsiteY32" fmla="*/ 315021 h 45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8693" h="457896">
                <a:moveTo>
                  <a:pt x="10043" y="315021"/>
                </a:moveTo>
                <a:lnTo>
                  <a:pt x="10043" y="315021"/>
                </a:lnTo>
                <a:cubicBezTo>
                  <a:pt x="19568" y="289621"/>
                  <a:pt x="25628" y="262636"/>
                  <a:pt x="38618" y="238821"/>
                </a:cubicBezTo>
                <a:cubicBezTo>
                  <a:pt x="54426" y="209841"/>
                  <a:pt x="79186" y="206114"/>
                  <a:pt x="105293" y="191196"/>
                </a:cubicBezTo>
                <a:cubicBezTo>
                  <a:pt x="115232" y="185516"/>
                  <a:pt x="123407" y="176795"/>
                  <a:pt x="133868" y="172146"/>
                </a:cubicBezTo>
                <a:cubicBezTo>
                  <a:pt x="152218" y="163991"/>
                  <a:pt x="173057" y="162076"/>
                  <a:pt x="191018" y="153096"/>
                </a:cubicBezTo>
                <a:cubicBezTo>
                  <a:pt x="203718" y="146746"/>
                  <a:pt x="215935" y="139319"/>
                  <a:pt x="229118" y="134046"/>
                </a:cubicBezTo>
                <a:cubicBezTo>
                  <a:pt x="247762" y="126588"/>
                  <a:pt x="286268" y="114996"/>
                  <a:pt x="286268" y="114996"/>
                </a:cubicBezTo>
                <a:cubicBezTo>
                  <a:pt x="295793" y="108646"/>
                  <a:pt x="303878" y="99235"/>
                  <a:pt x="314843" y="95946"/>
                </a:cubicBezTo>
                <a:cubicBezTo>
                  <a:pt x="336347" y="89495"/>
                  <a:pt x="359503" y="90824"/>
                  <a:pt x="381518" y="86421"/>
                </a:cubicBezTo>
                <a:cubicBezTo>
                  <a:pt x="391363" y="84452"/>
                  <a:pt x="400568" y="80071"/>
                  <a:pt x="410093" y="76896"/>
                </a:cubicBezTo>
                <a:cubicBezTo>
                  <a:pt x="419618" y="70546"/>
                  <a:pt x="427949" y="61866"/>
                  <a:pt x="438668" y="57846"/>
                </a:cubicBezTo>
                <a:cubicBezTo>
                  <a:pt x="453827" y="52162"/>
                  <a:pt x="470489" y="51833"/>
                  <a:pt x="486293" y="48321"/>
                </a:cubicBezTo>
                <a:cubicBezTo>
                  <a:pt x="522173" y="40348"/>
                  <a:pt x="521147" y="39878"/>
                  <a:pt x="552968" y="29271"/>
                </a:cubicBezTo>
                <a:cubicBezTo>
                  <a:pt x="574909" y="14643"/>
                  <a:pt x="583828" y="5078"/>
                  <a:pt x="610118" y="696"/>
                </a:cubicBezTo>
                <a:cubicBezTo>
                  <a:pt x="619513" y="-870"/>
                  <a:pt x="629168" y="696"/>
                  <a:pt x="638693" y="696"/>
                </a:cubicBezTo>
                <a:lnTo>
                  <a:pt x="638693" y="696"/>
                </a:lnTo>
                <a:cubicBezTo>
                  <a:pt x="619913" y="169715"/>
                  <a:pt x="656272" y="41838"/>
                  <a:pt x="600593" y="105471"/>
                </a:cubicBezTo>
                <a:cubicBezTo>
                  <a:pt x="585516" y="122701"/>
                  <a:pt x="584213" y="155381"/>
                  <a:pt x="562493" y="162621"/>
                </a:cubicBezTo>
                <a:lnTo>
                  <a:pt x="505343" y="181671"/>
                </a:lnTo>
                <a:cubicBezTo>
                  <a:pt x="495818" y="188021"/>
                  <a:pt x="487229" y="196072"/>
                  <a:pt x="476768" y="200721"/>
                </a:cubicBezTo>
                <a:cubicBezTo>
                  <a:pt x="458418" y="208876"/>
                  <a:pt x="419618" y="219771"/>
                  <a:pt x="419618" y="219771"/>
                </a:cubicBezTo>
                <a:cubicBezTo>
                  <a:pt x="413268" y="229296"/>
                  <a:pt x="410276" y="242279"/>
                  <a:pt x="400568" y="248346"/>
                </a:cubicBezTo>
                <a:cubicBezTo>
                  <a:pt x="383540" y="258989"/>
                  <a:pt x="343418" y="267396"/>
                  <a:pt x="343418" y="267396"/>
                </a:cubicBezTo>
                <a:cubicBezTo>
                  <a:pt x="261526" y="321991"/>
                  <a:pt x="357898" y="249296"/>
                  <a:pt x="305318" y="315021"/>
                </a:cubicBezTo>
                <a:cubicBezTo>
                  <a:pt x="291889" y="331807"/>
                  <a:pt x="266992" y="337321"/>
                  <a:pt x="248168" y="343596"/>
                </a:cubicBezTo>
                <a:cubicBezTo>
                  <a:pt x="244993" y="353121"/>
                  <a:pt x="243133" y="363191"/>
                  <a:pt x="238643" y="372171"/>
                </a:cubicBezTo>
                <a:cubicBezTo>
                  <a:pt x="218799" y="411859"/>
                  <a:pt x="205306" y="410271"/>
                  <a:pt x="162443" y="438846"/>
                </a:cubicBezTo>
                <a:lnTo>
                  <a:pt x="133868" y="457896"/>
                </a:lnTo>
                <a:cubicBezTo>
                  <a:pt x="95768" y="454721"/>
                  <a:pt x="56329" y="458874"/>
                  <a:pt x="19568" y="448371"/>
                </a:cubicBezTo>
                <a:cubicBezTo>
                  <a:pt x="8561" y="445226"/>
                  <a:pt x="1396" y="431210"/>
                  <a:pt x="518" y="419796"/>
                </a:cubicBezTo>
                <a:cubicBezTo>
                  <a:pt x="-1929" y="387982"/>
                  <a:pt x="4797" y="356020"/>
                  <a:pt x="10043" y="324546"/>
                </a:cubicBezTo>
                <a:cubicBezTo>
                  <a:pt x="11210" y="317543"/>
                  <a:pt x="10043" y="316608"/>
                  <a:pt x="10043" y="31502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nvSpPr>
        <p:spPr>
          <a:xfrm>
            <a:off x="2214563" y="3512289"/>
            <a:ext cx="185738" cy="341170"/>
          </a:xfrm>
          <a:custGeom>
            <a:avLst/>
            <a:gdLst>
              <a:gd name="connsiteX0" fmla="*/ 0 w 247650"/>
              <a:gd name="connsiteY0" fmla="*/ 1767 h 454893"/>
              <a:gd name="connsiteX1" fmla="*/ 0 w 247650"/>
              <a:gd name="connsiteY1" fmla="*/ 1767 h 454893"/>
              <a:gd name="connsiteX2" fmla="*/ 9525 w 247650"/>
              <a:gd name="connsiteY2" fmla="*/ 135117 h 454893"/>
              <a:gd name="connsiteX3" fmla="*/ 19050 w 247650"/>
              <a:gd name="connsiteY3" fmla="*/ 163692 h 454893"/>
              <a:gd name="connsiteX4" fmla="*/ 28575 w 247650"/>
              <a:gd name="connsiteY4" fmla="*/ 211317 h 454893"/>
              <a:gd name="connsiteX5" fmla="*/ 38100 w 247650"/>
              <a:gd name="connsiteY5" fmla="*/ 287517 h 454893"/>
              <a:gd name="connsiteX6" fmla="*/ 66675 w 247650"/>
              <a:gd name="connsiteY6" fmla="*/ 306567 h 454893"/>
              <a:gd name="connsiteX7" fmla="*/ 104775 w 247650"/>
              <a:gd name="connsiteY7" fmla="*/ 363717 h 454893"/>
              <a:gd name="connsiteX8" fmla="*/ 152400 w 247650"/>
              <a:gd name="connsiteY8" fmla="*/ 430392 h 454893"/>
              <a:gd name="connsiteX9" fmla="*/ 238125 w 247650"/>
              <a:gd name="connsiteY9" fmla="*/ 439917 h 454893"/>
              <a:gd name="connsiteX10" fmla="*/ 247650 w 247650"/>
              <a:gd name="connsiteY10" fmla="*/ 401817 h 454893"/>
              <a:gd name="connsiteX11" fmla="*/ 238125 w 247650"/>
              <a:gd name="connsiteY11" fmla="*/ 287517 h 454893"/>
              <a:gd name="connsiteX12" fmla="*/ 238125 w 247650"/>
              <a:gd name="connsiteY12" fmla="*/ 201792 h 454893"/>
              <a:gd name="connsiteX13" fmla="*/ 209550 w 247650"/>
              <a:gd name="connsiteY13" fmla="*/ 116067 h 454893"/>
              <a:gd name="connsiteX14" fmla="*/ 190500 w 247650"/>
              <a:gd name="connsiteY14" fmla="*/ 77967 h 454893"/>
              <a:gd name="connsiteX15" fmla="*/ 161925 w 247650"/>
              <a:gd name="connsiteY15" fmla="*/ 68442 h 454893"/>
              <a:gd name="connsiteX16" fmla="*/ 104775 w 247650"/>
              <a:gd name="connsiteY16" fmla="*/ 20817 h 454893"/>
              <a:gd name="connsiteX17" fmla="*/ 66675 w 247650"/>
              <a:gd name="connsiteY17" fmla="*/ 1767 h 454893"/>
              <a:gd name="connsiteX18" fmla="*/ 0 w 247650"/>
              <a:gd name="connsiteY18" fmla="*/ 1767 h 4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7650" h="454893">
                <a:moveTo>
                  <a:pt x="0" y="1767"/>
                </a:moveTo>
                <a:lnTo>
                  <a:pt x="0" y="1767"/>
                </a:lnTo>
                <a:cubicBezTo>
                  <a:pt x="3175" y="46217"/>
                  <a:pt x="4318" y="90859"/>
                  <a:pt x="9525" y="135117"/>
                </a:cubicBezTo>
                <a:cubicBezTo>
                  <a:pt x="10698" y="145088"/>
                  <a:pt x="16615" y="153952"/>
                  <a:pt x="19050" y="163692"/>
                </a:cubicBezTo>
                <a:cubicBezTo>
                  <a:pt x="22977" y="179398"/>
                  <a:pt x="26113" y="195316"/>
                  <a:pt x="28575" y="211317"/>
                </a:cubicBezTo>
                <a:cubicBezTo>
                  <a:pt x="32467" y="236617"/>
                  <a:pt x="28593" y="263750"/>
                  <a:pt x="38100" y="287517"/>
                </a:cubicBezTo>
                <a:cubicBezTo>
                  <a:pt x="42352" y="298146"/>
                  <a:pt x="57150" y="300217"/>
                  <a:pt x="66675" y="306567"/>
                </a:cubicBezTo>
                <a:lnTo>
                  <a:pt x="104775" y="363717"/>
                </a:lnTo>
                <a:cubicBezTo>
                  <a:pt x="155575" y="439917"/>
                  <a:pt x="90488" y="409755"/>
                  <a:pt x="152400" y="430392"/>
                </a:cubicBezTo>
                <a:cubicBezTo>
                  <a:pt x="180957" y="449430"/>
                  <a:pt x="196824" y="469418"/>
                  <a:pt x="238125" y="439917"/>
                </a:cubicBezTo>
                <a:cubicBezTo>
                  <a:pt x="248777" y="432308"/>
                  <a:pt x="244475" y="414517"/>
                  <a:pt x="247650" y="401817"/>
                </a:cubicBezTo>
                <a:cubicBezTo>
                  <a:pt x="244475" y="363717"/>
                  <a:pt x="242592" y="325487"/>
                  <a:pt x="238125" y="287517"/>
                </a:cubicBezTo>
                <a:cubicBezTo>
                  <a:pt x="229419" y="213512"/>
                  <a:pt x="221936" y="266549"/>
                  <a:pt x="238125" y="201792"/>
                </a:cubicBezTo>
                <a:cubicBezTo>
                  <a:pt x="223764" y="115628"/>
                  <a:pt x="241064" y="171216"/>
                  <a:pt x="209550" y="116067"/>
                </a:cubicBezTo>
                <a:cubicBezTo>
                  <a:pt x="202505" y="103739"/>
                  <a:pt x="200540" y="88007"/>
                  <a:pt x="190500" y="77967"/>
                </a:cubicBezTo>
                <a:cubicBezTo>
                  <a:pt x="183400" y="70867"/>
                  <a:pt x="171450" y="71617"/>
                  <a:pt x="161925" y="68442"/>
                </a:cubicBezTo>
                <a:cubicBezTo>
                  <a:pt x="135658" y="42175"/>
                  <a:pt x="135717" y="38498"/>
                  <a:pt x="104775" y="20817"/>
                </a:cubicBezTo>
                <a:cubicBezTo>
                  <a:pt x="92447" y="13772"/>
                  <a:pt x="80645" y="4307"/>
                  <a:pt x="66675" y="1767"/>
                </a:cubicBezTo>
                <a:cubicBezTo>
                  <a:pt x="44808" y="-2209"/>
                  <a:pt x="11112" y="1767"/>
                  <a:pt x="0" y="1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nvSpPr>
        <p:spPr>
          <a:xfrm>
            <a:off x="2040862" y="4235133"/>
            <a:ext cx="171450" cy="312453"/>
          </a:xfrm>
          <a:custGeom>
            <a:avLst/>
            <a:gdLst>
              <a:gd name="connsiteX0" fmla="*/ 133350 w 228600"/>
              <a:gd name="connsiteY0" fmla="*/ 0 h 416604"/>
              <a:gd name="connsiteX1" fmla="*/ 133350 w 228600"/>
              <a:gd name="connsiteY1" fmla="*/ 0 h 416604"/>
              <a:gd name="connsiteX2" fmla="*/ 66675 w 228600"/>
              <a:gd name="connsiteY2" fmla="*/ 47625 h 416604"/>
              <a:gd name="connsiteX3" fmla="*/ 47625 w 228600"/>
              <a:gd name="connsiteY3" fmla="*/ 76200 h 416604"/>
              <a:gd name="connsiteX4" fmla="*/ 19050 w 228600"/>
              <a:gd name="connsiteY4" fmla="*/ 190500 h 416604"/>
              <a:gd name="connsiteX5" fmla="*/ 9525 w 228600"/>
              <a:gd name="connsiteY5" fmla="*/ 276225 h 416604"/>
              <a:gd name="connsiteX6" fmla="*/ 0 w 228600"/>
              <a:gd name="connsiteY6" fmla="*/ 371475 h 416604"/>
              <a:gd name="connsiteX7" fmla="*/ 66675 w 228600"/>
              <a:gd name="connsiteY7" fmla="*/ 400050 h 416604"/>
              <a:gd name="connsiteX8" fmla="*/ 95250 w 228600"/>
              <a:gd name="connsiteY8" fmla="*/ 342900 h 416604"/>
              <a:gd name="connsiteX9" fmla="*/ 133350 w 228600"/>
              <a:gd name="connsiteY9" fmla="*/ 285750 h 416604"/>
              <a:gd name="connsiteX10" fmla="*/ 142875 w 228600"/>
              <a:gd name="connsiteY10" fmla="*/ 247650 h 416604"/>
              <a:gd name="connsiteX11" fmla="*/ 190500 w 228600"/>
              <a:gd name="connsiteY11" fmla="*/ 161925 h 416604"/>
              <a:gd name="connsiteX12" fmla="*/ 228600 w 228600"/>
              <a:gd name="connsiteY12" fmla="*/ 152400 h 416604"/>
              <a:gd name="connsiteX13" fmla="*/ 219075 w 228600"/>
              <a:gd name="connsiteY13" fmla="*/ 47625 h 416604"/>
              <a:gd name="connsiteX14" fmla="*/ 209550 w 228600"/>
              <a:gd name="connsiteY14" fmla="*/ 19050 h 416604"/>
              <a:gd name="connsiteX15" fmla="*/ 133350 w 228600"/>
              <a:gd name="connsiteY15" fmla="*/ 0 h 41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416604">
                <a:moveTo>
                  <a:pt x="133350" y="0"/>
                </a:moveTo>
                <a:lnTo>
                  <a:pt x="133350" y="0"/>
                </a:lnTo>
                <a:cubicBezTo>
                  <a:pt x="111125" y="15875"/>
                  <a:pt x="87089" y="29480"/>
                  <a:pt x="66675" y="47625"/>
                </a:cubicBezTo>
                <a:cubicBezTo>
                  <a:pt x="58119" y="55230"/>
                  <a:pt x="52274" y="65739"/>
                  <a:pt x="47625" y="76200"/>
                </a:cubicBezTo>
                <a:cubicBezTo>
                  <a:pt x="29872" y="116144"/>
                  <a:pt x="24755" y="147712"/>
                  <a:pt x="19050" y="190500"/>
                </a:cubicBezTo>
                <a:cubicBezTo>
                  <a:pt x="15250" y="218999"/>
                  <a:pt x="12535" y="247632"/>
                  <a:pt x="9525" y="276225"/>
                </a:cubicBezTo>
                <a:cubicBezTo>
                  <a:pt x="6185" y="307958"/>
                  <a:pt x="3175" y="339725"/>
                  <a:pt x="0" y="371475"/>
                </a:cubicBezTo>
                <a:cubicBezTo>
                  <a:pt x="10691" y="414240"/>
                  <a:pt x="1802" y="432486"/>
                  <a:pt x="66675" y="400050"/>
                </a:cubicBezTo>
                <a:cubicBezTo>
                  <a:pt x="86191" y="390292"/>
                  <a:pt x="86581" y="358505"/>
                  <a:pt x="95250" y="342900"/>
                </a:cubicBezTo>
                <a:cubicBezTo>
                  <a:pt x="106369" y="322886"/>
                  <a:pt x="133350" y="285750"/>
                  <a:pt x="133350" y="285750"/>
                </a:cubicBezTo>
                <a:cubicBezTo>
                  <a:pt x="136525" y="273050"/>
                  <a:pt x="139113" y="260189"/>
                  <a:pt x="142875" y="247650"/>
                </a:cubicBezTo>
                <a:cubicBezTo>
                  <a:pt x="153477" y="212310"/>
                  <a:pt x="156250" y="181496"/>
                  <a:pt x="190500" y="161925"/>
                </a:cubicBezTo>
                <a:cubicBezTo>
                  <a:pt x="201866" y="155430"/>
                  <a:pt x="215900" y="155575"/>
                  <a:pt x="228600" y="152400"/>
                </a:cubicBezTo>
                <a:cubicBezTo>
                  <a:pt x="225425" y="117475"/>
                  <a:pt x="224035" y="82342"/>
                  <a:pt x="219075" y="47625"/>
                </a:cubicBezTo>
                <a:cubicBezTo>
                  <a:pt x="217655" y="37686"/>
                  <a:pt x="216650" y="26150"/>
                  <a:pt x="209550" y="19050"/>
                </a:cubicBezTo>
                <a:cubicBezTo>
                  <a:pt x="197013" y="6513"/>
                  <a:pt x="146050" y="3175"/>
                  <a:pt x="1333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椭圆 13"/>
          <p:cNvSpPr/>
          <p:nvPr/>
        </p:nvSpPr>
        <p:spPr>
          <a:xfrm>
            <a:off x="5662799" y="4707892"/>
            <a:ext cx="447302" cy="4821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5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5156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51566"/>
                                        </p:tgtEl>
                                        <p:attrNameLst>
                                          <p:attrName>style.visibility</p:attrName>
                                        </p:attrNameLst>
                                      </p:cBhvr>
                                      <p:to>
                                        <p:strVal val="visible"/>
                                      </p:to>
                                    </p:set>
                                  </p:childTnLst>
                                </p:cTn>
                              </p:par>
                              <p:par>
                                <p:cTn id="46" presetID="1" presetClass="entr" presetSubtype="0" fill="hold" grpId="1" nodeType="with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hidden"/>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151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3" grpId="0" bldLvl="0" animBg="1"/>
      <p:bldP spid="151565" grpId="0" bldLvl="0" animBg="1"/>
      <p:bldP spid="5" grpId="0" bldLvl="0" animBg="1"/>
      <p:bldP spid="6" grpId="0" bldLvl="0" animBg="1"/>
      <p:bldP spid="7" grpId="0" bldLvl="0" animBg="1"/>
      <p:bldP spid="8" grpId="0" bldLvl="0" animBg="1"/>
      <p:bldP spid="9" grpId="0" bldLvl="0" animBg="1"/>
      <p:bldP spid="151564" grpId="0" bldLvl="0" animBg="1"/>
      <p:bldP spid="10" grpId="0" bldLvl="0" animBg="1"/>
      <p:bldP spid="11" grpId="0" bldLvl="0" animBg="1"/>
      <p:bldP spid="13" grpId="0" bldLvl="0" animBg="1"/>
      <p:bldP spid="14" grpId="0" bldLvl="0" animBg="1"/>
      <p:bldP spid="14" grpId="1"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8.3.2 </a:t>
            </a:r>
            <a:r>
              <a:rPr kumimoji="1" lang="en-US" altLang="zh-CN" dirty="0">
                <a:latin typeface="Times New Roman" panose="02020603050405020304" pitchFamily="18" charset="0"/>
                <a:sym typeface="+mn-ea"/>
              </a:rPr>
              <a:t>Search algorithm in BST</a:t>
            </a:r>
            <a:endParaRPr lang="zh-CN" altLang="en-US"/>
          </a:p>
        </p:txBody>
      </p:sp>
      <p:sp>
        <p:nvSpPr>
          <p:cNvPr id="159748" name="Text Box 4"/>
          <p:cNvSpPr txBox="1">
            <a:spLocks noChangeArrowheads="1"/>
          </p:cNvSpPr>
          <p:nvPr/>
        </p:nvSpPr>
        <p:spPr bwMode="auto">
          <a:xfrm>
            <a:off x="525780" y="1519555"/>
            <a:ext cx="8161020" cy="510286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BOOL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searchBST</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pf, </a:t>
            </a:r>
            <a:r>
              <a:rPr kumimoji="1" lang="en-US" altLang="zh-CN" dirty="0" err="1">
                <a:latin typeface="Consolas" panose="020B0609020204030204" charset="0"/>
                <a:ea typeface="幼圆" panose="02010509060101010101" pitchFamily="49" charset="-122"/>
                <a:cs typeface="Consolas" panose="020B0609020204030204" charset="0"/>
              </a:rPr>
              <a:t>PBinNode</a:t>
            </a:r>
            <a:r>
              <a:rPr kumimoji="1" lang="en-US" altLang="zh-CN" dirty="0">
                <a:latin typeface="Consolas" panose="020B0609020204030204" charset="0"/>
                <a:ea typeface="幼圆" panose="02010509060101010101" pitchFamily="49" charset="-122"/>
                <a:cs typeface="Consolas" panose="020B0609020204030204" charset="0"/>
              </a:rPr>
              <a:t> *position)</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*position=pf;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FALSE;</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else 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-&gt;key == key)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检索成功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*position=</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ptree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TRUE;</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(key &lt;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-&gt;key)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进入左子树继续检索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searchBST</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 position);</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进入右子树继续检索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searchBST</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 position);</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159749" name="Text Box 5"/>
          <p:cNvSpPr txBox="1">
            <a:spLocks noChangeArrowheads="1"/>
          </p:cNvSpPr>
          <p:nvPr/>
        </p:nvSpPr>
        <p:spPr bwMode="auto">
          <a:xfrm>
            <a:off x="525780" y="1009650"/>
            <a:ext cx="3295650" cy="41973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rPr>
              <a:t>Recursive algorithm</a:t>
            </a:r>
            <a:endPar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8.3.2 </a:t>
            </a:r>
            <a:r>
              <a:rPr kumimoji="1" lang="en-US" altLang="zh-CN" dirty="0">
                <a:latin typeface="Times New Roman" panose="02020603050405020304" pitchFamily="18" charset="0"/>
                <a:sym typeface="+mn-ea"/>
              </a:rPr>
              <a:t>Search algorithm in BST</a:t>
            </a:r>
            <a:endParaRPr lang="zh-CN" altLang="en-US"/>
          </a:p>
        </p:txBody>
      </p:sp>
      <p:sp>
        <p:nvSpPr>
          <p:cNvPr id="56322" name="Text Box 2"/>
          <p:cNvSpPr txBox="1">
            <a:spLocks noChangeArrowheads="1"/>
          </p:cNvSpPr>
          <p:nvPr/>
        </p:nvSpPr>
        <p:spPr bwMode="auto">
          <a:xfrm>
            <a:off x="551815" y="1471295"/>
            <a:ext cx="8134985" cy="499364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BOOL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searchBST</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err="1">
                <a:latin typeface="Consolas" panose="020B0609020204030204" charset="0"/>
                <a:ea typeface="幼圆" panose="02010509060101010101" pitchFamily="49" charset="-122"/>
                <a:cs typeface="Consolas" panose="020B0609020204030204" charset="0"/>
              </a:rPr>
              <a:t>PBinNode</a:t>
            </a:r>
            <a:r>
              <a:rPr kumimoji="1" lang="en-US" altLang="zh-CN" dirty="0">
                <a:latin typeface="Consolas" panose="020B0609020204030204" charset="0"/>
                <a:ea typeface="幼圆" panose="02010509060101010101" pitchFamily="49" charset="-122"/>
                <a:cs typeface="Consolas" panose="020B0609020204030204" charset="0"/>
              </a:rPr>
              <a:t> *position)</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PBinNode</a:t>
            </a:r>
            <a:r>
              <a:rPr kumimoji="1" lang="en-US" altLang="zh-CN" dirty="0">
                <a:latin typeface="Consolas" panose="020B0609020204030204" charset="0"/>
                <a:ea typeface="幼圆" panose="02010509060101010101" pitchFamily="49" charset="-122"/>
                <a:cs typeface="Consolas" panose="020B0609020204030204" charset="0"/>
              </a:rPr>
              <a:t> p, q;     p = q = </a:t>
            </a:r>
            <a:r>
              <a:rPr kumimoji="1" lang="en-US" altLang="zh-CN" dirty="0" err="1">
                <a:latin typeface="Consolas" panose="020B0609020204030204" charset="0"/>
                <a:ea typeface="幼圆" panose="02010509060101010101" pitchFamily="49" charset="-122"/>
                <a:cs typeface="Consolas" panose="020B0609020204030204" charset="0"/>
              </a:rPr>
              <a:t>ptree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while</a:t>
            </a:r>
            <a:r>
              <a:rPr kumimoji="1" lang="en-US" altLang="zh-CN" dirty="0">
                <a:latin typeface="Consolas" panose="020B0609020204030204" charset="0"/>
                <a:ea typeface="幼圆" panose="02010509060101010101" pitchFamily="49" charset="-122"/>
                <a:cs typeface="Consolas" panose="020B0609020204030204" charset="0"/>
              </a:rPr>
              <a:t>(p != NULL)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q = p;</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if(p-&gt;key == key)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检索成功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*position=p;</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TRUE;</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(key &lt; p-&gt;key)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进入左子树继续检索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p = p-&gt;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进入右子树继续检索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p = p-&gt;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*position=q;</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返回结点插入位置*</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FALSE;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检索失败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56323" name="Text Box 3"/>
          <p:cNvSpPr txBox="1">
            <a:spLocks noChangeArrowheads="1"/>
          </p:cNvSpPr>
          <p:nvPr/>
        </p:nvSpPr>
        <p:spPr bwMode="auto">
          <a:xfrm>
            <a:off x="551815" y="1000760"/>
            <a:ext cx="3719195" cy="44513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rPr>
              <a:t>Non recursive algorithm</a:t>
            </a:r>
            <a:endPar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idx="1"/>
          </p:nvPr>
        </p:nvSpPr>
        <p:spPr/>
        <p:txBody>
          <a:bodyPr/>
          <a:lstStyle/>
          <a:p>
            <a:pPr algn="just">
              <a:lnSpc>
                <a:spcPct val="150000"/>
              </a:lnSpc>
              <a:buFont typeface="Wingdings" panose="05000000000000000000" charset="0"/>
              <a:buChar char="l"/>
            </a:pPr>
            <a:r>
              <a:rPr kumimoji="1" lang="zh-CN" altLang="en-US" sz="2000" dirty="0">
                <a:latin typeface="Times New Roman" panose="02020603050405020304" pitchFamily="18" charset="0"/>
              </a:rPr>
              <a:t>当树中不存在关键字等于给定值的结点时，需要生成新结点并插入到二叉树中。而</a:t>
            </a:r>
            <a:r>
              <a:rPr kumimoji="1" lang="zh-CN" altLang="en-US" sz="2000" b="1" dirty="0">
                <a:solidFill>
                  <a:srgbClr val="FF0000"/>
                </a:solidFill>
                <a:latin typeface="Times New Roman" panose="02020603050405020304" pitchFamily="18" charset="0"/>
              </a:rPr>
              <a:t>新插入的结点</a:t>
            </a:r>
            <a:r>
              <a:rPr kumimoji="1" lang="zh-CN" altLang="en-US" sz="2000" dirty="0">
                <a:latin typeface="Times New Roman" panose="02020603050405020304" pitchFamily="18" charset="0"/>
              </a:rPr>
              <a:t>必定是一个</a:t>
            </a:r>
            <a:r>
              <a:rPr kumimoji="1" lang="zh-CN" altLang="en-US" sz="2000" b="1" dirty="0">
                <a:solidFill>
                  <a:srgbClr val="FF0000"/>
                </a:solidFill>
                <a:latin typeface="Times New Roman" panose="02020603050405020304" pitchFamily="18" charset="0"/>
              </a:rPr>
              <a:t>叶子结点</a:t>
            </a:r>
            <a:r>
              <a:rPr kumimoji="1" lang="zh-CN" altLang="en-US" sz="2000" dirty="0">
                <a:latin typeface="Times New Roman" panose="02020603050405020304" pitchFamily="18" charset="0"/>
              </a:rPr>
              <a:t>，并且是查找不成功时查找路径上访问的最后一个结点左孩子或右孩子结点。</a:t>
            </a:r>
            <a:endParaRPr kumimoji="1" lang="zh-CN" altLang="en-US" sz="2000" b="1" dirty="0">
              <a:latin typeface="Times New Roman" panose="02020603050405020304" pitchFamily="18" charset="0"/>
            </a:endParaRPr>
          </a:p>
          <a:p>
            <a:pPr>
              <a:lnSpc>
                <a:spcPct val="150000"/>
              </a:lnSpc>
              <a:buFont typeface="Wingdings" panose="05000000000000000000" charset="0"/>
              <a:buChar char="l"/>
            </a:pPr>
            <a:r>
              <a:rPr kumimoji="1" lang="zh-CN" altLang="en-US" sz="2100" b="1" dirty="0">
                <a:latin typeface="Times New Roman" panose="02020603050405020304" pitchFamily="18" charset="0"/>
              </a:rPr>
              <a:t>算法如下：</a:t>
            </a:r>
            <a:endParaRPr kumimoji="1" lang="zh-CN" altLang="en-US" sz="2100" b="1" dirty="0">
              <a:latin typeface="Times New Roman" panose="02020603050405020304" pitchFamily="18" charset="0"/>
            </a:endParaRPr>
          </a:p>
          <a:p>
            <a:pPr marL="914400" lvl="1" indent="-457200" algn="just">
              <a:lnSpc>
                <a:spcPct val="150000"/>
              </a:lnSpc>
              <a:buClr>
                <a:srgbClr val="00B0F0"/>
              </a:buClr>
              <a:buSzPct val="100000"/>
              <a:buFont typeface="+mj-ea"/>
              <a:buAutoNum type="circleNumDbPlain"/>
            </a:pPr>
            <a:r>
              <a:rPr kumimoji="1" lang="zh-CN" altLang="en-US" sz="2000" dirty="0">
                <a:latin typeface="Times New Roman" panose="02020603050405020304" pitchFamily="18" charset="0"/>
              </a:rPr>
              <a:t>如果二叉排序树为空，则新结点作为</a:t>
            </a:r>
            <a:r>
              <a:rPr kumimoji="1" lang="zh-CN" altLang="en-US" sz="2000" b="1" dirty="0">
                <a:solidFill>
                  <a:srgbClr val="FF0000"/>
                </a:solidFill>
                <a:latin typeface="Times New Roman" panose="02020603050405020304" pitchFamily="18" charset="0"/>
              </a:rPr>
              <a:t>根结点</a:t>
            </a:r>
            <a:r>
              <a:rPr kumimoji="1" lang="zh-CN" altLang="en-US" sz="2000" dirty="0">
                <a:latin typeface="Times New Roman" panose="02020603050405020304" pitchFamily="18" charset="0"/>
              </a:rPr>
              <a:t>；</a:t>
            </a:r>
            <a:endParaRPr kumimoji="1" lang="zh-CN" altLang="en-US" sz="2000" dirty="0">
              <a:latin typeface="Times New Roman" panose="02020603050405020304" pitchFamily="18" charset="0"/>
            </a:endParaRPr>
          </a:p>
          <a:p>
            <a:pPr marL="914400" lvl="1" indent="-457200" algn="just">
              <a:lnSpc>
                <a:spcPct val="150000"/>
              </a:lnSpc>
              <a:buClr>
                <a:srgbClr val="00B0F0"/>
              </a:buClr>
              <a:buSzPct val="100000"/>
              <a:buFont typeface="+mj-ea"/>
              <a:buAutoNum type="circleNumDbPlain"/>
            </a:pPr>
            <a:r>
              <a:rPr kumimoji="1" lang="zh-CN" altLang="en-US" sz="2000" dirty="0">
                <a:latin typeface="Times New Roman" panose="02020603050405020304" pitchFamily="18" charset="0"/>
              </a:rPr>
              <a:t>如果二叉排序树非空，则将新结点的关键码与根结点的关键码比较，若小于根结点的关键码，则将新结点插入到根结点的左子树中；否则，插入到右子树中；</a:t>
            </a:r>
            <a:endParaRPr kumimoji="1" lang="zh-CN" altLang="en-US" sz="2000" dirty="0">
              <a:latin typeface="Times New Roman" panose="02020603050405020304" pitchFamily="18" charset="0"/>
            </a:endParaRPr>
          </a:p>
          <a:p>
            <a:pPr marL="914400" lvl="1" indent="-457200" algn="just">
              <a:lnSpc>
                <a:spcPct val="150000"/>
              </a:lnSpc>
              <a:buClr>
                <a:srgbClr val="00B0F0"/>
              </a:buClr>
              <a:buSzPct val="100000"/>
              <a:buFont typeface="+mj-ea"/>
              <a:buAutoNum type="circleNumDbPlain"/>
            </a:pPr>
            <a:r>
              <a:rPr kumimoji="1" lang="zh-CN" altLang="en-US" sz="2000" dirty="0">
                <a:latin typeface="Times New Roman" panose="02020603050405020304" pitchFamily="18" charset="0"/>
              </a:rPr>
              <a:t>子树中的插入过程和树中的插入过程相同，如此进行下去，直到</a:t>
            </a:r>
            <a:r>
              <a:rPr kumimoji="1" lang="zh-CN" altLang="en-US" sz="2000" b="1" dirty="0">
                <a:solidFill>
                  <a:srgbClr val="FF0000"/>
                </a:solidFill>
                <a:latin typeface="Times New Roman" panose="02020603050405020304" pitchFamily="18" charset="0"/>
              </a:rPr>
              <a:t>找到该结点</a:t>
            </a:r>
            <a:r>
              <a:rPr kumimoji="1" lang="zh-CN" altLang="en-US" sz="2000" dirty="0">
                <a:latin typeface="Times New Roman" panose="02020603050405020304" pitchFamily="18" charset="0"/>
              </a:rPr>
              <a:t>，或者直到</a:t>
            </a:r>
            <a:r>
              <a:rPr kumimoji="1" lang="zh-CN" altLang="en-US" sz="2000" b="1" dirty="0">
                <a:solidFill>
                  <a:srgbClr val="FF0000"/>
                </a:solidFill>
                <a:latin typeface="Times New Roman" panose="02020603050405020304" pitchFamily="18" charset="0"/>
              </a:rPr>
              <a:t>新结点成为叶子结点</a:t>
            </a:r>
            <a:r>
              <a:rPr kumimoji="1" lang="zh-CN" altLang="en-US" sz="2000" dirty="0">
                <a:latin typeface="Times New Roman" panose="02020603050405020304" pitchFamily="18" charset="0"/>
              </a:rPr>
              <a:t>为止。</a:t>
            </a:r>
            <a:endParaRPr kumimoji="1" lang="zh-CN" altLang="en-US" sz="2000" dirty="0">
              <a:latin typeface="Times New Roman" panose="02020603050405020304" pitchFamily="18" charset="0"/>
            </a:endParaRPr>
          </a:p>
        </p:txBody>
      </p:sp>
      <p:sp>
        <p:nvSpPr>
          <p:cNvPr id="2" name="标题 1"/>
          <p:cNvSpPr>
            <a:spLocks noGrp="1"/>
          </p:cNvSpPr>
          <p:nvPr>
            <p:ph type="title"/>
          </p:nvPr>
        </p:nvSpPr>
        <p:spPr/>
        <p:txBody>
          <a:bodyPr/>
          <a:p>
            <a:r>
              <a:rPr lang="en-US" altLang="zh-CN">
                <a:sym typeface="+mn-ea"/>
              </a:rPr>
              <a:t>8.3.3 </a:t>
            </a:r>
            <a:r>
              <a:rPr kumimoji="1" lang="en-US" altLang="zh-CN" dirty="0">
                <a:solidFill>
                  <a:schemeClr val="bg1"/>
                </a:solidFill>
                <a:sym typeface="+mn-ea"/>
              </a:rPr>
              <a:t>Node Insertion of BST</a:t>
            </a:r>
            <a:endParaRPr kumimoji="1" lang="en-US" altLang="zh-CN" dirty="0">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7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7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zh-CN">
                <a:solidFill>
                  <a:schemeClr val="bg1"/>
                </a:solidFill>
              </a:rPr>
              <a:t>Example</a:t>
            </a:r>
            <a:endParaRPr lang="en-US" altLang="zh-CN">
              <a:solidFill>
                <a:schemeClr val="bg1"/>
              </a:solidFill>
            </a:endParaRPr>
          </a:p>
        </p:txBody>
      </p:sp>
      <p:pic>
        <p:nvPicPr>
          <p:cNvPr id="245763" name="Picture 3"/>
          <p:cNvPicPr>
            <a:picLocks noChangeAspect="1" noChangeArrowheads="1"/>
          </p:cNvPicPr>
          <p:nvPr/>
        </p:nvPicPr>
        <p:blipFill>
          <a:blip r:embed="rId1">
            <a:extLst>
              <a:ext uri="{28A0092B-C50C-407E-A947-70E740481C1C}">
                <a14:useLocalDpi xmlns:a14="http://schemas.microsoft.com/office/drawing/2010/main" val="0"/>
              </a:ext>
            </a:extLst>
          </a:blip>
          <a:srcRect b="-5188"/>
          <a:stretch>
            <a:fillRect/>
          </a:stretch>
        </p:blipFill>
        <p:spPr bwMode="auto">
          <a:xfrm>
            <a:off x="354965" y="1895475"/>
            <a:ext cx="8434070" cy="4173220"/>
          </a:xfrm>
          <a:prstGeom prst="rect">
            <a:avLst/>
          </a:prstGeom>
          <a:solidFill>
            <a:schemeClr val="bg1"/>
          </a:solid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pic>
      <p:sp>
        <p:nvSpPr>
          <p:cNvPr id="245764" name="Text Box 4"/>
          <p:cNvSpPr txBox="1">
            <a:spLocks noChangeArrowheads="1"/>
          </p:cNvSpPr>
          <p:nvPr/>
        </p:nvSpPr>
        <p:spPr bwMode="auto">
          <a:xfrm>
            <a:off x="738505" y="1109980"/>
            <a:ext cx="777748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lang="en-US" altLang="zh-CN" sz="2400">
                <a:latin typeface="Times New Roman" panose="02020603050405020304" pitchFamily="18" charset="0"/>
                <a:cs typeface="Times New Roman" panose="02020603050405020304" pitchFamily="18" charset="0"/>
              </a:rPr>
              <a:t>Input: { 53, 78, 65, 17, 87, 09, 81, 45, 23 }</a:t>
            </a:r>
            <a:endParaRPr lang="en-US" altLang="zh-CN" sz="2400">
              <a:latin typeface="Times New Roman" panose="02020603050405020304" pitchFamily="18" charset="0"/>
              <a:cs typeface="Times New Roman" panose="02020603050405020304" pitchFamily="18" charset="0"/>
            </a:endParaRPr>
          </a:p>
        </p:txBody>
      </p:sp>
      <p:sp>
        <p:nvSpPr>
          <p:cNvPr id="245766" name="Rectangle 6"/>
          <p:cNvSpPr>
            <a:spLocks noChangeArrowheads="1"/>
          </p:cNvSpPr>
          <p:nvPr/>
        </p:nvSpPr>
        <p:spPr bwMode="auto">
          <a:xfrm>
            <a:off x="937260" y="1956435"/>
            <a:ext cx="1035050" cy="1042670"/>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67" name="Rectangle 7"/>
          <p:cNvSpPr>
            <a:spLocks noChangeArrowheads="1"/>
          </p:cNvSpPr>
          <p:nvPr/>
        </p:nvSpPr>
        <p:spPr bwMode="auto">
          <a:xfrm>
            <a:off x="2032635" y="1956435"/>
            <a:ext cx="924560" cy="1586230"/>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68" name="Rectangle 8"/>
          <p:cNvSpPr>
            <a:spLocks noChangeArrowheads="1"/>
          </p:cNvSpPr>
          <p:nvPr/>
        </p:nvSpPr>
        <p:spPr bwMode="auto">
          <a:xfrm>
            <a:off x="3017520" y="1956435"/>
            <a:ext cx="1606550" cy="1586230"/>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69" name="Rectangle 9"/>
          <p:cNvSpPr>
            <a:spLocks noChangeArrowheads="1"/>
          </p:cNvSpPr>
          <p:nvPr/>
        </p:nvSpPr>
        <p:spPr bwMode="auto">
          <a:xfrm>
            <a:off x="4684395" y="1956435"/>
            <a:ext cx="1857375" cy="1590040"/>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70" name="Rectangle 10"/>
          <p:cNvSpPr>
            <a:spLocks noChangeArrowheads="1"/>
          </p:cNvSpPr>
          <p:nvPr/>
        </p:nvSpPr>
        <p:spPr bwMode="auto">
          <a:xfrm>
            <a:off x="6567170" y="1956435"/>
            <a:ext cx="2164715" cy="1589405"/>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71" name="Rectangle 11"/>
          <p:cNvSpPr>
            <a:spLocks noChangeArrowheads="1"/>
          </p:cNvSpPr>
          <p:nvPr/>
        </p:nvSpPr>
        <p:spPr bwMode="auto">
          <a:xfrm>
            <a:off x="703580" y="3597275"/>
            <a:ext cx="2499360" cy="2279015"/>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72" name="Rectangle 12"/>
          <p:cNvSpPr>
            <a:spLocks noChangeArrowheads="1"/>
          </p:cNvSpPr>
          <p:nvPr/>
        </p:nvSpPr>
        <p:spPr bwMode="auto">
          <a:xfrm>
            <a:off x="3307715" y="3597275"/>
            <a:ext cx="2587625" cy="2279015"/>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5773" name="Rectangle 13"/>
          <p:cNvSpPr>
            <a:spLocks noChangeArrowheads="1"/>
          </p:cNvSpPr>
          <p:nvPr/>
        </p:nvSpPr>
        <p:spPr bwMode="auto">
          <a:xfrm>
            <a:off x="6000115" y="3597275"/>
            <a:ext cx="2728595" cy="2278380"/>
          </a:xfrm>
          <a:prstGeom prst="rect">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576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4576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4576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4576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4577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4577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4577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457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6" grpId="0" bldLvl="0" animBg="1"/>
      <p:bldP spid="245767" grpId="0" bldLvl="0" animBg="1"/>
      <p:bldP spid="245768" grpId="0" bldLvl="0" animBg="1"/>
      <p:bldP spid="245769" grpId="0" bldLvl="0" animBg="1"/>
      <p:bldP spid="245770" grpId="0" bldLvl="0" animBg="1"/>
      <p:bldP spid="245771" grpId="0" bldLvl="0" animBg="1"/>
      <p:bldP spid="245772" grpId="0" bldLvl="0" animBg="1"/>
      <p:bldP spid="245773"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Example</a:t>
            </a:r>
            <a:endParaRPr lang="zh-CN" altLang="en-US"/>
          </a:p>
        </p:txBody>
      </p:sp>
      <p:sp>
        <p:nvSpPr>
          <p:cNvPr id="58373" name="Text Box 5"/>
          <p:cNvSpPr txBox="1">
            <a:spLocks noChangeArrowheads="1"/>
          </p:cNvSpPr>
          <p:nvPr/>
        </p:nvSpPr>
        <p:spPr bwMode="auto">
          <a:xfrm>
            <a:off x="642620" y="1083945"/>
            <a:ext cx="7942580" cy="1435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40000"/>
              </a:lnSpc>
              <a:buClr>
                <a:srgbClr val="00B0F0"/>
              </a:buClr>
              <a:buFont typeface="Wingdings" panose="05000000000000000000" charset="0"/>
              <a:buChar char="l"/>
            </a:pP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从空树出发，经过一系列的查找和插入操作以后，可生成一棵二叉树。设查找的关键字序列为</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{45, 24, 53, </a:t>
            </a:r>
            <a:r>
              <a:rPr kumimoji="1" lang="en-US" altLang="zh-CN" sz="21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45</a:t>
            </a:r>
            <a:r>
              <a:rPr kumimoji="1" lang="en-US" altLang="zh-CN" sz="2100" dirty="0">
                <a:latin typeface="Times New Roman" panose="02020603050405020304" pitchFamily="18" charset="0"/>
                <a:ea typeface="幼圆" panose="02010509060101010101" pitchFamily="49" charset="-122"/>
                <a:cs typeface="Times New Roman" panose="02020603050405020304" pitchFamily="18" charset="0"/>
              </a:rPr>
              <a:t>, 12, 24, 90}</a:t>
            </a:r>
            <a:r>
              <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rPr>
              <a:t>，则生成二叉树的过程如下：</a:t>
            </a:r>
            <a:endParaRPr kumimoji="1" lang="zh-CN" altLang="en-US" sz="21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8374" name="Oval 6"/>
          <p:cNvSpPr>
            <a:spLocks noChangeArrowheads="1"/>
          </p:cNvSpPr>
          <p:nvPr/>
        </p:nvSpPr>
        <p:spPr bwMode="auto">
          <a:xfrm>
            <a:off x="1868107" y="3259694"/>
            <a:ext cx="342900" cy="34290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45</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58412" name="Group 44"/>
          <p:cNvGrpSpPr/>
          <p:nvPr/>
        </p:nvGrpSpPr>
        <p:grpSpPr bwMode="auto">
          <a:xfrm>
            <a:off x="950982" y="3259694"/>
            <a:ext cx="270272" cy="270272"/>
            <a:chOff x="592" y="1570"/>
            <a:chExt cx="227" cy="227"/>
          </a:xfrm>
        </p:grpSpPr>
        <p:sp>
          <p:nvSpPr>
            <p:cNvPr id="58375" name="Oval 7"/>
            <p:cNvSpPr>
              <a:spLocks noChangeArrowheads="1"/>
            </p:cNvSpPr>
            <p:nvPr/>
          </p:nvSpPr>
          <p:spPr bwMode="auto">
            <a:xfrm>
              <a:off x="633" y="1611"/>
              <a:ext cx="144" cy="144"/>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58376" name="Line 8"/>
            <p:cNvSpPr>
              <a:spLocks noChangeAspect="1" noChangeShapeType="1"/>
            </p:cNvSpPr>
            <p:nvPr/>
          </p:nvSpPr>
          <p:spPr bwMode="auto">
            <a:xfrm flipH="1">
              <a:off x="592" y="1570"/>
              <a:ext cx="227" cy="22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58377" name="Group 9"/>
          <p:cNvGrpSpPr/>
          <p:nvPr/>
        </p:nvGrpSpPr>
        <p:grpSpPr bwMode="auto">
          <a:xfrm>
            <a:off x="2571750" y="3259694"/>
            <a:ext cx="685800" cy="770335"/>
            <a:chOff x="1344" y="1248"/>
            <a:chExt cx="576" cy="647"/>
          </a:xfrm>
        </p:grpSpPr>
        <p:sp>
          <p:nvSpPr>
            <p:cNvPr id="58378" name="Oval 10"/>
            <p:cNvSpPr>
              <a:spLocks noChangeArrowheads="1"/>
            </p:cNvSpPr>
            <p:nvPr/>
          </p:nvSpPr>
          <p:spPr bwMode="auto">
            <a:xfrm>
              <a:off x="1632" y="124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45</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8379" name="Oval 11"/>
            <p:cNvSpPr>
              <a:spLocks noChangeArrowheads="1"/>
            </p:cNvSpPr>
            <p:nvPr/>
          </p:nvSpPr>
          <p:spPr bwMode="auto">
            <a:xfrm>
              <a:off x="1344" y="1607"/>
              <a:ext cx="288" cy="288"/>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24</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80" name="AutoShape 12"/>
            <p:cNvCxnSpPr>
              <a:cxnSpLocks noChangeShapeType="1"/>
              <a:stCxn id="58378" idx="3"/>
              <a:endCxn id="58379" idx="0"/>
            </p:cNvCxnSpPr>
            <p:nvPr/>
          </p:nvCxnSpPr>
          <p:spPr bwMode="auto">
            <a:xfrm flipH="1">
              <a:off x="1488" y="1494"/>
              <a:ext cx="186" cy="1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381" name="Group 13"/>
          <p:cNvGrpSpPr/>
          <p:nvPr/>
        </p:nvGrpSpPr>
        <p:grpSpPr bwMode="auto">
          <a:xfrm>
            <a:off x="3839845" y="3259694"/>
            <a:ext cx="971550" cy="770335"/>
            <a:chOff x="1920" y="1296"/>
            <a:chExt cx="816" cy="647"/>
          </a:xfrm>
        </p:grpSpPr>
        <p:grpSp>
          <p:nvGrpSpPr>
            <p:cNvPr id="58382" name="Group 14"/>
            <p:cNvGrpSpPr/>
            <p:nvPr/>
          </p:nvGrpSpPr>
          <p:grpSpPr bwMode="auto">
            <a:xfrm>
              <a:off x="1920" y="1296"/>
              <a:ext cx="552" cy="647"/>
              <a:chOff x="1344" y="1248"/>
              <a:chExt cx="552" cy="647"/>
            </a:xfrm>
          </p:grpSpPr>
          <p:sp>
            <p:nvSpPr>
              <p:cNvPr id="58383" name="Oval 15"/>
              <p:cNvSpPr>
                <a:spLocks noChangeArrowheads="1"/>
              </p:cNvSpPr>
              <p:nvPr/>
            </p:nvSpPr>
            <p:spPr bwMode="auto">
              <a:xfrm>
                <a:off x="1608" y="124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45</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8384" name="Oval 16"/>
              <p:cNvSpPr>
                <a:spLocks noChangeArrowheads="1"/>
              </p:cNvSpPr>
              <p:nvPr/>
            </p:nvSpPr>
            <p:spPr bwMode="auto">
              <a:xfrm>
                <a:off x="1344" y="1607"/>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24</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85" name="AutoShape 17"/>
              <p:cNvCxnSpPr>
                <a:cxnSpLocks noChangeShapeType="1"/>
                <a:stCxn id="58383" idx="3"/>
                <a:endCxn id="58384" idx="0"/>
              </p:cNvCxnSpPr>
              <p:nvPr/>
            </p:nvCxnSpPr>
            <p:spPr bwMode="auto">
              <a:xfrm flipH="1">
                <a:off x="1488" y="1494"/>
                <a:ext cx="162" cy="1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386" name="Oval 18"/>
            <p:cNvSpPr>
              <a:spLocks noChangeArrowheads="1"/>
            </p:cNvSpPr>
            <p:nvPr/>
          </p:nvSpPr>
          <p:spPr bwMode="auto">
            <a:xfrm>
              <a:off x="2448" y="1655"/>
              <a:ext cx="288" cy="288"/>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53</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87" name="AutoShape 19"/>
            <p:cNvCxnSpPr>
              <a:cxnSpLocks noChangeShapeType="1"/>
              <a:stCxn id="58383" idx="5"/>
              <a:endCxn id="58386" idx="0"/>
            </p:cNvCxnSpPr>
            <p:nvPr/>
          </p:nvCxnSpPr>
          <p:spPr bwMode="auto">
            <a:xfrm>
              <a:off x="2430" y="1542"/>
              <a:ext cx="162" cy="1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388" name="Group 20"/>
          <p:cNvGrpSpPr/>
          <p:nvPr/>
        </p:nvGrpSpPr>
        <p:grpSpPr bwMode="auto">
          <a:xfrm>
            <a:off x="5107940" y="3259694"/>
            <a:ext cx="1314450" cy="1200150"/>
            <a:chOff x="2736" y="1248"/>
            <a:chExt cx="1104" cy="1008"/>
          </a:xfrm>
        </p:grpSpPr>
        <p:grpSp>
          <p:nvGrpSpPr>
            <p:cNvPr id="58389" name="Group 21"/>
            <p:cNvGrpSpPr/>
            <p:nvPr/>
          </p:nvGrpSpPr>
          <p:grpSpPr bwMode="auto">
            <a:xfrm>
              <a:off x="3024" y="1248"/>
              <a:ext cx="816" cy="648"/>
              <a:chOff x="1920" y="1296"/>
              <a:chExt cx="816" cy="648"/>
            </a:xfrm>
          </p:grpSpPr>
          <p:grpSp>
            <p:nvGrpSpPr>
              <p:cNvPr id="58390" name="Group 22"/>
              <p:cNvGrpSpPr/>
              <p:nvPr/>
            </p:nvGrpSpPr>
            <p:grpSpPr bwMode="auto">
              <a:xfrm>
                <a:off x="1920" y="1296"/>
                <a:ext cx="552" cy="648"/>
                <a:chOff x="1344" y="1248"/>
                <a:chExt cx="552" cy="648"/>
              </a:xfrm>
            </p:grpSpPr>
            <p:sp>
              <p:nvSpPr>
                <p:cNvPr id="58391" name="Oval 23"/>
                <p:cNvSpPr>
                  <a:spLocks noChangeArrowheads="1"/>
                </p:cNvSpPr>
                <p:nvPr/>
              </p:nvSpPr>
              <p:spPr bwMode="auto">
                <a:xfrm>
                  <a:off x="1608" y="124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45</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8392" name="Oval 24"/>
                <p:cNvSpPr>
                  <a:spLocks noChangeArrowheads="1"/>
                </p:cNvSpPr>
                <p:nvPr/>
              </p:nvSpPr>
              <p:spPr bwMode="auto">
                <a:xfrm>
                  <a:off x="1344" y="1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24</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93" name="AutoShape 25"/>
                <p:cNvCxnSpPr>
                  <a:cxnSpLocks noChangeShapeType="1"/>
                  <a:stCxn id="58391" idx="3"/>
                  <a:endCxn id="58392" idx="0"/>
                </p:cNvCxnSpPr>
                <p:nvPr/>
              </p:nvCxnSpPr>
              <p:spPr bwMode="auto">
                <a:xfrm flipH="1">
                  <a:off x="1488" y="1494"/>
                  <a:ext cx="162"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394" name="Oval 26"/>
              <p:cNvSpPr>
                <a:spLocks noChangeArrowheads="1"/>
              </p:cNvSpPr>
              <p:nvPr/>
            </p:nvSpPr>
            <p:spPr bwMode="auto">
              <a:xfrm>
                <a:off x="2448" y="165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53</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95" name="AutoShape 27"/>
              <p:cNvCxnSpPr>
                <a:cxnSpLocks noChangeShapeType="1"/>
                <a:stCxn id="58391" idx="5"/>
                <a:endCxn id="58394" idx="0"/>
              </p:cNvCxnSpPr>
              <p:nvPr/>
            </p:nvCxnSpPr>
            <p:spPr bwMode="auto">
              <a:xfrm>
                <a:off x="2430" y="1542"/>
                <a:ext cx="162"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396" name="Oval 28"/>
            <p:cNvSpPr>
              <a:spLocks noChangeArrowheads="1"/>
            </p:cNvSpPr>
            <p:nvPr/>
          </p:nvSpPr>
          <p:spPr bwMode="auto">
            <a:xfrm>
              <a:off x="2736" y="1968"/>
              <a:ext cx="288" cy="288"/>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12</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397" name="AutoShape 29"/>
            <p:cNvCxnSpPr>
              <a:cxnSpLocks noChangeShapeType="1"/>
              <a:stCxn id="58392" idx="3"/>
              <a:endCxn id="58396" idx="0"/>
            </p:cNvCxnSpPr>
            <p:nvPr/>
          </p:nvCxnSpPr>
          <p:spPr bwMode="auto">
            <a:xfrm flipH="1">
              <a:off x="2880" y="1854"/>
              <a:ext cx="186"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398" name="Group 30"/>
          <p:cNvGrpSpPr/>
          <p:nvPr/>
        </p:nvGrpSpPr>
        <p:grpSpPr bwMode="auto">
          <a:xfrm>
            <a:off x="6664960" y="3259694"/>
            <a:ext cx="1657350" cy="1257300"/>
            <a:chOff x="3888" y="1248"/>
            <a:chExt cx="1392" cy="1056"/>
          </a:xfrm>
        </p:grpSpPr>
        <p:grpSp>
          <p:nvGrpSpPr>
            <p:cNvPr id="58399" name="Group 31"/>
            <p:cNvGrpSpPr/>
            <p:nvPr/>
          </p:nvGrpSpPr>
          <p:grpSpPr bwMode="auto">
            <a:xfrm>
              <a:off x="3888" y="1248"/>
              <a:ext cx="1116" cy="1008"/>
              <a:chOff x="2736" y="1248"/>
              <a:chExt cx="1116" cy="1008"/>
            </a:xfrm>
          </p:grpSpPr>
          <p:grpSp>
            <p:nvGrpSpPr>
              <p:cNvPr id="58400" name="Group 32"/>
              <p:cNvGrpSpPr/>
              <p:nvPr/>
            </p:nvGrpSpPr>
            <p:grpSpPr bwMode="auto">
              <a:xfrm>
                <a:off x="3012" y="1248"/>
                <a:ext cx="840" cy="648"/>
                <a:chOff x="1908" y="1296"/>
                <a:chExt cx="840" cy="648"/>
              </a:xfrm>
            </p:grpSpPr>
            <p:grpSp>
              <p:nvGrpSpPr>
                <p:cNvPr id="58401" name="Group 33"/>
                <p:cNvGrpSpPr/>
                <p:nvPr/>
              </p:nvGrpSpPr>
              <p:grpSpPr bwMode="auto">
                <a:xfrm>
                  <a:off x="1908" y="1296"/>
                  <a:ext cx="564" cy="648"/>
                  <a:chOff x="1332" y="1248"/>
                  <a:chExt cx="564" cy="648"/>
                </a:xfrm>
              </p:grpSpPr>
              <p:sp>
                <p:nvSpPr>
                  <p:cNvPr id="58402" name="Oval 34"/>
                  <p:cNvSpPr>
                    <a:spLocks noChangeArrowheads="1"/>
                  </p:cNvSpPr>
                  <p:nvPr/>
                </p:nvSpPr>
                <p:spPr bwMode="auto">
                  <a:xfrm>
                    <a:off x="1608" y="124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45</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8403" name="Oval 35"/>
                  <p:cNvSpPr>
                    <a:spLocks noChangeArrowheads="1"/>
                  </p:cNvSpPr>
                  <p:nvPr/>
                </p:nvSpPr>
                <p:spPr bwMode="auto">
                  <a:xfrm>
                    <a:off x="1332" y="160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24</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404" name="AutoShape 36"/>
                  <p:cNvCxnSpPr>
                    <a:cxnSpLocks noChangeShapeType="1"/>
                    <a:stCxn id="58402" idx="3"/>
                    <a:endCxn id="58403" idx="0"/>
                  </p:cNvCxnSpPr>
                  <p:nvPr/>
                </p:nvCxnSpPr>
                <p:spPr bwMode="auto">
                  <a:xfrm flipH="1">
                    <a:off x="1476" y="1494"/>
                    <a:ext cx="174"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405" name="Oval 37"/>
                <p:cNvSpPr>
                  <a:spLocks noChangeArrowheads="1"/>
                </p:cNvSpPr>
                <p:nvPr/>
              </p:nvSpPr>
              <p:spPr bwMode="auto">
                <a:xfrm>
                  <a:off x="2460" y="165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53</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406" name="AutoShape 38"/>
                <p:cNvCxnSpPr>
                  <a:cxnSpLocks noChangeShapeType="1"/>
                  <a:stCxn id="58402" idx="5"/>
                  <a:endCxn id="58405" idx="0"/>
                </p:cNvCxnSpPr>
                <p:nvPr/>
              </p:nvCxnSpPr>
              <p:spPr bwMode="auto">
                <a:xfrm>
                  <a:off x="2430" y="1542"/>
                  <a:ext cx="174"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407" name="Oval 39"/>
              <p:cNvSpPr>
                <a:spLocks noChangeArrowheads="1"/>
              </p:cNvSpPr>
              <p:nvPr/>
            </p:nvSpPr>
            <p:spPr bwMode="auto">
              <a:xfrm>
                <a:off x="2736" y="1968"/>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12</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408" name="AutoShape 40"/>
              <p:cNvCxnSpPr>
                <a:cxnSpLocks noChangeShapeType="1"/>
                <a:stCxn id="58403" idx="3"/>
                <a:endCxn id="58407" idx="0"/>
              </p:cNvCxnSpPr>
              <p:nvPr/>
            </p:nvCxnSpPr>
            <p:spPr bwMode="auto">
              <a:xfrm flipH="1">
                <a:off x="2880" y="1854"/>
                <a:ext cx="174" cy="11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8409" name="Oval 41"/>
            <p:cNvSpPr>
              <a:spLocks noChangeArrowheads="1"/>
            </p:cNvSpPr>
            <p:nvPr/>
          </p:nvSpPr>
          <p:spPr bwMode="auto">
            <a:xfrm>
              <a:off x="4992" y="2016"/>
              <a:ext cx="288" cy="288"/>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90</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58410" name="AutoShape 42"/>
            <p:cNvCxnSpPr>
              <a:cxnSpLocks noChangeShapeType="1"/>
              <a:stCxn id="58405" idx="5"/>
              <a:endCxn id="58409" idx="0"/>
            </p:cNvCxnSpPr>
            <p:nvPr/>
          </p:nvCxnSpPr>
          <p:spPr bwMode="auto">
            <a:xfrm>
              <a:off x="4962" y="1854"/>
              <a:ext cx="174" cy="16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8412"/>
                                        </p:tgtEl>
                                        <p:attrNameLst>
                                          <p:attrName>style.visibility</p:attrName>
                                        </p:attrNameLst>
                                      </p:cBhvr>
                                      <p:to>
                                        <p:strVal val="visible"/>
                                      </p:to>
                                    </p:set>
                                    <p:anim calcmode="lin" valueType="num">
                                      <p:cBhvr additive="base">
                                        <p:cTn id="7" dur="500" fill="hold"/>
                                        <p:tgtEl>
                                          <p:spTgt spid="58412"/>
                                        </p:tgtEl>
                                        <p:attrNameLst>
                                          <p:attrName>ppt_x</p:attrName>
                                        </p:attrNameLst>
                                      </p:cBhvr>
                                      <p:tavLst>
                                        <p:tav tm="0">
                                          <p:val>
                                            <p:strVal val="1+#ppt_w/2"/>
                                          </p:val>
                                        </p:tav>
                                        <p:tav tm="100000">
                                          <p:val>
                                            <p:strVal val="#ppt_x"/>
                                          </p:val>
                                        </p:tav>
                                      </p:tavLst>
                                    </p:anim>
                                    <p:anim calcmode="lin" valueType="num">
                                      <p:cBhvr additive="base">
                                        <p:cTn id="8" dur="500" fill="hold"/>
                                        <p:tgtEl>
                                          <p:spTgt spid="584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8374"/>
                                        </p:tgtEl>
                                        <p:attrNameLst>
                                          <p:attrName>style.visibility</p:attrName>
                                        </p:attrNameLst>
                                      </p:cBhvr>
                                      <p:to>
                                        <p:strVal val="visible"/>
                                      </p:to>
                                    </p:set>
                                    <p:anim calcmode="lin" valueType="num">
                                      <p:cBhvr additive="base">
                                        <p:cTn id="13" dur="500" fill="hold"/>
                                        <p:tgtEl>
                                          <p:spTgt spid="58374"/>
                                        </p:tgtEl>
                                        <p:attrNameLst>
                                          <p:attrName>ppt_x</p:attrName>
                                        </p:attrNameLst>
                                      </p:cBhvr>
                                      <p:tavLst>
                                        <p:tav tm="0">
                                          <p:val>
                                            <p:strVal val="1+#ppt_w/2"/>
                                          </p:val>
                                        </p:tav>
                                        <p:tav tm="100000">
                                          <p:val>
                                            <p:strVal val="#ppt_x"/>
                                          </p:val>
                                        </p:tav>
                                      </p:tavLst>
                                    </p:anim>
                                    <p:anim calcmode="lin" valueType="num">
                                      <p:cBhvr additive="base">
                                        <p:cTn id="14" dur="500" fill="hold"/>
                                        <p:tgtEl>
                                          <p:spTgt spid="5837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8377"/>
                                        </p:tgtEl>
                                        <p:attrNameLst>
                                          <p:attrName>style.visibility</p:attrName>
                                        </p:attrNameLst>
                                      </p:cBhvr>
                                      <p:to>
                                        <p:strVal val="visible"/>
                                      </p:to>
                                    </p:set>
                                    <p:anim calcmode="lin" valueType="num">
                                      <p:cBhvr additive="base">
                                        <p:cTn id="19" dur="500" fill="hold"/>
                                        <p:tgtEl>
                                          <p:spTgt spid="58377"/>
                                        </p:tgtEl>
                                        <p:attrNameLst>
                                          <p:attrName>ppt_x</p:attrName>
                                        </p:attrNameLst>
                                      </p:cBhvr>
                                      <p:tavLst>
                                        <p:tav tm="0">
                                          <p:val>
                                            <p:strVal val="1+#ppt_w/2"/>
                                          </p:val>
                                        </p:tav>
                                        <p:tav tm="100000">
                                          <p:val>
                                            <p:strVal val="#ppt_x"/>
                                          </p:val>
                                        </p:tav>
                                      </p:tavLst>
                                    </p:anim>
                                    <p:anim calcmode="lin" valueType="num">
                                      <p:cBhvr additive="base">
                                        <p:cTn id="20" dur="500" fill="hold"/>
                                        <p:tgtEl>
                                          <p:spTgt spid="583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8381"/>
                                        </p:tgtEl>
                                        <p:attrNameLst>
                                          <p:attrName>style.visibility</p:attrName>
                                        </p:attrNameLst>
                                      </p:cBhvr>
                                      <p:to>
                                        <p:strVal val="visible"/>
                                      </p:to>
                                    </p:set>
                                    <p:anim calcmode="lin" valueType="num">
                                      <p:cBhvr additive="base">
                                        <p:cTn id="25" dur="500" fill="hold"/>
                                        <p:tgtEl>
                                          <p:spTgt spid="58381"/>
                                        </p:tgtEl>
                                        <p:attrNameLst>
                                          <p:attrName>ppt_x</p:attrName>
                                        </p:attrNameLst>
                                      </p:cBhvr>
                                      <p:tavLst>
                                        <p:tav tm="0">
                                          <p:val>
                                            <p:strVal val="1+#ppt_w/2"/>
                                          </p:val>
                                        </p:tav>
                                        <p:tav tm="100000">
                                          <p:val>
                                            <p:strVal val="#ppt_x"/>
                                          </p:val>
                                        </p:tav>
                                      </p:tavLst>
                                    </p:anim>
                                    <p:anim calcmode="lin" valueType="num">
                                      <p:cBhvr additive="base">
                                        <p:cTn id="26" dur="500" fill="hold"/>
                                        <p:tgtEl>
                                          <p:spTgt spid="5838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8388"/>
                                        </p:tgtEl>
                                        <p:attrNameLst>
                                          <p:attrName>style.visibility</p:attrName>
                                        </p:attrNameLst>
                                      </p:cBhvr>
                                      <p:to>
                                        <p:strVal val="visible"/>
                                      </p:to>
                                    </p:set>
                                    <p:anim calcmode="lin" valueType="num">
                                      <p:cBhvr additive="base">
                                        <p:cTn id="31" dur="500" fill="hold"/>
                                        <p:tgtEl>
                                          <p:spTgt spid="58388"/>
                                        </p:tgtEl>
                                        <p:attrNameLst>
                                          <p:attrName>ppt_x</p:attrName>
                                        </p:attrNameLst>
                                      </p:cBhvr>
                                      <p:tavLst>
                                        <p:tav tm="0">
                                          <p:val>
                                            <p:strVal val="1+#ppt_w/2"/>
                                          </p:val>
                                        </p:tav>
                                        <p:tav tm="100000">
                                          <p:val>
                                            <p:strVal val="#ppt_x"/>
                                          </p:val>
                                        </p:tav>
                                      </p:tavLst>
                                    </p:anim>
                                    <p:anim calcmode="lin" valueType="num">
                                      <p:cBhvr additive="base">
                                        <p:cTn id="32" dur="500" fill="hold"/>
                                        <p:tgtEl>
                                          <p:spTgt spid="5838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8398"/>
                                        </p:tgtEl>
                                        <p:attrNameLst>
                                          <p:attrName>style.visibility</p:attrName>
                                        </p:attrNameLst>
                                      </p:cBhvr>
                                      <p:to>
                                        <p:strVal val="visible"/>
                                      </p:to>
                                    </p:set>
                                    <p:anim calcmode="lin" valueType="num">
                                      <p:cBhvr additive="base">
                                        <p:cTn id="37" dur="500" fill="hold"/>
                                        <p:tgtEl>
                                          <p:spTgt spid="58398"/>
                                        </p:tgtEl>
                                        <p:attrNameLst>
                                          <p:attrName>ppt_x</p:attrName>
                                        </p:attrNameLst>
                                      </p:cBhvr>
                                      <p:tavLst>
                                        <p:tav tm="0">
                                          <p:val>
                                            <p:strVal val="1+#ppt_w/2"/>
                                          </p:val>
                                        </p:tav>
                                        <p:tav tm="100000">
                                          <p:val>
                                            <p:strVal val="#ppt_x"/>
                                          </p:val>
                                        </p:tav>
                                      </p:tavLst>
                                    </p:anim>
                                    <p:anim calcmode="lin" valueType="num">
                                      <p:cBhvr additive="base">
                                        <p:cTn id="38" dur="500" fill="hold"/>
                                        <p:tgtEl>
                                          <p:spTgt spid="583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8.3.3 </a:t>
            </a:r>
            <a:r>
              <a:rPr kumimoji="1" lang="en-US" altLang="zh-CN" dirty="0">
                <a:sym typeface="+mn-ea"/>
              </a:rPr>
              <a:t>Node Insertion of BST</a:t>
            </a:r>
            <a:endParaRPr lang="zh-CN" altLang="en-US"/>
          </a:p>
        </p:txBody>
      </p:sp>
      <p:sp>
        <p:nvSpPr>
          <p:cNvPr id="280580" name="Text Box 4"/>
          <p:cNvSpPr txBox="1">
            <a:spLocks noChangeArrowheads="1"/>
          </p:cNvSpPr>
          <p:nvPr/>
        </p:nvSpPr>
        <p:spPr bwMode="auto">
          <a:xfrm>
            <a:off x="601345" y="1053465"/>
            <a:ext cx="3376930" cy="46037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rPr>
              <a:t>Recursive algorithm</a:t>
            </a:r>
            <a:endPar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endParaRPr>
          </a:p>
        </p:txBody>
      </p:sp>
      <p:sp>
        <p:nvSpPr>
          <p:cNvPr id="280582" name="Text Box 6"/>
          <p:cNvSpPr txBox="1">
            <a:spLocks noChangeArrowheads="1"/>
          </p:cNvSpPr>
          <p:nvPr/>
        </p:nvSpPr>
        <p:spPr bwMode="auto">
          <a:xfrm>
            <a:off x="601345" y="1585595"/>
            <a:ext cx="8085455" cy="480441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template </a:t>
            </a:r>
            <a:r>
              <a:rPr kumimoji="1" lang="en-US" altLang="zh-CN" dirty="0">
                <a:latin typeface="Consolas" panose="020B0609020204030204" charset="0"/>
                <a:ea typeface="仿宋_GB2312" panose="02010609030101010101" pitchFamily="49" charset="-122"/>
                <a:cs typeface="Consolas" panose="020B0609020204030204" charset="0"/>
              </a:rPr>
              <a:t>&lt;</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class </a:t>
            </a:r>
            <a:r>
              <a:rPr kumimoji="1" lang="en-US" altLang="zh-CN" dirty="0">
                <a:latin typeface="Consolas" panose="020B0609020204030204" charset="0"/>
                <a:ea typeface="仿宋_GB2312" panose="02010609030101010101" pitchFamily="49" charset="-122"/>
                <a:cs typeface="Consolas" panose="020B0609020204030204" charset="0"/>
              </a:rPr>
              <a:t>Type&gt;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void </a:t>
            </a:r>
            <a:r>
              <a:rPr kumimoji="1" lang="en-US" altLang="zh-CN" dirty="0">
                <a:latin typeface="Consolas" panose="020B0609020204030204" charset="0"/>
                <a:ea typeface="仿宋_GB2312" panose="02010609030101010101" pitchFamily="49" charset="-122"/>
                <a:cs typeface="Consolas" panose="020B0609020204030204" charset="0"/>
              </a:rPr>
              <a:t>BST&lt;Type&gt;::</a:t>
            </a:r>
            <a:endParaRPr kumimoji="1" lang="en-US" altLang="zh-CN" dirty="0">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err="1">
                <a:solidFill>
                  <a:srgbClr val="FF0000"/>
                </a:solidFill>
                <a:latin typeface="Consolas" panose="020B0609020204030204" charset="0"/>
                <a:ea typeface="仿宋_GB2312" panose="02010609030101010101" pitchFamily="49" charset="-122"/>
                <a:cs typeface="Consolas" panose="020B0609020204030204" charset="0"/>
              </a:rPr>
              <a:t>InsertNode</a:t>
            </a:r>
            <a:r>
              <a:rPr kumimoji="1" lang="en-US" altLang="zh-CN" dirty="0">
                <a:latin typeface="Consolas" panose="020B0609020204030204" charset="0"/>
                <a:ea typeface="仿宋_GB2312" panose="02010609030101010101" pitchFamily="49" charset="-122"/>
                <a:cs typeface="Consolas" panose="020B0609020204030204" charset="0"/>
              </a:rPr>
              <a:t>(</a:t>
            </a:r>
            <a:r>
              <a:rPr kumimoji="1" lang="en-US" altLang="zh-CN" dirty="0" err="1">
                <a:latin typeface="Consolas" panose="020B0609020204030204" charset="0"/>
                <a:ea typeface="仿宋_GB2312" panose="02010609030101010101" pitchFamily="49" charset="-122"/>
                <a:cs typeface="Consolas" panose="020B0609020204030204" charset="0"/>
              </a:rPr>
              <a:t>const</a:t>
            </a:r>
            <a:r>
              <a:rPr kumimoji="1" lang="en-US" altLang="zh-CN" dirty="0">
                <a:latin typeface="Consolas" panose="020B0609020204030204" charset="0"/>
                <a:ea typeface="仿宋_GB2312" panose="02010609030101010101" pitchFamily="49" charset="-122"/>
                <a:cs typeface="Consolas" panose="020B0609020204030204" charset="0"/>
              </a:rPr>
              <a:t> Type &amp; x, </a:t>
            </a:r>
            <a:r>
              <a:rPr kumimoji="1" lang="en-US" altLang="zh-CN" dirty="0" err="1">
                <a:latin typeface="Consolas" panose="020B0609020204030204" charset="0"/>
                <a:ea typeface="仿宋_GB2312" panose="02010609030101010101" pitchFamily="49" charset="-122"/>
                <a:cs typeface="Consolas" panose="020B0609020204030204" charset="0"/>
              </a:rPr>
              <a:t>BstNode</a:t>
            </a:r>
            <a:r>
              <a:rPr kumimoji="1" lang="en-US" altLang="zh-CN" dirty="0">
                <a:latin typeface="Consolas" panose="020B0609020204030204" charset="0"/>
                <a:ea typeface="仿宋_GB2312" panose="02010609030101010101" pitchFamily="49" charset="-122"/>
                <a:cs typeface="Consolas" panose="020B0609020204030204" charset="0"/>
              </a:rPr>
              <a:t>&lt;Type&gt; * &amp; </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 {</a:t>
            </a:r>
            <a:endParaRPr kumimoji="1" lang="en-US" altLang="zh-CN" dirty="0">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if</a:t>
            </a:r>
            <a:r>
              <a:rPr kumimoji="1" lang="en-US" altLang="zh-CN" dirty="0">
                <a:latin typeface="Consolas" panose="020B0609020204030204" charset="0"/>
                <a:ea typeface="仿宋_GB2312" panose="02010609030101010101" pitchFamily="49" charset="-122"/>
                <a:cs typeface="Consolas" panose="020B0609020204030204" charset="0"/>
              </a:rPr>
              <a:t>(</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 == NULL) {               </a:t>
            </a:r>
            <a:r>
              <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rPr>
              <a:t>//Initialization</a:t>
            </a:r>
            <a:endPar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 = new </a:t>
            </a:r>
            <a:r>
              <a:rPr kumimoji="1" lang="en-US" altLang="zh-CN" dirty="0" err="1">
                <a:latin typeface="Consolas" panose="020B0609020204030204" charset="0"/>
                <a:ea typeface="仿宋_GB2312" panose="02010609030101010101" pitchFamily="49" charset="-122"/>
                <a:cs typeface="Consolas" panose="020B0609020204030204" charset="0"/>
              </a:rPr>
              <a:t>BstNode</a:t>
            </a:r>
            <a:r>
              <a:rPr kumimoji="1" lang="en-US" altLang="zh-CN" dirty="0">
                <a:latin typeface="Consolas" panose="020B0609020204030204" charset="0"/>
                <a:ea typeface="仿宋_GB2312" panose="02010609030101010101" pitchFamily="49" charset="-122"/>
                <a:cs typeface="Consolas" panose="020B0609020204030204" charset="0"/>
              </a:rPr>
              <a:t>&lt;Type&gt; (x); </a:t>
            </a:r>
            <a:endParaRPr kumimoji="1" lang="en-US" altLang="zh-CN" dirty="0">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if</a:t>
            </a:r>
            <a:r>
              <a:rPr kumimoji="1" lang="en-US" altLang="zh-CN" dirty="0">
                <a:latin typeface="Consolas" panose="020B0609020204030204" charset="0"/>
                <a:ea typeface="仿宋_GB2312" panose="02010609030101010101" pitchFamily="49" charset="-122"/>
                <a:cs typeface="Consolas" panose="020B0609020204030204" charset="0"/>
              </a:rPr>
              <a:t>(</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 == NULL) </a:t>
            </a:r>
            <a:endParaRPr kumimoji="1" lang="en-US" altLang="zh-CN" dirty="0">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 </a:t>
            </a:r>
            <a:r>
              <a:rPr kumimoji="1" lang="en-US" altLang="zh-CN" dirty="0" err="1">
                <a:latin typeface="Consolas" panose="020B0609020204030204" charset="0"/>
                <a:ea typeface="仿宋_GB2312" panose="02010609030101010101" pitchFamily="49" charset="-122"/>
                <a:cs typeface="Consolas" panose="020B0609020204030204" charset="0"/>
              </a:rPr>
              <a:t>cout</a:t>
            </a:r>
            <a:r>
              <a:rPr kumimoji="1" lang="en-US" altLang="zh-CN" dirty="0">
                <a:latin typeface="Consolas" panose="020B0609020204030204" charset="0"/>
                <a:ea typeface="仿宋_GB2312" panose="02010609030101010101" pitchFamily="49" charset="-122"/>
                <a:cs typeface="Consolas" panose="020B0609020204030204" charset="0"/>
              </a:rPr>
              <a:t> &lt;&lt; "Out of space" &lt;&lt; </a:t>
            </a:r>
            <a:r>
              <a:rPr kumimoji="1" lang="en-US" altLang="zh-CN" dirty="0" err="1">
                <a:latin typeface="Consolas" panose="020B0609020204030204" charset="0"/>
                <a:ea typeface="仿宋_GB2312" panose="02010609030101010101" pitchFamily="49" charset="-122"/>
                <a:cs typeface="Consolas" panose="020B0609020204030204" charset="0"/>
              </a:rPr>
              <a:t>endl</a:t>
            </a:r>
            <a:r>
              <a:rPr kumimoji="1" lang="en-US" altLang="zh-CN" dirty="0">
                <a:latin typeface="Consolas" panose="020B0609020204030204" charset="0"/>
                <a:ea typeface="仿宋_GB2312" panose="02010609030101010101" pitchFamily="49" charset="-122"/>
                <a:cs typeface="Consolas" panose="020B0609020204030204" charset="0"/>
              </a:rPr>
              <a:t>;  exit (1); }</a:t>
            </a:r>
            <a:endParaRPr kumimoji="1" lang="en-US" altLang="zh-CN" dirty="0">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else if</a:t>
            </a:r>
            <a:r>
              <a:rPr kumimoji="1" lang="en-US" altLang="zh-CN" dirty="0">
                <a:latin typeface="Consolas" panose="020B0609020204030204" charset="0"/>
                <a:ea typeface="仿宋_GB2312" panose="02010609030101010101" pitchFamily="49" charset="-122"/>
                <a:cs typeface="Consolas" panose="020B0609020204030204" charset="0"/>
              </a:rPr>
              <a:t>(x &lt; </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-&gt;data)		</a:t>
            </a:r>
            <a:r>
              <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rPr>
              <a:t>//Insert in left-sub BST</a:t>
            </a:r>
            <a:endPar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a:t>
            </a:r>
            <a:r>
              <a:rPr kumimoji="1" lang="en-US" altLang="zh-CN" dirty="0" err="1">
                <a:solidFill>
                  <a:srgbClr val="FF0000"/>
                </a:solidFill>
                <a:latin typeface="Consolas" panose="020B0609020204030204" charset="0"/>
                <a:ea typeface="仿宋_GB2312" panose="02010609030101010101" pitchFamily="49" charset="-122"/>
                <a:cs typeface="Consolas" panose="020B0609020204030204" charset="0"/>
              </a:rPr>
              <a:t>InsertNode</a:t>
            </a:r>
            <a:r>
              <a:rPr kumimoji="1" lang="en-US" altLang="zh-CN" dirty="0">
                <a:solidFill>
                  <a:srgbClr val="FF0000"/>
                </a:solidFill>
                <a:latin typeface="Consolas" panose="020B0609020204030204" charset="0"/>
                <a:ea typeface="仿宋_GB2312" panose="02010609030101010101" pitchFamily="49" charset="-122"/>
                <a:cs typeface="Consolas" panose="020B0609020204030204" charset="0"/>
              </a:rPr>
              <a:t>(x, </a:t>
            </a:r>
            <a:r>
              <a:rPr kumimoji="1" lang="en-US" altLang="zh-CN" dirty="0" err="1">
                <a:solidFill>
                  <a:srgbClr val="FF0000"/>
                </a:solidFill>
                <a:latin typeface="Consolas" panose="020B0609020204030204" charset="0"/>
                <a:ea typeface="仿宋_GB2312" panose="02010609030101010101" pitchFamily="49" charset="-122"/>
                <a:cs typeface="Consolas" panose="020B0609020204030204" charset="0"/>
              </a:rPr>
              <a:t>ptr</a:t>
            </a:r>
            <a:r>
              <a:rPr kumimoji="1" lang="en-US" altLang="zh-CN" dirty="0">
                <a:solidFill>
                  <a:srgbClr val="FF0000"/>
                </a:solidFill>
                <a:latin typeface="Consolas" panose="020B0609020204030204" charset="0"/>
                <a:ea typeface="仿宋_GB2312" panose="02010609030101010101" pitchFamily="49" charset="-122"/>
                <a:cs typeface="Consolas" panose="020B0609020204030204" charset="0"/>
              </a:rPr>
              <a:t>-&gt;</a:t>
            </a:r>
            <a:r>
              <a:rPr kumimoji="1" lang="en-US" altLang="zh-CN" dirty="0" err="1">
                <a:solidFill>
                  <a:srgbClr val="FF0000"/>
                </a:solidFill>
                <a:latin typeface="Consolas" panose="020B0609020204030204" charset="0"/>
                <a:ea typeface="仿宋_GB2312" panose="02010609030101010101" pitchFamily="49" charset="-122"/>
                <a:cs typeface="Consolas" panose="020B0609020204030204" charset="0"/>
              </a:rPr>
              <a:t>leftChild</a:t>
            </a:r>
            <a:r>
              <a:rPr kumimoji="1" lang="en-US" altLang="zh-CN" dirty="0">
                <a:solidFill>
                  <a:srgbClr val="FF0000"/>
                </a:solidFill>
                <a:latin typeface="Consolas" panose="020B0609020204030204" charset="0"/>
                <a:ea typeface="仿宋_GB2312" panose="02010609030101010101" pitchFamily="49" charset="-122"/>
                <a:cs typeface="Consolas" panose="020B0609020204030204" charset="0"/>
              </a:rPr>
              <a:t>);</a:t>
            </a:r>
            <a:endParaRPr kumimoji="1" lang="en-US" altLang="zh-CN" dirty="0">
              <a:solidFill>
                <a:srgbClr val="FF0000"/>
              </a:solidFill>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ea typeface="仿宋_GB2312" panose="0201060903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仿宋_GB2312" panose="02010609030101010101" pitchFamily="49" charset="-122"/>
                <a:cs typeface="Consolas" panose="020B0609020204030204" charset="0"/>
              </a:rPr>
              <a:t>else if</a:t>
            </a:r>
            <a:r>
              <a:rPr kumimoji="1" lang="en-US" altLang="zh-CN" dirty="0">
                <a:latin typeface="Consolas" panose="020B0609020204030204" charset="0"/>
                <a:ea typeface="仿宋_GB2312" panose="02010609030101010101" pitchFamily="49" charset="-122"/>
                <a:cs typeface="Consolas" panose="020B0609020204030204" charset="0"/>
              </a:rPr>
              <a:t>(x &gt; </a:t>
            </a:r>
            <a:r>
              <a:rPr kumimoji="1" lang="en-US" altLang="zh-CN" dirty="0" err="1">
                <a:latin typeface="Consolas" panose="020B0609020204030204" charset="0"/>
                <a:ea typeface="仿宋_GB2312" panose="02010609030101010101" pitchFamily="49" charset="-122"/>
                <a:cs typeface="Consolas" panose="020B0609020204030204" charset="0"/>
              </a:rPr>
              <a:t>ptr</a:t>
            </a:r>
            <a:r>
              <a:rPr kumimoji="1" lang="en-US" altLang="zh-CN" dirty="0">
                <a:latin typeface="Consolas" panose="020B0609020204030204" charset="0"/>
                <a:ea typeface="仿宋_GB2312" panose="02010609030101010101" pitchFamily="49" charset="-122"/>
                <a:cs typeface="Consolas" panose="020B0609020204030204" charset="0"/>
              </a:rPr>
              <a:t>-&gt;data)		</a:t>
            </a:r>
            <a:r>
              <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rPr>
              <a:t>//Insert in right-sub BST</a:t>
            </a:r>
            <a:endParaRPr kumimoji="1" lang="en-US" altLang="zh-CN" dirty="0">
              <a:solidFill>
                <a:srgbClr val="00CC00"/>
              </a:solidFill>
              <a:latin typeface="Consolas" panose="020B0609020204030204" charset="0"/>
              <a:ea typeface="仿宋_GB2312" panose="02010609030101010101" pitchFamily="49" charset="-122"/>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       </a:t>
            </a:r>
            <a:r>
              <a:rPr kumimoji="1" lang="en-US" altLang="zh-CN" dirty="0" err="1">
                <a:solidFill>
                  <a:srgbClr val="FF0000"/>
                </a:solidFill>
                <a:latin typeface="Consolas" panose="020B0609020204030204" charset="0"/>
                <a:cs typeface="Consolas" panose="020B0609020204030204" charset="0"/>
              </a:rPr>
              <a:t>InsertNode</a:t>
            </a:r>
            <a:r>
              <a:rPr kumimoji="1" lang="en-US" altLang="zh-CN" dirty="0">
                <a:solidFill>
                  <a:srgbClr val="FF0000"/>
                </a:solidFill>
                <a:latin typeface="Consolas" panose="020B0609020204030204" charset="0"/>
                <a:cs typeface="Consolas" panose="020B0609020204030204" charset="0"/>
              </a:rPr>
              <a:t>(x, </a:t>
            </a:r>
            <a:r>
              <a:rPr kumimoji="1" lang="en-US" altLang="zh-CN" dirty="0" err="1">
                <a:solidFill>
                  <a:srgbClr val="FF0000"/>
                </a:solidFill>
                <a:latin typeface="Consolas" panose="020B0609020204030204" charset="0"/>
                <a:cs typeface="Consolas" panose="020B0609020204030204" charset="0"/>
              </a:rPr>
              <a:t>ptr</a:t>
            </a:r>
            <a:r>
              <a:rPr kumimoji="1" lang="en-US" altLang="zh-CN" dirty="0">
                <a:solidFill>
                  <a:srgbClr val="FF0000"/>
                </a:solidFill>
                <a:latin typeface="Consolas" panose="020B0609020204030204" charset="0"/>
                <a:cs typeface="Consolas" panose="020B0609020204030204" charset="0"/>
              </a:rPr>
              <a:t>-&gt;</a:t>
            </a:r>
            <a:r>
              <a:rPr kumimoji="1" lang="en-US" altLang="zh-CN" dirty="0" err="1">
                <a:solidFill>
                  <a:srgbClr val="FF0000"/>
                </a:solidFill>
                <a:latin typeface="Consolas" panose="020B0609020204030204" charset="0"/>
                <a:cs typeface="Consolas" panose="020B0609020204030204" charset="0"/>
              </a:rPr>
              <a:t>rightChild</a:t>
            </a:r>
            <a:r>
              <a:rPr kumimoji="1" lang="en-US" altLang="zh-CN" dirty="0">
                <a:solidFill>
                  <a:srgbClr val="FF0000"/>
                </a:solidFill>
                <a:latin typeface="Consolas" panose="020B0609020204030204" charset="0"/>
                <a:cs typeface="Consolas" panose="020B0609020204030204" charset="0"/>
              </a:rPr>
              <a:t>);</a:t>
            </a:r>
            <a:endParaRPr kumimoji="1" lang="en-US" altLang="zh-CN" dirty="0">
              <a:solidFill>
                <a:srgbClr val="FF0000"/>
              </a:solidFill>
              <a:latin typeface="Consolas" panose="020B0609020204030204" charset="0"/>
              <a:cs typeface="Consolas" panose="020B0609020204030204" charset="0"/>
            </a:endParaRPr>
          </a:p>
          <a:p>
            <a:pPr>
              <a:lnSpc>
                <a:spcPct val="140000"/>
              </a:lnSpc>
            </a:pPr>
            <a:r>
              <a:rPr kumimoji="1" lang="en-US" altLang="zh-CN" dirty="0">
                <a:latin typeface="Consolas" panose="020B0609020204030204" charset="0"/>
                <a:cs typeface="Consolas" panose="020B0609020204030204" charset="0"/>
              </a:rPr>
              <a:t>}</a:t>
            </a:r>
            <a:endParaRPr kumimoji="1" lang="en-US" altLang="zh-CN" dirty="0">
              <a:latin typeface="Consolas" panose="020B0609020204030204" charset="0"/>
              <a:cs typeface="Consolas" panose="020B0609020204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8.3.3 </a:t>
            </a:r>
            <a:r>
              <a:rPr kumimoji="1" lang="en-US" altLang="zh-CN" dirty="0">
                <a:sym typeface="+mn-ea"/>
              </a:rPr>
              <a:t>Node Insertion of BST</a:t>
            </a:r>
            <a:endParaRPr lang="zh-CN" altLang="en-US"/>
          </a:p>
        </p:txBody>
      </p:sp>
      <p:sp>
        <p:nvSpPr>
          <p:cNvPr id="57349" name="Text Box 5"/>
          <p:cNvSpPr txBox="1">
            <a:spLocks noChangeArrowheads="1"/>
          </p:cNvSpPr>
          <p:nvPr/>
        </p:nvSpPr>
        <p:spPr bwMode="auto">
          <a:xfrm>
            <a:off x="576580" y="1593215"/>
            <a:ext cx="8110855" cy="484441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void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InsertNode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PBinTreeNode</a:t>
            </a:r>
            <a:r>
              <a:rPr kumimoji="1" lang="en-US" altLang="zh-CN" dirty="0">
                <a:latin typeface="Consolas" panose="020B0609020204030204" charset="0"/>
                <a:ea typeface="幼圆" panose="02010509060101010101" pitchFamily="49" charset="-122"/>
                <a:cs typeface="Consolas" panose="020B0609020204030204" charset="0"/>
              </a:rPr>
              <a:t>  p, 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SearchBST</a:t>
            </a:r>
            <a:r>
              <a:rPr kumimoji="1" lang="en-US" altLang="zh-CN" dirty="0">
                <a:latin typeface="Consolas" panose="020B0609020204030204" charset="0"/>
                <a:ea typeface="幼圆" panose="02010509060101010101" pitchFamily="49" charset="-122"/>
                <a:cs typeface="Consolas" panose="020B0609020204030204" charset="0"/>
              </a:rPr>
              <a:t>(*T, key,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NULL</a:t>
            </a:r>
            <a:r>
              <a:rPr kumimoji="1" lang="en-US" altLang="zh-CN" dirty="0">
                <a:latin typeface="Consolas" panose="020B0609020204030204" charset="0"/>
                <a:ea typeface="幼圆" panose="02010509060101010101" pitchFamily="49" charset="-122"/>
                <a:cs typeface="Consolas" panose="020B0609020204030204" charset="0"/>
              </a:rPr>
              <a:t>, &amp;p))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s = (</a:t>
            </a:r>
            <a:r>
              <a:rPr kumimoji="1" lang="en-US" altLang="zh-CN" dirty="0" err="1">
                <a:latin typeface="Consolas" panose="020B0609020204030204" charset="0"/>
                <a:ea typeface="幼圆" panose="02010509060101010101" pitchFamily="49" charset="-122"/>
                <a:cs typeface="Consolas" panose="020B0609020204030204" charset="0"/>
              </a:rPr>
              <a:t>PBinTreeNode</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malloc</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sizeof</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BinTreeNode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s-&gt;key =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s-&gt;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s-&gt;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NULL;</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(!p)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*T = 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(key &lt; p-&gt;key)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p-&gt;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s;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s</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作为左孩子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p-&gt;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s;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s</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作为右孩子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57350" name="Text Box 6"/>
          <p:cNvSpPr txBox="1">
            <a:spLocks noChangeArrowheads="1"/>
          </p:cNvSpPr>
          <p:nvPr/>
        </p:nvSpPr>
        <p:spPr bwMode="auto">
          <a:xfrm>
            <a:off x="601980" y="1015365"/>
            <a:ext cx="3744595" cy="460375"/>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rPr>
              <a:t>Non recursive algorithm</a:t>
            </a:r>
            <a:endParaRPr kumimoji="1" lang="en-US" altLang="zh-CN" sz="2400">
              <a:solidFill>
                <a:schemeClr val="accent1">
                  <a:lumMod val="60000"/>
                  <a:lumOff val="40000"/>
                </a:schemeClr>
              </a:solidFill>
              <a:ea typeface="幼圆" panose="02010509060101010101" pitchFamily="49"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scene3d>
              <a:camera prst="orthographicFront"/>
              <a:lightRig rig="threePt" dir="t"/>
            </a:scene3d>
          </a:bodyPr>
          <a:lstStyle/>
          <a:p>
            <a:r>
              <a:rPr kumimoji="1" lang="en-US" altLang="zh-CN" sz="3600">
                <a:solidFill>
                  <a:schemeClr val="bg1"/>
                </a:solidFill>
                <a:effectLst>
                  <a:outerShdw blurRad="38100" dist="25400" dir="5400000" algn="ctr" rotWithShape="0">
                    <a:srgbClr val="6E747A">
                      <a:alpha val="43000"/>
                    </a:srgbClr>
                  </a:outerShdw>
                </a:effectLst>
              </a:rPr>
              <a:t>Inorder traversal of BST</a:t>
            </a:r>
            <a:endParaRPr kumimoji="1" lang="en-US" altLang="zh-CN" sz="3600">
              <a:solidFill>
                <a:schemeClr val="bg1"/>
              </a:solidFill>
              <a:effectLst>
                <a:outerShdw blurRad="38100" dist="25400" dir="5400000" algn="ctr" rotWithShape="0">
                  <a:srgbClr val="6E747A">
                    <a:alpha val="43000"/>
                  </a:srgbClr>
                </a:outerShdw>
              </a:effectLst>
            </a:endParaRPr>
          </a:p>
        </p:txBody>
      </p:sp>
      <p:sp>
        <p:nvSpPr>
          <p:cNvPr id="264195" name="Rectangle 3"/>
          <p:cNvSpPr>
            <a:spLocks noGrp="1" noChangeArrowheads="1"/>
          </p:cNvSpPr>
          <p:nvPr>
            <p:ph type="body" idx="1"/>
          </p:nvPr>
        </p:nvSpPr>
        <p:spPr>
          <a:xfrm>
            <a:off x="457200" y="1087120"/>
            <a:ext cx="8228965" cy="5397500"/>
          </a:xfrm>
        </p:spPr>
        <p:txBody>
          <a:bodyPr/>
          <a:lstStyle/>
          <a:p>
            <a:pPr>
              <a:lnSpc>
                <a:spcPct val="150000"/>
              </a:lnSpc>
            </a:pPr>
            <a:r>
              <a:rPr lang="zh-CN" altLang="en-US" sz="2100" dirty="0"/>
              <a:t>中序遍历二叉排序树可以得到一个关键字的有序序列（怎么证明？）</a:t>
            </a:r>
            <a:endParaRPr lang="zh-CN" altLang="en-US" sz="2100" dirty="0"/>
          </a:p>
          <a:p>
            <a:pPr>
              <a:lnSpc>
                <a:spcPct val="150000"/>
              </a:lnSpc>
            </a:pPr>
            <a:r>
              <a:rPr lang="zh-CN" altLang="en-US" sz="2100" dirty="0"/>
              <a:t>即，一个无序序列可以通过构造一棵二叉排序树而变成一个有序序列。</a:t>
            </a:r>
            <a:endParaRPr lang="zh-CN" altLang="en-US" sz="2100" dirty="0"/>
          </a:p>
          <a:p>
            <a:pPr>
              <a:lnSpc>
                <a:spcPct val="150000"/>
              </a:lnSpc>
            </a:pPr>
            <a:r>
              <a:rPr lang="zh-CN" altLang="en-US" sz="2100" dirty="0"/>
              <a:t>另外可以看到，每次插入的新结点都是树中一个叶子结点，因此在进行插入的时候不必移动其他结点，仅需改动某个结点的指针。</a:t>
            </a:r>
            <a:endParaRPr lang="zh-CN" altLang="en-US" sz="2100" dirty="0"/>
          </a:p>
          <a:p>
            <a:pPr>
              <a:lnSpc>
                <a:spcPct val="150000"/>
              </a:lnSpc>
            </a:pPr>
            <a:r>
              <a:rPr lang="zh-CN" altLang="en-US" sz="2100" dirty="0"/>
              <a:t>由此可见二叉排序树既有折半查找的特性，又采用了链表作存储结构。因此</a:t>
            </a:r>
            <a:r>
              <a:rPr lang="zh-CN" altLang="en-US" sz="2100" b="1" dirty="0">
                <a:solidFill>
                  <a:srgbClr val="FF0000"/>
                </a:solidFill>
              </a:rPr>
              <a:t>二叉排序树是动态查找表中的一种有效表示方法</a:t>
            </a:r>
            <a:r>
              <a:rPr lang="zh-CN" altLang="en-US" sz="2100" dirty="0"/>
              <a:t>。</a:t>
            </a:r>
            <a:endParaRPr lang="zh-CN" altLang="en-US"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4195">
                                            <p:txEl>
                                              <p:pRg st="1" end="1"/>
                                            </p:txEl>
                                          </p:spTgt>
                                        </p:tgtEl>
                                        <p:attrNameLst>
                                          <p:attrName>style.visibility</p:attrName>
                                        </p:attrNameLst>
                                      </p:cBhvr>
                                      <p:to>
                                        <p:strVal val="visible"/>
                                      </p:to>
                                    </p:set>
                                    <p:animEffect transition="in" filter="fade">
                                      <p:cBhvr>
                                        <p:cTn id="7" dur="1000"/>
                                        <p:tgtEl>
                                          <p:spTgt spid="264195">
                                            <p:txEl>
                                              <p:pRg st="1" end="1"/>
                                            </p:txEl>
                                          </p:spTgt>
                                        </p:tgtEl>
                                      </p:cBhvr>
                                    </p:animEffect>
                                    <p:anim calcmode="lin" valueType="num">
                                      <p:cBhvr>
                                        <p:cTn id="8" dur="1000" fill="hold"/>
                                        <p:tgtEl>
                                          <p:spTgt spid="26419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64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4195">
                                            <p:txEl>
                                              <p:pRg st="2" end="2"/>
                                            </p:txEl>
                                          </p:spTgt>
                                        </p:tgtEl>
                                        <p:attrNameLst>
                                          <p:attrName>style.visibility</p:attrName>
                                        </p:attrNameLst>
                                      </p:cBhvr>
                                      <p:to>
                                        <p:strVal val="visible"/>
                                      </p:to>
                                    </p:set>
                                    <p:animEffect transition="in" filter="fade">
                                      <p:cBhvr>
                                        <p:cTn id="14" dur="1000"/>
                                        <p:tgtEl>
                                          <p:spTgt spid="264195">
                                            <p:txEl>
                                              <p:pRg st="2" end="2"/>
                                            </p:txEl>
                                          </p:spTgt>
                                        </p:tgtEl>
                                      </p:cBhvr>
                                    </p:animEffect>
                                    <p:anim calcmode="lin" valueType="num">
                                      <p:cBhvr>
                                        <p:cTn id="15" dur="1000" fill="hold"/>
                                        <p:tgtEl>
                                          <p:spTgt spid="26419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64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4195">
                                            <p:txEl>
                                              <p:pRg st="3" end="3"/>
                                            </p:txEl>
                                          </p:spTgt>
                                        </p:tgtEl>
                                        <p:attrNameLst>
                                          <p:attrName>style.visibility</p:attrName>
                                        </p:attrNameLst>
                                      </p:cBhvr>
                                      <p:to>
                                        <p:strVal val="visible"/>
                                      </p:to>
                                    </p:set>
                                    <p:animEffect transition="in" filter="fade">
                                      <p:cBhvr>
                                        <p:cTn id="21" dur="1000"/>
                                        <p:tgtEl>
                                          <p:spTgt spid="264195">
                                            <p:txEl>
                                              <p:pRg st="3" end="3"/>
                                            </p:txEl>
                                          </p:spTgt>
                                        </p:tgtEl>
                                      </p:cBhvr>
                                    </p:animEffect>
                                    <p:anim calcmode="lin" valueType="num">
                                      <p:cBhvr>
                                        <p:cTn id="22" dur="1000" fill="hold"/>
                                        <p:tgtEl>
                                          <p:spTgt spid="26419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641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02" name="Rectangle 30"/>
          <p:cNvSpPr>
            <a:spLocks noGrp="1" noChangeArrowheads="1"/>
          </p:cNvSpPr>
          <p:nvPr>
            <p:ph type="title"/>
          </p:nvPr>
        </p:nvSpPr>
        <p:spPr>
          <a:noFill/>
        </p:spPr>
        <p:txBody>
          <a:bodyPr anchorCtr="0">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Problem</a:t>
            </a:r>
            <a:endParaRPr lang="en-US" altLang="zh-CN">
              <a:solidFill>
                <a:schemeClr val="bg1"/>
              </a:solidFill>
              <a:effectLst>
                <a:outerShdw blurRad="38100" dist="25400" dir="5400000" algn="ctr" rotWithShape="0">
                  <a:srgbClr val="6E747A">
                    <a:alpha val="43000"/>
                  </a:srgbClr>
                </a:outerShdw>
              </a:effectLst>
            </a:endParaRPr>
          </a:p>
        </p:txBody>
      </p:sp>
      <p:sp>
        <p:nvSpPr>
          <p:cNvPr id="156703" name="Rectangle 31"/>
          <p:cNvSpPr>
            <a:spLocks noGrp="1" noChangeArrowheads="1"/>
          </p:cNvSpPr>
          <p:nvPr>
            <p:ph idx="1"/>
          </p:nvPr>
        </p:nvSpPr>
        <p:spPr>
          <a:noFill/>
        </p:spPr>
        <p:txBody>
          <a:bodyPr/>
          <a:lstStyle/>
          <a:p>
            <a:r>
              <a:rPr lang="en-US" altLang="zh-CN" sz="2400">
                <a:latin typeface="Times New Roman" panose="02020603050405020304" pitchFamily="18" charset="0"/>
                <a:cs typeface="Times New Roman" panose="02020603050405020304" pitchFamily="18" charset="0"/>
              </a:rPr>
              <a:t>For the same data set, the different BST will be created while the different order of input, for example, </a:t>
            </a:r>
            <a:endParaRPr lang="en-US" altLang="zh-CN" sz="2400">
              <a:latin typeface="Times New Roman" panose="02020603050405020304" pitchFamily="18" charset="0"/>
              <a:cs typeface="Times New Roman" panose="02020603050405020304" pitchFamily="18" charset="0"/>
            </a:endParaRPr>
          </a:p>
        </p:txBody>
      </p:sp>
      <p:grpSp>
        <p:nvGrpSpPr>
          <p:cNvPr id="156738" name="Group 66"/>
          <p:cNvGrpSpPr/>
          <p:nvPr/>
        </p:nvGrpSpPr>
        <p:grpSpPr bwMode="auto">
          <a:xfrm>
            <a:off x="1428750" y="3711893"/>
            <a:ext cx="800100" cy="1371600"/>
            <a:chOff x="240" y="2928"/>
            <a:chExt cx="672" cy="1152"/>
          </a:xfrm>
        </p:grpSpPr>
        <p:sp>
          <p:nvSpPr>
            <p:cNvPr id="156712" name="Line 40"/>
            <p:cNvSpPr>
              <a:spLocks noChangeShapeType="1"/>
            </p:cNvSpPr>
            <p:nvPr/>
          </p:nvSpPr>
          <p:spPr bwMode="auto">
            <a:xfrm>
              <a:off x="432" y="3216"/>
              <a:ext cx="288" cy="6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3" name="Oval 41"/>
            <p:cNvSpPr>
              <a:spLocks noChangeArrowheads="1"/>
            </p:cNvSpPr>
            <p:nvPr/>
          </p:nvSpPr>
          <p:spPr bwMode="auto">
            <a:xfrm>
              <a:off x="240" y="2928"/>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1</a:t>
              </a:r>
              <a:endParaRPr lang="en-US" altLang="zh-CN" sz="2100">
                <a:solidFill>
                  <a:srgbClr val="FF0000"/>
                </a:solidFill>
                <a:latin typeface="Times New Roman" panose="02020603050405020304" pitchFamily="18" charset="0"/>
              </a:endParaRPr>
            </a:p>
          </p:txBody>
        </p:sp>
        <p:sp>
          <p:nvSpPr>
            <p:cNvPr id="156714" name="Oval 42"/>
            <p:cNvSpPr>
              <a:spLocks noChangeArrowheads="1"/>
            </p:cNvSpPr>
            <p:nvPr/>
          </p:nvSpPr>
          <p:spPr bwMode="auto">
            <a:xfrm>
              <a:off x="432"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2</a:t>
              </a:r>
              <a:endParaRPr lang="en-US" altLang="zh-CN" sz="2100">
                <a:solidFill>
                  <a:srgbClr val="FF0000"/>
                </a:solidFill>
                <a:latin typeface="Times New Roman" panose="02020603050405020304" pitchFamily="18" charset="0"/>
              </a:endParaRPr>
            </a:p>
          </p:txBody>
        </p:sp>
        <p:sp>
          <p:nvSpPr>
            <p:cNvPr id="156715" name="Oval 43"/>
            <p:cNvSpPr>
              <a:spLocks noChangeArrowheads="1"/>
            </p:cNvSpPr>
            <p:nvPr/>
          </p:nvSpPr>
          <p:spPr bwMode="auto">
            <a:xfrm>
              <a:off x="624" y="3792"/>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3</a:t>
              </a:r>
              <a:endParaRPr lang="en-US" altLang="zh-CN" sz="2100">
                <a:solidFill>
                  <a:srgbClr val="FF0000"/>
                </a:solidFill>
                <a:latin typeface="Times New Roman" panose="02020603050405020304" pitchFamily="18" charset="0"/>
              </a:endParaRPr>
            </a:p>
          </p:txBody>
        </p:sp>
      </p:grpSp>
      <p:grpSp>
        <p:nvGrpSpPr>
          <p:cNvPr id="156739" name="Group 67"/>
          <p:cNvGrpSpPr/>
          <p:nvPr/>
        </p:nvGrpSpPr>
        <p:grpSpPr bwMode="auto">
          <a:xfrm>
            <a:off x="2800350" y="3711893"/>
            <a:ext cx="685800" cy="1371600"/>
            <a:chOff x="1392" y="2928"/>
            <a:chExt cx="576" cy="1152"/>
          </a:xfrm>
        </p:grpSpPr>
        <p:sp>
          <p:nvSpPr>
            <p:cNvPr id="156710" name="Line 38"/>
            <p:cNvSpPr>
              <a:spLocks noChangeShapeType="1"/>
            </p:cNvSpPr>
            <p:nvPr/>
          </p:nvSpPr>
          <p:spPr bwMode="auto">
            <a:xfrm flipV="1">
              <a:off x="1584" y="3600"/>
              <a:ext cx="144"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1" name="Line 39"/>
            <p:cNvSpPr>
              <a:spLocks noChangeShapeType="1"/>
            </p:cNvSpPr>
            <p:nvPr/>
          </p:nvSpPr>
          <p:spPr bwMode="auto">
            <a:xfrm>
              <a:off x="1584" y="3168"/>
              <a:ext cx="144"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6" name="Oval 44"/>
            <p:cNvSpPr>
              <a:spLocks noChangeArrowheads="1"/>
            </p:cNvSpPr>
            <p:nvPr/>
          </p:nvSpPr>
          <p:spPr bwMode="auto">
            <a:xfrm>
              <a:off x="1392" y="2928"/>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1</a:t>
              </a:r>
              <a:endParaRPr lang="en-US" altLang="zh-CN" sz="2100">
                <a:solidFill>
                  <a:srgbClr val="FF0000"/>
                </a:solidFill>
                <a:latin typeface="Times New Roman" panose="02020603050405020304" pitchFamily="18" charset="0"/>
              </a:endParaRPr>
            </a:p>
          </p:txBody>
        </p:sp>
        <p:sp>
          <p:nvSpPr>
            <p:cNvPr id="156720" name="Oval 48"/>
            <p:cNvSpPr>
              <a:spLocks noChangeArrowheads="1"/>
            </p:cNvSpPr>
            <p:nvPr/>
          </p:nvSpPr>
          <p:spPr bwMode="auto">
            <a:xfrm>
              <a:off x="1680"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3</a:t>
              </a:r>
              <a:endParaRPr lang="en-US" altLang="zh-CN" sz="2100">
                <a:solidFill>
                  <a:srgbClr val="FF0000"/>
                </a:solidFill>
                <a:latin typeface="Times New Roman" panose="02020603050405020304" pitchFamily="18" charset="0"/>
              </a:endParaRPr>
            </a:p>
          </p:txBody>
        </p:sp>
        <p:sp>
          <p:nvSpPr>
            <p:cNvPr id="156721" name="Oval 49"/>
            <p:cNvSpPr>
              <a:spLocks noChangeArrowheads="1"/>
            </p:cNvSpPr>
            <p:nvPr/>
          </p:nvSpPr>
          <p:spPr bwMode="auto">
            <a:xfrm>
              <a:off x="1392" y="3792"/>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2</a:t>
              </a:r>
              <a:endParaRPr lang="en-US" altLang="zh-CN" sz="2100">
                <a:solidFill>
                  <a:srgbClr val="FF0000"/>
                </a:solidFill>
                <a:latin typeface="Times New Roman" panose="02020603050405020304" pitchFamily="18" charset="0"/>
              </a:endParaRPr>
            </a:p>
          </p:txBody>
        </p:sp>
      </p:grpSp>
      <p:grpSp>
        <p:nvGrpSpPr>
          <p:cNvPr id="156740" name="Group 68"/>
          <p:cNvGrpSpPr/>
          <p:nvPr/>
        </p:nvGrpSpPr>
        <p:grpSpPr bwMode="auto">
          <a:xfrm>
            <a:off x="3880191" y="3711893"/>
            <a:ext cx="1257300" cy="857250"/>
            <a:chOff x="2256" y="2928"/>
            <a:chExt cx="1056" cy="720"/>
          </a:xfrm>
        </p:grpSpPr>
        <p:sp>
          <p:nvSpPr>
            <p:cNvPr id="156708" name="Line 36"/>
            <p:cNvSpPr>
              <a:spLocks noChangeShapeType="1"/>
            </p:cNvSpPr>
            <p:nvPr/>
          </p:nvSpPr>
          <p:spPr bwMode="auto">
            <a:xfrm>
              <a:off x="2880" y="3168"/>
              <a:ext cx="24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09" name="Line 37"/>
            <p:cNvSpPr>
              <a:spLocks noChangeShapeType="1"/>
            </p:cNvSpPr>
            <p:nvPr/>
          </p:nvSpPr>
          <p:spPr bwMode="auto">
            <a:xfrm flipH="1">
              <a:off x="2448" y="3168"/>
              <a:ext cx="240"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7" name="Oval 45"/>
            <p:cNvSpPr>
              <a:spLocks noChangeArrowheads="1"/>
            </p:cNvSpPr>
            <p:nvPr/>
          </p:nvSpPr>
          <p:spPr bwMode="auto">
            <a:xfrm>
              <a:off x="2256"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1</a:t>
              </a:r>
              <a:endParaRPr lang="en-US" altLang="zh-CN" sz="2100">
                <a:solidFill>
                  <a:srgbClr val="FF0000"/>
                </a:solidFill>
                <a:latin typeface="Times New Roman" panose="02020603050405020304" pitchFamily="18" charset="0"/>
              </a:endParaRPr>
            </a:p>
          </p:txBody>
        </p:sp>
        <p:sp>
          <p:nvSpPr>
            <p:cNvPr id="156723" name="Oval 51"/>
            <p:cNvSpPr>
              <a:spLocks noChangeArrowheads="1"/>
            </p:cNvSpPr>
            <p:nvPr/>
          </p:nvSpPr>
          <p:spPr bwMode="auto">
            <a:xfrm>
              <a:off x="2640" y="2928"/>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dirty="0">
                  <a:solidFill>
                    <a:srgbClr val="FF0000"/>
                  </a:solidFill>
                  <a:latin typeface="Times New Roman" panose="02020603050405020304" pitchFamily="18" charset="0"/>
                </a:rPr>
                <a:t>2</a:t>
              </a:r>
              <a:endParaRPr lang="en-US" altLang="zh-CN" sz="2100" dirty="0">
                <a:solidFill>
                  <a:srgbClr val="FF0000"/>
                </a:solidFill>
                <a:latin typeface="Times New Roman" panose="02020603050405020304" pitchFamily="18" charset="0"/>
              </a:endParaRPr>
            </a:p>
          </p:txBody>
        </p:sp>
        <p:sp>
          <p:nvSpPr>
            <p:cNvPr id="156724" name="Oval 52"/>
            <p:cNvSpPr>
              <a:spLocks noChangeArrowheads="1"/>
            </p:cNvSpPr>
            <p:nvPr/>
          </p:nvSpPr>
          <p:spPr bwMode="auto">
            <a:xfrm>
              <a:off x="3024"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3</a:t>
              </a:r>
              <a:endParaRPr lang="en-US" altLang="zh-CN" sz="2100">
                <a:solidFill>
                  <a:srgbClr val="FF0000"/>
                </a:solidFill>
                <a:latin typeface="Times New Roman" panose="02020603050405020304" pitchFamily="18" charset="0"/>
              </a:endParaRPr>
            </a:p>
          </p:txBody>
        </p:sp>
      </p:grpSp>
      <p:grpSp>
        <p:nvGrpSpPr>
          <p:cNvPr id="156741" name="Group 69"/>
          <p:cNvGrpSpPr/>
          <p:nvPr/>
        </p:nvGrpSpPr>
        <p:grpSpPr bwMode="auto">
          <a:xfrm>
            <a:off x="5429250" y="3711893"/>
            <a:ext cx="742950" cy="1371600"/>
            <a:chOff x="3600" y="2928"/>
            <a:chExt cx="624" cy="1152"/>
          </a:xfrm>
        </p:grpSpPr>
        <p:sp>
          <p:nvSpPr>
            <p:cNvPr id="156706" name="Line 34"/>
            <p:cNvSpPr>
              <a:spLocks noChangeShapeType="1"/>
            </p:cNvSpPr>
            <p:nvPr/>
          </p:nvSpPr>
          <p:spPr bwMode="auto">
            <a:xfrm>
              <a:off x="3792" y="3600"/>
              <a:ext cx="240"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07" name="Line 35"/>
            <p:cNvSpPr>
              <a:spLocks noChangeShapeType="1"/>
            </p:cNvSpPr>
            <p:nvPr/>
          </p:nvSpPr>
          <p:spPr bwMode="auto">
            <a:xfrm flipH="1">
              <a:off x="3792" y="3168"/>
              <a:ext cx="192" cy="24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8" name="Oval 46"/>
            <p:cNvSpPr>
              <a:spLocks noChangeArrowheads="1"/>
            </p:cNvSpPr>
            <p:nvPr/>
          </p:nvSpPr>
          <p:spPr bwMode="auto">
            <a:xfrm>
              <a:off x="3600"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1</a:t>
              </a:r>
              <a:endParaRPr lang="en-US" altLang="zh-CN" sz="2100">
                <a:solidFill>
                  <a:srgbClr val="FF0000"/>
                </a:solidFill>
                <a:latin typeface="Times New Roman" panose="02020603050405020304" pitchFamily="18" charset="0"/>
              </a:endParaRPr>
            </a:p>
          </p:txBody>
        </p:sp>
        <p:sp>
          <p:nvSpPr>
            <p:cNvPr id="156722" name="Oval 50"/>
            <p:cNvSpPr>
              <a:spLocks noChangeArrowheads="1"/>
            </p:cNvSpPr>
            <p:nvPr/>
          </p:nvSpPr>
          <p:spPr bwMode="auto">
            <a:xfrm>
              <a:off x="3936" y="3792"/>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2</a:t>
              </a:r>
              <a:endParaRPr lang="en-US" altLang="zh-CN" sz="2100">
                <a:solidFill>
                  <a:srgbClr val="FF0000"/>
                </a:solidFill>
                <a:latin typeface="Times New Roman" panose="02020603050405020304" pitchFamily="18" charset="0"/>
              </a:endParaRPr>
            </a:p>
          </p:txBody>
        </p:sp>
        <p:sp>
          <p:nvSpPr>
            <p:cNvPr id="156725" name="Oval 53"/>
            <p:cNvSpPr>
              <a:spLocks noChangeArrowheads="1"/>
            </p:cNvSpPr>
            <p:nvPr/>
          </p:nvSpPr>
          <p:spPr bwMode="auto">
            <a:xfrm>
              <a:off x="3936" y="2928"/>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3</a:t>
              </a:r>
              <a:endParaRPr lang="en-US" altLang="zh-CN" sz="2100">
                <a:solidFill>
                  <a:srgbClr val="FF0000"/>
                </a:solidFill>
                <a:latin typeface="Times New Roman" panose="02020603050405020304" pitchFamily="18" charset="0"/>
              </a:endParaRPr>
            </a:p>
          </p:txBody>
        </p:sp>
      </p:grpSp>
      <p:grpSp>
        <p:nvGrpSpPr>
          <p:cNvPr id="156742" name="Group 70"/>
          <p:cNvGrpSpPr/>
          <p:nvPr/>
        </p:nvGrpSpPr>
        <p:grpSpPr bwMode="auto">
          <a:xfrm>
            <a:off x="6515100" y="3711893"/>
            <a:ext cx="1085850" cy="1371600"/>
            <a:chOff x="4512" y="2928"/>
            <a:chExt cx="912" cy="1152"/>
          </a:xfrm>
        </p:grpSpPr>
        <p:sp>
          <p:nvSpPr>
            <p:cNvPr id="156705" name="Line 33"/>
            <p:cNvSpPr>
              <a:spLocks noChangeShapeType="1"/>
            </p:cNvSpPr>
            <p:nvPr/>
          </p:nvSpPr>
          <p:spPr bwMode="auto">
            <a:xfrm flipH="1">
              <a:off x="4704" y="3168"/>
              <a:ext cx="480" cy="6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56719" name="Oval 47"/>
            <p:cNvSpPr>
              <a:spLocks noChangeArrowheads="1"/>
            </p:cNvSpPr>
            <p:nvPr/>
          </p:nvSpPr>
          <p:spPr bwMode="auto">
            <a:xfrm>
              <a:off x="4512" y="3792"/>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1</a:t>
              </a:r>
              <a:endParaRPr lang="en-US" altLang="zh-CN" sz="2100">
                <a:solidFill>
                  <a:srgbClr val="FF0000"/>
                </a:solidFill>
                <a:latin typeface="Times New Roman" panose="02020603050405020304" pitchFamily="18" charset="0"/>
              </a:endParaRPr>
            </a:p>
          </p:txBody>
        </p:sp>
        <p:sp>
          <p:nvSpPr>
            <p:cNvPr id="156726" name="Oval 54"/>
            <p:cNvSpPr>
              <a:spLocks noChangeArrowheads="1"/>
            </p:cNvSpPr>
            <p:nvPr/>
          </p:nvSpPr>
          <p:spPr bwMode="auto">
            <a:xfrm>
              <a:off x="4800" y="3360"/>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2</a:t>
              </a:r>
              <a:endParaRPr lang="en-US" altLang="zh-CN" sz="2100">
                <a:solidFill>
                  <a:srgbClr val="FF0000"/>
                </a:solidFill>
                <a:latin typeface="Times New Roman" panose="02020603050405020304" pitchFamily="18" charset="0"/>
              </a:endParaRPr>
            </a:p>
          </p:txBody>
        </p:sp>
        <p:sp>
          <p:nvSpPr>
            <p:cNvPr id="156727" name="Oval 55"/>
            <p:cNvSpPr>
              <a:spLocks noChangeArrowheads="1"/>
            </p:cNvSpPr>
            <p:nvPr/>
          </p:nvSpPr>
          <p:spPr bwMode="auto">
            <a:xfrm>
              <a:off x="5136" y="2928"/>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a:solidFill>
                    <a:srgbClr val="FF0000"/>
                  </a:solidFill>
                  <a:latin typeface="Times New Roman" panose="02020603050405020304" pitchFamily="18" charset="0"/>
                </a:rPr>
                <a:t>3</a:t>
              </a:r>
              <a:endParaRPr lang="en-US" altLang="zh-CN" sz="2100">
                <a:solidFill>
                  <a:srgbClr val="FF0000"/>
                </a:solidFill>
                <a:latin typeface="Times New Roman" panose="02020603050405020304" pitchFamily="18" charset="0"/>
              </a:endParaRPr>
            </a:p>
          </p:txBody>
        </p:sp>
      </p:grpSp>
      <p:sp>
        <p:nvSpPr>
          <p:cNvPr id="156729" name="Rectangle 57"/>
          <p:cNvSpPr>
            <a:spLocks noChangeArrowheads="1"/>
          </p:cNvSpPr>
          <p:nvPr/>
        </p:nvSpPr>
        <p:spPr bwMode="auto">
          <a:xfrm>
            <a:off x="1223963" y="3054668"/>
            <a:ext cx="1184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FF0000"/>
                </a:solidFill>
                <a:latin typeface="Times New Roman" panose="02020603050405020304" pitchFamily="18" charset="0"/>
                <a:ea typeface="楷体_GB2312" panose="02010609030101010101" pitchFamily="49" charset="-122"/>
              </a:rPr>
              <a:t>{1, 2, 3}</a:t>
            </a:r>
            <a:endParaRPr kumimoji="1" lang="en-US" altLang="zh-CN" sz="2400" b="1" dirty="0">
              <a:solidFill>
                <a:srgbClr val="FF0000"/>
              </a:solidFill>
              <a:latin typeface="Times New Roman" panose="02020603050405020304" pitchFamily="18" charset="0"/>
              <a:ea typeface="楷体_GB2312" panose="02010609030101010101" pitchFamily="49" charset="-122"/>
            </a:endParaRPr>
          </a:p>
        </p:txBody>
      </p:sp>
      <p:sp>
        <p:nvSpPr>
          <p:cNvPr id="156731" name="Rectangle 59"/>
          <p:cNvSpPr>
            <a:spLocks noChangeArrowheads="1"/>
          </p:cNvSpPr>
          <p:nvPr/>
        </p:nvSpPr>
        <p:spPr bwMode="auto">
          <a:xfrm>
            <a:off x="2583494" y="3054668"/>
            <a:ext cx="1184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0000"/>
                </a:solidFill>
                <a:latin typeface="Times New Roman" panose="02020603050405020304" pitchFamily="18" charset="0"/>
                <a:ea typeface="楷体_GB2312" panose="02010609030101010101" pitchFamily="49" charset="-122"/>
              </a:rPr>
              <a:t>{1, 3, 2}</a:t>
            </a:r>
            <a:endParaRPr kumimoji="1" lang="en-US" altLang="zh-CN" sz="2400" b="1">
              <a:solidFill>
                <a:srgbClr val="FF0000"/>
              </a:solidFill>
              <a:latin typeface="Times New Roman" panose="02020603050405020304" pitchFamily="18" charset="0"/>
              <a:ea typeface="楷体_GB2312" panose="02010609030101010101" pitchFamily="49" charset="-122"/>
            </a:endParaRPr>
          </a:p>
        </p:txBody>
      </p:sp>
      <p:sp>
        <p:nvSpPr>
          <p:cNvPr id="156733" name="Rectangle 61"/>
          <p:cNvSpPr>
            <a:spLocks noChangeArrowheads="1"/>
          </p:cNvSpPr>
          <p:nvPr/>
        </p:nvSpPr>
        <p:spPr bwMode="auto">
          <a:xfrm>
            <a:off x="3943025" y="2526268"/>
            <a:ext cx="1184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FF0000"/>
                </a:solidFill>
                <a:latin typeface="Times New Roman" panose="02020603050405020304" pitchFamily="18" charset="0"/>
                <a:ea typeface="楷体_GB2312" panose="02010609030101010101" pitchFamily="49" charset="-122"/>
              </a:rPr>
              <a:t>{2, 1, 3}</a:t>
            </a:r>
            <a:endParaRPr kumimoji="1" lang="en-US" altLang="zh-CN" sz="2400" b="1" dirty="0">
              <a:solidFill>
                <a:srgbClr val="FF0000"/>
              </a:solidFill>
              <a:latin typeface="Times New Roman" panose="02020603050405020304" pitchFamily="18" charset="0"/>
              <a:ea typeface="楷体_GB2312" panose="02010609030101010101" pitchFamily="49" charset="-122"/>
            </a:endParaRPr>
          </a:p>
        </p:txBody>
      </p:sp>
      <p:sp>
        <p:nvSpPr>
          <p:cNvPr id="156735" name="Rectangle 63"/>
          <p:cNvSpPr>
            <a:spLocks noChangeArrowheads="1"/>
          </p:cNvSpPr>
          <p:nvPr/>
        </p:nvSpPr>
        <p:spPr bwMode="auto">
          <a:xfrm>
            <a:off x="5312732" y="3054668"/>
            <a:ext cx="1184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0000"/>
                </a:solidFill>
                <a:latin typeface="Times New Roman" panose="02020603050405020304" pitchFamily="18" charset="0"/>
                <a:ea typeface="楷体_GB2312" panose="02010609030101010101" pitchFamily="49" charset="-122"/>
              </a:rPr>
              <a:t>{3, 1, 2}</a:t>
            </a:r>
            <a:endParaRPr kumimoji="1" lang="en-US" altLang="zh-CN" sz="2400" b="1">
              <a:solidFill>
                <a:srgbClr val="FF0000"/>
              </a:solidFill>
              <a:latin typeface="Times New Roman" panose="02020603050405020304" pitchFamily="18" charset="0"/>
              <a:ea typeface="楷体_GB2312" panose="02010609030101010101" pitchFamily="49" charset="-122"/>
            </a:endParaRPr>
          </a:p>
        </p:txBody>
      </p:sp>
      <p:sp>
        <p:nvSpPr>
          <p:cNvPr id="156737" name="Rectangle 65"/>
          <p:cNvSpPr>
            <a:spLocks noChangeArrowheads="1"/>
          </p:cNvSpPr>
          <p:nvPr/>
        </p:nvSpPr>
        <p:spPr bwMode="auto">
          <a:xfrm>
            <a:off x="6672263" y="3054668"/>
            <a:ext cx="1184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0000"/>
                </a:solidFill>
                <a:latin typeface="Times New Roman" panose="02020603050405020304" pitchFamily="18" charset="0"/>
                <a:ea typeface="楷体_GB2312" panose="02010609030101010101" pitchFamily="49" charset="-122"/>
              </a:rPr>
              <a:t>{3, 2, 1}</a:t>
            </a:r>
            <a:endParaRPr kumimoji="1" lang="en-US" altLang="zh-CN" sz="2400" b="1">
              <a:solidFill>
                <a:srgbClr val="FF0000"/>
              </a:solidFill>
              <a:latin typeface="Times New Roman" panose="02020603050405020304" pitchFamily="18" charset="0"/>
              <a:ea typeface="楷体_GB2312" panose="02010609030101010101" pitchFamily="49" charset="-122"/>
            </a:endParaRPr>
          </a:p>
        </p:txBody>
      </p:sp>
      <p:sp>
        <p:nvSpPr>
          <p:cNvPr id="3" name="矩形 2"/>
          <p:cNvSpPr/>
          <p:nvPr/>
        </p:nvSpPr>
        <p:spPr>
          <a:xfrm>
            <a:off x="3943025" y="3067523"/>
            <a:ext cx="1184910" cy="460375"/>
          </a:xfrm>
          <a:prstGeom prst="rect">
            <a:avLst/>
          </a:prstGeom>
        </p:spPr>
        <p:txBody>
          <a:bodyPr wrap="none">
            <a:spAutoFit/>
          </a:bodyPr>
          <a:lstStyle/>
          <a:p>
            <a:pPr lvl="0"/>
            <a:r>
              <a:rPr kumimoji="1" lang="en-US" altLang="zh-CN" sz="2400" b="1" dirty="0">
                <a:solidFill>
                  <a:srgbClr val="FF0000"/>
                </a:solidFill>
                <a:latin typeface="Times New Roman" panose="02020603050405020304" pitchFamily="18" charset="0"/>
                <a:ea typeface="楷体_GB2312" panose="02010609030101010101" pitchFamily="49" charset="-122"/>
              </a:rPr>
              <a:t>{2, 3, 1}</a:t>
            </a:r>
            <a:endParaRPr kumimoji="1" lang="en-US" altLang="zh-CN" sz="2400" b="1" dirty="0">
              <a:solidFill>
                <a:srgbClr val="FF0000"/>
              </a:solidFill>
              <a:latin typeface="Times New Roman" panose="02020603050405020304" pitchFamily="18" charset="0"/>
              <a:ea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6729"/>
                                        </p:tgtEl>
                                        <p:attrNameLst>
                                          <p:attrName>style.visibility</p:attrName>
                                        </p:attrNameLst>
                                      </p:cBhvr>
                                      <p:to>
                                        <p:strVal val="visible"/>
                                      </p:to>
                                    </p:set>
                                    <p:anim calcmode="lin" valueType="num">
                                      <p:cBhvr additive="base">
                                        <p:cTn id="7" dur="500" fill="hold"/>
                                        <p:tgtEl>
                                          <p:spTgt spid="156729"/>
                                        </p:tgtEl>
                                        <p:attrNameLst>
                                          <p:attrName>ppt_x</p:attrName>
                                        </p:attrNameLst>
                                      </p:cBhvr>
                                      <p:tavLst>
                                        <p:tav tm="0">
                                          <p:val>
                                            <p:strVal val="1+#ppt_w/2"/>
                                          </p:val>
                                        </p:tav>
                                        <p:tav tm="100000">
                                          <p:val>
                                            <p:strVal val="#ppt_x"/>
                                          </p:val>
                                        </p:tav>
                                      </p:tavLst>
                                    </p:anim>
                                    <p:anim calcmode="lin" valueType="num">
                                      <p:cBhvr additive="base">
                                        <p:cTn id="8" dur="500" fill="hold"/>
                                        <p:tgtEl>
                                          <p:spTgt spid="15672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6738"/>
                                        </p:tgtEl>
                                        <p:attrNameLst>
                                          <p:attrName>style.visibility</p:attrName>
                                        </p:attrNameLst>
                                      </p:cBhvr>
                                      <p:to>
                                        <p:strVal val="visible"/>
                                      </p:to>
                                    </p:set>
                                    <p:anim calcmode="lin" valueType="num">
                                      <p:cBhvr additive="base">
                                        <p:cTn id="11" dur="500" fill="hold"/>
                                        <p:tgtEl>
                                          <p:spTgt spid="156738"/>
                                        </p:tgtEl>
                                        <p:attrNameLst>
                                          <p:attrName>ppt_x</p:attrName>
                                        </p:attrNameLst>
                                      </p:cBhvr>
                                      <p:tavLst>
                                        <p:tav tm="0">
                                          <p:val>
                                            <p:strVal val="1+#ppt_w/2"/>
                                          </p:val>
                                        </p:tav>
                                        <p:tav tm="100000">
                                          <p:val>
                                            <p:strVal val="#ppt_x"/>
                                          </p:val>
                                        </p:tav>
                                      </p:tavLst>
                                    </p:anim>
                                    <p:anim calcmode="lin" valueType="num">
                                      <p:cBhvr additive="base">
                                        <p:cTn id="12" dur="500" fill="hold"/>
                                        <p:tgtEl>
                                          <p:spTgt spid="15673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56731"/>
                                        </p:tgtEl>
                                        <p:attrNameLst>
                                          <p:attrName>style.visibility</p:attrName>
                                        </p:attrNameLst>
                                      </p:cBhvr>
                                      <p:to>
                                        <p:strVal val="visible"/>
                                      </p:to>
                                    </p:set>
                                    <p:anim calcmode="lin" valueType="num">
                                      <p:cBhvr additive="base">
                                        <p:cTn id="17" dur="500" fill="hold"/>
                                        <p:tgtEl>
                                          <p:spTgt spid="156731"/>
                                        </p:tgtEl>
                                        <p:attrNameLst>
                                          <p:attrName>ppt_x</p:attrName>
                                        </p:attrNameLst>
                                      </p:cBhvr>
                                      <p:tavLst>
                                        <p:tav tm="0">
                                          <p:val>
                                            <p:strVal val="1+#ppt_w/2"/>
                                          </p:val>
                                        </p:tav>
                                        <p:tav tm="100000">
                                          <p:val>
                                            <p:strVal val="#ppt_x"/>
                                          </p:val>
                                        </p:tav>
                                      </p:tavLst>
                                    </p:anim>
                                    <p:anim calcmode="lin" valueType="num">
                                      <p:cBhvr additive="base">
                                        <p:cTn id="18" dur="500" fill="hold"/>
                                        <p:tgtEl>
                                          <p:spTgt spid="156731"/>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56739"/>
                                        </p:tgtEl>
                                        <p:attrNameLst>
                                          <p:attrName>style.visibility</p:attrName>
                                        </p:attrNameLst>
                                      </p:cBhvr>
                                      <p:to>
                                        <p:strVal val="visible"/>
                                      </p:to>
                                    </p:set>
                                    <p:anim calcmode="lin" valueType="num">
                                      <p:cBhvr additive="base">
                                        <p:cTn id="21" dur="500" fill="hold"/>
                                        <p:tgtEl>
                                          <p:spTgt spid="156739"/>
                                        </p:tgtEl>
                                        <p:attrNameLst>
                                          <p:attrName>ppt_x</p:attrName>
                                        </p:attrNameLst>
                                      </p:cBhvr>
                                      <p:tavLst>
                                        <p:tav tm="0">
                                          <p:val>
                                            <p:strVal val="1+#ppt_w/2"/>
                                          </p:val>
                                        </p:tav>
                                        <p:tav tm="100000">
                                          <p:val>
                                            <p:strVal val="#ppt_x"/>
                                          </p:val>
                                        </p:tav>
                                      </p:tavLst>
                                    </p:anim>
                                    <p:anim calcmode="lin" valueType="num">
                                      <p:cBhvr additive="base">
                                        <p:cTn id="22" dur="500" fill="hold"/>
                                        <p:tgtEl>
                                          <p:spTgt spid="15673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56735"/>
                                        </p:tgtEl>
                                        <p:attrNameLst>
                                          <p:attrName>style.visibility</p:attrName>
                                        </p:attrNameLst>
                                      </p:cBhvr>
                                      <p:to>
                                        <p:strVal val="visible"/>
                                      </p:to>
                                    </p:set>
                                    <p:anim calcmode="lin" valueType="num">
                                      <p:cBhvr additive="base">
                                        <p:cTn id="27" dur="500" fill="hold"/>
                                        <p:tgtEl>
                                          <p:spTgt spid="156735"/>
                                        </p:tgtEl>
                                        <p:attrNameLst>
                                          <p:attrName>ppt_x</p:attrName>
                                        </p:attrNameLst>
                                      </p:cBhvr>
                                      <p:tavLst>
                                        <p:tav tm="0">
                                          <p:val>
                                            <p:strVal val="1+#ppt_w/2"/>
                                          </p:val>
                                        </p:tav>
                                        <p:tav tm="100000">
                                          <p:val>
                                            <p:strVal val="#ppt_x"/>
                                          </p:val>
                                        </p:tav>
                                      </p:tavLst>
                                    </p:anim>
                                    <p:anim calcmode="lin" valueType="num">
                                      <p:cBhvr additive="base">
                                        <p:cTn id="28" dur="500" fill="hold"/>
                                        <p:tgtEl>
                                          <p:spTgt spid="156735"/>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56741"/>
                                        </p:tgtEl>
                                        <p:attrNameLst>
                                          <p:attrName>style.visibility</p:attrName>
                                        </p:attrNameLst>
                                      </p:cBhvr>
                                      <p:to>
                                        <p:strVal val="visible"/>
                                      </p:to>
                                    </p:set>
                                    <p:anim calcmode="lin" valueType="num">
                                      <p:cBhvr additive="base">
                                        <p:cTn id="31" dur="500" fill="hold"/>
                                        <p:tgtEl>
                                          <p:spTgt spid="156741"/>
                                        </p:tgtEl>
                                        <p:attrNameLst>
                                          <p:attrName>ppt_x</p:attrName>
                                        </p:attrNameLst>
                                      </p:cBhvr>
                                      <p:tavLst>
                                        <p:tav tm="0">
                                          <p:val>
                                            <p:strVal val="1+#ppt_w/2"/>
                                          </p:val>
                                        </p:tav>
                                        <p:tav tm="100000">
                                          <p:val>
                                            <p:strVal val="#ppt_x"/>
                                          </p:val>
                                        </p:tav>
                                      </p:tavLst>
                                    </p:anim>
                                    <p:anim calcmode="lin" valueType="num">
                                      <p:cBhvr additive="base">
                                        <p:cTn id="32" dur="500" fill="hold"/>
                                        <p:tgtEl>
                                          <p:spTgt spid="15674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6737"/>
                                        </p:tgtEl>
                                        <p:attrNameLst>
                                          <p:attrName>style.visibility</p:attrName>
                                        </p:attrNameLst>
                                      </p:cBhvr>
                                      <p:to>
                                        <p:strVal val="visible"/>
                                      </p:to>
                                    </p:set>
                                    <p:anim calcmode="lin" valueType="num">
                                      <p:cBhvr additive="base">
                                        <p:cTn id="37" dur="500" fill="hold"/>
                                        <p:tgtEl>
                                          <p:spTgt spid="156737"/>
                                        </p:tgtEl>
                                        <p:attrNameLst>
                                          <p:attrName>ppt_x</p:attrName>
                                        </p:attrNameLst>
                                      </p:cBhvr>
                                      <p:tavLst>
                                        <p:tav tm="0">
                                          <p:val>
                                            <p:strVal val="1+#ppt_w/2"/>
                                          </p:val>
                                        </p:tav>
                                        <p:tav tm="100000">
                                          <p:val>
                                            <p:strVal val="#ppt_x"/>
                                          </p:val>
                                        </p:tav>
                                      </p:tavLst>
                                    </p:anim>
                                    <p:anim calcmode="lin" valueType="num">
                                      <p:cBhvr additive="base">
                                        <p:cTn id="38" dur="500" fill="hold"/>
                                        <p:tgtEl>
                                          <p:spTgt spid="156737"/>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56742"/>
                                        </p:tgtEl>
                                        <p:attrNameLst>
                                          <p:attrName>style.visibility</p:attrName>
                                        </p:attrNameLst>
                                      </p:cBhvr>
                                      <p:to>
                                        <p:strVal val="visible"/>
                                      </p:to>
                                    </p:set>
                                    <p:anim calcmode="lin" valueType="num">
                                      <p:cBhvr additive="base">
                                        <p:cTn id="41" dur="500" fill="hold"/>
                                        <p:tgtEl>
                                          <p:spTgt spid="156742"/>
                                        </p:tgtEl>
                                        <p:attrNameLst>
                                          <p:attrName>ppt_x</p:attrName>
                                        </p:attrNameLst>
                                      </p:cBhvr>
                                      <p:tavLst>
                                        <p:tav tm="0">
                                          <p:val>
                                            <p:strVal val="1+#ppt_w/2"/>
                                          </p:val>
                                        </p:tav>
                                        <p:tav tm="100000">
                                          <p:val>
                                            <p:strVal val="#ppt_x"/>
                                          </p:val>
                                        </p:tav>
                                      </p:tavLst>
                                    </p:anim>
                                    <p:anim calcmode="lin" valueType="num">
                                      <p:cBhvr additive="base">
                                        <p:cTn id="42" dur="500" fill="hold"/>
                                        <p:tgtEl>
                                          <p:spTgt spid="15674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56733"/>
                                        </p:tgtEl>
                                        <p:attrNameLst>
                                          <p:attrName>style.visibility</p:attrName>
                                        </p:attrNameLst>
                                      </p:cBhvr>
                                      <p:to>
                                        <p:strVal val="visible"/>
                                      </p:to>
                                    </p:set>
                                    <p:animEffect transition="in" filter="fade">
                                      <p:cBhvr>
                                        <p:cTn id="47" dur="1000"/>
                                        <p:tgtEl>
                                          <p:spTgt spid="156733"/>
                                        </p:tgtEl>
                                      </p:cBhvr>
                                    </p:animEffect>
                                    <p:anim calcmode="lin" valueType="num">
                                      <p:cBhvr>
                                        <p:cTn id="48" dur="1000" fill="hold"/>
                                        <p:tgtEl>
                                          <p:spTgt spid="156733"/>
                                        </p:tgtEl>
                                        <p:attrNameLst>
                                          <p:attrName>ppt_x</p:attrName>
                                        </p:attrNameLst>
                                      </p:cBhvr>
                                      <p:tavLst>
                                        <p:tav tm="0">
                                          <p:val>
                                            <p:strVal val="#ppt_x"/>
                                          </p:val>
                                        </p:tav>
                                        <p:tav tm="100000">
                                          <p:val>
                                            <p:strVal val="#ppt_x"/>
                                          </p:val>
                                        </p:tav>
                                      </p:tavLst>
                                    </p:anim>
                                    <p:anim calcmode="lin" valueType="num">
                                      <p:cBhvr>
                                        <p:cTn id="49" dur="1000" fill="hold"/>
                                        <p:tgtEl>
                                          <p:spTgt spid="15673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6740"/>
                                        </p:tgtEl>
                                        <p:attrNameLst>
                                          <p:attrName>style.visibility</p:attrName>
                                        </p:attrNameLst>
                                      </p:cBhvr>
                                      <p:to>
                                        <p:strVal val="visible"/>
                                      </p:to>
                                    </p:set>
                                    <p:animEffect transition="in" filter="fade">
                                      <p:cBhvr>
                                        <p:cTn id="52" dur="1000"/>
                                        <p:tgtEl>
                                          <p:spTgt spid="156740"/>
                                        </p:tgtEl>
                                      </p:cBhvr>
                                    </p:animEffect>
                                    <p:anim calcmode="lin" valueType="num">
                                      <p:cBhvr>
                                        <p:cTn id="53" dur="1000" fill="hold"/>
                                        <p:tgtEl>
                                          <p:spTgt spid="156740"/>
                                        </p:tgtEl>
                                        <p:attrNameLst>
                                          <p:attrName>ppt_x</p:attrName>
                                        </p:attrNameLst>
                                      </p:cBhvr>
                                      <p:tavLst>
                                        <p:tav tm="0">
                                          <p:val>
                                            <p:strVal val="#ppt_x"/>
                                          </p:val>
                                        </p:tav>
                                        <p:tav tm="100000">
                                          <p:val>
                                            <p:strVal val="#ppt_x"/>
                                          </p:val>
                                        </p:tav>
                                      </p:tavLst>
                                    </p:anim>
                                    <p:anim calcmode="lin" valueType="num">
                                      <p:cBhvr>
                                        <p:cTn id="54" dur="1000" fill="hold"/>
                                        <p:tgtEl>
                                          <p:spTgt spid="156740"/>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xit" presetSubtype="0" fill="hold" nodeType="clickEffect">
                                  <p:stCondLst>
                                    <p:cond delay="0"/>
                                  </p:stCondLst>
                                  <p:childTnLst>
                                    <p:animEffect transition="out" filter="fade">
                                      <p:cBhvr>
                                        <p:cTn id="58" dur="1000"/>
                                        <p:tgtEl>
                                          <p:spTgt spid="156740"/>
                                        </p:tgtEl>
                                      </p:cBhvr>
                                    </p:animEffect>
                                    <p:anim calcmode="lin" valueType="num">
                                      <p:cBhvr>
                                        <p:cTn id="59" dur="1000"/>
                                        <p:tgtEl>
                                          <p:spTgt spid="156740"/>
                                        </p:tgtEl>
                                        <p:attrNameLst>
                                          <p:attrName>ppt_x</p:attrName>
                                        </p:attrNameLst>
                                      </p:cBhvr>
                                      <p:tavLst>
                                        <p:tav tm="0">
                                          <p:val>
                                            <p:strVal val="ppt_x"/>
                                          </p:val>
                                        </p:tav>
                                        <p:tav tm="100000">
                                          <p:val>
                                            <p:strVal val="ppt_x"/>
                                          </p:val>
                                        </p:tav>
                                      </p:tavLst>
                                    </p:anim>
                                    <p:anim calcmode="lin" valueType="num">
                                      <p:cBhvr>
                                        <p:cTn id="60" dur="1000"/>
                                        <p:tgtEl>
                                          <p:spTgt spid="156740"/>
                                        </p:tgtEl>
                                        <p:attrNameLst>
                                          <p:attrName>ppt_y</p:attrName>
                                        </p:attrNameLst>
                                      </p:cBhvr>
                                      <p:tavLst>
                                        <p:tav tm="0">
                                          <p:val>
                                            <p:strVal val="ppt_y"/>
                                          </p:val>
                                        </p:tav>
                                        <p:tav tm="100000">
                                          <p:val>
                                            <p:strVal val="ppt_y+.1"/>
                                          </p:val>
                                        </p:tav>
                                      </p:tavLst>
                                    </p:anim>
                                    <p:set>
                                      <p:cBhvr>
                                        <p:cTn id="61" dur="1" fill="hold">
                                          <p:stCondLst>
                                            <p:cond delay="999"/>
                                          </p:stCondLst>
                                        </p:cTn>
                                        <p:tgtEl>
                                          <p:spTgt spid="156740"/>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1000"/>
                                        <p:tgtEl>
                                          <p:spTgt spid="3"/>
                                        </p:tgtEl>
                                      </p:cBhvr>
                                    </p:animEffect>
                                    <p:anim calcmode="lin" valueType="num">
                                      <p:cBhvr>
                                        <p:cTn id="67" dur="1000" fill="hold"/>
                                        <p:tgtEl>
                                          <p:spTgt spid="3"/>
                                        </p:tgtEl>
                                        <p:attrNameLst>
                                          <p:attrName>ppt_x</p:attrName>
                                        </p:attrNameLst>
                                      </p:cBhvr>
                                      <p:tavLst>
                                        <p:tav tm="0">
                                          <p:val>
                                            <p:strVal val="#ppt_x"/>
                                          </p:val>
                                        </p:tav>
                                        <p:tav tm="100000">
                                          <p:val>
                                            <p:strVal val="#ppt_x"/>
                                          </p:val>
                                        </p:tav>
                                      </p:tavLst>
                                    </p:anim>
                                    <p:anim calcmode="lin" valueType="num">
                                      <p:cBhvr>
                                        <p:cTn id="6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56740"/>
                                        </p:tgtEl>
                                        <p:attrNameLst>
                                          <p:attrName>style.visibility</p:attrName>
                                        </p:attrNameLst>
                                      </p:cBhvr>
                                      <p:to>
                                        <p:strVal val="visible"/>
                                      </p:to>
                                    </p:set>
                                    <p:animEffect transition="in" filter="fade">
                                      <p:cBhvr>
                                        <p:cTn id="73" dur="1000"/>
                                        <p:tgtEl>
                                          <p:spTgt spid="156740"/>
                                        </p:tgtEl>
                                      </p:cBhvr>
                                    </p:animEffect>
                                    <p:anim calcmode="lin" valueType="num">
                                      <p:cBhvr>
                                        <p:cTn id="74" dur="1000" fill="hold"/>
                                        <p:tgtEl>
                                          <p:spTgt spid="156740"/>
                                        </p:tgtEl>
                                        <p:attrNameLst>
                                          <p:attrName>ppt_x</p:attrName>
                                        </p:attrNameLst>
                                      </p:cBhvr>
                                      <p:tavLst>
                                        <p:tav tm="0">
                                          <p:val>
                                            <p:strVal val="#ppt_x"/>
                                          </p:val>
                                        </p:tav>
                                        <p:tav tm="100000">
                                          <p:val>
                                            <p:strVal val="#ppt_x"/>
                                          </p:val>
                                        </p:tav>
                                      </p:tavLst>
                                    </p:anim>
                                    <p:anim calcmode="lin" valueType="num">
                                      <p:cBhvr>
                                        <p:cTn id="75" dur="1000" fill="hold"/>
                                        <p:tgtEl>
                                          <p:spTgt spid="1567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29" grpId="0" bldLvl="0" animBg="1"/>
      <p:bldP spid="156731" grpId="0" bldLvl="0" animBg="1"/>
      <p:bldP spid="156733" grpId="0" bldLvl="0" animBg="1"/>
      <p:bldP spid="156735" grpId="0" bldLvl="0" animBg="1"/>
      <p:bldP spid="156737" grpId="0" bldLvl="0" animBg="1"/>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15" name="Rectangle 19"/>
          <p:cNvSpPr>
            <a:spLocks noGrp="1" noChangeArrowheads="1"/>
          </p:cNvSpPr>
          <p:nvPr>
            <p:ph type="title"/>
          </p:nvPr>
        </p:nvSpPr>
        <p:spPr>
          <a:noFill/>
        </p:spPr>
        <p:txBody>
          <a:bodyPr anchorCtr="0">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rPr>
              <a:t>Quiz</a:t>
            </a:r>
            <a:endParaRPr lang="en-US" altLang="zh-CN" dirty="0">
              <a:solidFill>
                <a:schemeClr val="bg1"/>
              </a:solidFill>
              <a:effectLst>
                <a:outerShdw blurRad="38100" dist="25400" dir="5400000" algn="ctr" rotWithShape="0">
                  <a:srgbClr val="6E747A">
                    <a:alpha val="43000"/>
                  </a:srgbClr>
                </a:outerShdw>
              </a:effectLst>
            </a:endParaRPr>
          </a:p>
        </p:txBody>
      </p:sp>
      <p:sp>
        <p:nvSpPr>
          <p:cNvPr id="157716" name="Rectangle 20"/>
          <p:cNvSpPr>
            <a:spLocks noGrp="1" noChangeArrowheads="1"/>
          </p:cNvSpPr>
          <p:nvPr>
            <p:ph idx="1"/>
          </p:nvPr>
        </p:nvSpPr>
        <p:spPr>
          <a:noFill/>
        </p:spPr>
        <p:txBody>
          <a:bodyPr/>
          <a:lstStyle/>
          <a:p>
            <a:pPr>
              <a:lnSpc>
                <a:spcPct val="120000"/>
              </a:lnSpc>
            </a:pPr>
            <a:r>
              <a:rPr lang="en-US" altLang="zh-CN" sz="2400" dirty="0">
                <a:latin typeface="Times New Roman" panose="02020603050405020304" pitchFamily="18" charset="0"/>
                <a:cs typeface="Times New Roman" panose="02020603050405020304" pitchFamily="18" charset="0"/>
              </a:rPr>
              <a:t>For any sequences with n different elements, how many BSTs can be created?</a:t>
            </a: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How about the </a:t>
            </a:r>
            <a:r>
              <a:rPr lang="en-US" altLang="zh-CN" sz="2400" dirty="0" err="1">
                <a:latin typeface="Times New Roman" panose="02020603050405020304" pitchFamily="18" charset="0"/>
                <a:cs typeface="Times New Roman" panose="02020603050405020304" pitchFamily="18" charset="0"/>
              </a:rPr>
              <a:t>inorder</a:t>
            </a:r>
            <a:r>
              <a:rPr lang="en-US" altLang="zh-CN" sz="2400" dirty="0">
                <a:latin typeface="Times New Roman" panose="02020603050405020304" pitchFamily="18" charset="0"/>
                <a:cs typeface="Times New Roman" panose="02020603050405020304" pitchFamily="18" charset="0"/>
              </a:rPr>
              <a:t> output of different BST?</a:t>
            </a:r>
            <a:endParaRPr lang="en-US" altLang="zh-CN" sz="2400" dirty="0">
              <a:latin typeface="Times New Roman" panose="02020603050405020304" pitchFamily="18" charset="0"/>
              <a:cs typeface="Times New Roman" panose="02020603050405020304" pitchFamily="18" charset="0"/>
            </a:endParaRPr>
          </a:p>
          <a:p>
            <a:pPr marL="0" indent="0">
              <a:lnSpc>
                <a:spcPct val="120000"/>
              </a:lnSpc>
              <a:buNone/>
            </a:pPr>
            <a:r>
              <a:rPr lang="en-US" altLang="zh-CN" sz="2400" dirty="0">
                <a:latin typeface="Times New Roman" panose="02020603050405020304" pitchFamily="18" charset="0"/>
                <a:cs typeface="Times New Roman" panose="02020603050405020304" pitchFamily="18" charset="0"/>
              </a:rPr>
              <a:t>  	 1, 2, 3, …, n-1, n</a:t>
            </a: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How many preorder outputs of these BSTs?</a:t>
            </a:r>
            <a:endParaRPr lang="en-US" altLang="zh-CN" sz="2400" dirty="0">
              <a:latin typeface="Times New Roman" panose="02020603050405020304" pitchFamily="18" charset="0"/>
              <a:cs typeface="Times New Roman" panose="02020603050405020304" pitchFamily="18" charset="0"/>
            </a:endParaRPr>
          </a:p>
        </p:txBody>
      </p:sp>
      <p:grpSp>
        <p:nvGrpSpPr>
          <p:cNvPr id="19" name="Group 77"/>
          <p:cNvGrpSpPr/>
          <p:nvPr/>
        </p:nvGrpSpPr>
        <p:grpSpPr bwMode="auto">
          <a:xfrm>
            <a:off x="2736850" y="3862070"/>
            <a:ext cx="3342640" cy="982345"/>
            <a:chOff x="2880" y="210"/>
            <a:chExt cx="2630" cy="680"/>
          </a:xfrm>
        </p:grpSpPr>
        <p:sp>
          <p:nvSpPr>
            <p:cNvPr id="20" name="Rectangle 75"/>
            <p:cNvSpPr>
              <a:spLocks noChangeArrowheads="1"/>
            </p:cNvSpPr>
            <p:nvPr/>
          </p:nvSpPr>
          <p:spPr bwMode="auto">
            <a:xfrm>
              <a:off x="2880" y="210"/>
              <a:ext cx="2630" cy="680"/>
            </a:xfrm>
            <a:prstGeom prst="rect">
              <a:avLst/>
            </a:prstGeom>
            <a:solidFill>
              <a:srgbClr val="CC0000"/>
            </a:solidFill>
            <a:ln>
              <a:noFill/>
            </a:ln>
            <a:effectLst>
              <a:outerShdw dist="107763" dir="2700000" algn="ctr" rotWithShape="0">
                <a:srgbClr val="333333"/>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350"/>
            </a:p>
          </p:txBody>
        </p:sp>
        <p:graphicFrame>
          <p:nvGraphicFramePr>
            <p:cNvPr id="21" name="Object 76"/>
            <p:cNvGraphicFramePr>
              <a:graphicFrameLocks noChangeAspect="1"/>
            </p:cNvGraphicFramePr>
            <p:nvPr/>
          </p:nvGraphicFramePr>
          <p:xfrm>
            <a:off x="2926" y="252"/>
            <a:ext cx="2538" cy="596"/>
          </p:xfrm>
          <a:graphic>
            <a:graphicData uri="http://schemas.openxmlformats.org/presentationml/2006/ole">
              <mc:AlternateContent xmlns:mc="http://schemas.openxmlformats.org/markup-compatibility/2006">
                <mc:Choice xmlns:v="urn:schemas-microsoft-com:vml" Requires="v">
                  <p:oleObj spid="_x0000_s301210" name="Equation" r:id="rId1" imgW="1675765" imgH="393700" progId="Equation.DSMT4">
                    <p:embed/>
                  </p:oleObj>
                </mc:Choice>
                <mc:Fallback>
                  <p:oleObj name="Equation" r:id="rId1" imgW="1675765" imgH="393700" progId="Equation.DSMT4">
                    <p:embed/>
                    <p:pic>
                      <p:nvPicPr>
                        <p:cNvPr id="0" name="图片 301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 y="252"/>
                          <a:ext cx="2538" cy="596"/>
                        </a:xfrm>
                        <a:prstGeom prst="rect">
                          <a:avLst/>
                        </a:prstGeom>
                        <a:solidFill>
                          <a:srgbClr val="FFFF99"/>
                        </a:solidFill>
                        <a:ln>
                          <a:noFill/>
                        </a:ln>
                        <a:effectLst>
                          <a:outerShdw dist="107763" dir="2700000" algn="ctr" rotWithShape="0">
                            <a:srgbClr val="3333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7716">
                                            <p:txEl>
                                              <p:pRg st="1" end="1"/>
                                            </p:txEl>
                                          </p:spTgt>
                                        </p:tgtEl>
                                        <p:attrNameLst>
                                          <p:attrName>style.visibility</p:attrName>
                                        </p:attrNameLst>
                                      </p:cBhvr>
                                      <p:to>
                                        <p:strVal val="visible"/>
                                      </p:to>
                                    </p:set>
                                    <p:animEffect transition="in" filter="fade">
                                      <p:cBhvr>
                                        <p:cTn id="7" dur="1000"/>
                                        <p:tgtEl>
                                          <p:spTgt spid="157716">
                                            <p:txEl>
                                              <p:pRg st="1" end="1"/>
                                            </p:txEl>
                                          </p:spTgt>
                                        </p:tgtEl>
                                      </p:cBhvr>
                                    </p:animEffect>
                                    <p:anim calcmode="lin" valueType="num">
                                      <p:cBhvr>
                                        <p:cTn id="8" dur="1000" fill="hold"/>
                                        <p:tgtEl>
                                          <p:spTgt spid="15771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771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7716">
                                            <p:txEl>
                                              <p:pRg st="2" end="2"/>
                                            </p:txEl>
                                          </p:spTgt>
                                        </p:tgtEl>
                                        <p:attrNameLst>
                                          <p:attrName>style.visibility</p:attrName>
                                        </p:attrNameLst>
                                      </p:cBhvr>
                                      <p:to>
                                        <p:strVal val="visible"/>
                                      </p:to>
                                    </p:set>
                                    <p:animEffect transition="in" filter="fade">
                                      <p:cBhvr>
                                        <p:cTn id="12" dur="1000"/>
                                        <p:tgtEl>
                                          <p:spTgt spid="157716">
                                            <p:txEl>
                                              <p:pRg st="2" end="2"/>
                                            </p:txEl>
                                          </p:spTgt>
                                        </p:tgtEl>
                                      </p:cBhvr>
                                    </p:animEffect>
                                    <p:anim calcmode="lin" valueType="num">
                                      <p:cBhvr>
                                        <p:cTn id="13" dur="1000" fill="hold"/>
                                        <p:tgtEl>
                                          <p:spTgt spid="15771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577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7716">
                                            <p:txEl>
                                              <p:pRg st="3" end="3"/>
                                            </p:txEl>
                                          </p:spTgt>
                                        </p:tgtEl>
                                        <p:attrNameLst>
                                          <p:attrName>style.visibility</p:attrName>
                                        </p:attrNameLst>
                                      </p:cBhvr>
                                      <p:to>
                                        <p:strVal val="visible"/>
                                      </p:to>
                                    </p:set>
                                    <p:animEffect transition="in" filter="fade">
                                      <p:cBhvr>
                                        <p:cTn id="19" dur="1000"/>
                                        <p:tgtEl>
                                          <p:spTgt spid="157716">
                                            <p:txEl>
                                              <p:pRg st="3" end="3"/>
                                            </p:txEl>
                                          </p:spTgt>
                                        </p:tgtEl>
                                      </p:cBhvr>
                                    </p:animEffect>
                                    <p:anim calcmode="lin" valueType="num">
                                      <p:cBhvr>
                                        <p:cTn id="20" dur="1000" fill="hold"/>
                                        <p:tgtEl>
                                          <p:spTgt spid="15771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577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15" name="Rectangle 19"/>
          <p:cNvSpPr>
            <a:spLocks noGrp="1" noChangeArrowheads="1"/>
          </p:cNvSpPr>
          <p:nvPr>
            <p:ph type="title"/>
          </p:nvPr>
        </p:nvSpPr>
        <p:spPr>
          <a:noFill/>
        </p:spPr>
        <p:txBody>
          <a:bodyPr anchorCtr="0">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rPr>
              <a:t>Quiz</a:t>
            </a:r>
            <a:endParaRPr lang="en-US" altLang="zh-CN" dirty="0">
              <a:solidFill>
                <a:schemeClr val="bg1"/>
              </a:solidFill>
              <a:effectLst>
                <a:outerShdw blurRad="38100" dist="25400" dir="5400000" algn="ctr" rotWithShape="0">
                  <a:srgbClr val="6E747A">
                    <a:alpha val="43000"/>
                  </a:srgbClr>
                </a:outerShdw>
              </a:effectLst>
            </a:endParaRPr>
          </a:p>
        </p:txBody>
      </p:sp>
      <p:sp>
        <p:nvSpPr>
          <p:cNvPr id="157716" name="Rectangle 20"/>
          <p:cNvSpPr>
            <a:spLocks noGrp="1" noChangeArrowheads="1"/>
          </p:cNvSpPr>
          <p:nvPr>
            <p:ph idx="1"/>
          </p:nvPr>
        </p:nvSpPr>
        <p:spPr>
          <a:noFill/>
        </p:spPr>
        <p:txBody>
          <a:bodyPr/>
          <a:lstStyle/>
          <a:p>
            <a:pPr>
              <a:lnSpc>
                <a:spcPct val="120000"/>
              </a:lnSpc>
            </a:pPr>
            <a:r>
              <a:rPr lang="en-US" altLang="zh-CN" sz="2800" dirty="0">
                <a:latin typeface="Times New Roman" panose="02020603050405020304" pitchFamily="18" charset="0"/>
                <a:cs typeface="Times New Roman" panose="02020603050405020304" pitchFamily="18" charset="0"/>
              </a:rPr>
              <a:t>For the below BST, how many different input arrays of </a:t>
            </a:r>
            <a:r>
              <a:rPr lang="en-US" altLang="zh-CN" sz="2800" b="1" dirty="0">
                <a:solidFill>
                  <a:srgbClr val="FF0000"/>
                </a:solidFill>
                <a:latin typeface="Times New Roman" panose="02020603050405020304" pitchFamily="18" charset="0"/>
                <a:cs typeface="Times New Roman" panose="02020603050405020304" pitchFamily="18" charset="0"/>
              </a:rPr>
              <a:t>1,2,3,4,5,6,7</a:t>
            </a:r>
            <a:r>
              <a:rPr lang="en-US" altLang="zh-CN" sz="2800" dirty="0">
                <a:solidFill>
                  <a:srgbClr val="FF0000"/>
                </a:solidFill>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can setup this BST? </a:t>
            </a:r>
            <a:endParaRPr lang="en-US" altLang="zh-CN" sz="2800" dirty="0">
              <a:latin typeface="Times New Roman" panose="02020603050405020304" pitchFamily="18" charset="0"/>
              <a:cs typeface="Times New Roman" panose="02020603050405020304" pitchFamily="18" charset="0"/>
            </a:endParaRPr>
          </a:p>
        </p:txBody>
      </p:sp>
      <p:grpSp>
        <p:nvGrpSpPr>
          <p:cNvPr id="2" name="组合 1"/>
          <p:cNvGrpSpPr/>
          <p:nvPr/>
        </p:nvGrpSpPr>
        <p:grpSpPr>
          <a:xfrm>
            <a:off x="2843530" y="2995295"/>
            <a:ext cx="2758440" cy="2281555"/>
            <a:chOff x="1474788" y="3933825"/>
            <a:chExt cx="3097212" cy="2522538"/>
          </a:xfrm>
        </p:grpSpPr>
        <p:sp>
          <p:nvSpPr>
            <p:cNvPr id="157717" name="Oval 21"/>
            <p:cNvSpPr>
              <a:spLocks noChangeArrowheads="1"/>
            </p:cNvSpPr>
            <p:nvPr/>
          </p:nvSpPr>
          <p:spPr bwMode="auto">
            <a:xfrm>
              <a:off x="2122488" y="5229225"/>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2</a:t>
              </a:r>
              <a:endParaRPr lang="en-US" altLang="zh-CN" b="1">
                <a:solidFill>
                  <a:srgbClr val="FF0000"/>
                </a:solidFill>
              </a:endParaRPr>
            </a:p>
          </p:txBody>
        </p:sp>
        <p:sp>
          <p:nvSpPr>
            <p:cNvPr id="157718" name="Oval 22"/>
            <p:cNvSpPr>
              <a:spLocks noChangeArrowheads="1"/>
            </p:cNvSpPr>
            <p:nvPr/>
          </p:nvSpPr>
          <p:spPr bwMode="auto">
            <a:xfrm>
              <a:off x="3419475" y="3933825"/>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5</a:t>
              </a:r>
              <a:endParaRPr lang="en-US" altLang="zh-CN" b="1">
                <a:solidFill>
                  <a:srgbClr val="FF0000"/>
                </a:solidFill>
              </a:endParaRPr>
            </a:p>
          </p:txBody>
        </p:sp>
        <p:sp>
          <p:nvSpPr>
            <p:cNvPr id="157719" name="Oval 23"/>
            <p:cNvSpPr>
              <a:spLocks noChangeArrowheads="1"/>
            </p:cNvSpPr>
            <p:nvPr/>
          </p:nvSpPr>
          <p:spPr bwMode="auto">
            <a:xfrm>
              <a:off x="2771775" y="4581525"/>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4</a:t>
              </a:r>
              <a:endParaRPr lang="en-US" altLang="zh-CN" b="1">
                <a:solidFill>
                  <a:srgbClr val="FF0000"/>
                </a:solidFill>
              </a:endParaRPr>
            </a:p>
          </p:txBody>
        </p:sp>
        <p:sp>
          <p:nvSpPr>
            <p:cNvPr id="157720" name="Oval 24"/>
            <p:cNvSpPr>
              <a:spLocks noChangeArrowheads="1"/>
            </p:cNvSpPr>
            <p:nvPr/>
          </p:nvSpPr>
          <p:spPr bwMode="auto">
            <a:xfrm>
              <a:off x="4067175" y="4652963"/>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7</a:t>
              </a:r>
              <a:endParaRPr lang="en-US" altLang="zh-CN" b="1">
                <a:solidFill>
                  <a:srgbClr val="FF0000"/>
                </a:solidFill>
              </a:endParaRPr>
            </a:p>
          </p:txBody>
        </p:sp>
        <p:sp>
          <p:nvSpPr>
            <p:cNvPr id="157721" name="Oval 25"/>
            <p:cNvSpPr>
              <a:spLocks noChangeArrowheads="1"/>
            </p:cNvSpPr>
            <p:nvPr/>
          </p:nvSpPr>
          <p:spPr bwMode="auto">
            <a:xfrm>
              <a:off x="3562350" y="5373688"/>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6</a:t>
              </a:r>
              <a:endParaRPr lang="en-US" altLang="zh-CN" b="1">
                <a:solidFill>
                  <a:srgbClr val="FF0000"/>
                </a:solidFill>
              </a:endParaRPr>
            </a:p>
          </p:txBody>
        </p:sp>
        <p:sp>
          <p:nvSpPr>
            <p:cNvPr id="157722" name="Oval 26"/>
            <p:cNvSpPr>
              <a:spLocks noChangeArrowheads="1"/>
            </p:cNvSpPr>
            <p:nvPr/>
          </p:nvSpPr>
          <p:spPr bwMode="auto">
            <a:xfrm>
              <a:off x="1474788" y="5878513"/>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1</a:t>
              </a:r>
              <a:endParaRPr lang="en-US" altLang="zh-CN" b="1">
                <a:solidFill>
                  <a:srgbClr val="FF0000"/>
                </a:solidFill>
              </a:endParaRPr>
            </a:p>
          </p:txBody>
        </p:sp>
        <p:sp>
          <p:nvSpPr>
            <p:cNvPr id="157723" name="Oval 27"/>
            <p:cNvSpPr>
              <a:spLocks noChangeArrowheads="1"/>
            </p:cNvSpPr>
            <p:nvPr/>
          </p:nvSpPr>
          <p:spPr bwMode="auto">
            <a:xfrm>
              <a:off x="2843213" y="5951538"/>
              <a:ext cx="504825" cy="504825"/>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3</a:t>
              </a:r>
              <a:endParaRPr lang="en-US" altLang="zh-CN" b="1">
                <a:solidFill>
                  <a:srgbClr val="FF0000"/>
                </a:solidFill>
              </a:endParaRPr>
            </a:p>
          </p:txBody>
        </p:sp>
        <p:cxnSp>
          <p:nvCxnSpPr>
            <p:cNvPr id="157724" name="AutoShape 28"/>
            <p:cNvCxnSpPr>
              <a:cxnSpLocks noChangeShapeType="1"/>
              <a:stCxn id="157718" idx="3"/>
              <a:endCxn id="157719" idx="7"/>
            </p:cNvCxnSpPr>
            <p:nvPr/>
          </p:nvCxnSpPr>
          <p:spPr bwMode="auto">
            <a:xfrm flipH="1">
              <a:off x="3201988" y="4378325"/>
              <a:ext cx="292100" cy="26352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5" name="AutoShape 29"/>
            <p:cNvCxnSpPr>
              <a:cxnSpLocks noChangeShapeType="1"/>
              <a:stCxn id="157717" idx="3"/>
              <a:endCxn id="157722" idx="7"/>
            </p:cNvCxnSpPr>
            <p:nvPr/>
          </p:nvCxnSpPr>
          <p:spPr bwMode="auto">
            <a:xfrm flipH="1">
              <a:off x="1905000" y="5673725"/>
              <a:ext cx="292100" cy="2651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6" name="AutoShape 30"/>
            <p:cNvCxnSpPr>
              <a:cxnSpLocks noChangeShapeType="1"/>
              <a:stCxn id="157720" idx="3"/>
              <a:endCxn id="157721" idx="0"/>
            </p:cNvCxnSpPr>
            <p:nvPr/>
          </p:nvCxnSpPr>
          <p:spPr bwMode="auto">
            <a:xfrm flipH="1">
              <a:off x="3814763" y="5097463"/>
              <a:ext cx="327025" cy="26193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7" name="AutoShape 31"/>
            <p:cNvCxnSpPr>
              <a:cxnSpLocks noChangeShapeType="1"/>
              <a:stCxn id="157717" idx="5"/>
              <a:endCxn id="157723" idx="1"/>
            </p:cNvCxnSpPr>
            <p:nvPr/>
          </p:nvCxnSpPr>
          <p:spPr bwMode="auto">
            <a:xfrm>
              <a:off x="2552700" y="5673725"/>
              <a:ext cx="365125" cy="33813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8" name="AutoShape 32"/>
            <p:cNvCxnSpPr>
              <a:cxnSpLocks noChangeShapeType="1"/>
              <a:stCxn id="157719" idx="3"/>
              <a:endCxn id="157717" idx="7"/>
            </p:cNvCxnSpPr>
            <p:nvPr/>
          </p:nvCxnSpPr>
          <p:spPr bwMode="auto">
            <a:xfrm flipH="1">
              <a:off x="2552700" y="5026025"/>
              <a:ext cx="293688" cy="26352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9" name="AutoShape 33"/>
            <p:cNvCxnSpPr>
              <a:cxnSpLocks noChangeShapeType="1"/>
              <a:stCxn id="157718" idx="5"/>
              <a:endCxn id="157720" idx="1"/>
            </p:cNvCxnSpPr>
            <p:nvPr/>
          </p:nvCxnSpPr>
          <p:spPr bwMode="auto">
            <a:xfrm>
              <a:off x="3849688" y="4378325"/>
              <a:ext cx="292100" cy="33496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a:t>8.3.4 </a:t>
            </a:r>
            <a:r>
              <a:rPr kumimoji="1" lang="en-US" altLang="zh-CN" dirty="0">
                <a:solidFill>
                  <a:schemeClr val="bg1"/>
                </a:solidFill>
                <a:ea typeface="幼圆" panose="02010509060101010101" pitchFamily="49" charset="-122"/>
                <a:cs typeface="Times New Roman" panose="02020603050405020304" pitchFamily="18" charset="0"/>
                <a:sym typeface="+mn-ea"/>
              </a:rPr>
              <a:t>Node removal of BST</a:t>
            </a:r>
            <a:endParaRPr kumimoji="1" lang="en-US" altLang="zh-CN" dirty="0">
              <a:solidFill>
                <a:schemeClr val="bg1"/>
              </a:solidFill>
              <a:ea typeface="幼圆" panose="02010509060101010101" pitchFamily="49" charset="-122"/>
              <a:cs typeface="Times New Roman" panose="02020603050405020304" pitchFamily="18" charset="0"/>
              <a:sym typeface="+mn-ea"/>
            </a:endParaRPr>
          </a:p>
        </p:txBody>
      </p:sp>
      <p:sp>
        <p:nvSpPr>
          <p:cNvPr id="59397" name="Text Box 5"/>
          <p:cNvSpPr txBox="1">
            <a:spLocks noChangeArrowheads="1"/>
          </p:cNvSpPr>
          <p:nvPr/>
        </p:nvSpPr>
        <p:spPr bwMode="auto">
          <a:xfrm>
            <a:off x="583565" y="1096010"/>
            <a:ext cx="8032750" cy="5418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nSpc>
                <a:spcPct val="15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要删除二叉排序树的某个结点而仍然保持二叉排序树的规则比插入一个结点要</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复杂些</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。需要考虑三种情况：</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没有孩子结点</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只有左子树或只有右子树</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左右子树均不空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285750" indent="-285750">
              <a:lnSpc>
                <a:spcPct val="15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假设指针</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指向要删除的结点</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指针</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f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指向*</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的父结点，并且</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假设*</a:t>
            </a:r>
            <a:r>
              <a:rPr kumimoji="1" lang="en-US" altLang="zh-CN" sz="2000"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p</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是*</a:t>
            </a:r>
            <a:r>
              <a:rPr kumimoji="1" lang="en-US" altLang="zh-CN" sz="2000"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f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的左孩子</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，如图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2" name="组合 1"/>
          <p:cNvGrpSpPr/>
          <p:nvPr/>
        </p:nvGrpSpPr>
        <p:grpSpPr>
          <a:xfrm>
            <a:off x="4398645" y="4180840"/>
            <a:ext cx="1839595" cy="2102397"/>
            <a:chOff x="3648075" y="4292600"/>
            <a:chExt cx="1787525" cy="2328844"/>
          </a:xfrm>
        </p:grpSpPr>
        <p:grpSp>
          <p:nvGrpSpPr>
            <p:cNvPr id="59432" name="Group 40"/>
            <p:cNvGrpSpPr/>
            <p:nvPr/>
          </p:nvGrpSpPr>
          <p:grpSpPr bwMode="auto">
            <a:xfrm>
              <a:off x="3648075" y="4292600"/>
              <a:ext cx="1787525" cy="2092325"/>
              <a:chOff x="2298" y="2416"/>
              <a:chExt cx="1126" cy="1318"/>
            </a:xfrm>
          </p:grpSpPr>
          <p:sp>
            <p:nvSpPr>
              <p:cNvPr id="59401" name="Oval 9"/>
              <p:cNvSpPr>
                <a:spLocks noChangeArrowheads="1"/>
              </p:cNvSpPr>
              <p:nvPr/>
            </p:nvSpPr>
            <p:spPr bwMode="auto">
              <a:xfrm>
                <a:off x="3018" y="2651"/>
                <a:ext cx="239" cy="2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F</a:t>
                </a:r>
                <a:endParaRPr kumimoji="1" lang="en-US" altLang="zh-CN" dirty="0">
                  <a:latin typeface="Times New Roman" panose="02020603050405020304" pitchFamily="18" charset="0"/>
                </a:endParaRPr>
              </a:p>
            </p:txBody>
          </p:sp>
          <p:sp>
            <p:nvSpPr>
              <p:cNvPr id="59402" name="Oval 10"/>
              <p:cNvSpPr>
                <a:spLocks noChangeArrowheads="1"/>
              </p:cNvSpPr>
              <p:nvPr/>
            </p:nvSpPr>
            <p:spPr bwMode="auto">
              <a:xfrm>
                <a:off x="2741" y="2953"/>
                <a:ext cx="239" cy="2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P</a:t>
                </a:r>
                <a:endParaRPr kumimoji="1" lang="en-US" altLang="zh-CN" dirty="0">
                  <a:latin typeface="Times New Roman" panose="02020603050405020304" pitchFamily="18" charset="0"/>
                </a:endParaRPr>
              </a:p>
            </p:txBody>
          </p:sp>
          <p:cxnSp>
            <p:nvCxnSpPr>
              <p:cNvPr id="59403" name="AutoShape 11"/>
              <p:cNvCxnSpPr>
                <a:cxnSpLocks noChangeShapeType="1"/>
                <a:stCxn id="59401" idx="3"/>
                <a:endCxn id="59402" idx="7"/>
              </p:cNvCxnSpPr>
              <p:nvPr/>
            </p:nvCxnSpPr>
            <p:spPr bwMode="auto">
              <a:xfrm flipH="1">
                <a:off x="2945" y="2881"/>
                <a:ext cx="108" cy="10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405" name="AutoShape 13"/>
              <p:cNvCxnSpPr>
                <a:cxnSpLocks noChangeShapeType="1"/>
                <a:stCxn id="59402" idx="3"/>
                <a:endCxn id="59406" idx="8"/>
              </p:cNvCxnSpPr>
              <p:nvPr/>
            </p:nvCxnSpPr>
            <p:spPr bwMode="auto">
              <a:xfrm flipH="1">
                <a:off x="2596" y="3183"/>
                <a:ext cx="180" cy="14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06" name="AutoShape 14"/>
              <p:cNvSpPr>
                <a:spLocks noChangeArrowheads="1"/>
              </p:cNvSpPr>
              <p:nvPr/>
            </p:nvSpPr>
            <p:spPr bwMode="auto">
              <a:xfrm flipH="1" flipV="1">
                <a:off x="2298" y="3385"/>
                <a:ext cx="318" cy="349"/>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endParaRPr kumimoji="1" lang="en-US" altLang="zh-CN">
                  <a:solidFill>
                    <a:srgbClr val="FF0000"/>
                  </a:solidFill>
                  <a:latin typeface="Times New Roman" panose="02020603050405020304" pitchFamily="18" charset="0"/>
                </a:endParaRPr>
              </a:p>
              <a:p>
                <a:pPr algn="ctr"/>
                <a:endParaRPr kumimoji="1" lang="en-US" altLang="zh-CN">
                  <a:solidFill>
                    <a:srgbClr val="FF0000"/>
                  </a:solidFill>
                  <a:latin typeface="Times New Roman" panose="02020603050405020304" pitchFamily="18" charset="0"/>
                </a:endParaRPr>
              </a:p>
              <a:p>
                <a:pPr algn="ctr"/>
                <a:r>
                  <a:rPr kumimoji="1" lang="en-US" altLang="zh-CN">
                    <a:solidFill>
                      <a:srgbClr val="FF0000"/>
                    </a:solidFill>
                    <a:latin typeface="Times New Roman" panose="02020603050405020304" pitchFamily="18" charset="0"/>
                  </a:rPr>
                  <a:t>P</a:t>
                </a:r>
                <a:r>
                  <a:rPr kumimoji="1" lang="en-US" altLang="zh-CN" baseline="-25000">
                    <a:solidFill>
                      <a:srgbClr val="FF0000"/>
                    </a:solidFill>
                    <a:latin typeface="Times New Roman" panose="02020603050405020304" pitchFamily="18" charset="0"/>
                  </a:rPr>
                  <a:t>L</a:t>
                </a:r>
                <a:endParaRPr kumimoji="1" lang="en-US" altLang="zh-CN" baseline="-25000">
                  <a:solidFill>
                    <a:srgbClr val="FF0000"/>
                  </a:solidFill>
                  <a:latin typeface="Times New Roman" panose="02020603050405020304" pitchFamily="18" charset="0"/>
                </a:endParaRPr>
              </a:p>
            </p:txBody>
          </p:sp>
          <p:sp>
            <p:nvSpPr>
              <p:cNvPr id="59410" name="AutoShape 18"/>
              <p:cNvSpPr>
                <a:spLocks noChangeArrowheads="1"/>
              </p:cNvSpPr>
              <p:nvPr/>
            </p:nvSpPr>
            <p:spPr bwMode="auto">
              <a:xfrm flipV="1">
                <a:off x="3106" y="3384"/>
                <a:ext cx="318" cy="350"/>
              </a:xfrm>
              <a:prstGeom prst="wedgeEllipseCallout">
                <a:avLst>
                  <a:gd name="adj1" fmla="val -43750"/>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r>
                  <a:rPr kumimoji="1" lang="en-US" altLang="zh-CN">
                    <a:solidFill>
                      <a:srgbClr val="FF0000"/>
                    </a:solidFill>
                    <a:latin typeface="Times New Roman" panose="02020603050405020304" pitchFamily="18" charset="0"/>
                  </a:rPr>
                  <a:t>P</a:t>
                </a:r>
                <a:r>
                  <a:rPr kumimoji="1" lang="en-US" altLang="zh-CN" baseline="-25000">
                    <a:solidFill>
                      <a:srgbClr val="FF0000"/>
                    </a:solidFill>
                    <a:latin typeface="Times New Roman" panose="02020603050405020304" pitchFamily="18" charset="0"/>
                  </a:rPr>
                  <a:t>R</a:t>
                </a:r>
                <a:endParaRPr kumimoji="1" lang="en-US" altLang="zh-CN" baseline="-25000">
                  <a:solidFill>
                    <a:srgbClr val="FF0000"/>
                  </a:solidFill>
                  <a:latin typeface="Times New Roman" panose="02020603050405020304" pitchFamily="18" charset="0"/>
                </a:endParaRPr>
              </a:p>
            </p:txBody>
          </p:sp>
          <p:cxnSp>
            <p:nvCxnSpPr>
              <p:cNvPr id="59411" name="AutoShape 19"/>
              <p:cNvCxnSpPr>
                <a:cxnSpLocks noChangeShapeType="1"/>
                <a:stCxn id="59402" idx="5"/>
                <a:endCxn id="59410" idx="8"/>
              </p:cNvCxnSpPr>
              <p:nvPr/>
            </p:nvCxnSpPr>
            <p:spPr bwMode="auto">
              <a:xfrm>
                <a:off x="2945" y="3183"/>
                <a:ext cx="180" cy="18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418" name="Line 26"/>
              <p:cNvSpPr>
                <a:spLocks noChangeShapeType="1"/>
              </p:cNvSpPr>
              <p:nvPr/>
            </p:nvSpPr>
            <p:spPr bwMode="auto">
              <a:xfrm>
                <a:off x="3218" y="2867"/>
                <a:ext cx="159" cy="173"/>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59419" name="Text Box 27"/>
              <p:cNvSpPr txBox="1">
                <a:spLocks noChangeArrowheads="1"/>
              </p:cNvSpPr>
              <p:nvPr/>
            </p:nvSpPr>
            <p:spPr bwMode="auto">
              <a:xfrm>
                <a:off x="2699" y="2416"/>
                <a:ext cx="218"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59420" name="Text Box 28"/>
              <p:cNvSpPr txBox="1">
                <a:spLocks noChangeArrowheads="1"/>
              </p:cNvSpPr>
              <p:nvPr/>
            </p:nvSpPr>
            <p:spPr bwMode="auto">
              <a:xfrm>
                <a:off x="2472" y="2688"/>
                <a:ext cx="250"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i="1">
                    <a:latin typeface="Times New Roman" panose="02020603050405020304" pitchFamily="18" charset="0"/>
                  </a:rPr>
                  <a:t>p</a:t>
                </a:r>
                <a:endParaRPr kumimoji="1" lang="en-US" altLang="zh-CN" i="1">
                  <a:latin typeface="Times New Roman" panose="02020603050405020304" pitchFamily="18" charset="0"/>
                </a:endParaRPr>
              </a:p>
            </p:txBody>
          </p:sp>
          <p:cxnSp>
            <p:nvCxnSpPr>
              <p:cNvPr id="59421" name="AutoShape 29"/>
              <p:cNvCxnSpPr>
                <a:cxnSpLocks noChangeShapeType="1"/>
              </p:cNvCxnSpPr>
              <p:nvPr/>
            </p:nvCxnSpPr>
            <p:spPr bwMode="auto">
              <a:xfrm>
                <a:off x="2884" y="2539"/>
                <a:ext cx="181" cy="1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422" name="AutoShape 30"/>
              <p:cNvCxnSpPr>
                <a:cxnSpLocks noChangeShapeType="1"/>
              </p:cNvCxnSpPr>
              <p:nvPr/>
            </p:nvCxnSpPr>
            <p:spPr bwMode="auto">
              <a:xfrm>
                <a:off x="2642" y="2828"/>
                <a:ext cx="181" cy="1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429" name="Text Box 37"/>
            <p:cNvSpPr txBox="1">
              <a:spLocks noChangeArrowheads="1"/>
            </p:cNvSpPr>
            <p:nvPr/>
          </p:nvSpPr>
          <p:spPr bwMode="auto">
            <a:xfrm>
              <a:off x="4283968" y="6213475"/>
              <a:ext cx="582507" cy="407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rPr>
                <a:t>(a)</a:t>
              </a:r>
              <a:endParaRPr kumimoji="1" lang="en-US" altLang="zh-CN"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9397">
                                            <p:txEl>
                                              <p:pRg st="1" end="1"/>
                                            </p:txEl>
                                          </p:spTgt>
                                        </p:tgtEl>
                                        <p:attrNameLst>
                                          <p:attrName>style.visibility</p:attrName>
                                        </p:attrNameLst>
                                      </p:cBhvr>
                                      <p:to>
                                        <p:strVal val="visible"/>
                                      </p:to>
                                    </p:set>
                                    <p:animEffect transition="in" filter="fade">
                                      <p:cBhvr>
                                        <p:cTn id="7" dur="1000"/>
                                        <p:tgtEl>
                                          <p:spTgt spid="59397">
                                            <p:txEl>
                                              <p:pRg st="1" end="1"/>
                                            </p:txEl>
                                          </p:spTgt>
                                        </p:tgtEl>
                                      </p:cBhvr>
                                    </p:animEffect>
                                    <p:anim calcmode="lin" valueType="num">
                                      <p:cBhvr>
                                        <p:cTn id="8" dur="1000" fill="hold"/>
                                        <p:tgtEl>
                                          <p:spTgt spid="5939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939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9397">
                                            <p:txEl>
                                              <p:pRg st="2" end="2"/>
                                            </p:txEl>
                                          </p:spTgt>
                                        </p:tgtEl>
                                        <p:attrNameLst>
                                          <p:attrName>style.visibility</p:attrName>
                                        </p:attrNameLst>
                                      </p:cBhvr>
                                      <p:to>
                                        <p:strVal val="visible"/>
                                      </p:to>
                                    </p:set>
                                    <p:animEffect transition="in" filter="fade">
                                      <p:cBhvr>
                                        <p:cTn id="14" dur="1000"/>
                                        <p:tgtEl>
                                          <p:spTgt spid="59397">
                                            <p:txEl>
                                              <p:pRg st="2" end="2"/>
                                            </p:txEl>
                                          </p:spTgt>
                                        </p:tgtEl>
                                      </p:cBhvr>
                                    </p:animEffect>
                                    <p:anim calcmode="lin" valueType="num">
                                      <p:cBhvr>
                                        <p:cTn id="15" dur="1000" fill="hold"/>
                                        <p:tgtEl>
                                          <p:spTgt spid="5939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939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9397">
                                            <p:txEl>
                                              <p:pRg st="3" end="3"/>
                                            </p:txEl>
                                          </p:spTgt>
                                        </p:tgtEl>
                                        <p:attrNameLst>
                                          <p:attrName>style.visibility</p:attrName>
                                        </p:attrNameLst>
                                      </p:cBhvr>
                                      <p:to>
                                        <p:strVal val="visible"/>
                                      </p:to>
                                    </p:set>
                                    <p:animEffect transition="in" filter="fade">
                                      <p:cBhvr>
                                        <p:cTn id="21" dur="1000"/>
                                        <p:tgtEl>
                                          <p:spTgt spid="59397">
                                            <p:txEl>
                                              <p:pRg st="3" end="3"/>
                                            </p:txEl>
                                          </p:spTgt>
                                        </p:tgtEl>
                                      </p:cBhvr>
                                    </p:animEffect>
                                    <p:anim calcmode="lin" valueType="num">
                                      <p:cBhvr>
                                        <p:cTn id="22" dur="1000" fill="hold"/>
                                        <p:tgtEl>
                                          <p:spTgt spid="5939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939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9397">
                                            <p:txEl>
                                              <p:pRg st="4" end="4"/>
                                            </p:txEl>
                                          </p:spTgt>
                                        </p:tgtEl>
                                        <p:attrNameLst>
                                          <p:attrName>style.visibility</p:attrName>
                                        </p:attrNameLst>
                                      </p:cBhvr>
                                      <p:to>
                                        <p:strVal val="visible"/>
                                      </p:to>
                                    </p:set>
                                    <p:animEffect transition="in" filter="fade">
                                      <p:cBhvr>
                                        <p:cTn id="28" dur="1000"/>
                                        <p:tgtEl>
                                          <p:spTgt spid="59397">
                                            <p:txEl>
                                              <p:pRg st="4" end="4"/>
                                            </p:txEl>
                                          </p:spTgt>
                                        </p:tgtEl>
                                      </p:cBhvr>
                                    </p:animEffect>
                                    <p:anim calcmode="lin" valueType="num">
                                      <p:cBhvr>
                                        <p:cTn id="29" dur="1000" fill="hold"/>
                                        <p:tgtEl>
                                          <p:spTgt spid="5939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9397">
                                            <p:txEl>
                                              <p:pRg st="4" end="4"/>
                                            </p:txEl>
                                          </p:spTgt>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2"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r>
              <a:rPr lang="en-US" altLang="zh-CN">
                <a:sym typeface="+mn-ea"/>
              </a:rPr>
              <a:t>8.3.4 </a:t>
            </a:r>
            <a:r>
              <a:rPr kumimoji="1" lang="en-US" altLang="zh-CN" dirty="0">
                <a:ea typeface="幼圆" panose="02010509060101010101" pitchFamily="49" charset="-122"/>
                <a:cs typeface="Times New Roman" panose="02020603050405020304" pitchFamily="18" charset="0"/>
                <a:sym typeface="+mn-ea"/>
              </a:rPr>
              <a:t>Node removal of BST</a:t>
            </a:r>
            <a:endParaRPr lang="zh-CN" altLang="en-US"/>
          </a:p>
        </p:txBody>
      </p:sp>
      <p:sp>
        <p:nvSpPr>
          <p:cNvPr id="248834" name="Text Box 2"/>
          <p:cNvSpPr txBox="1">
            <a:spLocks noChangeArrowheads="1"/>
          </p:cNvSpPr>
          <p:nvPr/>
        </p:nvSpPr>
        <p:spPr bwMode="auto">
          <a:xfrm>
            <a:off x="509270" y="1042670"/>
            <a:ext cx="8176895" cy="2157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叶子</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结点，由于删除叶子结点不破坏整棵树的结构，因此，只需要修改其双亲结点的指针即可。</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50000"/>
              </a:lnSpc>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只有左子树</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或只有右子树</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b="1" baseline="-25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R</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，此时只要令</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或</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R</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直接成为其双亲结点*</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f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的左子树即可。（为什么？）</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 name="组合 3"/>
          <p:cNvGrpSpPr/>
          <p:nvPr/>
        </p:nvGrpSpPr>
        <p:grpSpPr>
          <a:xfrm>
            <a:off x="2230202" y="3164048"/>
            <a:ext cx="1128712" cy="2559858"/>
            <a:chOff x="1357316" y="2492377"/>
            <a:chExt cx="1504949" cy="3413144"/>
          </a:xfrm>
        </p:grpSpPr>
        <p:grpSp>
          <p:nvGrpSpPr>
            <p:cNvPr id="248914" name="Group 82"/>
            <p:cNvGrpSpPr/>
            <p:nvPr/>
          </p:nvGrpSpPr>
          <p:grpSpPr bwMode="auto">
            <a:xfrm>
              <a:off x="1357316" y="2492377"/>
              <a:ext cx="1485904" cy="1309688"/>
              <a:chOff x="855" y="1570"/>
              <a:chExt cx="936" cy="825"/>
            </a:xfrm>
          </p:grpSpPr>
          <p:grpSp>
            <p:nvGrpSpPr>
              <p:cNvPr id="248836" name="Group 4"/>
              <p:cNvGrpSpPr/>
              <p:nvPr/>
            </p:nvGrpSpPr>
            <p:grpSpPr bwMode="auto">
              <a:xfrm>
                <a:off x="1153" y="1834"/>
                <a:ext cx="518" cy="561"/>
                <a:chOff x="768" y="1440"/>
                <a:chExt cx="624" cy="624"/>
              </a:xfrm>
            </p:grpSpPr>
            <p:sp>
              <p:nvSpPr>
                <p:cNvPr id="248837" name="Oval 5"/>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F</a:t>
                  </a:r>
                  <a:endParaRPr kumimoji="1" lang="en-US" altLang="zh-CN" dirty="0">
                    <a:latin typeface="Times New Roman" panose="02020603050405020304" pitchFamily="18" charset="0"/>
                  </a:endParaRPr>
                </a:p>
              </p:txBody>
            </p:sp>
            <p:sp>
              <p:nvSpPr>
                <p:cNvPr id="248838" name="Oval 6"/>
                <p:cNvSpPr>
                  <a:spLocks noChangeArrowheads="1"/>
                </p:cNvSpPr>
                <p:nvPr/>
              </p:nvSpPr>
              <p:spPr bwMode="auto">
                <a:xfrm>
                  <a:off x="768" y="177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cxnSp>
              <p:nvCxnSpPr>
                <p:cNvPr id="248839" name="AutoShape 7"/>
                <p:cNvCxnSpPr>
                  <a:cxnSpLocks noChangeShapeType="1"/>
                  <a:stCxn id="248837" idx="3"/>
                  <a:endCxn id="248838"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8844" name="Line 12"/>
              <p:cNvSpPr>
                <a:spLocks noChangeShapeType="1"/>
              </p:cNvSpPr>
              <p:nvPr/>
            </p:nvSpPr>
            <p:spPr bwMode="auto">
              <a:xfrm>
                <a:off x="1632" y="2050"/>
                <a:ext cx="159" cy="173"/>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845" name="Text Box 13"/>
              <p:cNvSpPr txBox="1">
                <a:spLocks noChangeArrowheads="1"/>
              </p:cNvSpPr>
              <p:nvPr/>
            </p:nvSpPr>
            <p:spPr bwMode="auto">
              <a:xfrm>
                <a:off x="1112" y="1570"/>
                <a:ext cx="21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248846" name="Text Box 14"/>
              <p:cNvSpPr txBox="1">
                <a:spLocks noChangeArrowheads="1"/>
              </p:cNvSpPr>
              <p:nvPr/>
            </p:nvSpPr>
            <p:spPr bwMode="auto">
              <a:xfrm>
                <a:off x="855" y="1857"/>
                <a:ext cx="25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248847" name="AutoShape 15"/>
              <p:cNvCxnSpPr>
                <a:cxnSpLocks noChangeShapeType="1"/>
              </p:cNvCxnSpPr>
              <p:nvPr/>
            </p:nvCxnSpPr>
            <p:spPr bwMode="auto">
              <a:xfrm>
                <a:off x="1306" y="1734"/>
                <a:ext cx="181" cy="1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848" name="AutoShape 16"/>
              <p:cNvCxnSpPr>
                <a:cxnSpLocks noChangeShapeType="1"/>
              </p:cNvCxnSpPr>
              <p:nvPr/>
            </p:nvCxnSpPr>
            <p:spPr bwMode="auto">
              <a:xfrm>
                <a:off x="1036" y="2029"/>
                <a:ext cx="181" cy="1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8880" name="AutoShape 48"/>
            <p:cNvSpPr>
              <a:spLocks noChangeArrowheads="1"/>
            </p:cNvSpPr>
            <p:nvPr/>
          </p:nvSpPr>
          <p:spPr bwMode="auto">
            <a:xfrm>
              <a:off x="2195513" y="4292600"/>
              <a:ext cx="288925" cy="431800"/>
            </a:xfrm>
            <a:prstGeom prst="downArrow">
              <a:avLst>
                <a:gd name="adj1" fmla="val 50000"/>
                <a:gd name="adj2" fmla="val 3736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grpSp>
          <p:nvGrpSpPr>
            <p:cNvPr id="248911" name="Group 79"/>
            <p:cNvGrpSpPr/>
            <p:nvPr/>
          </p:nvGrpSpPr>
          <p:grpSpPr bwMode="auto">
            <a:xfrm>
              <a:off x="1851027" y="4868880"/>
              <a:ext cx="1011238" cy="1036641"/>
              <a:chOff x="1166" y="3067"/>
              <a:chExt cx="637" cy="653"/>
            </a:xfrm>
          </p:grpSpPr>
          <p:sp>
            <p:nvSpPr>
              <p:cNvPr id="248885" name="Oval 53"/>
              <p:cNvSpPr>
                <a:spLocks noChangeArrowheads="1"/>
              </p:cNvSpPr>
              <p:nvPr/>
            </p:nvSpPr>
            <p:spPr bwMode="auto">
              <a:xfrm>
                <a:off x="1444" y="3331"/>
                <a:ext cx="239" cy="2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8888" name="Line 56"/>
              <p:cNvSpPr>
                <a:spLocks noChangeShapeType="1"/>
              </p:cNvSpPr>
              <p:nvPr/>
            </p:nvSpPr>
            <p:spPr bwMode="auto">
              <a:xfrm>
                <a:off x="1644" y="3547"/>
                <a:ext cx="159" cy="173"/>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889" name="Text Box 57"/>
              <p:cNvSpPr txBox="1">
                <a:spLocks noChangeArrowheads="1"/>
              </p:cNvSpPr>
              <p:nvPr/>
            </p:nvSpPr>
            <p:spPr bwMode="auto">
              <a:xfrm>
                <a:off x="1166" y="3067"/>
                <a:ext cx="21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cxnSp>
            <p:nvCxnSpPr>
              <p:cNvPr id="248891" name="AutoShape 59"/>
              <p:cNvCxnSpPr>
                <a:cxnSpLocks noChangeShapeType="1"/>
              </p:cNvCxnSpPr>
              <p:nvPr/>
            </p:nvCxnSpPr>
            <p:spPr bwMode="auto">
              <a:xfrm>
                <a:off x="1327" y="3221"/>
                <a:ext cx="181" cy="1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 name="组合 1"/>
          <p:cNvGrpSpPr/>
          <p:nvPr/>
        </p:nvGrpSpPr>
        <p:grpSpPr>
          <a:xfrm>
            <a:off x="3938746" y="3164437"/>
            <a:ext cx="1238250" cy="2870835"/>
            <a:chOff x="3635375" y="2492896"/>
            <a:chExt cx="1651000" cy="3827780"/>
          </a:xfrm>
        </p:grpSpPr>
        <p:grpSp>
          <p:nvGrpSpPr>
            <p:cNvPr id="248850" name="Group 18"/>
            <p:cNvGrpSpPr/>
            <p:nvPr/>
          </p:nvGrpSpPr>
          <p:grpSpPr bwMode="auto">
            <a:xfrm>
              <a:off x="4273550" y="2911475"/>
              <a:ext cx="822325" cy="890588"/>
              <a:chOff x="768" y="1440"/>
              <a:chExt cx="624" cy="624"/>
            </a:xfrm>
          </p:grpSpPr>
          <p:sp>
            <p:nvSpPr>
              <p:cNvPr id="248851" name="Oval 19"/>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8852" name="Oval 20"/>
              <p:cNvSpPr>
                <a:spLocks noChangeArrowheads="1"/>
              </p:cNvSpPr>
              <p:nvPr/>
            </p:nvSpPr>
            <p:spPr bwMode="auto">
              <a:xfrm>
                <a:off x="768" y="177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cxnSp>
            <p:nvCxnSpPr>
              <p:cNvPr id="248853" name="AutoShape 21"/>
              <p:cNvCxnSpPr>
                <a:cxnSpLocks noChangeShapeType="1"/>
                <a:stCxn id="248851" idx="3"/>
                <a:endCxn id="248852"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8854" name="AutoShape 22"/>
            <p:cNvCxnSpPr>
              <a:cxnSpLocks noChangeShapeType="1"/>
              <a:stCxn id="248852" idx="3"/>
            </p:cNvCxnSpPr>
            <p:nvPr/>
          </p:nvCxnSpPr>
          <p:spPr bwMode="auto">
            <a:xfrm flipH="1">
              <a:off x="4092575" y="3756025"/>
              <a:ext cx="236538" cy="25717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855" name="AutoShape 23"/>
            <p:cNvSpPr>
              <a:spLocks noChangeArrowheads="1"/>
            </p:cNvSpPr>
            <p:nvPr/>
          </p:nvSpPr>
          <p:spPr bwMode="auto">
            <a:xfrm flipH="1" flipV="1">
              <a:off x="3635375" y="4076586"/>
              <a:ext cx="504825" cy="534035"/>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br>
                <a:rPr kumimoji="1" lang="en-US" altLang="zh-CN">
                  <a:latin typeface="Times New Roman" panose="02020603050405020304" pitchFamily="18" charset="0"/>
                </a:rPr>
              </a:br>
              <a:endParaRPr kumimoji="1" lang="en-US" altLang="zh-CN">
                <a:latin typeface="Times New Roman" panose="02020603050405020304" pitchFamily="18" charset="0"/>
              </a:endParaRPr>
            </a:p>
            <a:p>
              <a:pPr algn="ctr"/>
              <a:endParaRPr kumimoji="1" lang="en-US" altLang="zh-CN">
                <a:latin typeface="Times New Roman" panose="02020603050405020304" pitchFamily="18" charset="0"/>
              </a:endParaRPr>
            </a:p>
            <a:p>
              <a:pPr algn="ctr"/>
              <a:endParaRPr kumimoji="1" lang="en-US" altLang="zh-CN" baseline="-25000">
                <a:latin typeface="Times New Roman" panose="02020603050405020304" pitchFamily="18" charset="0"/>
              </a:endParaRPr>
            </a:p>
            <a:p>
              <a:pPr algn="ctr"/>
              <a:r>
                <a:rPr kumimoji="1" lang="en-US" altLang="zh-CN">
                  <a:latin typeface="Times New Roman" panose="02020603050405020304" pitchFamily="18" charset="0"/>
                  <a:sym typeface="+mn-ea"/>
                </a:rPr>
                <a:t>P</a:t>
              </a:r>
              <a:r>
                <a:rPr kumimoji="1" lang="en-US" altLang="zh-CN" baseline="-25000">
                  <a:latin typeface="Times New Roman" panose="02020603050405020304" pitchFamily="18" charset="0"/>
                  <a:sym typeface="+mn-ea"/>
                </a:rPr>
                <a:t>L</a:t>
              </a:r>
              <a:endParaRPr kumimoji="1" lang="en-US" altLang="zh-CN" baseline="-25000">
                <a:latin typeface="Times New Roman" panose="02020603050405020304" pitchFamily="18" charset="0"/>
              </a:endParaRPr>
            </a:p>
          </p:txBody>
        </p:sp>
        <p:sp>
          <p:nvSpPr>
            <p:cNvPr id="248858" name="Line 26"/>
            <p:cNvSpPr>
              <a:spLocks noChangeShapeType="1"/>
            </p:cNvSpPr>
            <p:nvPr/>
          </p:nvSpPr>
          <p:spPr bwMode="auto">
            <a:xfrm>
              <a:off x="5033963" y="3254375"/>
              <a:ext cx="252412" cy="274638"/>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859" name="Text Box 27"/>
            <p:cNvSpPr txBox="1">
              <a:spLocks noChangeArrowheads="1"/>
            </p:cNvSpPr>
            <p:nvPr/>
          </p:nvSpPr>
          <p:spPr bwMode="auto">
            <a:xfrm>
              <a:off x="4211960" y="2492896"/>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248860" name="Text Box 28"/>
            <p:cNvSpPr txBox="1">
              <a:spLocks noChangeArrowheads="1"/>
            </p:cNvSpPr>
            <p:nvPr/>
          </p:nvSpPr>
          <p:spPr bwMode="auto">
            <a:xfrm>
              <a:off x="3779912" y="2947804"/>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248861" name="AutoShape 29"/>
            <p:cNvCxnSpPr>
              <a:cxnSpLocks noChangeShapeType="1"/>
            </p:cNvCxnSpPr>
            <p:nvPr/>
          </p:nvCxnSpPr>
          <p:spPr bwMode="auto">
            <a:xfrm>
              <a:off x="4513038" y="2769577"/>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862" name="AutoShape 30"/>
            <p:cNvCxnSpPr>
              <a:cxnSpLocks noChangeShapeType="1"/>
            </p:cNvCxnSpPr>
            <p:nvPr/>
          </p:nvCxnSpPr>
          <p:spPr bwMode="auto">
            <a:xfrm>
              <a:off x="4098758" y="3213641"/>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881" name="AutoShape 49"/>
            <p:cNvSpPr>
              <a:spLocks noChangeArrowheads="1"/>
            </p:cNvSpPr>
            <p:nvPr/>
          </p:nvSpPr>
          <p:spPr bwMode="auto">
            <a:xfrm>
              <a:off x="4500563" y="4292600"/>
              <a:ext cx="288925" cy="431800"/>
            </a:xfrm>
            <a:prstGeom prst="downArrow">
              <a:avLst>
                <a:gd name="adj1" fmla="val 50000"/>
                <a:gd name="adj2" fmla="val 3736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248895" name="Oval 63"/>
            <p:cNvSpPr>
              <a:spLocks noChangeArrowheads="1"/>
            </p:cNvSpPr>
            <p:nvPr/>
          </p:nvSpPr>
          <p:spPr bwMode="auto">
            <a:xfrm>
              <a:off x="4716463" y="5072063"/>
              <a:ext cx="379412" cy="4111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cxnSp>
          <p:nvCxnSpPr>
            <p:cNvPr id="248898" name="AutoShape 66"/>
            <p:cNvCxnSpPr>
              <a:cxnSpLocks noChangeShapeType="1"/>
            </p:cNvCxnSpPr>
            <p:nvPr/>
          </p:nvCxnSpPr>
          <p:spPr bwMode="auto">
            <a:xfrm flipH="1">
              <a:off x="4513263" y="5414963"/>
              <a:ext cx="236537" cy="25717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899" name="AutoShape 67"/>
            <p:cNvSpPr>
              <a:spLocks noChangeArrowheads="1"/>
            </p:cNvSpPr>
            <p:nvPr/>
          </p:nvSpPr>
          <p:spPr bwMode="auto">
            <a:xfrm flipH="1" flipV="1">
              <a:off x="4067175" y="5733936"/>
              <a:ext cx="504825" cy="586740"/>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endParaRPr kumimoji="1" lang="en-US" altLang="zh-CN" dirty="0">
                <a:solidFill>
                  <a:srgbClr val="FF0000"/>
                </a:solidFill>
                <a:latin typeface="Times New Roman" panose="02020603050405020304" pitchFamily="18" charset="0"/>
              </a:endParaRPr>
            </a:p>
            <a:p>
              <a:pPr algn="ctr"/>
              <a:endParaRPr kumimoji="1" lang="en-US" altLang="zh-CN" dirty="0">
                <a:solidFill>
                  <a:srgbClr val="FF0000"/>
                </a:solidFill>
                <a:latin typeface="Times New Roman" panose="02020603050405020304" pitchFamily="18" charset="0"/>
              </a:endParaRPr>
            </a:p>
            <a:p>
              <a:pPr algn="ctr"/>
              <a:endParaRPr kumimoji="1" lang="en-US" altLang="zh-CN" dirty="0">
                <a:solidFill>
                  <a:srgbClr val="FF0000"/>
                </a:solidFill>
                <a:latin typeface="Times New Roman" panose="02020603050405020304" pitchFamily="18" charset="0"/>
              </a:endParaRPr>
            </a:p>
            <a:p>
              <a:pPr algn="ctr"/>
              <a:endParaRPr kumimoji="1" lang="en-US" altLang="zh-CN" dirty="0">
                <a:solidFill>
                  <a:srgbClr val="FF0000"/>
                </a:solidFill>
                <a:latin typeface="Times New Roman" panose="02020603050405020304" pitchFamily="18" charset="0"/>
              </a:endParaRPr>
            </a:p>
            <a:p>
              <a:pPr algn="ctr"/>
              <a:r>
                <a:rPr kumimoji="1" lang="en-US" altLang="zh-CN" dirty="0">
                  <a:solidFill>
                    <a:srgbClr val="FF0000"/>
                  </a:solidFill>
                  <a:latin typeface="Times New Roman" panose="02020603050405020304" pitchFamily="18" charset="0"/>
                </a:rPr>
                <a:t>P</a:t>
              </a:r>
              <a:r>
                <a:rPr kumimoji="1" lang="en-US" altLang="zh-CN" baseline="-25000" dirty="0">
                  <a:solidFill>
                    <a:srgbClr val="FF0000"/>
                  </a:solidFill>
                  <a:latin typeface="Times New Roman" panose="02020603050405020304" pitchFamily="18" charset="0"/>
                </a:rPr>
                <a:t>L</a:t>
              </a:r>
              <a:endParaRPr kumimoji="1" lang="en-US" altLang="zh-CN" baseline="-25000" dirty="0">
                <a:solidFill>
                  <a:srgbClr val="FF0000"/>
                </a:solidFill>
                <a:latin typeface="Times New Roman" panose="02020603050405020304" pitchFamily="18" charset="0"/>
              </a:endParaRPr>
            </a:p>
          </p:txBody>
        </p:sp>
        <p:sp>
          <p:nvSpPr>
            <p:cNvPr id="248900" name="Line 68"/>
            <p:cNvSpPr>
              <a:spLocks noChangeShapeType="1"/>
            </p:cNvSpPr>
            <p:nvPr/>
          </p:nvSpPr>
          <p:spPr bwMode="auto">
            <a:xfrm>
              <a:off x="5033963" y="5414963"/>
              <a:ext cx="252412" cy="27463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901" name="Text Box 69"/>
            <p:cNvSpPr txBox="1">
              <a:spLocks noChangeArrowheads="1"/>
            </p:cNvSpPr>
            <p:nvPr/>
          </p:nvSpPr>
          <p:spPr bwMode="auto">
            <a:xfrm>
              <a:off x="4221862" y="4721225"/>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cxnSp>
          <p:nvCxnSpPr>
            <p:cNvPr id="248903" name="AutoShape 71"/>
            <p:cNvCxnSpPr>
              <a:cxnSpLocks noChangeShapeType="1"/>
            </p:cNvCxnSpPr>
            <p:nvPr/>
          </p:nvCxnSpPr>
          <p:spPr bwMode="auto">
            <a:xfrm>
              <a:off x="4488593" y="4943199"/>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5991365" y="3199579"/>
            <a:ext cx="1188244" cy="2835593"/>
            <a:chOff x="6372200" y="2539752"/>
            <a:chExt cx="1584325" cy="3780790"/>
          </a:xfrm>
        </p:grpSpPr>
        <p:grpSp>
          <p:nvGrpSpPr>
            <p:cNvPr id="248865" name="Group 33"/>
            <p:cNvGrpSpPr/>
            <p:nvPr/>
          </p:nvGrpSpPr>
          <p:grpSpPr bwMode="auto">
            <a:xfrm>
              <a:off x="6872288" y="2911475"/>
              <a:ext cx="822325" cy="890588"/>
              <a:chOff x="768" y="1440"/>
              <a:chExt cx="624" cy="624"/>
            </a:xfrm>
          </p:grpSpPr>
          <p:sp>
            <p:nvSpPr>
              <p:cNvPr id="248866" name="Oval 34"/>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8867" name="Oval 35"/>
              <p:cNvSpPr>
                <a:spLocks noChangeArrowheads="1"/>
              </p:cNvSpPr>
              <p:nvPr/>
            </p:nvSpPr>
            <p:spPr bwMode="auto">
              <a:xfrm>
                <a:off x="768" y="177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cxnSp>
            <p:nvCxnSpPr>
              <p:cNvPr id="248868" name="AutoShape 36"/>
              <p:cNvCxnSpPr>
                <a:cxnSpLocks noChangeShapeType="1"/>
                <a:stCxn id="248866" idx="3"/>
                <a:endCxn id="248867"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8871" name="AutoShape 39"/>
            <p:cNvSpPr>
              <a:spLocks noChangeArrowheads="1"/>
            </p:cNvSpPr>
            <p:nvPr/>
          </p:nvSpPr>
          <p:spPr bwMode="auto">
            <a:xfrm flipV="1">
              <a:off x="7451700" y="4076452"/>
              <a:ext cx="504825" cy="572770"/>
            </a:xfrm>
            <a:prstGeom prst="wedgeEllipseCallout">
              <a:avLst>
                <a:gd name="adj1" fmla="val -43750"/>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endParaRPr kumimoji="1" lang="en-US" altLang="zh-CN">
                <a:latin typeface="Times New Roman" panose="02020603050405020304" pitchFamily="18" charset="0"/>
              </a:endParaRPr>
            </a:p>
            <a:p>
              <a:pPr algn="ctr"/>
              <a:r>
                <a:rPr kumimoji="1" lang="en-US" altLang="zh-CN">
                  <a:latin typeface="Times New Roman" panose="02020603050405020304" pitchFamily="18" charset="0"/>
                </a:rPr>
                <a:t>P</a:t>
              </a:r>
              <a:r>
                <a:rPr kumimoji="1" lang="en-US" altLang="zh-CN" baseline="-25000">
                  <a:latin typeface="Times New Roman" panose="02020603050405020304" pitchFamily="18" charset="0"/>
                </a:rPr>
                <a:t>R</a:t>
              </a:r>
              <a:endParaRPr kumimoji="1" lang="en-US" altLang="zh-CN">
                <a:latin typeface="Times New Roman" panose="02020603050405020304" pitchFamily="18" charset="0"/>
              </a:endParaRPr>
            </a:p>
          </p:txBody>
        </p:sp>
        <p:cxnSp>
          <p:nvCxnSpPr>
            <p:cNvPr id="248872" name="AutoShape 40"/>
            <p:cNvCxnSpPr>
              <a:cxnSpLocks noChangeShapeType="1"/>
              <a:stCxn id="248867" idx="5"/>
              <a:endCxn id="248871" idx="8"/>
            </p:cNvCxnSpPr>
            <p:nvPr/>
          </p:nvCxnSpPr>
          <p:spPr bwMode="auto">
            <a:xfrm>
              <a:off x="7196138" y="3756025"/>
              <a:ext cx="285750" cy="29368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873" name="Line 41"/>
            <p:cNvSpPr>
              <a:spLocks noChangeShapeType="1"/>
            </p:cNvSpPr>
            <p:nvPr/>
          </p:nvSpPr>
          <p:spPr bwMode="auto">
            <a:xfrm>
              <a:off x="7632700" y="3254375"/>
              <a:ext cx="252413" cy="274638"/>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874" name="Text Box 42"/>
            <p:cNvSpPr txBox="1">
              <a:spLocks noChangeArrowheads="1"/>
            </p:cNvSpPr>
            <p:nvPr/>
          </p:nvSpPr>
          <p:spPr bwMode="auto">
            <a:xfrm>
              <a:off x="6806530" y="2539752"/>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248875" name="Text Box 43"/>
            <p:cNvSpPr txBox="1">
              <a:spLocks noChangeArrowheads="1"/>
            </p:cNvSpPr>
            <p:nvPr/>
          </p:nvSpPr>
          <p:spPr bwMode="auto">
            <a:xfrm>
              <a:off x="6372200" y="2962922"/>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248876" name="AutoShape 44"/>
            <p:cNvCxnSpPr>
              <a:cxnSpLocks noChangeShapeType="1"/>
            </p:cNvCxnSpPr>
            <p:nvPr/>
          </p:nvCxnSpPr>
          <p:spPr bwMode="auto">
            <a:xfrm>
              <a:off x="7069111" y="2771622"/>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877" name="AutoShape 45"/>
            <p:cNvCxnSpPr>
              <a:cxnSpLocks noChangeShapeType="1"/>
            </p:cNvCxnSpPr>
            <p:nvPr/>
          </p:nvCxnSpPr>
          <p:spPr bwMode="auto">
            <a:xfrm>
              <a:off x="6660232" y="3249000"/>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882" name="AutoShape 50"/>
            <p:cNvSpPr>
              <a:spLocks noChangeArrowheads="1"/>
            </p:cNvSpPr>
            <p:nvPr/>
          </p:nvSpPr>
          <p:spPr bwMode="auto">
            <a:xfrm>
              <a:off x="6948488" y="4292600"/>
              <a:ext cx="288925" cy="431800"/>
            </a:xfrm>
            <a:prstGeom prst="downArrow">
              <a:avLst>
                <a:gd name="adj1" fmla="val 50000"/>
                <a:gd name="adj2" fmla="val 3736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350"/>
            </a:p>
          </p:txBody>
        </p:sp>
        <p:sp>
          <p:nvSpPr>
            <p:cNvPr id="248905" name="Oval 73"/>
            <p:cNvSpPr>
              <a:spLocks noChangeArrowheads="1"/>
            </p:cNvSpPr>
            <p:nvPr/>
          </p:nvSpPr>
          <p:spPr bwMode="auto">
            <a:xfrm>
              <a:off x="7315200" y="5072063"/>
              <a:ext cx="379413" cy="4111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cxnSp>
          <p:nvCxnSpPr>
            <p:cNvPr id="248906" name="AutoShape 74"/>
            <p:cNvCxnSpPr>
              <a:cxnSpLocks noChangeShapeType="1"/>
              <a:endCxn id="248907" idx="8"/>
            </p:cNvCxnSpPr>
            <p:nvPr/>
          </p:nvCxnSpPr>
          <p:spPr bwMode="auto">
            <a:xfrm flipH="1">
              <a:off x="7132638" y="5414963"/>
              <a:ext cx="215900" cy="24447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907" name="AutoShape 75"/>
            <p:cNvSpPr>
              <a:spLocks noChangeArrowheads="1"/>
            </p:cNvSpPr>
            <p:nvPr/>
          </p:nvSpPr>
          <p:spPr bwMode="auto">
            <a:xfrm flipH="1" flipV="1">
              <a:off x="6659855" y="5754757"/>
              <a:ext cx="504825" cy="565785"/>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b"/>
            <a:lstStyle/>
            <a:p>
              <a:pPr algn="ctr"/>
              <a:r>
                <a:rPr kumimoji="1" lang="en-US" altLang="zh-CN">
                  <a:solidFill>
                    <a:srgbClr val="FF0000"/>
                  </a:solidFill>
                  <a:latin typeface="Times New Roman" panose="02020603050405020304" pitchFamily="18" charset="0"/>
                </a:rPr>
                <a:t>P</a:t>
              </a:r>
              <a:r>
                <a:rPr kumimoji="1" lang="en-US" altLang="zh-CN" baseline="-25000">
                  <a:solidFill>
                    <a:srgbClr val="FF0000"/>
                  </a:solidFill>
                  <a:latin typeface="Times New Roman" panose="02020603050405020304" pitchFamily="18" charset="0"/>
                </a:rPr>
                <a:t>R</a:t>
              </a:r>
              <a:endParaRPr kumimoji="1" lang="en-US" altLang="zh-CN" baseline="-25000">
                <a:solidFill>
                  <a:srgbClr val="FF0000"/>
                </a:solidFill>
                <a:latin typeface="Times New Roman" panose="02020603050405020304" pitchFamily="18" charset="0"/>
              </a:endParaRPr>
            </a:p>
          </p:txBody>
        </p:sp>
        <p:sp>
          <p:nvSpPr>
            <p:cNvPr id="248908" name="Line 76"/>
            <p:cNvSpPr>
              <a:spLocks noChangeShapeType="1"/>
            </p:cNvSpPr>
            <p:nvPr/>
          </p:nvSpPr>
          <p:spPr bwMode="auto">
            <a:xfrm>
              <a:off x="7632700" y="5414963"/>
              <a:ext cx="252413" cy="27463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8909" name="Text Box 77"/>
            <p:cNvSpPr txBox="1">
              <a:spLocks noChangeArrowheads="1"/>
            </p:cNvSpPr>
            <p:nvPr/>
          </p:nvSpPr>
          <p:spPr bwMode="auto">
            <a:xfrm>
              <a:off x="6800820" y="4725144"/>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cxnSp>
          <p:nvCxnSpPr>
            <p:cNvPr id="248910" name="AutoShape 78"/>
            <p:cNvCxnSpPr>
              <a:cxnSpLocks noChangeShapeType="1"/>
            </p:cNvCxnSpPr>
            <p:nvPr/>
          </p:nvCxnSpPr>
          <p:spPr bwMode="auto">
            <a:xfrm>
              <a:off x="7063687" y="4955863"/>
              <a:ext cx="288000" cy="180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8834">
                                            <p:txEl>
                                              <p:pRg st="1" end="1"/>
                                            </p:txEl>
                                          </p:spTgt>
                                        </p:tgtEl>
                                        <p:attrNameLst>
                                          <p:attrName>style.visibility</p:attrName>
                                        </p:attrNameLst>
                                      </p:cBhvr>
                                      <p:to>
                                        <p:strVal val="visible"/>
                                      </p:to>
                                    </p:set>
                                    <p:animEffect transition="in" filter="fade">
                                      <p:cBhvr>
                                        <p:cTn id="14" dur="1000"/>
                                        <p:tgtEl>
                                          <p:spTgt spid="248834">
                                            <p:txEl>
                                              <p:pRg st="1" end="1"/>
                                            </p:txEl>
                                          </p:spTgt>
                                        </p:tgtEl>
                                      </p:cBhvr>
                                    </p:animEffect>
                                    <p:anim calcmode="lin" valueType="num">
                                      <p:cBhvr>
                                        <p:cTn id="15" dur="1000" fill="hold"/>
                                        <p:tgtEl>
                                          <p:spTgt spid="24883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88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p>
            <a:r>
              <a:rPr lang="en-US" altLang="zh-CN">
                <a:sym typeface="+mn-ea"/>
              </a:rPr>
              <a:t>8.3.4 </a:t>
            </a:r>
            <a:r>
              <a:rPr kumimoji="1" lang="en-US" altLang="zh-CN" dirty="0">
                <a:ea typeface="幼圆" panose="02010509060101010101" pitchFamily="49" charset="-122"/>
                <a:cs typeface="Times New Roman" panose="02020603050405020304" pitchFamily="18" charset="0"/>
                <a:sym typeface="+mn-ea"/>
              </a:rPr>
              <a:t>Node removal of BST</a:t>
            </a:r>
            <a:endParaRPr lang="zh-CN" altLang="en-US"/>
          </a:p>
        </p:txBody>
      </p:sp>
      <p:sp>
        <p:nvSpPr>
          <p:cNvPr id="249858" name="Text Box 2"/>
          <p:cNvSpPr txBox="1">
            <a:spLocks noChangeArrowheads="1"/>
          </p:cNvSpPr>
          <p:nvPr/>
        </p:nvSpPr>
        <p:spPr bwMode="auto">
          <a:xfrm>
            <a:off x="433705" y="999490"/>
            <a:ext cx="8252460" cy="239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B0F0"/>
              </a:buClr>
              <a:buFont typeface="+mj-ea"/>
              <a:buAutoNum type="circleNumDbPlain" startAt="3"/>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左右子树均不空</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，则从图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可知，在删除*</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之前，中序遍历该二叉树得到的序列为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sz="2000" baseline="-25000" dirty="0" err="1">
                <a:latin typeface="Times New Roman" panose="02020603050405020304" pitchFamily="18" charset="0"/>
                <a:ea typeface="幼圆" panose="02010509060101010101" pitchFamily="49" charset="-122"/>
                <a:cs typeface="Times New Roman" panose="02020603050405020304" pitchFamily="18" charset="0"/>
              </a:rPr>
              <a:t>L</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Q</a:t>
            </a:r>
            <a:r>
              <a:rPr kumimoji="1" lang="en-US" altLang="zh-CN" sz="2000" baseline="-25000" dirty="0" err="1">
                <a:latin typeface="Times New Roman" panose="02020603050405020304" pitchFamily="18" charset="0"/>
                <a:ea typeface="幼圆" panose="02010509060101010101" pitchFamily="49" charset="-122"/>
                <a:cs typeface="Times New Roman" panose="02020603050405020304" pitchFamily="18" charset="0"/>
              </a:rPr>
              <a:t>L</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QS</a:t>
            </a:r>
            <a:r>
              <a:rPr kumimoji="1" lang="en-US" altLang="zh-CN" sz="2000" baseline="-25000" dirty="0" err="1">
                <a:latin typeface="Times New Roman" panose="02020603050405020304" pitchFamily="18" charset="0"/>
                <a:ea typeface="幼圆" panose="02010509060101010101" pitchFamily="49" charset="-122"/>
                <a:cs typeface="Times New Roman" panose="02020603050405020304" pitchFamily="18" charset="0"/>
              </a:rPr>
              <a:t>L</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S</a:t>
            </a:r>
            <a:r>
              <a:rPr kumimoji="1" lang="en-US" altLang="zh-CN" sz="2000" b="1" u="sng"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baseline="-25000" dirty="0" err="1">
                <a:latin typeface="Times New Roman" panose="02020603050405020304" pitchFamily="18" charset="0"/>
                <a:ea typeface="幼圆" panose="02010509060101010101" pitchFamily="49" charset="-122"/>
                <a:cs typeface="Times New Roman" panose="02020603050405020304" pitchFamily="18" charset="0"/>
              </a:rPr>
              <a:t>R</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F</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marL="342900" indent="-342900">
              <a:lnSpc>
                <a:spcPct val="150000"/>
              </a:lnSpc>
              <a:buClr>
                <a:srgbClr val="00B0F0"/>
              </a:buClr>
              <a:buFont typeface="+mj-ea"/>
              <a:buAutoNum type="circleNumDbPlain" startAt="3"/>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删除*</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之后，为保持其他元素之间的相对位置不变，可以有两种做法：</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其一</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是令*</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的左子树为*</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f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的左子树，而*</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的右子树为*</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s</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的直接前驱）的右子树，如图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3" name="组合 2"/>
          <p:cNvGrpSpPr/>
          <p:nvPr/>
        </p:nvGrpSpPr>
        <p:grpSpPr>
          <a:xfrm>
            <a:off x="3383756" y="3337730"/>
            <a:ext cx="2042705" cy="3068600"/>
            <a:chOff x="2987675" y="2348880"/>
            <a:chExt cx="2723606" cy="4091467"/>
          </a:xfrm>
        </p:grpSpPr>
        <p:grpSp>
          <p:nvGrpSpPr>
            <p:cNvPr id="249860" name="Group 4"/>
            <p:cNvGrpSpPr/>
            <p:nvPr/>
          </p:nvGrpSpPr>
          <p:grpSpPr bwMode="auto">
            <a:xfrm>
              <a:off x="3563938" y="2767013"/>
              <a:ext cx="1327150" cy="1439862"/>
              <a:chOff x="1632" y="1440"/>
              <a:chExt cx="1008" cy="1008"/>
            </a:xfrm>
          </p:grpSpPr>
          <p:grpSp>
            <p:nvGrpSpPr>
              <p:cNvPr id="249861" name="Group 5"/>
              <p:cNvGrpSpPr/>
              <p:nvPr/>
            </p:nvGrpSpPr>
            <p:grpSpPr bwMode="auto">
              <a:xfrm>
                <a:off x="2016" y="1440"/>
                <a:ext cx="624" cy="624"/>
                <a:chOff x="768" y="1440"/>
                <a:chExt cx="624" cy="624"/>
              </a:xfrm>
            </p:grpSpPr>
            <p:sp>
              <p:nvSpPr>
                <p:cNvPr id="249862" name="Oval 6"/>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9863" name="Oval 7"/>
                <p:cNvSpPr>
                  <a:spLocks noChangeArrowheads="1"/>
                </p:cNvSpPr>
                <p:nvPr/>
              </p:nvSpPr>
              <p:spPr bwMode="auto">
                <a:xfrm>
                  <a:off x="768" y="177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P</a:t>
                  </a:r>
                  <a:endParaRPr kumimoji="1" lang="en-US" altLang="zh-CN" dirty="0">
                    <a:latin typeface="Times New Roman" panose="02020603050405020304" pitchFamily="18" charset="0"/>
                  </a:endParaRPr>
                </a:p>
              </p:txBody>
            </p:sp>
            <p:cxnSp>
              <p:nvCxnSpPr>
                <p:cNvPr id="249864" name="AutoShape 8"/>
                <p:cNvCxnSpPr>
                  <a:cxnSpLocks noChangeShapeType="1"/>
                  <a:stCxn id="249862" idx="3"/>
                  <a:endCxn id="249863"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9865" name="Oval 9"/>
              <p:cNvSpPr>
                <a:spLocks noChangeArrowheads="1"/>
              </p:cNvSpPr>
              <p:nvPr/>
            </p:nvSpPr>
            <p:spPr bwMode="auto">
              <a:xfrm>
                <a:off x="1632" y="2160"/>
                <a:ext cx="288" cy="288"/>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rPr>
                  <a:t>C</a:t>
                </a:r>
                <a:endParaRPr kumimoji="1" lang="en-US" altLang="zh-CN">
                  <a:solidFill>
                    <a:srgbClr val="FF0000"/>
                  </a:solidFill>
                  <a:latin typeface="Times New Roman" panose="02020603050405020304" pitchFamily="18" charset="0"/>
                </a:endParaRPr>
              </a:p>
            </p:txBody>
          </p:sp>
          <p:cxnSp>
            <p:nvCxnSpPr>
              <p:cNvPr id="249866" name="AutoShape 10"/>
              <p:cNvCxnSpPr>
                <a:cxnSpLocks noChangeShapeType="1"/>
                <a:stCxn id="249863" idx="3"/>
                <a:endCxn id="249865" idx="7"/>
              </p:cNvCxnSpPr>
              <p:nvPr/>
            </p:nvCxnSpPr>
            <p:spPr bwMode="auto">
              <a:xfrm flipH="1">
                <a:off x="1878" y="2022"/>
                <a:ext cx="180" cy="18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9867" name="AutoShape 11"/>
            <p:cNvSpPr>
              <a:spLocks noChangeArrowheads="1"/>
            </p:cNvSpPr>
            <p:nvPr/>
          </p:nvSpPr>
          <p:spPr bwMode="auto">
            <a:xfrm flipH="1" flipV="1">
              <a:off x="2987675" y="4457700"/>
              <a:ext cx="647700" cy="411163"/>
            </a:xfrm>
            <a:prstGeom prst="wedgeEllipseCallout">
              <a:avLst>
                <a:gd name="adj1" fmla="val -23042"/>
                <a:gd name="adj2" fmla="val 6969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70000"/>
                </a:lnSpc>
              </a:pPr>
              <a:endParaRPr kumimoji="1" lang="en-US" altLang="zh-CN">
                <a:latin typeface="Times New Roman" panose="02020603050405020304" pitchFamily="18" charset="0"/>
              </a:endParaRPr>
            </a:p>
            <a:p>
              <a:pPr algn="ctr">
                <a:lnSpc>
                  <a:spcPct val="70000"/>
                </a:lnSpc>
              </a:pPr>
              <a:r>
                <a:rPr kumimoji="1" lang="en-US" altLang="zh-CN">
                  <a:latin typeface="Times New Roman" panose="02020603050405020304" pitchFamily="18" charset="0"/>
                </a:rPr>
                <a:t>C</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249868" name="AutoShape 12"/>
            <p:cNvCxnSpPr>
              <a:cxnSpLocks noChangeShapeType="1"/>
              <a:stCxn id="249865" idx="3"/>
              <a:endCxn id="249867" idx="8"/>
            </p:cNvCxnSpPr>
            <p:nvPr/>
          </p:nvCxnSpPr>
          <p:spPr bwMode="auto">
            <a:xfrm flipH="1">
              <a:off x="3460750" y="4165600"/>
              <a:ext cx="158750" cy="19843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69" name="Oval 13"/>
            <p:cNvSpPr>
              <a:spLocks noChangeArrowheads="1"/>
            </p:cNvSpPr>
            <p:nvPr/>
          </p:nvSpPr>
          <p:spPr bwMode="auto">
            <a:xfrm>
              <a:off x="4259263" y="4413250"/>
              <a:ext cx="379412" cy="411163"/>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Q</a:t>
              </a:r>
              <a:endParaRPr kumimoji="1" lang="en-US" altLang="zh-CN">
                <a:latin typeface="Times New Roman" panose="02020603050405020304" pitchFamily="18" charset="0"/>
              </a:endParaRPr>
            </a:p>
          </p:txBody>
        </p:sp>
        <p:sp>
          <p:nvSpPr>
            <p:cNvPr id="249870" name="Oval 14"/>
            <p:cNvSpPr>
              <a:spLocks noChangeArrowheads="1"/>
            </p:cNvSpPr>
            <p:nvPr/>
          </p:nvSpPr>
          <p:spPr bwMode="auto">
            <a:xfrm>
              <a:off x="4702175" y="4824413"/>
              <a:ext cx="379413" cy="411162"/>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dirty="0">
                  <a:solidFill>
                    <a:srgbClr val="FF0000"/>
                  </a:solidFill>
                  <a:latin typeface="Times New Roman" panose="02020603050405020304" pitchFamily="18" charset="0"/>
                </a:rPr>
                <a:t>S</a:t>
              </a:r>
              <a:endParaRPr kumimoji="1" lang="en-US" altLang="zh-CN" b="1" dirty="0">
                <a:solidFill>
                  <a:srgbClr val="FF0000"/>
                </a:solidFill>
                <a:latin typeface="Times New Roman" panose="02020603050405020304" pitchFamily="18" charset="0"/>
              </a:endParaRPr>
            </a:p>
          </p:txBody>
        </p:sp>
        <p:sp>
          <p:nvSpPr>
            <p:cNvPr id="249871" name="AutoShape 15"/>
            <p:cNvSpPr>
              <a:spLocks noChangeArrowheads="1"/>
            </p:cNvSpPr>
            <p:nvPr/>
          </p:nvSpPr>
          <p:spPr bwMode="auto">
            <a:xfrm flipV="1">
              <a:off x="4513263" y="3795713"/>
              <a:ext cx="504825" cy="411162"/>
            </a:xfrm>
            <a:prstGeom prst="wedgeEllipseCallout">
              <a:avLst>
                <a:gd name="adj1" fmla="val -43750"/>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70000"/>
                </a:lnSpc>
              </a:pPr>
              <a:r>
                <a:rPr kumimoji="1" lang="en-US" altLang="zh-CN">
                  <a:latin typeface="Times New Roman" panose="02020603050405020304" pitchFamily="18" charset="0"/>
                </a:rPr>
                <a:t>P</a:t>
              </a:r>
              <a:r>
                <a:rPr kumimoji="1" lang="en-US" altLang="zh-CN" baseline="-25000">
                  <a:latin typeface="Times New Roman" panose="02020603050405020304" pitchFamily="18" charset="0"/>
                </a:rPr>
                <a:t>R</a:t>
              </a:r>
              <a:endParaRPr kumimoji="1" lang="en-US" altLang="zh-CN">
                <a:latin typeface="Times New Roman" panose="02020603050405020304" pitchFamily="18" charset="0"/>
              </a:endParaRPr>
            </a:p>
          </p:txBody>
        </p:sp>
        <p:cxnSp>
          <p:nvCxnSpPr>
            <p:cNvPr id="249872" name="AutoShape 16"/>
            <p:cNvCxnSpPr>
              <a:cxnSpLocks noChangeShapeType="1"/>
              <a:stCxn id="249863" idx="5"/>
              <a:endCxn id="249871" idx="8"/>
            </p:cNvCxnSpPr>
            <p:nvPr/>
          </p:nvCxnSpPr>
          <p:spPr bwMode="auto">
            <a:xfrm>
              <a:off x="4394200" y="3598863"/>
              <a:ext cx="149225" cy="18256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73" name="AutoShape 17"/>
            <p:cNvSpPr>
              <a:spLocks noChangeArrowheads="1"/>
            </p:cNvSpPr>
            <p:nvPr/>
          </p:nvSpPr>
          <p:spPr bwMode="auto">
            <a:xfrm flipH="1" flipV="1">
              <a:off x="3627438" y="5029200"/>
              <a:ext cx="506412" cy="412750"/>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60000"/>
                </a:lnSpc>
              </a:pPr>
              <a:endParaRPr kumimoji="1" lang="en-US" altLang="zh-CN">
                <a:latin typeface="Times New Roman" panose="02020603050405020304" pitchFamily="18" charset="0"/>
              </a:endParaRPr>
            </a:p>
            <a:p>
              <a:pPr algn="ctr">
                <a:lnSpc>
                  <a:spcPct val="60000"/>
                </a:lnSpc>
              </a:pPr>
              <a:r>
                <a:rPr kumimoji="1" lang="en-US" altLang="zh-CN">
                  <a:latin typeface="Times New Roman" panose="02020603050405020304" pitchFamily="18" charset="0"/>
                </a:rPr>
                <a:t>Q</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sp>
          <p:nvSpPr>
            <p:cNvPr id="249874" name="AutoShape 18"/>
            <p:cNvSpPr>
              <a:spLocks noChangeArrowheads="1"/>
            </p:cNvSpPr>
            <p:nvPr/>
          </p:nvSpPr>
          <p:spPr bwMode="auto">
            <a:xfrm flipH="1" flipV="1">
              <a:off x="4133850" y="5510213"/>
              <a:ext cx="504825" cy="411162"/>
            </a:xfrm>
            <a:prstGeom prst="wedgeEllipseCallout">
              <a:avLst>
                <a:gd name="adj1" fmla="val -43750"/>
                <a:gd name="adj2" fmla="val 70139"/>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S</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249875" name="AutoShape 19"/>
            <p:cNvCxnSpPr>
              <a:cxnSpLocks noChangeShapeType="1"/>
              <a:stCxn id="249869" idx="3"/>
              <a:endCxn id="249873" idx="8"/>
            </p:cNvCxnSpPr>
            <p:nvPr/>
          </p:nvCxnSpPr>
          <p:spPr bwMode="auto">
            <a:xfrm flipH="1">
              <a:off x="4102100" y="4764088"/>
              <a:ext cx="212725" cy="18256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76" name="AutoShape 20"/>
            <p:cNvCxnSpPr>
              <a:cxnSpLocks noChangeShapeType="1"/>
              <a:stCxn id="249870" idx="3"/>
              <a:endCxn id="249874" idx="8"/>
            </p:cNvCxnSpPr>
            <p:nvPr/>
          </p:nvCxnSpPr>
          <p:spPr bwMode="auto">
            <a:xfrm flipH="1">
              <a:off x="4606925" y="5175250"/>
              <a:ext cx="150813" cy="2524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77" name="AutoShape 21"/>
            <p:cNvCxnSpPr>
              <a:cxnSpLocks noChangeShapeType="1"/>
              <a:stCxn id="249869" idx="5"/>
              <a:endCxn id="249870" idx="1"/>
            </p:cNvCxnSpPr>
            <p:nvPr/>
          </p:nvCxnSpPr>
          <p:spPr bwMode="auto">
            <a:xfrm>
              <a:off x="4583113" y="4764088"/>
              <a:ext cx="174625" cy="1206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78" name="AutoShape 22"/>
            <p:cNvCxnSpPr>
              <a:cxnSpLocks noChangeShapeType="1"/>
              <a:stCxn id="249865" idx="5"/>
              <a:endCxn id="249869" idx="1"/>
            </p:cNvCxnSpPr>
            <p:nvPr/>
          </p:nvCxnSpPr>
          <p:spPr bwMode="auto">
            <a:xfrm>
              <a:off x="3887788" y="4165600"/>
              <a:ext cx="427037" cy="293688"/>
            </a:xfrm>
            <a:prstGeom prst="straightConnector1">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79" name="Line 23"/>
            <p:cNvSpPr>
              <a:spLocks noChangeShapeType="1"/>
            </p:cNvSpPr>
            <p:nvPr/>
          </p:nvSpPr>
          <p:spPr bwMode="auto">
            <a:xfrm>
              <a:off x="4829175" y="3109913"/>
              <a:ext cx="252413" cy="27463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9880" name="Text Box 24"/>
            <p:cNvSpPr txBox="1">
              <a:spLocks noChangeArrowheads="1"/>
            </p:cNvSpPr>
            <p:nvPr/>
          </p:nvSpPr>
          <p:spPr bwMode="auto">
            <a:xfrm>
              <a:off x="3995936" y="2348880"/>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latin typeface="Times New Roman" panose="02020603050405020304" pitchFamily="18" charset="0"/>
                </a:rPr>
                <a:t>f</a:t>
              </a:r>
              <a:endParaRPr kumimoji="1" lang="en-US" altLang="zh-CN" i="1">
                <a:latin typeface="Times New Roman" panose="02020603050405020304" pitchFamily="18" charset="0"/>
              </a:endParaRPr>
            </a:p>
          </p:txBody>
        </p:sp>
        <p:sp>
          <p:nvSpPr>
            <p:cNvPr id="249881" name="Text Box 25"/>
            <p:cNvSpPr txBox="1">
              <a:spLocks noChangeArrowheads="1"/>
            </p:cNvSpPr>
            <p:nvPr/>
          </p:nvSpPr>
          <p:spPr bwMode="auto">
            <a:xfrm>
              <a:off x="3635896" y="2780928"/>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249882" name="AutoShape 26"/>
            <p:cNvCxnSpPr>
              <a:cxnSpLocks noChangeShapeType="1"/>
              <a:stCxn id="249880" idx="3"/>
              <a:endCxn id="249862" idx="1"/>
            </p:cNvCxnSpPr>
            <p:nvPr/>
          </p:nvCxnSpPr>
          <p:spPr bwMode="auto">
            <a:xfrm>
              <a:off x="4341707" y="2594187"/>
              <a:ext cx="226060" cy="23283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83" name="AutoShape 27"/>
            <p:cNvCxnSpPr>
              <a:cxnSpLocks noChangeShapeType="1"/>
              <a:stCxn id="249881" idx="3"/>
              <a:endCxn id="249863" idx="0"/>
            </p:cNvCxnSpPr>
            <p:nvPr/>
          </p:nvCxnSpPr>
          <p:spPr bwMode="auto">
            <a:xfrm>
              <a:off x="4031827" y="3026833"/>
              <a:ext cx="227753" cy="22013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84" name="Text Box 28"/>
            <p:cNvSpPr txBox="1">
              <a:spLocks noChangeArrowheads="1"/>
            </p:cNvSpPr>
            <p:nvPr/>
          </p:nvSpPr>
          <p:spPr bwMode="auto">
            <a:xfrm>
              <a:off x="3203848" y="3284984"/>
              <a:ext cx="379307"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c</a:t>
              </a:r>
              <a:endParaRPr kumimoji="1" lang="en-US" altLang="zh-CN" i="1" dirty="0">
                <a:latin typeface="Times New Roman" panose="02020603050405020304" pitchFamily="18" charset="0"/>
              </a:endParaRPr>
            </a:p>
          </p:txBody>
        </p:sp>
        <p:sp>
          <p:nvSpPr>
            <p:cNvPr id="249885" name="Text Box 29"/>
            <p:cNvSpPr txBox="1">
              <a:spLocks noChangeArrowheads="1"/>
            </p:cNvSpPr>
            <p:nvPr/>
          </p:nvSpPr>
          <p:spPr bwMode="auto">
            <a:xfrm>
              <a:off x="5348908" y="4343400"/>
              <a:ext cx="362373"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s</a:t>
              </a:r>
              <a:endParaRPr kumimoji="1" lang="en-US" altLang="zh-CN" i="1" dirty="0">
                <a:latin typeface="Times New Roman" panose="02020603050405020304" pitchFamily="18" charset="0"/>
              </a:endParaRPr>
            </a:p>
          </p:txBody>
        </p:sp>
        <p:sp>
          <p:nvSpPr>
            <p:cNvPr id="249886" name="Text Box 30"/>
            <p:cNvSpPr txBox="1">
              <a:spLocks noChangeArrowheads="1"/>
            </p:cNvSpPr>
            <p:nvPr/>
          </p:nvSpPr>
          <p:spPr bwMode="auto">
            <a:xfrm>
              <a:off x="4947910" y="3971156"/>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q</a:t>
              </a:r>
              <a:endParaRPr kumimoji="1" lang="en-US" altLang="zh-CN" i="1" dirty="0">
                <a:latin typeface="Times New Roman" panose="02020603050405020304" pitchFamily="18" charset="0"/>
              </a:endParaRPr>
            </a:p>
          </p:txBody>
        </p:sp>
        <p:cxnSp>
          <p:nvCxnSpPr>
            <p:cNvPr id="249887" name="AutoShape 31"/>
            <p:cNvCxnSpPr>
              <a:cxnSpLocks noChangeShapeType="1"/>
            </p:cNvCxnSpPr>
            <p:nvPr/>
          </p:nvCxnSpPr>
          <p:spPr bwMode="auto">
            <a:xfrm rot="10800000" flipV="1">
              <a:off x="4622200" y="4271099"/>
              <a:ext cx="370800" cy="2304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88" name="AutoShape 32"/>
            <p:cNvCxnSpPr>
              <a:cxnSpLocks noChangeShapeType="1"/>
            </p:cNvCxnSpPr>
            <p:nvPr/>
          </p:nvCxnSpPr>
          <p:spPr bwMode="auto">
            <a:xfrm rot="10800000" flipV="1">
              <a:off x="4975788" y="4597813"/>
              <a:ext cx="385200" cy="25200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889" name="AutoShape 33"/>
            <p:cNvCxnSpPr>
              <a:cxnSpLocks noChangeShapeType="1"/>
              <a:stCxn id="249884" idx="3"/>
              <a:endCxn id="249865" idx="0"/>
            </p:cNvCxnSpPr>
            <p:nvPr/>
          </p:nvCxnSpPr>
          <p:spPr bwMode="auto">
            <a:xfrm>
              <a:off x="3583093" y="3530600"/>
              <a:ext cx="170180" cy="265007"/>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90" name="Text Box 34"/>
            <p:cNvSpPr txBox="1">
              <a:spLocks noChangeArrowheads="1"/>
            </p:cNvSpPr>
            <p:nvPr/>
          </p:nvSpPr>
          <p:spPr bwMode="auto">
            <a:xfrm>
              <a:off x="4039478" y="5949280"/>
              <a:ext cx="599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Times New Roman" panose="02020603050405020304" pitchFamily="18" charset="0"/>
                </a:rPr>
                <a:t>(b)</a:t>
              </a:r>
              <a:endParaRPr kumimoji="1" lang="en-US" altLang="zh-CN" dirty="0">
                <a:latin typeface="Times New Roman" panose="02020603050405020304" pitchFamily="18" charset="0"/>
              </a:endParaRPr>
            </a:p>
          </p:txBody>
        </p:sp>
      </p:grpSp>
      <p:grpSp>
        <p:nvGrpSpPr>
          <p:cNvPr id="2" name="组合 1"/>
          <p:cNvGrpSpPr/>
          <p:nvPr/>
        </p:nvGrpSpPr>
        <p:grpSpPr>
          <a:xfrm>
            <a:off x="1385888" y="3499748"/>
            <a:ext cx="1350169" cy="1512466"/>
            <a:chOff x="323850" y="2564904"/>
            <a:chExt cx="1800225" cy="2016621"/>
          </a:xfrm>
        </p:grpSpPr>
        <p:grpSp>
          <p:nvGrpSpPr>
            <p:cNvPr id="249892" name="Group 36"/>
            <p:cNvGrpSpPr/>
            <p:nvPr/>
          </p:nvGrpSpPr>
          <p:grpSpPr bwMode="auto">
            <a:xfrm>
              <a:off x="1033463" y="2984500"/>
              <a:ext cx="822325" cy="890588"/>
              <a:chOff x="768" y="1440"/>
              <a:chExt cx="624" cy="624"/>
            </a:xfrm>
          </p:grpSpPr>
          <p:sp>
            <p:nvSpPr>
              <p:cNvPr id="249893" name="Oval 37"/>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9894" name="Oval 38"/>
              <p:cNvSpPr>
                <a:spLocks noChangeArrowheads="1"/>
              </p:cNvSpPr>
              <p:nvPr/>
            </p:nvSpPr>
            <p:spPr bwMode="auto">
              <a:xfrm>
                <a:off x="768" y="1776"/>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cxnSp>
            <p:nvCxnSpPr>
              <p:cNvPr id="249895" name="AutoShape 39"/>
              <p:cNvCxnSpPr>
                <a:cxnSpLocks noChangeShapeType="1"/>
                <a:stCxn id="249893" idx="3"/>
                <a:endCxn id="249894"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9896" name="AutoShape 40"/>
            <p:cNvCxnSpPr>
              <a:cxnSpLocks noChangeShapeType="1"/>
              <a:stCxn id="249894" idx="3"/>
              <a:endCxn id="249897" idx="8"/>
            </p:cNvCxnSpPr>
            <p:nvPr/>
          </p:nvCxnSpPr>
          <p:spPr bwMode="auto">
            <a:xfrm flipH="1">
              <a:off x="796925" y="3829050"/>
              <a:ext cx="292100" cy="22542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897" name="AutoShape 41"/>
            <p:cNvSpPr>
              <a:spLocks noChangeArrowheads="1"/>
            </p:cNvSpPr>
            <p:nvPr/>
          </p:nvSpPr>
          <p:spPr bwMode="auto">
            <a:xfrm flipH="1" flipV="1">
              <a:off x="323850" y="4149725"/>
              <a:ext cx="504825" cy="411163"/>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P</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sp>
          <p:nvSpPr>
            <p:cNvPr id="249898" name="AutoShape 42"/>
            <p:cNvSpPr>
              <a:spLocks noChangeArrowheads="1"/>
            </p:cNvSpPr>
            <p:nvPr/>
          </p:nvSpPr>
          <p:spPr bwMode="auto">
            <a:xfrm flipV="1">
              <a:off x="1619250" y="4170363"/>
              <a:ext cx="504825" cy="411162"/>
            </a:xfrm>
            <a:prstGeom prst="wedgeEllipseCallout">
              <a:avLst>
                <a:gd name="adj1" fmla="val -43750"/>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60000"/>
                </a:lnSpc>
              </a:pPr>
              <a:endParaRPr kumimoji="1" lang="en-US" altLang="zh-CN">
                <a:latin typeface="Times New Roman" panose="02020603050405020304" pitchFamily="18" charset="0"/>
              </a:endParaRPr>
            </a:p>
            <a:p>
              <a:pPr algn="ctr">
                <a:lnSpc>
                  <a:spcPct val="60000"/>
                </a:lnSpc>
              </a:pPr>
              <a:r>
                <a:rPr kumimoji="1" lang="en-US" altLang="zh-CN">
                  <a:latin typeface="Times New Roman" panose="02020603050405020304" pitchFamily="18" charset="0"/>
                </a:rPr>
                <a:t>P</a:t>
              </a:r>
              <a:r>
                <a:rPr kumimoji="1" lang="en-US" altLang="zh-CN" baseline="-25000">
                  <a:latin typeface="Times New Roman" panose="02020603050405020304" pitchFamily="18" charset="0"/>
                </a:rPr>
                <a:t>R</a:t>
              </a:r>
              <a:endParaRPr kumimoji="1" lang="en-US" altLang="zh-CN">
                <a:latin typeface="Times New Roman" panose="02020603050405020304" pitchFamily="18" charset="0"/>
              </a:endParaRPr>
            </a:p>
          </p:txBody>
        </p:sp>
        <p:cxnSp>
          <p:nvCxnSpPr>
            <p:cNvPr id="249899" name="AutoShape 43"/>
            <p:cNvCxnSpPr>
              <a:cxnSpLocks noChangeShapeType="1"/>
              <a:stCxn id="249894" idx="5"/>
              <a:endCxn id="249898" idx="8"/>
            </p:cNvCxnSpPr>
            <p:nvPr/>
          </p:nvCxnSpPr>
          <p:spPr bwMode="auto">
            <a:xfrm>
              <a:off x="1357313" y="3829050"/>
              <a:ext cx="292100" cy="31432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900" name="Line 44"/>
            <p:cNvSpPr>
              <a:spLocks noChangeShapeType="1"/>
            </p:cNvSpPr>
            <p:nvPr/>
          </p:nvSpPr>
          <p:spPr bwMode="auto">
            <a:xfrm>
              <a:off x="1793875" y="3327400"/>
              <a:ext cx="252413" cy="274638"/>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49901" name="Text Box 45"/>
            <p:cNvSpPr txBox="1">
              <a:spLocks noChangeArrowheads="1"/>
            </p:cNvSpPr>
            <p:nvPr/>
          </p:nvSpPr>
          <p:spPr bwMode="auto">
            <a:xfrm>
              <a:off x="1115616" y="2564904"/>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249902" name="Text Box 46"/>
            <p:cNvSpPr txBox="1">
              <a:spLocks noChangeArrowheads="1"/>
            </p:cNvSpPr>
            <p:nvPr/>
          </p:nvSpPr>
          <p:spPr bwMode="auto">
            <a:xfrm>
              <a:off x="635050" y="2971800"/>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249903" name="AutoShape 47"/>
            <p:cNvCxnSpPr>
              <a:cxnSpLocks noChangeShapeType="1"/>
              <a:stCxn id="249901" idx="3"/>
              <a:endCxn id="249893" idx="0"/>
            </p:cNvCxnSpPr>
            <p:nvPr/>
          </p:nvCxnSpPr>
          <p:spPr bwMode="auto">
            <a:xfrm>
              <a:off x="1461347" y="2810087"/>
              <a:ext cx="204893" cy="17441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904" name="AutoShape 48"/>
            <p:cNvCxnSpPr>
              <a:cxnSpLocks noChangeShapeType="1"/>
              <a:stCxn id="249902" idx="3"/>
              <a:endCxn id="249894" idx="0"/>
            </p:cNvCxnSpPr>
            <p:nvPr/>
          </p:nvCxnSpPr>
          <p:spPr bwMode="auto">
            <a:xfrm>
              <a:off x="1031240" y="3217333"/>
              <a:ext cx="192193" cy="24638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 name="右箭头 4"/>
          <p:cNvSpPr/>
          <p:nvPr/>
        </p:nvSpPr>
        <p:spPr>
          <a:xfrm>
            <a:off x="2843808" y="4274842"/>
            <a:ext cx="594066" cy="2908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grpSp>
        <p:nvGrpSpPr>
          <p:cNvPr id="6" name="组合 5"/>
          <p:cNvGrpSpPr/>
          <p:nvPr/>
        </p:nvGrpSpPr>
        <p:grpSpPr>
          <a:xfrm>
            <a:off x="6037660" y="3553698"/>
            <a:ext cx="1828800" cy="2852632"/>
            <a:chOff x="6526213" y="2636838"/>
            <a:chExt cx="2438400" cy="3803509"/>
          </a:xfrm>
        </p:grpSpPr>
        <p:grpSp>
          <p:nvGrpSpPr>
            <p:cNvPr id="4" name="组合 3"/>
            <p:cNvGrpSpPr/>
            <p:nvPr/>
          </p:nvGrpSpPr>
          <p:grpSpPr>
            <a:xfrm>
              <a:off x="6526213" y="2636838"/>
              <a:ext cx="2438400" cy="3803509"/>
              <a:chOff x="6526213" y="2636838"/>
              <a:chExt cx="2438400" cy="3803509"/>
            </a:xfrm>
          </p:grpSpPr>
          <p:grpSp>
            <p:nvGrpSpPr>
              <p:cNvPr id="249905" name="Group 49"/>
              <p:cNvGrpSpPr/>
              <p:nvPr/>
            </p:nvGrpSpPr>
            <p:grpSpPr bwMode="auto">
              <a:xfrm>
                <a:off x="6526213" y="2636838"/>
                <a:ext cx="2438400" cy="2982913"/>
                <a:chOff x="2784" y="1193"/>
                <a:chExt cx="1536" cy="1879"/>
              </a:xfrm>
            </p:grpSpPr>
            <p:grpSp>
              <p:nvGrpSpPr>
                <p:cNvPr id="249906" name="Group 50"/>
                <p:cNvGrpSpPr/>
                <p:nvPr/>
              </p:nvGrpSpPr>
              <p:grpSpPr bwMode="auto">
                <a:xfrm>
                  <a:off x="3216" y="1488"/>
                  <a:ext cx="624" cy="624"/>
                  <a:chOff x="768" y="1440"/>
                  <a:chExt cx="624" cy="624"/>
                </a:xfrm>
              </p:grpSpPr>
              <p:sp>
                <p:nvSpPr>
                  <p:cNvPr id="249907" name="Oval 51"/>
                  <p:cNvSpPr>
                    <a:spLocks noChangeArrowheads="1"/>
                  </p:cNvSpPr>
                  <p:nvPr/>
                </p:nvSpPr>
                <p:spPr bwMode="auto">
                  <a:xfrm>
                    <a:off x="1104" y="1440"/>
                    <a:ext cx="288" cy="28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F</a:t>
                    </a:r>
                    <a:endParaRPr kumimoji="1" lang="en-US" altLang="zh-CN">
                      <a:latin typeface="Times New Roman" panose="02020603050405020304" pitchFamily="18" charset="0"/>
                    </a:endParaRPr>
                  </a:p>
                </p:txBody>
              </p:sp>
              <p:sp>
                <p:nvSpPr>
                  <p:cNvPr id="249908" name="Oval 52"/>
                  <p:cNvSpPr>
                    <a:spLocks noChangeArrowheads="1"/>
                  </p:cNvSpPr>
                  <p:nvPr/>
                </p:nvSpPr>
                <p:spPr bwMode="auto">
                  <a:xfrm>
                    <a:off x="768" y="1776"/>
                    <a:ext cx="288" cy="288"/>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0000"/>
                        </a:solidFill>
                        <a:latin typeface="Times New Roman" panose="02020603050405020304" pitchFamily="18" charset="0"/>
                      </a:rPr>
                      <a:t>C</a:t>
                    </a:r>
                    <a:endParaRPr kumimoji="1" lang="en-US" altLang="zh-CN">
                      <a:solidFill>
                        <a:srgbClr val="FF0000"/>
                      </a:solidFill>
                      <a:latin typeface="Times New Roman" panose="02020603050405020304" pitchFamily="18" charset="0"/>
                    </a:endParaRPr>
                  </a:p>
                </p:txBody>
              </p:sp>
              <p:cxnSp>
                <p:nvCxnSpPr>
                  <p:cNvPr id="249909" name="AutoShape 53"/>
                  <p:cNvCxnSpPr>
                    <a:cxnSpLocks noChangeShapeType="1"/>
                    <a:stCxn id="249907" idx="3"/>
                    <a:endCxn id="249908" idx="7"/>
                  </p:cNvCxnSpPr>
                  <p:nvPr/>
                </p:nvCxnSpPr>
                <p:spPr bwMode="auto">
                  <a:xfrm flipH="1">
                    <a:off x="1014" y="1686"/>
                    <a:ext cx="132" cy="1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9910" name="Line 54"/>
                <p:cNvSpPr>
                  <a:spLocks noChangeShapeType="1"/>
                </p:cNvSpPr>
                <p:nvPr/>
              </p:nvSpPr>
              <p:spPr bwMode="auto">
                <a:xfrm>
                  <a:off x="3792" y="1776"/>
                  <a:ext cx="192" cy="192"/>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nvGrpSpPr>
                <p:cNvPr id="249911" name="Group 55"/>
                <p:cNvGrpSpPr/>
                <p:nvPr/>
              </p:nvGrpSpPr>
              <p:grpSpPr bwMode="auto">
                <a:xfrm>
                  <a:off x="3168" y="2304"/>
                  <a:ext cx="1152" cy="768"/>
                  <a:chOff x="3264" y="2496"/>
                  <a:chExt cx="1152" cy="768"/>
                </a:xfrm>
              </p:grpSpPr>
              <p:sp>
                <p:nvSpPr>
                  <p:cNvPr id="249912" name="Oval 56"/>
                  <p:cNvSpPr>
                    <a:spLocks noChangeArrowheads="1"/>
                  </p:cNvSpPr>
                  <p:nvPr/>
                </p:nvSpPr>
                <p:spPr bwMode="auto">
                  <a:xfrm>
                    <a:off x="3696" y="2496"/>
                    <a:ext cx="288" cy="288"/>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0000"/>
                        </a:solidFill>
                        <a:latin typeface="Times New Roman" panose="02020603050405020304" pitchFamily="18" charset="0"/>
                      </a:rPr>
                      <a:t>S</a:t>
                    </a:r>
                    <a:endParaRPr kumimoji="1" lang="en-US" altLang="zh-CN" b="1">
                      <a:solidFill>
                        <a:srgbClr val="FF0000"/>
                      </a:solidFill>
                      <a:latin typeface="Times New Roman" panose="02020603050405020304" pitchFamily="18" charset="0"/>
                    </a:endParaRPr>
                  </a:p>
                </p:txBody>
              </p:sp>
              <p:sp>
                <p:nvSpPr>
                  <p:cNvPr id="249913" name="AutoShape 57"/>
                  <p:cNvSpPr>
                    <a:spLocks noChangeArrowheads="1"/>
                  </p:cNvSpPr>
                  <p:nvPr/>
                </p:nvSpPr>
                <p:spPr bwMode="auto">
                  <a:xfrm flipH="1" flipV="1">
                    <a:off x="3264" y="2976"/>
                    <a:ext cx="384" cy="288"/>
                  </a:xfrm>
                  <a:prstGeom prst="wedgeEllipseCallout">
                    <a:avLst>
                      <a:gd name="adj1" fmla="val -43750"/>
                      <a:gd name="adj2" fmla="val 70139"/>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70000"/>
                      </a:lnSpc>
                    </a:pPr>
                    <a:endParaRPr kumimoji="1" lang="en-US" altLang="zh-CN">
                      <a:latin typeface="Times New Roman" panose="02020603050405020304" pitchFamily="18" charset="0"/>
                    </a:endParaRPr>
                  </a:p>
                  <a:p>
                    <a:pPr algn="ctr">
                      <a:lnSpc>
                        <a:spcPct val="70000"/>
                      </a:lnSpc>
                    </a:pPr>
                    <a:r>
                      <a:rPr kumimoji="1" lang="en-US" altLang="zh-CN">
                        <a:latin typeface="Times New Roman" panose="02020603050405020304" pitchFamily="18" charset="0"/>
                      </a:rPr>
                      <a:t>S</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249914" name="AutoShape 58"/>
                  <p:cNvCxnSpPr>
                    <a:cxnSpLocks noChangeShapeType="1"/>
                    <a:stCxn id="249912" idx="3"/>
                    <a:endCxn id="249913" idx="8"/>
                  </p:cNvCxnSpPr>
                  <p:nvPr/>
                </p:nvCxnSpPr>
                <p:spPr bwMode="auto">
                  <a:xfrm flipH="1">
                    <a:off x="3624" y="2742"/>
                    <a:ext cx="114" cy="17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915" name="AutoShape 59"/>
                  <p:cNvSpPr>
                    <a:spLocks noChangeArrowheads="1"/>
                  </p:cNvSpPr>
                  <p:nvPr/>
                </p:nvSpPr>
                <p:spPr bwMode="auto">
                  <a:xfrm flipV="1">
                    <a:off x="4032" y="2976"/>
                    <a:ext cx="384" cy="288"/>
                  </a:xfrm>
                  <a:prstGeom prst="wedgeEllipseCallout">
                    <a:avLst>
                      <a:gd name="adj1" fmla="val -44014"/>
                      <a:gd name="adj2" fmla="val 53472"/>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70000"/>
                      </a:lnSpc>
                    </a:pPr>
                    <a:endParaRPr kumimoji="1" lang="en-US" altLang="zh-CN">
                      <a:solidFill>
                        <a:srgbClr val="FF0000"/>
                      </a:solidFill>
                      <a:latin typeface="Times New Roman" panose="02020603050405020304" pitchFamily="18" charset="0"/>
                    </a:endParaRPr>
                  </a:p>
                  <a:p>
                    <a:pPr algn="ctr">
                      <a:lnSpc>
                        <a:spcPct val="70000"/>
                      </a:lnSpc>
                    </a:pPr>
                    <a:r>
                      <a:rPr kumimoji="1" lang="en-US" altLang="zh-CN">
                        <a:solidFill>
                          <a:srgbClr val="FF0000"/>
                        </a:solidFill>
                        <a:latin typeface="Times New Roman" panose="02020603050405020304" pitchFamily="18" charset="0"/>
                      </a:rPr>
                      <a:t>P</a:t>
                    </a:r>
                    <a:r>
                      <a:rPr kumimoji="1" lang="en-US" altLang="zh-CN" baseline="-25000">
                        <a:solidFill>
                          <a:srgbClr val="FF0000"/>
                        </a:solidFill>
                        <a:latin typeface="Times New Roman" panose="02020603050405020304" pitchFamily="18" charset="0"/>
                      </a:rPr>
                      <a:t>R</a:t>
                    </a:r>
                    <a:endParaRPr kumimoji="1" lang="en-US" altLang="zh-CN" baseline="-25000">
                      <a:solidFill>
                        <a:srgbClr val="FF0000"/>
                      </a:solidFill>
                      <a:latin typeface="Times New Roman" panose="02020603050405020304" pitchFamily="18" charset="0"/>
                    </a:endParaRPr>
                  </a:p>
                </p:txBody>
              </p:sp>
              <p:cxnSp>
                <p:nvCxnSpPr>
                  <p:cNvPr id="249916" name="AutoShape 60"/>
                  <p:cNvCxnSpPr>
                    <a:cxnSpLocks noChangeShapeType="1"/>
                    <a:stCxn id="249912" idx="5"/>
                    <a:endCxn id="249915" idx="8"/>
                  </p:cNvCxnSpPr>
                  <p:nvPr/>
                </p:nvCxnSpPr>
                <p:spPr bwMode="auto">
                  <a:xfrm>
                    <a:off x="3942" y="2742"/>
                    <a:ext cx="112" cy="224"/>
                  </a:xfrm>
                  <a:prstGeom prst="straightConnector1">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9917" name="AutoShape 61"/>
                <p:cNvSpPr>
                  <a:spLocks noChangeArrowheads="1"/>
                </p:cNvSpPr>
                <p:nvPr/>
              </p:nvSpPr>
              <p:spPr bwMode="auto">
                <a:xfrm flipH="1" flipV="1">
                  <a:off x="2784" y="2304"/>
                  <a:ext cx="384" cy="288"/>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80000"/>
                    </a:lnSpc>
                  </a:pPr>
                  <a:r>
                    <a:rPr kumimoji="1" lang="en-US" altLang="zh-CN">
                      <a:latin typeface="Times New Roman" panose="02020603050405020304" pitchFamily="18" charset="0"/>
                    </a:rPr>
                    <a:t>C</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249918" name="AutoShape 62"/>
                <p:cNvCxnSpPr>
                  <a:cxnSpLocks noChangeShapeType="1"/>
                  <a:stCxn id="249908" idx="3"/>
                  <a:endCxn id="249917" idx="8"/>
                </p:cNvCxnSpPr>
                <p:nvPr/>
              </p:nvCxnSpPr>
              <p:spPr bwMode="auto">
                <a:xfrm flipH="1">
                  <a:off x="3144" y="2070"/>
                  <a:ext cx="114" cy="17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919" name="AutoShape 63"/>
                <p:cNvCxnSpPr>
                  <a:cxnSpLocks noChangeShapeType="1"/>
                  <a:stCxn id="249908" idx="5"/>
                  <a:endCxn id="249912" idx="1"/>
                </p:cNvCxnSpPr>
                <p:nvPr/>
              </p:nvCxnSpPr>
              <p:spPr bwMode="auto">
                <a:xfrm>
                  <a:off x="3462" y="2070"/>
                  <a:ext cx="180" cy="276"/>
                </a:xfrm>
                <a:prstGeom prst="straightConnector1">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920" name="Text Box 64"/>
                <p:cNvSpPr txBox="1">
                  <a:spLocks noChangeArrowheads="1"/>
                </p:cNvSpPr>
                <p:nvPr/>
              </p:nvSpPr>
              <p:spPr bwMode="auto">
                <a:xfrm>
                  <a:off x="3323" y="1193"/>
                  <a:ext cx="21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249921" name="Text Box 65"/>
                <p:cNvSpPr txBox="1">
                  <a:spLocks noChangeArrowheads="1"/>
                </p:cNvSpPr>
                <p:nvPr/>
              </p:nvSpPr>
              <p:spPr bwMode="auto">
                <a:xfrm>
                  <a:off x="2868" y="1511"/>
                  <a:ext cx="23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c</a:t>
                  </a:r>
                  <a:endParaRPr kumimoji="1" lang="en-US" altLang="zh-CN" i="1" dirty="0">
                    <a:latin typeface="Times New Roman" panose="02020603050405020304" pitchFamily="18" charset="0"/>
                  </a:endParaRPr>
                </a:p>
              </p:txBody>
            </p:sp>
            <p:cxnSp>
              <p:nvCxnSpPr>
                <p:cNvPr id="249922" name="AutoShape 66"/>
                <p:cNvCxnSpPr>
                  <a:cxnSpLocks noChangeShapeType="1"/>
                  <a:stCxn id="249920" idx="3"/>
                  <a:endCxn id="249907" idx="0"/>
                </p:cNvCxnSpPr>
                <p:nvPr/>
              </p:nvCxnSpPr>
              <p:spPr bwMode="auto">
                <a:xfrm>
                  <a:off x="3541" y="1347"/>
                  <a:ext cx="155" cy="141"/>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923" name="AutoShape 67"/>
                <p:cNvCxnSpPr>
                  <a:cxnSpLocks noChangeShapeType="1"/>
                  <a:stCxn id="249921" idx="3"/>
                  <a:endCxn id="249908" idx="1"/>
                </p:cNvCxnSpPr>
                <p:nvPr/>
              </p:nvCxnSpPr>
              <p:spPr bwMode="auto">
                <a:xfrm>
                  <a:off x="3107" y="1666"/>
                  <a:ext cx="151" cy="201"/>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924" name="AutoShape 68"/>
                <p:cNvCxnSpPr>
                  <a:cxnSpLocks noChangeShapeType="1"/>
                  <a:endCxn id="249912" idx="0"/>
                </p:cNvCxnSpPr>
                <p:nvPr/>
              </p:nvCxnSpPr>
              <p:spPr bwMode="auto">
                <a:xfrm rot="10800000" flipV="1">
                  <a:off x="3744" y="2208"/>
                  <a:ext cx="240" cy="96"/>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9925" name="Text Box 69"/>
              <p:cNvSpPr txBox="1">
                <a:spLocks noChangeArrowheads="1"/>
              </p:cNvSpPr>
              <p:nvPr/>
            </p:nvSpPr>
            <p:spPr bwMode="auto">
              <a:xfrm>
                <a:off x="7481348" y="5949280"/>
                <a:ext cx="582507"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Times New Roman" panose="02020603050405020304" pitchFamily="18" charset="0"/>
                  </a:rPr>
                  <a:t>(c)</a:t>
                </a:r>
                <a:endParaRPr kumimoji="1" lang="en-US" altLang="zh-CN" dirty="0">
                  <a:latin typeface="Times New Roman" panose="02020603050405020304" pitchFamily="18" charset="0"/>
                </a:endParaRPr>
              </a:p>
            </p:txBody>
          </p:sp>
        </p:grpSp>
        <p:sp>
          <p:nvSpPr>
            <p:cNvPr id="73" name="Text Box 29"/>
            <p:cNvSpPr txBox="1">
              <a:spLocks noChangeArrowheads="1"/>
            </p:cNvSpPr>
            <p:nvPr/>
          </p:nvSpPr>
          <p:spPr bwMode="auto">
            <a:xfrm>
              <a:off x="8442812" y="3929099"/>
              <a:ext cx="362373"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s</a:t>
              </a:r>
              <a:endParaRPr kumimoji="1" lang="en-US" altLang="zh-CN" i="1"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49858">
                                            <p:txEl>
                                              <p:pRg st="1" end="1"/>
                                            </p:txEl>
                                          </p:spTgt>
                                        </p:tgtEl>
                                        <p:attrNameLst>
                                          <p:attrName>style.visibility</p:attrName>
                                        </p:attrNameLst>
                                      </p:cBhvr>
                                      <p:to>
                                        <p:strVal val="visible"/>
                                      </p:to>
                                    </p:set>
                                    <p:animEffect transition="in" filter="fade">
                                      <p:cBhvr>
                                        <p:cTn id="20" dur="1000"/>
                                        <p:tgtEl>
                                          <p:spTgt spid="249858">
                                            <p:txEl>
                                              <p:pRg st="1" end="1"/>
                                            </p:txEl>
                                          </p:spTgt>
                                        </p:tgtEl>
                                      </p:cBhvr>
                                    </p:animEffect>
                                    <p:anim calcmode="lin" valueType="num">
                                      <p:cBhvr>
                                        <p:cTn id="21" dur="1000" fill="hold"/>
                                        <p:tgtEl>
                                          <p:spTgt spid="249858">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4985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en-US" altLang="zh-CN">
                <a:sym typeface="+mn-ea"/>
              </a:rPr>
              <a:t>8.3.4 </a:t>
            </a:r>
            <a:r>
              <a:rPr kumimoji="1" lang="en-US" altLang="zh-CN" dirty="0">
                <a:ea typeface="幼圆" panose="02010509060101010101" pitchFamily="49" charset="-122"/>
                <a:cs typeface="Times New Roman" panose="02020603050405020304" pitchFamily="18" charset="0"/>
                <a:sym typeface="+mn-ea"/>
              </a:rPr>
              <a:t>Node removal of BST</a:t>
            </a:r>
            <a:endParaRPr lang="zh-CN" altLang="en-US"/>
          </a:p>
        </p:txBody>
      </p:sp>
      <p:sp>
        <p:nvSpPr>
          <p:cNvPr id="60421" name="Text Box 5"/>
          <p:cNvSpPr txBox="1">
            <a:spLocks noChangeArrowheads="1"/>
          </p:cNvSpPr>
          <p:nvPr/>
        </p:nvSpPr>
        <p:spPr bwMode="auto">
          <a:xfrm>
            <a:off x="692150" y="1055370"/>
            <a:ext cx="7994650" cy="1908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其二</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是令*</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的直接前驱（或直接后继）替代*</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，然后从二叉排序树中删除它的直接前驱（或直接后继），如图</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(d)</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所示，当以*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s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代替*</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p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时，由于*</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s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只有左子树</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S</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，则删除*</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s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之后，只要令</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S</a:t>
            </a:r>
            <a:r>
              <a:rPr kumimoji="1" lang="en-US" altLang="zh-CN" sz="2000" baseline="-25000" dirty="0">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s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的双亲结点*</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q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的右子树即可。</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2" name="组合 1"/>
          <p:cNvGrpSpPr/>
          <p:nvPr/>
        </p:nvGrpSpPr>
        <p:grpSpPr>
          <a:xfrm>
            <a:off x="2226628" y="2995403"/>
            <a:ext cx="1934618" cy="3265221"/>
            <a:chOff x="971550" y="2204864"/>
            <a:chExt cx="2579490" cy="4353628"/>
          </a:xfrm>
        </p:grpSpPr>
        <p:sp>
          <p:nvSpPr>
            <p:cNvPr id="60553" name="Oval 137"/>
            <p:cNvSpPr>
              <a:spLocks noChangeArrowheads="1"/>
            </p:cNvSpPr>
            <p:nvPr/>
          </p:nvSpPr>
          <p:spPr bwMode="auto">
            <a:xfrm>
              <a:off x="2424339" y="2684463"/>
              <a:ext cx="379186" cy="41138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F</a:t>
              </a:r>
              <a:endParaRPr kumimoji="1" lang="en-US" altLang="zh-CN" dirty="0">
                <a:latin typeface="Times New Roman" panose="02020603050405020304" pitchFamily="18" charset="0"/>
              </a:endParaRPr>
            </a:p>
          </p:txBody>
        </p:sp>
        <p:sp>
          <p:nvSpPr>
            <p:cNvPr id="60554" name="Oval 138"/>
            <p:cNvSpPr>
              <a:spLocks noChangeArrowheads="1"/>
            </p:cNvSpPr>
            <p:nvPr/>
          </p:nvSpPr>
          <p:spPr bwMode="auto">
            <a:xfrm>
              <a:off x="1981956" y="3164417"/>
              <a:ext cx="379186" cy="41138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P</a:t>
              </a:r>
              <a:endParaRPr kumimoji="1" lang="en-US" altLang="zh-CN">
                <a:latin typeface="Times New Roman" panose="02020603050405020304" pitchFamily="18" charset="0"/>
              </a:endParaRPr>
            </a:p>
          </p:txBody>
        </p:sp>
        <p:cxnSp>
          <p:nvCxnSpPr>
            <p:cNvPr id="60555" name="AutoShape 139"/>
            <p:cNvCxnSpPr>
              <a:cxnSpLocks noChangeShapeType="1"/>
              <a:stCxn id="60553" idx="3"/>
              <a:endCxn id="60554" idx="7"/>
            </p:cNvCxnSpPr>
            <p:nvPr/>
          </p:nvCxnSpPr>
          <p:spPr bwMode="auto">
            <a:xfrm flipH="1">
              <a:off x="2305844" y="3035858"/>
              <a:ext cx="173793" cy="18855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56" name="Oval 140"/>
            <p:cNvSpPr>
              <a:spLocks noChangeArrowheads="1"/>
            </p:cNvSpPr>
            <p:nvPr/>
          </p:nvSpPr>
          <p:spPr bwMode="auto">
            <a:xfrm>
              <a:off x="1476375" y="3712936"/>
              <a:ext cx="379186" cy="41138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C</a:t>
              </a:r>
              <a:endParaRPr kumimoji="1" lang="en-US" altLang="zh-CN">
                <a:latin typeface="Times New Roman" panose="02020603050405020304" pitchFamily="18" charset="0"/>
              </a:endParaRPr>
            </a:p>
          </p:txBody>
        </p:sp>
        <p:cxnSp>
          <p:nvCxnSpPr>
            <p:cNvPr id="60557" name="AutoShape 141"/>
            <p:cNvCxnSpPr>
              <a:cxnSpLocks noChangeShapeType="1"/>
              <a:stCxn id="60554" idx="3"/>
              <a:endCxn id="60556" idx="7"/>
            </p:cNvCxnSpPr>
            <p:nvPr/>
          </p:nvCxnSpPr>
          <p:spPr bwMode="auto">
            <a:xfrm flipH="1">
              <a:off x="1800263" y="3515812"/>
              <a:ext cx="236991" cy="25711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58" name="AutoShape 142"/>
            <p:cNvSpPr>
              <a:spLocks noChangeArrowheads="1"/>
            </p:cNvSpPr>
            <p:nvPr/>
          </p:nvSpPr>
          <p:spPr bwMode="auto">
            <a:xfrm flipH="1" flipV="1">
              <a:off x="971550" y="4398963"/>
              <a:ext cx="504825" cy="411162"/>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C</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60559" name="AutoShape 143"/>
            <p:cNvCxnSpPr>
              <a:cxnSpLocks noChangeShapeType="1"/>
              <a:stCxn id="60556" idx="3"/>
              <a:endCxn id="60558" idx="8"/>
            </p:cNvCxnSpPr>
            <p:nvPr/>
          </p:nvCxnSpPr>
          <p:spPr bwMode="auto">
            <a:xfrm flipH="1">
              <a:off x="1446213" y="4064000"/>
              <a:ext cx="85725" cy="2524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60" name="Oval 144"/>
            <p:cNvSpPr>
              <a:spLocks noChangeArrowheads="1"/>
            </p:cNvSpPr>
            <p:nvPr/>
          </p:nvSpPr>
          <p:spPr bwMode="auto">
            <a:xfrm>
              <a:off x="2171700" y="4330700"/>
              <a:ext cx="379413" cy="411163"/>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Q</a:t>
              </a:r>
              <a:endParaRPr kumimoji="1" lang="en-US" altLang="zh-CN">
                <a:latin typeface="Times New Roman" panose="02020603050405020304" pitchFamily="18" charset="0"/>
              </a:endParaRPr>
            </a:p>
          </p:txBody>
        </p:sp>
        <p:sp>
          <p:nvSpPr>
            <p:cNvPr id="60561" name="Oval 145"/>
            <p:cNvSpPr>
              <a:spLocks noChangeArrowheads="1"/>
            </p:cNvSpPr>
            <p:nvPr/>
          </p:nvSpPr>
          <p:spPr bwMode="auto">
            <a:xfrm>
              <a:off x="2614613" y="4741863"/>
              <a:ext cx="379412" cy="411162"/>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0000"/>
                  </a:solidFill>
                  <a:latin typeface="Times New Roman" panose="02020603050405020304" pitchFamily="18" charset="0"/>
                </a:rPr>
                <a:t>S</a:t>
              </a:r>
              <a:endParaRPr kumimoji="1" lang="en-US" altLang="zh-CN" b="1">
                <a:solidFill>
                  <a:srgbClr val="FF0000"/>
                </a:solidFill>
                <a:latin typeface="Times New Roman" panose="02020603050405020304" pitchFamily="18" charset="0"/>
              </a:endParaRPr>
            </a:p>
          </p:txBody>
        </p:sp>
        <p:sp>
          <p:nvSpPr>
            <p:cNvPr id="60562" name="AutoShape 146"/>
            <p:cNvSpPr>
              <a:spLocks noChangeArrowheads="1"/>
            </p:cNvSpPr>
            <p:nvPr/>
          </p:nvSpPr>
          <p:spPr bwMode="auto">
            <a:xfrm flipV="1">
              <a:off x="2425700" y="3713163"/>
              <a:ext cx="504825" cy="411162"/>
            </a:xfrm>
            <a:prstGeom prst="wedgeEllipseCallout">
              <a:avLst>
                <a:gd name="adj1" fmla="val -43750"/>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70000"/>
                </a:lnSpc>
              </a:pPr>
              <a:r>
                <a:rPr kumimoji="1" lang="en-US" altLang="zh-CN">
                  <a:latin typeface="Times New Roman" panose="02020603050405020304" pitchFamily="18" charset="0"/>
                </a:rPr>
                <a:t>P</a:t>
              </a:r>
              <a:r>
                <a:rPr kumimoji="1" lang="en-US" altLang="zh-CN" baseline="-25000">
                  <a:latin typeface="Times New Roman" panose="02020603050405020304" pitchFamily="18" charset="0"/>
                </a:rPr>
                <a:t>R</a:t>
              </a:r>
              <a:endParaRPr kumimoji="1" lang="en-US" altLang="zh-CN">
                <a:latin typeface="Times New Roman" panose="02020603050405020304" pitchFamily="18" charset="0"/>
              </a:endParaRPr>
            </a:p>
          </p:txBody>
        </p:sp>
        <p:cxnSp>
          <p:nvCxnSpPr>
            <p:cNvPr id="60563" name="AutoShape 147"/>
            <p:cNvCxnSpPr>
              <a:cxnSpLocks noChangeShapeType="1"/>
              <a:stCxn id="60554" idx="5"/>
              <a:endCxn id="60562" idx="8"/>
            </p:cNvCxnSpPr>
            <p:nvPr/>
          </p:nvCxnSpPr>
          <p:spPr bwMode="auto">
            <a:xfrm>
              <a:off x="2306638" y="3516313"/>
              <a:ext cx="149225" cy="18256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64" name="AutoShape 148"/>
            <p:cNvSpPr>
              <a:spLocks noChangeArrowheads="1"/>
            </p:cNvSpPr>
            <p:nvPr/>
          </p:nvSpPr>
          <p:spPr bwMode="auto">
            <a:xfrm flipH="1" flipV="1">
              <a:off x="1539875" y="4946650"/>
              <a:ext cx="506413" cy="412750"/>
            </a:xfrm>
            <a:prstGeom prst="wedgeEllipseCallout">
              <a:avLst>
                <a:gd name="adj1" fmla="val -43750"/>
                <a:gd name="adj2" fmla="val 7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Q</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sp>
          <p:nvSpPr>
            <p:cNvPr id="60565" name="AutoShape 149"/>
            <p:cNvSpPr>
              <a:spLocks noChangeArrowheads="1"/>
            </p:cNvSpPr>
            <p:nvPr/>
          </p:nvSpPr>
          <p:spPr bwMode="auto">
            <a:xfrm flipH="1" flipV="1">
              <a:off x="2046288" y="5427663"/>
              <a:ext cx="504825" cy="411162"/>
            </a:xfrm>
            <a:prstGeom prst="wedgeEllipseCallout">
              <a:avLst>
                <a:gd name="adj1" fmla="val -43750"/>
                <a:gd name="adj2" fmla="val 70139"/>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S</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60566" name="AutoShape 150"/>
            <p:cNvCxnSpPr>
              <a:cxnSpLocks noChangeShapeType="1"/>
              <a:stCxn id="60560" idx="3"/>
              <a:endCxn id="60564" idx="8"/>
            </p:cNvCxnSpPr>
            <p:nvPr/>
          </p:nvCxnSpPr>
          <p:spPr bwMode="auto">
            <a:xfrm flipH="1">
              <a:off x="2014538" y="4681538"/>
              <a:ext cx="212725" cy="18256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67" name="AutoShape 151"/>
            <p:cNvCxnSpPr>
              <a:cxnSpLocks noChangeShapeType="1"/>
              <a:stCxn id="60561" idx="3"/>
              <a:endCxn id="60565" idx="8"/>
            </p:cNvCxnSpPr>
            <p:nvPr/>
          </p:nvCxnSpPr>
          <p:spPr bwMode="auto">
            <a:xfrm flipH="1">
              <a:off x="2519363" y="5092700"/>
              <a:ext cx="150812" cy="25241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68" name="AutoShape 152"/>
            <p:cNvCxnSpPr>
              <a:cxnSpLocks noChangeShapeType="1"/>
              <a:stCxn id="60560" idx="5"/>
              <a:endCxn id="60561" idx="1"/>
            </p:cNvCxnSpPr>
            <p:nvPr/>
          </p:nvCxnSpPr>
          <p:spPr bwMode="auto">
            <a:xfrm>
              <a:off x="2495550" y="4681538"/>
              <a:ext cx="174625" cy="1206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69" name="AutoShape 153"/>
            <p:cNvCxnSpPr>
              <a:cxnSpLocks noChangeShapeType="1"/>
              <a:stCxn id="60556" idx="5"/>
              <a:endCxn id="60560" idx="1"/>
            </p:cNvCxnSpPr>
            <p:nvPr/>
          </p:nvCxnSpPr>
          <p:spPr bwMode="auto">
            <a:xfrm>
              <a:off x="1800225" y="4064000"/>
              <a:ext cx="427038" cy="325438"/>
            </a:xfrm>
            <a:prstGeom prst="straightConnector1">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70" name="Line 154"/>
            <p:cNvSpPr>
              <a:spLocks noChangeShapeType="1"/>
            </p:cNvSpPr>
            <p:nvPr/>
          </p:nvSpPr>
          <p:spPr bwMode="auto">
            <a:xfrm>
              <a:off x="2741613" y="3027363"/>
              <a:ext cx="252412" cy="27463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60571" name="Text Box 155"/>
            <p:cNvSpPr txBox="1">
              <a:spLocks noChangeArrowheads="1"/>
            </p:cNvSpPr>
            <p:nvPr/>
          </p:nvSpPr>
          <p:spPr bwMode="auto">
            <a:xfrm>
              <a:off x="2051720" y="2204864"/>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60572" name="Text Box 156"/>
            <p:cNvSpPr txBox="1">
              <a:spLocks noChangeArrowheads="1"/>
            </p:cNvSpPr>
            <p:nvPr/>
          </p:nvSpPr>
          <p:spPr bwMode="auto">
            <a:xfrm>
              <a:off x="1444837" y="2450397"/>
              <a:ext cx="354753" cy="664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60573" name="AutoShape 157"/>
            <p:cNvCxnSpPr>
              <a:cxnSpLocks noChangeShapeType="1"/>
              <a:stCxn id="60571" idx="3"/>
              <a:endCxn id="60553" idx="0"/>
            </p:cNvCxnSpPr>
            <p:nvPr/>
          </p:nvCxnSpPr>
          <p:spPr bwMode="auto">
            <a:xfrm>
              <a:off x="2396913" y="2450253"/>
              <a:ext cx="216747" cy="234527"/>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74" name="AutoShape 158"/>
            <p:cNvCxnSpPr>
              <a:cxnSpLocks noChangeShapeType="1"/>
              <a:stCxn id="60572" idx="3"/>
              <a:endCxn id="60554" idx="1"/>
            </p:cNvCxnSpPr>
            <p:nvPr/>
          </p:nvCxnSpPr>
          <p:spPr bwMode="auto">
            <a:xfrm>
              <a:off x="1800012" y="2782993"/>
              <a:ext cx="237913" cy="44196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75" name="Text Box 159"/>
            <p:cNvSpPr txBox="1">
              <a:spLocks noChangeArrowheads="1"/>
            </p:cNvSpPr>
            <p:nvPr/>
          </p:nvSpPr>
          <p:spPr bwMode="auto">
            <a:xfrm>
              <a:off x="1073150" y="3037137"/>
              <a:ext cx="371687" cy="667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r>
                <a:rPr kumimoji="1" lang="en-US" altLang="zh-CN" i="1" dirty="0">
                  <a:latin typeface="Times New Roman" panose="02020603050405020304" pitchFamily="18" charset="0"/>
                </a:rPr>
                <a:t>c</a:t>
              </a:r>
              <a:endParaRPr kumimoji="1" lang="en-US" altLang="zh-CN" i="1" dirty="0">
                <a:latin typeface="Times New Roman" panose="02020603050405020304" pitchFamily="18" charset="0"/>
              </a:endParaRPr>
            </a:p>
          </p:txBody>
        </p:sp>
        <p:sp>
          <p:nvSpPr>
            <p:cNvPr id="60576" name="Text Box 160"/>
            <p:cNvSpPr txBox="1">
              <a:spLocks noChangeArrowheads="1"/>
            </p:cNvSpPr>
            <p:nvPr/>
          </p:nvSpPr>
          <p:spPr bwMode="auto">
            <a:xfrm>
              <a:off x="3188667" y="4260850"/>
              <a:ext cx="362373"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latin typeface="Times New Roman" panose="02020603050405020304" pitchFamily="18" charset="0"/>
                </a:rPr>
                <a:t>s</a:t>
              </a:r>
              <a:endParaRPr kumimoji="1" lang="en-US" altLang="zh-CN" i="1">
                <a:latin typeface="Times New Roman" panose="02020603050405020304" pitchFamily="18" charset="0"/>
              </a:endParaRPr>
            </a:p>
          </p:txBody>
        </p:sp>
        <p:sp>
          <p:nvSpPr>
            <p:cNvPr id="60577" name="Text Box 161"/>
            <p:cNvSpPr txBox="1">
              <a:spLocks noChangeArrowheads="1"/>
            </p:cNvSpPr>
            <p:nvPr/>
          </p:nvSpPr>
          <p:spPr bwMode="auto">
            <a:xfrm>
              <a:off x="2867298" y="3933056"/>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q</a:t>
              </a:r>
              <a:endParaRPr kumimoji="1" lang="en-US" altLang="zh-CN" i="1" dirty="0">
                <a:latin typeface="Times New Roman" panose="02020603050405020304" pitchFamily="18" charset="0"/>
              </a:endParaRPr>
            </a:p>
          </p:txBody>
        </p:sp>
        <p:cxnSp>
          <p:nvCxnSpPr>
            <p:cNvPr id="60578" name="AutoShape 162"/>
            <p:cNvCxnSpPr>
              <a:cxnSpLocks noChangeShapeType="1"/>
            </p:cNvCxnSpPr>
            <p:nvPr/>
          </p:nvCxnSpPr>
          <p:spPr bwMode="auto">
            <a:xfrm rot="10800000" flipV="1">
              <a:off x="2544067" y="4241763"/>
              <a:ext cx="371749" cy="229257"/>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79" name="AutoShape 163"/>
            <p:cNvCxnSpPr>
              <a:cxnSpLocks noChangeShapeType="1"/>
              <a:stCxn id="60576" idx="1"/>
              <a:endCxn id="60561" idx="0"/>
            </p:cNvCxnSpPr>
            <p:nvPr/>
          </p:nvCxnSpPr>
          <p:spPr bwMode="auto">
            <a:xfrm rot="10800000" flipV="1">
              <a:off x="2804160" y="4506807"/>
              <a:ext cx="384387" cy="23537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80" name="AutoShape 164"/>
            <p:cNvCxnSpPr>
              <a:cxnSpLocks noChangeShapeType="1"/>
              <a:stCxn id="60575" idx="3"/>
              <a:endCxn id="60556" idx="0"/>
            </p:cNvCxnSpPr>
            <p:nvPr/>
          </p:nvCxnSpPr>
          <p:spPr bwMode="auto">
            <a:xfrm>
              <a:off x="1445259" y="3370580"/>
              <a:ext cx="220980" cy="34205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81" name="Text Box 165"/>
            <p:cNvSpPr txBox="1">
              <a:spLocks noChangeArrowheads="1"/>
            </p:cNvSpPr>
            <p:nvPr/>
          </p:nvSpPr>
          <p:spPr bwMode="auto">
            <a:xfrm>
              <a:off x="1954543" y="6067425"/>
              <a:ext cx="599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Times New Roman" panose="02020603050405020304" pitchFamily="18" charset="0"/>
                </a:rPr>
                <a:t>(b)</a:t>
              </a:r>
              <a:endParaRPr kumimoji="1" lang="en-US" altLang="zh-CN" dirty="0">
                <a:latin typeface="Times New Roman" panose="02020603050405020304" pitchFamily="18" charset="0"/>
              </a:endParaRPr>
            </a:p>
          </p:txBody>
        </p:sp>
      </p:grpSp>
      <p:grpSp>
        <p:nvGrpSpPr>
          <p:cNvPr id="3" name="组合 2"/>
          <p:cNvGrpSpPr/>
          <p:nvPr/>
        </p:nvGrpSpPr>
        <p:grpSpPr>
          <a:xfrm>
            <a:off x="5359162" y="2995403"/>
            <a:ext cx="1600200" cy="3265221"/>
            <a:chOff x="5148263" y="2204864"/>
            <a:chExt cx="2133600" cy="4353628"/>
          </a:xfrm>
        </p:grpSpPr>
        <p:sp>
          <p:nvSpPr>
            <p:cNvPr id="60516" name="Text Box 100"/>
            <p:cNvSpPr txBox="1">
              <a:spLocks noChangeArrowheads="1"/>
            </p:cNvSpPr>
            <p:nvPr/>
          </p:nvSpPr>
          <p:spPr bwMode="auto">
            <a:xfrm>
              <a:off x="5968618" y="6067425"/>
              <a:ext cx="599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Times New Roman" panose="02020603050405020304" pitchFamily="18" charset="0"/>
                </a:rPr>
                <a:t>(d)</a:t>
              </a:r>
              <a:endParaRPr kumimoji="1" lang="en-US" altLang="zh-CN" dirty="0">
                <a:latin typeface="Times New Roman" panose="02020603050405020304" pitchFamily="18" charset="0"/>
              </a:endParaRPr>
            </a:p>
          </p:txBody>
        </p:sp>
        <p:sp>
          <p:nvSpPr>
            <p:cNvPr id="60489" name="Oval 73"/>
            <p:cNvSpPr>
              <a:spLocks noChangeArrowheads="1"/>
            </p:cNvSpPr>
            <p:nvPr/>
          </p:nvSpPr>
          <p:spPr bwMode="auto">
            <a:xfrm>
              <a:off x="6629400" y="2678113"/>
              <a:ext cx="355600" cy="38553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latin typeface="Times New Roman" panose="02020603050405020304" pitchFamily="18" charset="0"/>
                </a:rPr>
                <a:t>F</a:t>
              </a:r>
              <a:endParaRPr kumimoji="1" lang="en-US" altLang="zh-CN" dirty="0">
                <a:latin typeface="Times New Roman" panose="02020603050405020304" pitchFamily="18" charset="0"/>
              </a:endParaRPr>
            </a:p>
          </p:txBody>
        </p:sp>
        <p:sp>
          <p:nvSpPr>
            <p:cNvPr id="60490" name="Oval 74"/>
            <p:cNvSpPr>
              <a:spLocks noChangeArrowheads="1"/>
            </p:cNvSpPr>
            <p:nvPr/>
          </p:nvSpPr>
          <p:spPr bwMode="auto">
            <a:xfrm>
              <a:off x="6214533" y="3127904"/>
              <a:ext cx="355600" cy="385536"/>
            </a:xfrm>
            <a:prstGeom prst="ellipse">
              <a:avLst/>
            </a:prstGeom>
            <a:solidFill>
              <a:schemeClr val="bg2"/>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0000"/>
                  </a:solidFill>
                  <a:latin typeface="Times New Roman" panose="02020603050405020304" pitchFamily="18" charset="0"/>
                </a:rPr>
                <a:t>S</a:t>
              </a:r>
              <a:endParaRPr kumimoji="1" lang="en-US" altLang="zh-CN" b="1">
                <a:solidFill>
                  <a:srgbClr val="FF0000"/>
                </a:solidFill>
                <a:latin typeface="Times New Roman" panose="02020603050405020304" pitchFamily="18" charset="0"/>
              </a:endParaRPr>
            </a:p>
          </p:txBody>
        </p:sp>
        <p:cxnSp>
          <p:nvCxnSpPr>
            <p:cNvPr id="60491" name="AutoShape 75"/>
            <p:cNvCxnSpPr>
              <a:cxnSpLocks noChangeShapeType="1"/>
              <a:stCxn id="60489" idx="3"/>
              <a:endCxn id="60490" idx="7"/>
            </p:cNvCxnSpPr>
            <p:nvPr/>
          </p:nvCxnSpPr>
          <p:spPr bwMode="auto">
            <a:xfrm flipH="1">
              <a:off x="6518275" y="3007425"/>
              <a:ext cx="162983" cy="17670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92" name="Oval 76"/>
            <p:cNvSpPr>
              <a:spLocks noChangeArrowheads="1"/>
            </p:cNvSpPr>
            <p:nvPr/>
          </p:nvSpPr>
          <p:spPr bwMode="auto">
            <a:xfrm>
              <a:off x="5740400" y="3641952"/>
              <a:ext cx="355600" cy="38553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C</a:t>
              </a:r>
              <a:endParaRPr kumimoji="1" lang="en-US" altLang="zh-CN">
                <a:latin typeface="Times New Roman" panose="02020603050405020304" pitchFamily="18" charset="0"/>
              </a:endParaRPr>
            </a:p>
          </p:txBody>
        </p:sp>
        <p:cxnSp>
          <p:nvCxnSpPr>
            <p:cNvPr id="60493" name="AutoShape 77"/>
            <p:cNvCxnSpPr>
              <a:cxnSpLocks noChangeShapeType="1"/>
              <a:stCxn id="60490" idx="3"/>
              <a:endCxn id="60492" idx="7"/>
            </p:cNvCxnSpPr>
            <p:nvPr/>
          </p:nvCxnSpPr>
          <p:spPr bwMode="auto">
            <a:xfrm flipH="1">
              <a:off x="6044142" y="3457216"/>
              <a:ext cx="222250" cy="24096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94" name="Line 78"/>
            <p:cNvSpPr>
              <a:spLocks noChangeShapeType="1"/>
            </p:cNvSpPr>
            <p:nvPr/>
          </p:nvSpPr>
          <p:spPr bwMode="auto">
            <a:xfrm>
              <a:off x="6985000" y="2998788"/>
              <a:ext cx="238125" cy="257175"/>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60495" name="Oval 79"/>
            <p:cNvSpPr>
              <a:spLocks noChangeArrowheads="1"/>
            </p:cNvSpPr>
            <p:nvPr/>
          </p:nvSpPr>
          <p:spPr bwMode="auto">
            <a:xfrm>
              <a:off x="6392863" y="4211638"/>
              <a:ext cx="355600" cy="3857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latin typeface="Times New Roman" panose="02020603050405020304" pitchFamily="18" charset="0"/>
                </a:rPr>
                <a:t>Q</a:t>
              </a:r>
              <a:endParaRPr kumimoji="1" lang="en-US" altLang="zh-CN">
                <a:latin typeface="Times New Roman" panose="02020603050405020304" pitchFamily="18" charset="0"/>
              </a:endParaRPr>
            </a:p>
          </p:txBody>
        </p:sp>
        <p:sp>
          <p:nvSpPr>
            <p:cNvPr id="60496" name="AutoShape 80"/>
            <p:cNvSpPr>
              <a:spLocks noChangeArrowheads="1"/>
            </p:cNvSpPr>
            <p:nvPr/>
          </p:nvSpPr>
          <p:spPr bwMode="auto">
            <a:xfrm flipH="1" flipV="1">
              <a:off x="5859463" y="4854575"/>
              <a:ext cx="474662" cy="385763"/>
            </a:xfrm>
            <a:prstGeom prst="wedgeEllipseCallout">
              <a:avLst>
                <a:gd name="adj1" fmla="val -43750"/>
                <a:gd name="adj2" fmla="val 70139"/>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Q</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60497" name="AutoShape 81"/>
            <p:cNvCxnSpPr>
              <a:cxnSpLocks noChangeShapeType="1"/>
              <a:stCxn id="60495" idx="3"/>
              <a:endCxn id="60496" idx="8"/>
            </p:cNvCxnSpPr>
            <p:nvPr/>
          </p:nvCxnSpPr>
          <p:spPr bwMode="auto">
            <a:xfrm flipH="1">
              <a:off x="6305550" y="4554538"/>
              <a:ext cx="139700" cy="2095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498" name="AutoShape 82"/>
            <p:cNvSpPr>
              <a:spLocks noChangeArrowheads="1"/>
            </p:cNvSpPr>
            <p:nvPr/>
          </p:nvSpPr>
          <p:spPr bwMode="auto">
            <a:xfrm flipV="1">
              <a:off x="6807200" y="4854575"/>
              <a:ext cx="474663" cy="385763"/>
            </a:xfrm>
            <a:prstGeom prst="wedgeEllipseCallout">
              <a:avLst>
                <a:gd name="adj1" fmla="val -44014"/>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S</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cxnSp>
          <p:nvCxnSpPr>
            <p:cNvPr id="60499" name="AutoShape 83"/>
            <p:cNvCxnSpPr>
              <a:cxnSpLocks noChangeShapeType="1"/>
              <a:stCxn id="60495" idx="5"/>
              <a:endCxn id="60498" idx="8"/>
            </p:cNvCxnSpPr>
            <p:nvPr/>
          </p:nvCxnSpPr>
          <p:spPr bwMode="auto">
            <a:xfrm>
              <a:off x="6696075" y="4554538"/>
              <a:ext cx="138113" cy="2730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00" name="Text Box 84"/>
            <p:cNvSpPr txBox="1">
              <a:spLocks noChangeArrowheads="1"/>
            </p:cNvSpPr>
            <p:nvPr/>
          </p:nvSpPr>
          <p:spPr bwMode="auto">
            <a:xfrm>
              <a:off x="6230466" y="2204864"/>
              <a:ext cx="3454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f</a:t>
              </a:r>
              <a:endParaRPr kumimoji="1" lang="en-US" altLang="zh-CN" i="1" dirty="0">
                <a:latin typeface="Times New Roman" panose="02020603050405020304" pitchFamily="18" charset="0"/>
              </a:endParaRPr>
            </a:p>
          </p:txBody>
        </p:sp>
        <p:sp>
          <p:nvSpPr>
            <p:cNvPr id="60501" name="Text Box 85"/>
            <p:cNvSpPr txBox="1">
              <a:spLocks noChangeArrowheads="1"/>
            </p:cNvSpPr>
            <p:nvPr/>
          </p:nvSpPr>
          <p:spPr bwMode="auto">
            <a:xfrm>
              <a:off x="5652120" y="2636912"/>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p</a:t>
              </a:r>
              <a:endParaRPr kumimoji="1" lang="en-US" altLang="zh-CN" i="1" dirty="0">
                <a:latin typeface="Times New Roman" panose="02020603050405020304" pitchFamily="18" charset="0"/>
              </a:endParaRPr>
            </a:p>
          </p:txBody>
        </p:sp>
        <p:cxnSp>
          <p:nvCxnSpPr>
            <p:cNvPr id="60502" name="AutoShape 86"/>
            <p:cNvCxnSpPr>
              <a:cxnSpLocks noChangeShapeType="1"/>
              <a:stCxn id="60500" idx="3"/>
              <a:endCxn id="60489" idx="0"/>
            </p:cNvCxnSpPr>
            <p:nvPr/>
          </p:nvCxnSpPr>
          <p:spPr bwMode="auto">
            <a:xfrm>
              <a:off x="6576060" y="2450253"/>
              <a:ext cx="231140" cy="22775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03" name="AutoShape 87"/>
            <p:cNvCxnSpPr>
              <a:cxnSpLocks noChangeShapeType="1"/>
              <a:stCxn id="60501" idx="3"/>
              <a:endCxn id="60490" idx="1"/>
            </p:cNvCxnSpPr>
            <p:nvPr/>
          </p:nvCxnSpPr>
          <p:spPr bwMode="auto">
            <a:xfrm>
              <a:off x="6048587" y="2882053"/>
              <a:ext cx="218440" cy="302260"/>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04" name="Text Box 88"/>
            <p:cNvSpPr txBox="1">
              <a:spLocks noChangeArrowheads="1"/>
            </p:cNvSpPr>
            <p:nvPr/>
          </p:nvSpPr>
          <p:spPr bwMode="auto">
            <a:xfrm>
              <a:off x="5364088" y="3140968"/>
              <a:ext cx="379307"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latin typeface="Times New Roman" panose="02020603050405020304" pitchFamily="18" charset="0"/>
                </a:rPr>
                <a:t>c</a:t>
              </a:r>
              <a:endParaRPr kumimoji="1" lang="en-US" altLang="zh-CN" i="1" dirty="0">
                <a:latin typeface="Times New Roman" panose="02020603050405020304" pitchFamily="18" charset="0"/>
              </a:endParaRPr>
            </a:p>
          </p:txBody>
        </p:sp>
        <p:cxnSp>
          <p:nvCxnSpPr>
            <p:cNvPr id="60505" name="AutoShape 89"/>
            <p:cNvCxnSpPr>
              <a:cxnSpLocks noChangeShapeType="1"/>
              <a:stCxn id="60504" idx="3"/>
              <a:endCxn id="60492" idx="0"/>
            </p:cNvCxnSpPr>
            <p:nvPr/>
          </p:nvCxnSpPr>
          <p:spPr bwMode="auto">
            <a:xfrm>
              <a:off x="5743787" y="3386667"/>
              <a:ext cx="174413" cy="255693"/>
            </a:xfrm>
            <a:prstGeom prst="curvedConnector2">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06" name="AutoShape 90"/>
            <p:cNvSpPr>
              <a:spLocks noChangeArrowheads="1"/>
            </p:cNvSpPr>
            <p:nvPr/>
          </p:nvSpPr>
          <p:spPr bwMode="auto">
            <a:xfrm flipH="1" flipV="1">
              <a:off x="5148263" y="4219575"/>
              <a:ext cx="474662" cy="385763"/>
            </a:xfrm>
            <a:prstGeom prst="wedgeEllipseCallout">
              <a:avLst>
                <a:gd name="adj1" fmla="val -43750"/>
                <a:gd name="adj2" fmla="val 70139"/>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C</a:t>
              </a:r>
              <a:r>
                <a:rPr kumimoji="1" lang="en-US" altLang="zh-CN" baseline="-25000">
                  <a:latin typeface="Times New Roman" panose="02020603050405020304" pitchFamily="18" charset="0"/>
                </a:rPr>
                <a:t>L</a:t>
              </a:r>
              <a:endParaRPr kumimoji="1" lang="en-US" altLang="zh-CN">
                <a:latin typeface="Times New Roman" panose="02020603050405020304" pitchFamily="18" charset="0"/>
              </a:endParaRPr>
            </a:p>
          </p:txBody>
        </p:sp>
        <p:sp>
          <p:nvSpPr>
            <p:cNvPr id="60507" name="AutoShape 91"/>
            <p:cNvSpPr>
              <a:spLocks noChangeArrowheads="1"/>
            </p:cNvSpPr>
            <p:nvPr/>
          </p:nvSpPr>
          <p:spPr bwMode="auto">
            <a:xfrm flipV="1">
              <a:off x="6748463" y="3641725"/>
              <a:ext cx="474662" cy="385763"/>
            </a:xfrm>
            <a:prstGeom prst="wedgeEllipseCallout">
              <a:avLst>
                <a:gd name="adj1" fmla="val -44014"/>
                <a:gd name="adj2" fmla="val 53472"/>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50000"/>
                </a:lnSpc>
              </a:pPr>
              <a:endParaRPr kumimoji="1" lang="en-US" altLang="zh-CN">
                <a:latin typeface="Times New Roman" panose="02020603050405020304" pitchFamily="18" charset="0"/>
              </a:endParaRPr>
            </a:p>
            <a:p>
              <a:pPr algn="ctr">
                <a:lnSpc>
                  <a:spcPct val="50000"/>
                </a:lnSpc>
              </a:pPr>
              <a:r>
                <a:rPr kumimoji="1" lang="en-US" altLang="zh-CN">
                  <a:latin typeface="Times New Roman" panose="02020603050405020304" pitchFamily="18" charset="0"/>
                </a:rPr>
                <a:t>P</a:t>
              </a:r>
              <a:r>
                <a:rPr kumimoji="1" lang="en-US" altLang="zh-CN" baseline="-25000">
                  <a:latin typeface="Times New Roman" panose="02020603050405020304" pitchFamily="18" charset="0"/>
                </a:rPr>
                <a:t>R</a:t>
              </a:r>
              <a:endParaRPr kumimoji="1" lang="en-US" altLang="zh-CN">
                <a:latin typeface="Times New Roman" panose="02020603050405020304" pitchFamily="18" charset="0"/>
              </a:endParaRPr>
            </a:p>
          </p:txBody>
        </p:sp>
        <p:cxnSp>
          <p:nvCxnSpPr>
            <p:cNvPr id="60508" name="AutoShape 92"/>
            <p:cNvCxnSpPr>
              <a:cxnSpLocks noChangeShapeType="1"/>
              <a:stCxn id="60492" idx="3"/>
              <a:endCxn id="60506" idx="8"/>
            </p:cNvCxnSpPr>
            <p:nvPr/>
          </p:nvCxnSpPr>
          <p:spPr bwMode="auto">
            <a:xfrm flipH="1">
              <a:off x="5592763" y="3971925"/>
              <a:ext cx="200025" cy="16986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09" name="AutoShape 93"/>
            <p:cNvCxnSpPr>
              <a:cxnSpLocks noChangeShapeType="1"/>
              <a:stCxn id="60490" idx="5"/>
              <a:endCxn id="60507" idx="8"/>
            </p:cNvCxnSpPr>
            <p:nvPr/>
          </p:nvCxnSpPr>
          <p:spPr bwMode="auto">
            <a:xfrm>
              <a:off x="6518275" y="3457575"/>
              <a:ext cx="257175" cy="1714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510" name="AutoShape 94"/>
            <p:cNvCxnSpPr>
              <a:cxnSpLocks noChangeShapeType="1"/>
              <a:stCxn id="60492" idx="5"/>
              <a:endCxn id="60495" idx="1"/>
            </p:cNvCxnSpPr>
            <p:nvPr/>
          </p:nvCxnSpPr>
          <p:spPr bwMode="auto">
            <a:xfrm>
              <a:off x="6043613" y="3984625"/>
              <a:ext cx="401637" cy="269875"/>
            </a:xfrm>
            <a:prstGeom prst="straightConnector1">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511" name="Text Box 95"/>
            <p:cNvSpPr txBox="1">
              <a:spLocks noChangeArrowheads="1"/>
            </p:cNvSpPr>
            <p:nvPr/>
          </p:nvSpPr>
          <p:spPr bwMode="auto">
            <a:xfrm>
              <a:off x="5800725" y="4284663"/>
              <a:ext cx="396240" cy="49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latin typeface="Times New Roman" panose="02020603050405020304" pitchFamily="18" charset="0"/>
                </a:rPr>
                <a:t>q</a:t>
              </a:r>
              <a:endParaRPr kumimoji="1" lang="en-US" altLang="zh-CN" i="1">
                <a:latin typeface="Times New Roman" panose="02020603050405020304" pitchFamily="18" charset="0"/>
              </a:endParaRPr>
            </a:p>
          </p:txBody>
        </p:sp>
        <p:cxnSp>
          <p:nvCxnSpPr>
            <p:cNvPr id="60512" name="AutoShape 96"/>
            <p:cNvCxnSpPr>
              <a:cxnSpLocks noChangeShapeType="1"/>
              <a:stCxn id="60511" idx="3"/>
              <a:endCxn id="60495" idx="2"/>
            </p:cNvCxnSpPr>
            <p:nvPr/>
          </p:nvCxnSpPr>
          <p:spPr bwMode="auto">
            <a:xfrm flipV="1">
              <a:off x="6196753" y="4404360"/>
              <a:ext cx="196427" cy="126153"/>
            </a:xfrm>
            <a:prstGeom prst="curvedConnector3">
              <a:avLst>
                <a:gd name="adj1" fmla="val 50161"/>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8.3.4 </a:t>
            </a:r>
            <a:r>
              <a:rPr kumimoji="1" lang="en-US" altLang="zh-CN" dirty="0">
                <a:ea typeface="幼圆" panose="02010509060101010101" pitchFamily="49" charset="-122"/>
                <a:cs typeface="Times New Roman" panose="02020603050405020304" pitchFamily="18" charset="0"/>
                <a:sym typeface="+mn-ea"/>
              </a:rPr>
              <a:t>Node removal of BST</a:t>
            </a:r>
            <a:endParaRPr lang="zh-CN" altLang="en-US"/>
          </a:p>
        </p:txBody>
      </p:sp>
      <p:sp>
        <p:nvSpPr>
          <p:cNvPr id="62469" name="Text Box 5"/>
          <p:cNvSpPr txBox="1">
            <a:spLocks noChangeArrowheads="1"/>
          </p:cNvSpPr>
          <p:nvPr/>
        </p:nvSpPr>
        <p:spPr bwMode="auto">
          <a:xfrm>
            <a:off x="562610" y="1465580"/>
            <a:ext cx="8123555" cy="474980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Status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DeleteBST</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若二叉树中存在关键字等于</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key</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的元素时，则删除该元素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FALSE;</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(EQ(key, (*T)-&gt;</a:t>
            </a:r>
            <a:r>
              <a:rPr kumimoji="1" lang="en-US" altLang="zh-CN" dirty="0" err="1">
                <a:latin typeface="Consolas" panose="020B0609020204030204" charset="0"/>
                <a:ea typeface="幼圆" panose="02010509060101010101" pitchFamily="49" charset="-122"/>
                <a:cs typeface="Consolas" panose="020B0609020204030204" charset="0"/>
              </a:rPr>
              <a:t>data.key</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Delete</a:t>
            </a:r>
            <a:r>
              <a:rPr kumimoji="1" lang="en-US" altLang="zh-CN" dirty="0">
                <a:latin typeface="Consolas" panose="020B0609020204030204" charset="0"/>
                <a:ea typeface="幼圆" panose="02010509060101010101" pitchFamily="49" charset="-122"/>
                <a:cs typeface="Consolas" panose="020B0609020204030204" charset="0"/>
              </a:rPr>
              <a:t>(T);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(LT(key, (*T)-&gt;</a:t>
            </a:r>
            <a:r>
              <a:rPr kumimoji="1" lang="en-US" altLang="zh-CN" dirty="0" err="1">
                <a:latin typeface="Consolas" panose="020B0609020204030204" charset="0"/>
                <a:ea typeface="幼圆" panose="02010509060101010101" pitchFamily="49" charset="-122"/>
                <a:cs typeface="Consolas" panose="020B0609020204030204" charset="0"/>
              </a:rPr>
              <a:t>data.key</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DeleteBST</a:t>
            </a:r>
            <a:r>
              <a:rPr kumimoji="1" lang="en-US" altLang="zh-CN" dirty="0">
                <a:latin typeface="Consolas" panose="020B0609020204030204" charset="0"/>
                <a:ea typeface="幼圆" panose="02010509060101010101" pitchFamily="49" charset="-122"/>
                <a:cs typeface="Consolas" panose="020B0609020204030204" charset="0"/>
              </a:rPr>
              <a:t>(&amp;(*T)-&gt;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DeleteBST</a:t>
            </a:r>
            <a:r>
              <a:rPr kumimoji="1" lang="en-US" altLang="zh-CN" dirty="0">
                <a:latin typeface="Consolas" panose="020B0609020204030204" charset="0"/>
                <a:ea typeface="幼圆" panose="02010509060101010101" pitchFamily="49" charset="-122"/>
                <a:cs typeface="Consolas" panose="020B0609020204030204" charset="0"/>
              </a:rPr>
              <a:t>(&amp;(*T)-&gt;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62472" name="Text Box 8"/>
          <p:cNvSpPr txBox="1">
            <a:spLocks noChangeArrowheads="1"/>
          </p:cNvSpPr>
          <p:nvPr/>
        </p:nvSpPr>
        <p:spPr bwMode="auto">
          <a:xfrm>
            <a:off x="562610" y="1016000"/>
            <a:ext cx="3632835" cy="398780"/>
          </a:xfrm>
          <a:prstGeom prst="rect">
            <a:avLst/>
          </a:prstGeom>
          <a:solidFill>
            <a:schemeClr val="bg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a:solidFill>
                  <a:schemeClr val="accent1">
                    <a:lumMod val="60000"/>
                    <a:lumOff val="40000"/>
                  </a:schemeClr>
                </a:solidFill>
                <a:ea typeface="幼圆" panose="02010509060101010101" pitchFamily="49" charset="-122"/>
                <a:cs typeface="Times New Roman" panose="02020603050405020304" pitchFamily="18" charset="0"/>
              </a:rPr>
              <a:t>Recursive algorithm</a:t>
            </a:r>
            <a:endParaRPr kumimoji="1" lang="en-US" altLang="zh-CN" sz="2000">
              <a:solidFill>
                <a:schemeClr val="accent1">
                  <a:lumMod val="60000"/>
                  <a:lumOff val="40000"/>
                </a:schemeClr>
              </a:solidFill>
              <a:ea typeface="幼圆" panose="02010509060101010101" pitchFamily="49" charset="-122"/>
              <a:cs typeface="Times New Roman" panose="02020603050405020304" pitchFamily="18" charset="0"/>
            </a:endParaRPr>
          </a:p>
        </p:txBody>
      </p:sp>
      <p:sp>
        <p:nvSpPr>
          <p:cNvPr id="6" name="矩形 5"/>
          <p:cNvSpPr/>
          <p:nvPr/>
        </p:nvSpPr>
        <p:spPr>
          <a:xfrm>
            <a:off x="3410585" y="1042035"/>
            <a:ext cx="5275580" cy="2324100"/>
          </a:xfrm>
          <a:prstGeom prst="rect">
            <a:avLst/>
          </a:prstGeom>
          <a:solidFill>
            <a:schemeClr val="bg1"/>
          </a:solidFill>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txBody>
          <a:bodyPr wrap="square">
            <a:noAutofit/>
          </a:bodyPr>
          <a:lstStyle/>
          <a:p>
            <a:pPr>
              <a:lnSpc>
                <a:spcPct val="130000"/>
              </a:lnSpc>
            </a:pPr>
            <a:r>
              <a:rPr kumimoji="1" lang="en-US" altLang="zh-CN" dirty="0" err="1">
                <a:latin typeface="Consolas" panose="020B0609020204030204" charset="0"/>
                <a:ea typeface="幼圆" panose="02010509060101010101" pitchFamily="49" charset="-122"/>
                <a:cs typeface="Consolas" panose="020B0609020204030204" charset="0"/>
              </a:rPr>
              <a:t>typedef</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struct</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BinNode</a:t>
            </a:r>
            <a:endParaRPr kumimoji="1" lang="en-US" altLang="zh-CN" dirty="0">
              <a:solidFill>
                <a:srgbClr val="FFFF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DataType</a:t>
            </a:r>
            <a:r>
              <a:rPr kumimoji="1" lang="en-US" altLang="zh-CN" dirty="0">
                <a:latin typeface="Consolas" panose="020B0609020204030204" charset="0"/>
                <a:ea typeface="幼圆" panose="02010509060101010101" pitchFamily="49" charset="-122"/>
                <a:cs typeface="Consolas" panose="020B0609020204030204" charset="0"/>
              </a:rPr>
              <a:t> other;</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struct</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30000"/>
              </a:lnSpc>
            </a:pP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461010" y="603250"/>
            <a:ext cx="8250555" cy="604202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void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Delete </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*p)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删除*</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p</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所指向的结点，并重接它的左右子树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PBinTree</a:t>
            </a:r>
            <a:r>
              <a:rPr kumimoji="1" lang="en-US" altLang="zh-CN" dirty="0">
                <a:latin typeface="Consolas" panose="020B0609020204030204" charset="0"/>
                <a:ea typeface="幼圆" panose="02010509060101010101" pitchFamily="49" charset="-122"/>
                <a:cs typeface="Consolas" panose="020B0609020204030204" charset="0"/>
              </a:rPr>
              <a:t>  q, 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(!(*p)-&gt;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右子树空，重接左子树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*p; *p = (*p)-&gt;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free(q);</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if</a:t>
            </a:r>
            <a:r>
              <a:rPr kumimoji="1" lang="en-US" altLang="zh-CN" dirty="0">
                <a:latin typeface="Consolas" panose="020B0609020204030204" charset="0"/>
                <a:ea typeface="幼圆" panose="02010509060101010101" pitchFamily="49" charset="-122"/>
                <a:cs typeface="Consolas" panose="020B0609020204030204" charset="0"/>
              </a:rPr>
              <a:t>(!(*p)-&gt;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左子树空，重接右子树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*p;  *p = (*p)-&gt;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free(q);</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左右子树均不空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*p;  s = (*p)-&gt;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while </a:t>
            </a:r>
            <a:r>
              <a:rPr kumimoji="1" lang="en-US" altLang="zh-CN" dirty="0">
                <a:latin typeface="Consolas" panose="020B0609020204030204" charset="0"/>
                <a:ea typeface="幼圆" panose="02010509060101010101" pitchFamily="49" charset="-122"/>
                <a:cs typeface="Consolas" panose="020B0609020204030204" charset="0"/>
              </a:rPr>
              <a:t>(s-&gt;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向右走到尽头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q = s;  s = s-&gt;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(*p)-&gt;data = s-&gt;data;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s</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替换</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p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if</a:t>
            </a:r>
            <a:r>
              <a:rPr kumimoji="1" lang="en-US" altLang="zh-CN" dirty="0">
                <a:latin typeface="Consolas" panose="020B0609020204030204" charset="0"/>
                <a:ea typeface="幼圆" panose="02010509060101010101" pitchFamily="49" charset="-122"/>
                <a:cs typeface="Consolas" panose="020B0609020204030204" charset="0"/>
              </a:rPr>
              <a:t>(q != *p) q-&gt;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s-&gt;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else </a:t>
            </a:r>
            <a:r>
              <a:rPr kumimoji="1" lang="en-US" altLang="zh-CN" dirty="0">
                <a:latin typeface="Consolas" panose="020B0609020204030204" charset="0"/>
                <a:ea typeface="幼圆" panose="02010509060101010101" pitchFamily="49" charset="-122"/>
                <a:cs typeface="Consolas" panose="020B0609020204030204" charset="0"/>
              </a:rPr>
              <a:t>q-&gt;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s-&gt;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free(s);</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61447" name="Text Box 7"/>
          <p:cNvSpPr txBox="1">
            <a:spLocks noChangeArrowheads="1"/>
          </p:cNvSpPr>
          <p:nvPr/>
        </p:nvSpPr>
        <p:spPr bwMode="auto">
          <a:xfrm>
            <a:off x="422196" y="204550"/>
            <a:ext cx="2179955" cy="39878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a:solidFill>
                  <a:schemeClr val="accent1">
                    <a:lumMod val="60000"/>
                    <a:lumOff val="40000"/>
                  </a:schemeClr>
                </a:solidFill>
                <a:latin typeface="Times New Roman" panose="02020603050405020304" pitchFamily="18" charset="0"/>
                <a:ea typeface="幼圆" panose="02010509060101010101" pitchFamily="49" charset="-122"/>
                <a:cs typeface="Times New Roman" panose="02020603050405020304" pitchFamily="18" charset="0"/>
              </a:rPr>
              <a:t>Removal procedure</a:t>
            </a:r>
            <a:endParaRPr kumimoji="1" lang="en-US" altLang="zh-CN" sz="2000">
              <a:solidFill>
                <a:schemeClr val="accent1">
                  <a:lumMod val="60000"/>
                  <a:lumOff val="40000"/>
                </a:schemeClr>
              </a:solidFill>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t>8.3.5</a:t>
            </a:r>
            <a:r>
              <a:rPr lang="en-US" altLang="zh-CN">
                <a:solidFill>
                  <a:schemeClr val="bg1"/>
                </a:solidFill>
              </a:rPr>
              <a:t> </a:t>
            </a:r>
            <a:r>
              <a:rPr kumimoji="1" lang="zh-CN" altLang="en-US"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sym typeface="+mn-ea"/>
              </a:rPr>
              <a:t>性能分析</a:t>
            </a:r>
            <a:endParaRPr kumimoji="1" lang="zh-CN" altLang="en-US" b="1" dirty="0">
              <a:solidFill>
                <a:schemeClr val="bg1"/>
              </a:solidFill>
              <a:latin typeface="Times New Roman" panose="02020603050405020304" pitchFamily="18" charset="0"/>
              <a:ea typeface="幼圆" panose="02010509060101010101" pitchFamily="49" charset="-122"/>
              <a:cs typeface="Times New Roman" panose="02020603050405020304" pitchFamily="18" charset="0"/>
              <a:sym typeface="+mn-ea"/>
            </a:endParaRPr>
          </a:p>
        </p:txBody>
      </p:sp>
      <p:sp>
        <p:nvSpPr>
          <p:cNvPr id="181250" name="Rectangle 2"/>
          <p:cNvSpPr>
            <a:spLocks noChangeArrowheads="1"/>
          </p:cNvSpPr>
          <p:nvPr/>
        </p:nvSpPr>
        <p:spPr bwMode="auto">
          <a:xfrm>
            <a:off x="436880" y="1065530"/>
            <a:ext cx="8249920" cy="5247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nSpc>
                <a:spcPct val="16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在二叉排序树上查找关键字实际上是走了</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一条从根结点到某个结点的路径</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的过程，和给定值比较的次数等于路径长度加</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。因此，比较次数不超过树的深度。但是具有</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个结点二叉树可以有不同的形态，而不同形态的二叉树具有不同的深度。</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marL="285750" indent="-285750">
              <a:lnSpc>
                <a:spcPct val="17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对于不同形态的二叉排序树，其平均查找长度也不同。最坏的情况下退化为单支树，此时的平均查找长度为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+1)/2</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285750" indent="-285750">
              <a:lnSpc>
                <a:spcPct val="17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在随机的情况下，平均性能为：</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7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P(</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&lt;= 2(1+1/</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2000" i="1" baseline="-25000" dirty="0" err="1">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i="1" dirty="0" err="1">
                <a:latin typeface="Times New Roman" panose="02020603050405020304" pitchFamily="18" charset="0"/>
                <a:ea typeface="幼圆" panose="02010509060101010101" pitchFamily="49" charset="-122"/>
                <a:cs typeface="Times New Roman" panose="02020603050405020304" pitchFamily="18" charset="0"/>
              </a:rPr>
              <a:t>n</a:t>
            </a:r>
            <a:endPar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endParaRPr>
          </a:p>
          <a:p>
            <a:pPr marL="285750" indent="-285750">
              <a:lnSpc>
                <a:spcPct val="17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由此可见，在随机情况下的平均查找长度和</a:t>
            </a:r>
            <a:r>
              <a:rPr kumimoji="1" lang="en-US" altLang="zh-CN" sz="20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2000" b="1" i="1" baseline="-25000"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b="1" i="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n</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是等数量级的。然而在某些情况下，还需进行“</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平衡化</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”处理。</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1250">
                                            <p:txEl>
                                              <p:pRg st="1" end="1"/>
                                            </p:txEl>
                                          </p:spTgt>
                                        </p:tgtEl>
                                        <p:attrNameLst>
                                          <p:attrName>style.visibility</p:attrName>
                                        </p:attrNameLst>
                                      </p:cBhvr>
                                      <p:to>
                                        <p:strVal val="visible"/>
                                      </p:to>
                                    </p:set>
                                    <p:animEffect transition="in" filter="fade">
                                      <p:cBhvr>
                                        <p:cTn id="7" dur="1000"/>
                                        <p:tgtEl>
                                          <p:spTgt spid="181250">
                                            <p:txEl>
                                              <p:pRg st="1" end="1"/>
                                            </p:txEl>
                                          </p:spTgt>
                                        </p:tgtEl>
                                      </p:cBhvr>
                                    </p:animEffect>
                                    <p:anim calcmode="lin" valueType="num">
                                      <p:cBhvr>
                                        <p:cTn id="8" dur="1000" fill="hold"/>
                                        <p:tgtEl>
                                          <p:spTgt spid="18125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8125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1250">
                                            <p:txEl>
                                              <p:pRg st="2" end="2"/>
                                            </p:txEl>
                                          </p:spTgt>
                                        </p:tgtEl>
                                        <p:attrNameLst>
                                          <p:attrName>style.visibility</p:attrName>
                                        </p:attrNameLst>
                                      </p:cBhvr>
                                      <p:to>
                                        <p:strVal val="visible"/>
                                      </p:to>
                                    </p:set>
                                    <p:animEffect transition="in" filter="fade">
                                      <p:cBhvr>
                                        <p:cTn id="14" dur="1000"/>
                                        <p:tgtEl>
                                          <p:spTgt spid="181250">
                                            <p:txEl>
                                              <p:pRg st="2" end="2"/>
                                            </p:txEl>
                                          </p:spTgt>
                                        </p:tgtEl>
                                      </p:cBhvr>
                                    </p:animEffect>
                                    <p:anim calcmode="lin" valueType="num">
                                      <p:cBhvr>
                                        <p:cTn id="15" dur="1000" fill="hold"/>
                                        <p:tgtEl>
                                          <p:spTgt spid="18125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81250">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81250">
                                            <p:txEl>
                                              <p:pRg st="3" end="3"/>
                                            </p:txEl>
                                          </p:spTgt>
                                        </p:tgtEl>
                                        <p:attrNameLst>
                                          <p:attrName>style.visibility</p:attrName>
                                        </p:attrNameLst>
                                      </p:cBhvr>
                                      <p:to>
                                        <p:strVal val="visible"/>
                                      </p:to>
                                    </p:set>
                                    <p:animEffect transition="in" filter="fade">
                                      <p:cBhvr>
                                        <p:cTn id="19" dur="1000"/>
                                        <p:tgtEl>
                                          <p:spTgt spid="181250">
                                            <p:txEl>
                                              <p:pRg st="3" end="3"/>
                                            </p:txEl>
                                          </p:spTgt>
                                        </p:tgtEl>
                                      </p:cBhvr>
                                    </p:animEffect>
                                    <p:anim calcmode="lin" valueType="num">
                                      <p:cBhvr>
                                        <p:cTn id="20" dur="1000" fill="hold"/>
                                        <p:tgtEl>
                                          <p:spTgt spid="18125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81250">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1250">
                                            <p:txEl>
                                              <p:pRg st="4" end="4"/>
                                            </p:txEl>
                                          </p:spTgt>
                                        </p:tgtEl>
                                        <p:attrNameLst>
                                          <p:attrName>style.visibility</p:attrName>
                                        </p:attrNameLst>
                                      </p:cBhvr>
                                      <p:to>
                                        <p:strVal val="visible"/>
                                      </p:to>
                                    </p:set>
                                    <p:animEffect transition="in" filter="fade">
                                      <p:cBhvr>
                                        <p:cTn id="24" dur="1000"/>
                                        <p:tgtEl>
                                          <p:spTgt spid="181250">
                                            <p:txEl>
                                              <p:pRg st="4" end="4"/>
                                            </p:txEl>
                                          </p:spTgt>
                                        </p:tgtEl>
                                      </p:cBhvr>
                                    </p:animEffect>
                                    <p:anim calcmode="lin" valueType="num">
                                      <p:cBhvr>
                                        <p:cTn id="25" dur="1000" fill="hold"/>
                                        <p:tgtEl>
                                          <p:spTgt spid="181250">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8125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p="http://schemas.openxmlformats.org/presentationml/2006/main">
  <p:tag name="COMMONDATA" val="eyJoZGlkIjoiZjVhM2RlMmM2M2YzNzUyZGQzMTAwZTU3MGUyMjdjYTQifQ=="/>
  <p:tag name="commondata" val="eyJoZGlkIjoiZWQ1YzRkOGVmY2I5MThlMjIyOTQ0NDAyOTkxNTNkN2IifQ=="/>
</p:tagLst>
</file>

<file path=ppt/theme/theme1.xml><?xml version="1.0" encoding="utf-8"?>
<a:theme xmlns:a="http://schemas.openxmlformats.org/drawingml/2006/main" name="2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14452</Words>
  <Application>WPS 演示</Application>
  <PresentationFormat>宽屏</PresentationFormat>
  <Paragraphs>1046</Paragraphs>
  <Slides>53</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53</vt:i4>
      </vt:variant>
    </vt:vector>
  </HeadingPairs>
  <TitlesOfParts>
    <vt:vector size="75" baseType="lpstr">
      <vt:lpstr>Arial</vt:lpstr>
      <vt:lpstr>宋体</vt:lpstr>
      <vt:lpstr>Wingdings</vt:lpstr>
      <vt:lpstr>幼圆</vt:lpstr>
      <vt:lpstr>黑体</vt:lpstr>
      <vt:lpstr>Times New Roman</vt:lpstr>
      <vt:lpstr>Wingdings</vt:lpstr>
      <vt:lpstr>Consolas</vt:lpstr>
      <vt:lpstr>微软雅黑</vt:lpstr>
      <vt:lpstr>Arial Unicode MS</vt:lpstr>
      <vt:lpstr>Calibri</vt:lpstr>
      <vt:lpstr>Cambria Math</vt:lpstr>
      <vt:lpstr>MS Mincho</vt:lpstr>
      <vt:lpstr>仿宋_GB2312</vt:lpstr>
      <vt:lpstr>楷体_GB2312</vt:lpstr>
      <vt:lpstr>隶书</vt:lpstr>
      <vt:lpstr>Symbol</vt:lpstr>
      <vt:lpstr>2_Orbit</vt:lpstr>
      <vt:lpstr>Equation.3</vt:lpstr>
      <vt:lpstr>Equation.DSMT4</vt:lpstr>
      <vt:lpstr>Equation.DSMT4</vt:lpstr>
      <vt:lpstr>Equation.DSMT4</vt:lpstr>
      <vt:lpstr>Chapter 08 Searching 第八章 查找</vt:lpstr>
      <vt:lpstr>本章学习线索</vt:lpstr>
      <vt:lpstr>Contents</vt:lpstr>
      <vt:lpstr>8.1 Definition of searching</vt:lpstr>
      <vt:lpstr>Contents</vt:lpstr>
      <vt:lpstr>8.2 Static searching table</vt:lpstr>
      <vt:lpstr>8.2 Static searching table</vt:lpstr>
      <vt:lpstr>8.2.1 Sequential searching table</vt:lpstr>
      <vt:lpstr>8.2.2 Sequential searching</vt:lpstr>
      <vt:lpstr>8.2.2 Sequential searching</vt:lpstr>
      <vt:lpstr>8.2.2 Sequential searching</vt:lpstr>
      <vt:lpstr>8.2.3 Dichotomy (Binary) searching</vt:lpstr>
      <vt:lpstr>8.2.3 Dichotomy (Binary) searching  二分(折半)查找法</vt:lpstr>
      <vt:lpstr>Iterative algorithm</vt:lpstr>
      <vt:lpstr>Recursive algorithm</vt:lpstr>
      <vt:lpstr>8.2.3 Dichotomy (Binary) searching</vt:lpstr>
      <vt:lpstr>8.2.3 Dichotomy (Binary) searching</vt:lpstr>
      <vt:lpstr>8.2.3 Dichotomy (Binary) searching</vt:lpstr>
      <vt:lpstr>Question?</vt:lpstr>
      <vt:lpstr>次优查找树</vt:lpstr>
      <vt:lpstr>次优查找树的构造</vt:lpstr>
      <vt:lpstr>次优查找树的构造</vt:lpstr>
      <vt:lpstr>PowerPoint 演示文稿</vt:lpstr>
      <vt:lpstr>8.2.4 Other searching methods</vt:lpstr>
      <vt:lpstr>8.2.4 Other searching methods</vt:lpstr>
      <vt:lpstr>8.2.4 Other searching methods</vt:lpstr>
      <vt:lpstr>Contents</vt:lpstr>
      <vt:lpstr>8.3 Dynamic searching table</vt:lpstr>
      <vt:lpstr>8.3 Dynamic searching table</vt:lpstr>
      <vt:lpstr>8.3 Dynamic searching table</vt:lpstr>
      <vt:lpstr>8.3 Binary searching tree</vt:lpstr>
      <vt:lpstr>8.3.1 Definition</vt:lpstr>
      <vt:lpstr>8.3.1 Definition</vt:lpstr>
      <vt:lpstr>8.3.2 Search algorithm in BST</vt:lpstr>
      <vt:lpstr>8.3.2 Search algorithm in BST</vt:lpstr>
      <vt:lpstr>8.3.2 Search algorithm in BST</vt:lpstr>
      <vt:lpstr>8.3.2 Search algorithm in BST</vt:lpstr>
      <vt:lpstr>8.3.3 Node Insertion of BST</vt:lpstr>
      <vt:lpstr>Example</vt:lpstr>
      <vt:lpstr>Example</vt:lpstr>
      <vt:lpstr>8.3.3 Node Insertion of BST</vt:lpstr>
      <vt:lpstr>8.3.3 Node Insertion of BST</vt:lpstr>
      <vt:lpstr>Inorder traversal of BST</vt:lpstr>
      <vt:lpstr>Problem</vt:lpstr>
      <vt:lpstr>Quiz</vt:lpstr>
      <vt:lpstr>Quiz</vt:lpstr>
      <vt:lpstr>8.3.4 Node removal of BST</vt:lpstr>
      <vt:lpstr>8.3.4 Node removal of BST</vt:lpstr>
      <vt:lpstr>8.3.4 Node removal of BST</vt:lpstr>
      <vt:lpstr>8.3.4 Node removal of BST</vt:lpstr>
      <vt:lpstr>8.3.4 Node removal of BST</vt:lpstr>
      <vt:lpstr>PowerPoint 演示文稿</vt:lpstr>
      <vt:lpstr>8.3.5 性能分析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王犇</cp:lastModifiedBy>
  <cp:revision>446</cp:revision>
  <dcterms:created xsi:type="dcterms:W3CDTF">2019-06-19T02:08:00Z</dcterms:created>
  <dcterms:modified xsi:type="dcterms:W3CDTF">2026-05-14T09:38:03Z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ECD2649BF67C4413A73376E89FA200B9_11</vt:lpwstr>
  </property>
</Properties>
</file>