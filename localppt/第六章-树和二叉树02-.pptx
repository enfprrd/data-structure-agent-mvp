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 id="2147483660" r:id="rId3"/>
  </p:sldMasterIdLst>
  <p:notesMasterIdLst>
    <p:notesMasterId r:id="rId5"/>
  </p:notesMasterIdLst>
  <p:sldIdLst>
    <p:sldId id="267" r:id="rId4"/>
    <p:sldId id="1506" r:id="rId6"/>
    <p:sldId id="1507" r:id="rId7"/>
    <p:sldId id="1574" r:id="rId8"/>
    <p:sldId id="1575" r:id="rId9"/>
    <p:sldId id="1678" r:id="rId10"/>
    <p:sldId id="1577" r:id="rId11"/>
    <p:sldId id="1578" r:id="rId12"/>
    <p:sldId id="1579" r:id="rId13"/>
    <p:sldId id="1580" r:id="rId14"/>
    <p:sldId id="1581" r:id="rId15"/>
    <p:sldId id="1582" r:id="rId16"/>
    <p:sldId id="1330" r:id="rId17"/>
    <p:sldId id="1471" r:id="rId18"/>
    <p:sldId id="1662" r:id="rId19"/>
    <p:sldId id="1676" r:id="rId20"/>
    <p:sldId id="1663" r:id="rId21"/>
    <p:sldId id="1267" r:id="rId22"/>
    <p:sldId id="1474" r:id="rId23"/>
    <p:sldId id="1403" r:id="rId24"/>
    <p:sldId id="1401" r:id="rId25"/>
    <p:sldId id="1532" r:id="rId26"/>
    <p:sldId id="1664" r:id="rId27"/>
    <p:sldId id="1585" r:id="rId28"/>
    <p:sldId id="1673" r:id="rId29"/>
    <p:sldId id="1586" r:id="rId30"/>
    <p:sldId id="1677" r:id="rId31"/>
    <p:sldId id="1221" r:id="rId32"/>
    <p:sldId id="1670" r:id="rId33"/>
    <p:sldId id="1671" r:id="rId34"/>
    <p:sldId id="1665" r:id="rId35"/>
    <p:sldId id="1672" r:id="rId36"/>
    <p:sldId id="1666" r:id="rId37"/>
    <p:sldId id="1335" r:id="rId38"/>
    <p:sldId id="1674" r:id="rId39"/>
    <p:sldId id="1667" r:id="rId40"/>
    <p:sldId id="1647" r:id="rId41"/>
    <p:sldId id="1648" r:id="rId42"/>
    <p:sldId id="1668" r:id="rId43"/>
    <p:sldId id="1337" r:id="rId44"/>
    <p:sldId id="1588" r:id="rId45"/>
    <p:sldId id="1347" r:id="rId46"/>
    <p:sldId id="1679" r:id="rId47"/>
    <p:sldId id="1718" r:id="rId48"/>
    <p:sldId id="1719" r:id="rId49"/>
    <p:sldId id="1720" r:id="rId50"/>
    <p:sldId id="1721" r:id="rId51"/>
    <p:sldId id="1722" r:id="rId52"/>
    <p:sldId id="1723" r:id="rId53"/>
    <p:sldId id="1724" r:id="rId54"/>
    <p:sldId id="1725" r:id="rId55"/>
    <p:sldId id="1726" r:id="rId56"/>
    <p:sldId id="1727" r:id="rId57"/>
    <p:sldId id="1326" r:id="rId58"/>
    <p:sldId id="1660" r:id="rId59"/>
  </p:sldIdLst>
  <p:sldSz cx="9144000" cy="6858000" type="screen4x3"/>
  <p:notesSz cx="6858000" cy="9144000"/>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bingshu" initials="w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47C1"/>
    <a:srgbClr val="7B318F"/>
    <a:srgbClr val="0AA4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57" autoAdjust="0"/>
    <p:restoredTop sz="83555" autoAdjust="0"/>
  </p:normalViewPr>
  <p:slideViewPr>
    <p:cSldViewPr snapToGrid="0" showGuides="1">
      <p:cViewPr>
        <p:scale>
          <a:sx n="66" d="100"/>
          <a:sy n="66" d="100"/>
        </p:scale>
        <p:origin x="518" y="-2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4" Type="http://schemas.openxmlformats.org/officeDocument/2006/relationships/tags" Target="tags/tag6.xml"/><Relationship Id="rId63" Type="http://schemas.openxmlformats.org/officeDocument/2006/relationships/commentAuthors" Target="commentAuthors.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9674AE-0E5C-4933-9F7F-A2E455558FC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C8DC50-7547-4C2F-ADE7-16EE32F447A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p:cNvSpPr>
          <p:nvPr>
            <p:ph type="sldImg" idx="4294967295"/>
          </p:nvPr>
        </p:nvSpPr>
        <p:spPr>
          <a:ln>
            <a:miter lim="800000"/>
          </a:ln>
        </p:spPr>
      </p:sp>
      <p:sp>
        <p:nvSpPr>
          <p:cNvPr id="78850" name="备注占位符 2"/>
          <p:cNvSpPr>
            <a:spLocks noGrp="1" noChangeArrowheads="1"/>
          </p:cNvSpPr>
          <p:nvPr>
            <p:ph type="body" idx="4294967295"/>
          </p:nvPr>
        </p:nvSpPr>
        <p:spPr/>
        <p:txBody>
          <a:bodyPr/>
          <a:lstStyle/>
          <a:p>
            <a:r>
              <a:rPr lang="zh-CN" altLang="en-US"/>
              <a:t> </a:t>
            </a:r>
            <a:endParaRPr lang="zh-CN" altLang="en-US"/>
          </a:p>
        </p:txBody>
      </p:sp>
      <p:sp>
        <p:nvSpPr>
          <p:cNvPr id="7885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BF87FF-FA02-4436-955E-D1C3ED1E43FD}" type="slidenum">
              <a:rPr lang="zh-CN" altLang="en-US"/>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p:cNvSpPr>
          <p:nvPr>
            <p:ph type="sldImg" idx="4294967295"/>
          </p:nvPr>
        </p:nvSpPr>
        <p:spPr>
          <a:ln>
            <a:miter lim="800000"/>
          </a:ln>
        </p:spPr>
      </p:sp>
      <p:sp>
        <p:nvSpPr>
          <p:cNvPr id="78850" name="备注占位符 2"/>
          <p:cNvSpPr>
            <a:spLocks noGrp="1" noChangeArrowheads="1"/>
          </p:cNvSpPr>
          <p:nvPr>
            <p:ph type="body" idx="4294967295"/>
          </p:nvPr>
        </p:nvSpPr>
        <p:spPr/>
        <p:txBody>
          <a:bodyPr/>
          <a:lstStyle/>
          <a:p>
            <a:r>
              <a:rPr lang="zh-CN" altLang="en-US"/>
              <a:t> </a:t>
            </a:r>
            <a:endParaRPr lang="zh-CN" altLang="en-US"/>
          </a:p>
        </p:txBody>
      </p:sp>
      <p:sp>
        <p:nvSpPr>
          <p:cNvPr id="7885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BF87FF-FA02-4436-955E-D1C3ED1E43FD}" type="slidenum">
              <a:rPr lang="zh-CN" altLang="en-US"/>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p:cNvSpPr>
          <p:nvPr>
            <p:ph type="sldImg" idx="4294967295"/>
          </p:nvPr>
        </p:nvSpPr>
        <p:spPr>
          <a:ln>
            <a:miter lim="800000"/>
          </a:ln>
        </p:spPr>
      </p:sp>
      <p:sp>
        <p:nvSpPr>
          <p:cNvPr id="78850" name="备注占位符 2"/>
          <p:cNvSpPr>
            <a:spLocks noGrp="1" noChangeArrowheads="1"/>
          </p:cNvSpPr>
          <p:nvPr>
            <p:ph type="body" idx="4294967295"/>
          </p:nvPr>
        </p:nvSpPr>
        <p:spPr/>
        <p:txBody>
          <a:bodyPr/>
          <a:lstStyle/>
          <a:p>
            <a:r>
              <a:rPr lang="zh-CN" altLang="en-US"/>
              <a:t> </a:t>
            </a:r>
            <a:endParaRPr lang="zh-CN" altLang="en-US"/>
          </a:p>
        </p:txBody>
      </p:sp>
      <p:sp>
        <p:nvSpPr>
          <p:cNvPr id="7885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BF87FF-FA02-4436-955E-D1C3ED1E43FD}" type="slidenum">
              <a:rPr lang="zh-CN" altLang="en-US"/>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p:cNvSpPr>
          <p:nvPr>
            <p:ph type="sldImg" idx="4294967295"/>
          </p:nvPr>
        </p:nvSpPr>
        <p:spPr>
          <a:ln>
            <a:miter lim="800000"/>
          </a:ln>
        </p:spPr>
      </p:sp>
      <p:sp>
        <p:nvSpPr>
          <p:cNvPr id="78850" name="备注占位符 2"/>
          <p:cNvSpPr>
            <a:spLocks noGrp="1" noChangeArrowheads="1"/>
          </p:cNvSpPr>
          <p:nvPr>
            <p:ph type="body" idx="4294967295"/>
          </p:nvPr>
        </p:nvSpPr>
        <p:spPr/>
        <p:txBody>
          <a:bodyPr/>
          <a:lstStyle/>
          <a:p>
            <a:r>
              <a:rPr lang="zh-CN" altLang="en-US"/>
              <a:t> </a:t>
            </a:r>
            <a:endParaRPr lang="zh-CN" altLang="en-US"/>
          </a:p>
        </p:txBody>
      </p:sp>
      <p:sp>
        <p:nvSpPr>
          <p:cNvPr id="7885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BF87FF-FA02-4436-955E-D1C3ED1E43FD}" type="slidenum">
              <a:rPr lang="zh-CN" altLang="en-US"/>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p:cNvSpPr>
          <p:nvPr>
            <p:ph type="sldImg" idx="4294967295"/>
          </p:nvPr>
        </p:nvSpPr>
        <p:spPr>
          <a:ln>
            <a:miter lim="800000"/>
          </a:ln>
        </p:spPr>
      </p:sp>
      <p:sp>
        <p:nvSpPr>
          <p:cNvPr id="78850" name="备注占位符 2"/>
          <p:cNvSpPr>
            <a:spLocks noGrp="1" noChangeArrowheads="1"/>
          </p:cNvSpPr>
          <p:nvPr>
            <p:ph type="body" idx="4294967295"/>
          </p:nvPr>
        </p:nvSpPr>
        <p:spPr/>
        <p:txBody>
          <a:bodyPr/>
          <a:lstStyle/>
          <a:p>
            <a:r>
              <a:rPr lang="zh-CN" altLang="en-US"/>
              <a:t> </a:t>
            </a:r>
            <a:endParaRPr lang="zh-CN" altLang="en-US"/>
          </a:p>
        </p:txBody>
      </p:sp>
      <p:sp>
        <p:nvSpPr>
          <p:cNvPr id="7885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BF87FF-FA02-4436-955E-D1C3ED1E43FD}" type="slidenum">
              <a:rPr lang="zh-CN" altLang="en-US"/>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p:cNvSpPr>
          <p:nvPr>
            <p:ph type="sldImg" idx="4294967295"/>
          </p:nvPr>
        </p:nvSpPr>
        <p:spPr>
          <a:ln>
            <a:miter lim="800000"/>
          </a:ln>
        </p:spPr>
      </p:sp>
      <p:sp>
        <p:nvSpPr>
          <p:cNvPr id="78850" name="备注占位符 2"/>
          <p:cNvSpPr>
            <a:spLocks noGrp="1" noChangeArrowheads="1"/>
          </p:cNvSpPr>
          <p:nvPr>
            <p:ph type="body" idx="4294967295"/>
          </p:nvPr>
        </p:nvSpPr>
        <p:spPr/>
        <p:txBody>
          <a:bodyPr/>
          <a:lstStyle/>
          <a:p>
            <a:r>
              <a:rPr lang="zh-CN" altLang="en-US"/>
              <a:t> </a:t>
            </a:r>
            <a:endParaRPr lang="zh-CN" altLang="en-US"/>
          </a:p>
        </p:txBody>
      </p:sp>
      <p:sp>
        <p:nvSpPr>
          <p:cNvPr id="7885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BF87FF-FA02-4436-955E-D1C3ED1E43FD}" type="slidenum">
              <a:rPr lang="zh-CN" altLang="en-US"/>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p:cNvSpPr>
          <p:nvPr>
            <p:ph type="sldImg" idx="4294967295"/>
          </p:nvPr>
        </p:nvSpPr>
        <p:spPr>
          <a:ln>
            <a:miter lim="800000"/>
          </a:ln>
        </p:spPr>
      </p:sp>
      <p:sp>
        <p:nvSpPr>
          <p:cNvPr id="78850" name="备注占位符 2"/>
          <p:cNvSpPr>
            <a:spLocks noGrp="1" noChangeArrowheads="1"/>
          </p:cNvSpPr>
          <p:nvPr>
            <p:ph type="body" idx="4294967295"/>
          </p:nvPr>
        </p:nvSpPr>
        <p:spPr/>
        <p:txBody>
          <a:bodyPr/>
          <a:lstStyle/>
          <a:p>
            <a:r>
              <a:rPr lang="zh-CN" altLang="en-US"/>
              <a:t> </a:t>
            </a:r>
            <a:endParaRPr lang="zh-CN" altLang="en-US"/>
          </a:p>
        </p:txBody>
      </p:sp>
      <p:sp>
        <p:nvSpPr>
          <p:cNvPr id="7885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BF87FF-FA02-4436-955E-D1C3ED1E43FD}" type="slidenum">
              <a:rPr lang="zh-CN" altLang="en-US"/>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p:cNvSpPr>
          <p:nvPr>
            <p:ph type="sldImg" idx="4294967295"/>
          </p:nvPr>
        </p:nvSpPr>
        <p:spPr>
          <a:ln>
            <a:miter lim="800000"/>
          </a:ln>
        </p:spPr>
      </p:sp>
      <p:sp>
        <p:nvSpPr>
          <p:cNvPr id="78850" name="备注占位符 2"/>
          <p:cNvSpPr>
            <a:spLocks noGrp="1" noChangeArrowheads="1"/>
          </p:cNvSpPr>
          <p:nvPr>
            <p:ph type="body" idx="4294967295"/>
          </p:nvPr>
        </p:nvSpPr>
        <p:spPr/>
        <p:txBody>
          <a:bodyPr/>
          <a:lstStyle/>
          <a:p>
            <a:r>
              <a:rPr lang="zh-CN" altLang="en-US"/>
              <a:t> </a:t>
            </a:r>
            <a:endParaRPr lang="zh-CN" altLang="en-US"/>
          </a:p>
        </p:txBody>
      </p:sp>
      <p:sp>
        <p:nvSpPr>
          <p:cNvPr id="7885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BF87FF-FA02-4436-955E-D1C3ED1E43FD}" type="slidenum">
              <a:rPr lang="zh-CN" altLang="en-US"/>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p:cNvSpPr>
          <p:nvPr>
            <p:ph type="sldImg" idx="4294967295"/>
          </p:nvPr>
        </p:nvSpPr>
        <p:spPr>
          <a:ln>
            <a:miter lim="800000"/>
          </a:ln>
        </p:spPr>
      </p:sp>
      <p:sp>
        <p:nvSpPr>
          <p:cNvPr id="78850" name="备注占位符 2"/>
          <p:cNvSpPr>
            <a:spLocks noGrp="1" noChangeArrowheads="1"/>
          </p:cNvSpPr>
          <p:nvPr>
            <p:ph type="body" idx="4294967295"/>
          </p:nvPr>
        </p:nvSpPr>
        <p:spPr/>
        <p:txBody>
          <a:bodyPr/>
          <a:lstStyle/>
          <a:p>
            <a:r>
              <a:rPr lang="zh-CN" altLang="en-US"/>
              <a:t> </a:t>
            </a:r>
            <a:endParaRPr lang="zh-CN" altLang="en-US"/>
          </a:p>
        </p:txBody>
      </p:sp>
      <p:sp>
        <p:nvSpPr>
          <p:cNvPr id="7885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BF87FF-FA02-4436-955E-D1C3ED1E43FD}" type="slidenum">
              <a:rPr lang="zh-CN" altLang="en-US"/>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p:cNvSpPr>
          <p:nvPr>
            <p:ph type="sldImg" idx="4294967295"/>
          </p:nvPr>
        </p:nvSpPr>
        <p:spPr>
          <a:ln>
            <a:miter lim="800000"/>
          </a:ln>
        </p:spPr>
      </p:sp>
      <p:sp>
        <p:nvSpPr>
          <p:cNvPr id="78850" name="备注占位符 2"/>
          <p:cNvSpPr>
            <a:spLocks noGrp="1" noChangeArrowheads="1"/>
          </p:cNvSpPr>
          <p:nvPr>
            <p:ph type="body" idx="4294967295"/>
          </p:nvPr>
        </p:nvSpPr>
        <p:spPr/>
        <p:txBody>
          <a:bodyPr/>
          <a:lstStyle/>
          <a:p>
            <a:r>
              <a:rPr lang="zh-CN" altLang="en-US"/>
              <a:t> </a:t>
            </a:r>
            <a:endParaRPr lang="zh-CN" altLang="en-US"/>
          </a:p>
        </p:txBody>
      </p:sp>
      <p:sp>
        <p:nvSpPr>
          <p:cNvPr id="7885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BF87FF-FA02-4436-955E-D1C3ED1E43FD}" type="slidenum">
              <a:rPr lang="zh-CN" altLang="en-US"/>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ChangeArrowheads="1"/>
          </p:cNvSpPr>
          <p:nvPr>
            <p:ph type="sldImg" idx="4294967295"/>
          </p:nvPr>
        </p:nvSpPr>
        <p:spPr>
          <a:ln>
            <a:miter lim="800000"/>
          </a:ln>
        </p:spPr>
      </p:sp>
      <p:sp>
        <p:nvSpPr>
          <p:cNvPr id="78850" name="备注占位符 2"/>
          <p:cNvSpPr>
            <a:spLocks noGrp="1" noChangeArrowheads="1"/>
          </p:cNvSpPr>
          <p:nvPr>
            <p:ph type="body" idx="4294967295"/>
          </p:nvPr>
        </p:nvSpPr>
        <p:spPr/>
        <p:txBody>
          <a:bodyPr/>
          <a:lstStyle/>
          <a:p>
            <a:r>
              <a:rPr lang="zh-CN" altLang="en-US"/>
              <a:t> </a:t>
            </a:r>
            <a:endParaRPr lang="zh-CN" altLang="en-US"/>
          </a:p>
        </p:txBody>
      </p:sp>
      <p:sp>
        <p:nvSpPr>
          <p:cNvPr id="7885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BF87FF-FA02-4436-955E-D1C3ED1E43FD}" type="slidenum">
              <a:rPr lang="zh-CN" altLang="en-US"/>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数据指向的时候 要加一个例子  板书</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数据指向的时候 要加一个例子  板书</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新宋体" panose="02010609030101010101" pitchFamily="49" charset="-122"/>
                <a:ea typeface="新宋体" panose="02010609030101010101" pitchFamily="49" charset="-122"/>
              </a:rPr>
              <a:t>眼睛要阔，遍历名山大川；度量要宏，容纳五湖四海。</a:t>
            </a:r>
            <a:endParaRPr lang="zh-CN" altLang="en-US" sz="1200" b="0" i="0" u="none" strike="noStrike" dirty="0">
              <a:effectLst/>
              <a:latin typeface="新宋体" panose="02010609030101010101" pitchFamily="49" charset="-122"/>
              <a:ea typeface="新宋体" panose="0201060903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DLR  DRL   LDR  RDL </a:t>
            </a:r>
            <a:r>
              <a:rPr lang="zh-CN" altLang="en-US" dirty="0"/>
              <a:t>等等遍历的方法</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1:m</a:t>
            </a:r>
            <a:r>
              <a:rPr lang="zh-CN" altLang="en-US" dirty="0"/>
              <a:t>层次结构属于非线性结构</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rgbClr val="FF0000"/>
                </a:solidFill>
              </a:rPr>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636363"/>
                </a:solidFill>
                <a:effectLst/>
                <a:latin typeface="微软雅黑" panose="020B0503020204020204" pitchFamily="34" charset="-122"/>
                <a:ea typeface="微软雅黑" panose="020B0503020204020204" pitchFamily="34" charset="-122"/>
              </a:rPr>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横着表达</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636363"/>
                </a:solidFill>
                <a:effectLst/>
                <a:latin typeface="微软雅黑" panose="020B0503020204020204" pitchFamily="34" charset="-122"/>
                <a:ea typeface="微软雅黑" panose="020B0503020204020204" pitchFamily="34" charset="-122"/>
              </a:rPr>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横着表达</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636363"/>
                </a:solidFill>
                <a:effectLst/>
                <a:latin typeface="微软雅黑" panose="020B0503020204020204" pitchFamily="34" charset="-122"/>
                <a:ea typeface="微软雅黑" panose="020B0503020204020204" pitchFamily="34" charset="-122"/>
              </a:rPr>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递归算法的时间复杂度：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只有根结点</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dirty="0">
                <a:latin typeface="微软雅黑" panose="020B0503020204020204" pitchFamily="34" charset="-122"/>
                <a:ea typeface="微软雅黑" panose="020B0503020204020204" pitchFamily="34" charset="-122"/>
              </a:rPr>
              <a:t>注意：一是重点理解访问根结点操作的含义</a:t>
            </a:r>
            <a:endParaRPr lang="zh-CN" altLang="en-US" sz="1200" dirty="0">
              <a:latin typeface="微软雅黑" panose="020B0503020204020204" pitchFamily="34" charset="-122"/>
              <a:ea typeface="微软雅黑" panose="020B0503020204020204" pitchFamily="34" charset="-122"/>
            </a:endParaRPr>
          </a:p>
          <a:p>
            <a:pPr algn="l"/>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二是对具体问题需要考虑遍历的层次</a:t>
            </a:r>
            <a:endParaRPr lang="en-US" altLang="zh-CN"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dirty="0">
                <a:latin typeface="微软雅黑" panose="020B0503020204020204" pitchFamily="34" charset="-122"/>
                <a:ea typeface="微软雅黑" panose="020B0503020204020204" pitchFamily="34" charset="-122"/>
              </a:rPr>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dirty="0">
                <a:latin typeface="微软雅黑" panose="020B0503020204020204" pitchFamily="34" charset="-122"/>
                <a:ea typeface="微软雅黑" panose="020B0503020204020204" pitchFamily="34" charset="-122"/>
              </a:rPr>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dirty="0">
                <a:latin typeface="微软雅黑" panose="020B0503020204020204" pitchFamily="34" charset="-122"/>
                <a:ea typeface="微软雅黑" panose="020B0503020204020204" pitchFamily="34" charset="-122"/>
              </a:rPr>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横着表达</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横着表达</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中序遍历不行，因为无法确定根结点的位置，不能计算树的高度</a:t>
            </a:r>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参照实习题</a:t>
            </a:r>
            <a:r>
              <a:rPr lang="en-US" altLang="zh-CN" dirty="0"/>
              <a:t>3  </a:t>
            </a:r>
            <a:r>
              <a:rPr lang="zh-CN" altLang="en-US" dirty="0"/>
              <a:t>（</a:t>
            </a:r>
            <a:r>
              <a:rPr lang="en-US" altLang="zh-CN" dirty="0"/>
              <a:t>P209</a:t>
            </a:r>
            <a:r>
              <a:rPr lang="zh-CN" altLang="en-US" dirty="0"/>
              <a:t>页）</a:t>
            </a:r>
            <a:r>
              <a:rPr lang="en-US" altLang="zh-CN"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对左右位置交换， 先序 后序可以；  </a:t>
            </a:r>
            <a:endParaRPr lang="en-US" altLang="zh-CN" sz="1200" dirty="0"/>
          </a:p>
          <a:p>
            <a:r>
              <a:rPr lang="zh-CN" altLang="en-US" sz="1200" dirty="0"/>
              <a:t>中序</a:t>
            </a:r>
            <a:r>
              <a:rPr lang="en-US" altLang="zh-CN" sz="1200" dirty="0"/>
              <a:t>LDR</a:t>
            </a:r>
            <a:r>
              <a:rPr lang="zh-CN" altLang="en-US" sz="1200" dirty="0"/>
              <a:t>不行，   需要做分析</a:t>
            </a:r>
            <a:r>
              <a:rPr lang="en-US" altLang="zh-CN" sz="1200" dirty="0"/>
              <a:t>  </a:t>
            </a:r>
            <a:endParaRPr lang="en-US" altLang="zh-CN" sz="1200" dirty="0"/>
          </a:p>
          <a:p>
            <a:r>
              <a:rPr lang="zh-CN" altLang="en-US" sz="1200" dirty="0"/>
              <a:t>中序是中间访问结点的，是一种对称性的遍历，左子树交换之后，变成了根结点的右子树，</a:t>
            </a:r>
            <a:endParaRPr lang="en-US" altLang="zh-CN" sz="1200" dirty="0"/>
          </a:p>
          <a:p>
            <a:r>
              <a:rPr lang="zh-CN" altLang="en-US" sz="1200" dirty="0"/>
              <a:t>再对根结点的右子树进行操作 实际上是刚才的左子树结果。这种方式是不行的</a:t>
            </a:r>
            <a:endParaRPr lang="en-US" altLang="zh-CN" sz="1200" dirty="0"/>
          </a:p>
          <a:p>
            <a:r>
              <a:rPr lang="en-US" altLang="zh-CN" sz="1200" dirty="0"/>
              <a:t> </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对左右位置交换， 先序 后序可以；  </a:t>
            </a:r>
            <a:endParaRPr lang="en-US" altLang="zh-CN" sz="1200" dirty="0"/>
          </a:p>
          <a:p>
            <a:r>
              <a:rPr lang="zh-CN" altLang="en-US" sz="1200" dirty="0"/>
              <a:t>中序</a:t>
            </a:r>
            <a:r>
              <a:rPr lang="en-US" altLang="zh-CN" sz="1200" dirty="0"/>
              <a:t>LDR</a:t>
            </a:r>
            <a:r>
              <a:rPr lang="zh-CN" altLang="en-US" sz="1200" dirty="0"/>
              <a:t>不行，   需要做分析</a:t>
            </a:r>
            <a:r>
              <a:rPr lang="en-US" altLang="zh-CN" sz="1200" dirty="0"/>
              <a:t>  </a:t>
            </a:r>
            <a:endParaRPr lang="en-US" altLang="zh-CN" sz="1200" dirty="0"/>
          </a:p>
          <a:p>
            <a:r>
              <a:rPr lang="zh-CN" altLang="en-US" sz="1200" dirty="0"/>
              <a:t>中序是中间访问结点的，是一种对称性的遍历，左子树交换之后，变成了根结点的右子树，</a:t>
            </a:r>
            <a:endParaRPr lang="en-US" altLang="zh-CN" sz="1200" dirty="0"/>
          </a:p>
          <a:p>
            <a:r>
              <a:rPr lang="zh-CN" altLang="en-US" sz="1200" dirty="0"/>
              <a:t>再对根结点的右子树进行操作 实际上是刚才的左子树结果。这种方式是不行的</a:t>
            </a:r>
            <a:endParaRPr lang="en-US" altLang="zh-CN" sz="1200" dirty="0"/>
          </a:p>
          <a:p>
            <a:r>
              <a:rPr lang="en-US" altLang="zh-CN" sz="1200" dirty="0"/>
              <a:t> </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对左右位置交换， 先序 后序可以；  </a:t>
            </a:r>
            <a:endParaRPr lang="en-US" altLang="zh-CN" sz="1200" dirty="0"/>
          </a:p>
          <a:p>
            <a:r>
              <a:rPr lang="zh-CN" altLang="en-US" sz="1200" dirty="0"/>
              <a:t>中序</a:t>
            </a:r>
            <a:r>
              <a:rPr lang="en-US" altLang="zh-CN" sz="1200" dirty="0"/>
              <a:t>LDR</a:t>
            </a:r>
            <a:r>
              <a:rPr lang="zh-CN" altLang="en-US" sz="1200" dirty="0"/>
              <a:t>不行，   需要做分析</a:t>
            </a:r>
            <a:r>
              <a:rPr lang="en-US" altLang="zh-CN" sz="1200" dirty="0"/>
              <a:t>  </a:t>
            </a:r>
            <a:endParaRPr lang="en-US" altLang="zh-CN" sz="1200" dirty="0"/>
          </a:p>
          <a:p>
            <a:r>
              <a:rPr lang="zh-CN" altLang="en-US" sz="1200" dirty="0"/>
              <a:t>中序是中间访问结点的，是一种对称性的遍历，左子树交换之后，变成了根结点的右子树，</a:t>
            </a:r>
            <a:endParaRPr lang="en-US" altLang="zh-CN" sz="1200" dirty="0"/>
          </a:p>
          <a:p>
            <a:r>
              <a:rPr lang="zh-CN" altLang="en-US" sz="1200" dirty="0"/>
              <a:t>再对根结点的右子树进行操作 实际上是刚才的左子树结果。这种方式是不行的</a:t>
            </a:r>
            <a:endParaRPr lang="en-US" altLang="zh-CN" sz="1200" dirty="0"/>
          </a:p>
          <a:p>
            <a:r>
              <a:rPr lang="en-US" altLang="zh-CN" sz="1200" dirty="0"/>
              <a:t> </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考虑这个题，如何将编号的结果用算法来实现出来， </a:t>
            </a:r>
            <a:r>
              <a:rPr lang="en-US" altLang="zh-CN" dirty="0"/>
              <a:t>3</a:t>
            </a:r>
            <a:r>
              <a:rPr lang="zh-CN" altLang="en-US" dirty="0"/>
              <a:t>分钟展示  </a:t>
            </a:r>
            <a:endParaRPr lang="en-US" altLang="zh-CN" dirty="0"/>
          </a:p>
          <a:p>
            <a:r>
              <a:rPr lang="zh-CN" altLang="en-US" dirty="0"/>
              <a:t>后序遍历，在实现过程中  </a:t>
            </a:r>
            <a:r>
              <a:rPr lang="en-US" altLang="zh-CN" dirty="0" err="1"/>
              <a:t>printf</a:t>
            </a:r>
            <a:r>
              <a:rPr lang="en-US" altLang="zh-CN" dirty="0"/>
              <a:t>(“%d”</a:t>
            </a:r>
            <a:r>
              <a:rPr lang="zh-CN" altLang="en-US" dirty="0"/>
              <a:t>，</a:t>
            </a:r>
            <a:r>
              <a:rPr lang="en-US" altLang="zh-CN" dirty="0"/>
              <a:t>v++);    </a:t>
            </a:r>
            <a:endParaRPr lang="en-US" altLang="zh-CN" dirty="0"/>
          </a:p>
          <a:p>
            <a:r>
              <a:rPr lang="zh-CN" altLang="en-US" dirty="0"/>
              <a:t>一方面要有方法  一方面还要有实现</a:t>
            </a:r>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636363"/>
                </a:solidFill>
                <a:effectLst/>
                <a:latin typeface="微软雅黑" panose="020B0503020204020204" pitchFamily="34" charset="-122"/>
                <a:ea typeface="微软雅黑" panose="020B0503020204020204" pitchFamily="34" charset="-122"/>
              </a:rPr>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Slide Image Placeholder 1"/>
          <p:cNvSpPr>
            <a:spLocks noGrp="1" noRot="1" noChangeAspect="1" noChangeArrowheads="1"/>
          </p:cNvSpPr>
          <p:nvPr>
            <p:ph type="sldImg" idx="4294967295"/>
          </p:nvPr>
        </p:nvSpPr>
        <p:spPr>
          <a:xfrm>
            <a:off x="3408363" y="849313"/>
            <a:ext cx="3057525" cy="2293937"/>
          </a:xfrm>
          <a:ln>
            <a:miter lim="800000"/>
          </a:ln>
        </p:spPr>
      </p:sp>
      <p:sp>
        <p:nvSpPr>
          <p:cNvPr id="209922" name="Notes Placeholder 2"/>
          <p:cNvSpPr>
            <a:spLocks noGrp="1" noChangeArrowheads="1"/>
          </p:cNvSpPr>
          <p:nvPr>
            <p:ph type="body" idx="4294967295"/>
          </p:nvPr>
        </p:nvSpPr>
        <p:spPr/>
        <p:txBody>
          <a:bodyPr/>
          <a:lstStyle/>
          <a:p>
            <a:r>
              <a:rPr lang="en-US" altLang="zh-CN"/>
              <a:t>Thanks for your attentions. </a:t>
            </a:r>
            <a:endParaRPr lang="en-US" altLang="zh-CN"/>
          </a:p>
        </p:txBody>
      </p:sp>
      <p:sp>
        <p:nvSpPr>
          <p:cNvPr id="209923"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1353337-3977-4BCB-857B-432382D1E16C}" type="slidenum">
              <a:rPr lang="en-US" altLang="zh-CN"/>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3EF7BF5-C312-441F-B6C9-2A4DC373BF80}" type="datetime1">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1501B8E-31AA-47FB-B48F-15F7878F652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231FEBFF-ECBF-4FA4-9DA0-FBBDEE80DD4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A8DDADF-0345-46A8-B192-0ED522001E3A}"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52801E1-6468-4667-A5F6-88D7E589FD37}"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8417702-808C-415D-BE58-CD3A4C75CB9A}"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8F56835-752F-4BA4-AEEB-4BF7CF8F1CED}"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2B3C8D9-2787-4C26-9F4E-D386303FB393}"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A8C17C5-9BF0-4983-A1D4-F48A8BD527DA}"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F568593-0C0F-49B3-8154-AD2DACF2C34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33AEA64-A43D-4AFC-9488-F5EAA094524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3EF7BF5-C312-441F-B6C9-2A4DC373BF80}" type="datetime1">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1501B8E-31AA-47FB-B48F-15F7878F652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231FEBFF-ECBF-4FA4-9DA0-FBBDEE80DD4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A8DDADF-0345-46A8-B192-0ED522001E3A}"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52801E1-6468-4667-A5F6-88D7E589FD37}"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8417702-808C-415D-BE58-CD3A4C75CB9A}"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8F56835-752F-4BA4-AEEB-4BF7CF8F1CED}"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2B3C8D9-2787-4C26-9F4E-D386303FB393}"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A8C17C5-9BF0-4983-A1D4-F48A8BD527DA}"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F568593-0C0F-49B3-8154-AD2DACF2C34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33AEA64-A43D-4AFC-9488-F5EAA094524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D849870-2574-4B81-94A8-CC35298539AC}" type="datetime1">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C87717-A16C-46C8-8501-38B3BAF8FB93}"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D849870-2574-4B81-94A8-CC35298539AC}" type="datetime1">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C87717-A16C-46C8-8501-38B3BAF8FB93}"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hyperlink" Target="mailto:wangbingshu@nwpu.edu.cn" TargetMode="Externa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tags" Target="../tags/tag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1.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0" y="6662345"/>
            <a:ext cx="9144000" cy="1878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0" y="-1"/>
            <a:ext cx="9144000" cy="9233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3967262" cy="1023672"/>
          </a:xfrm>
          <a:prstGeom prst="rect">
            <a:avLst/>
          </a:prstGeom>
        </p:spPr>
      </p:pic>
      <p:sp>
        <p:nvSpPr>
          <p:cNvPr id="18" name="文本框 17"/>
          <p:cNvSpPr txBox="1"/>
          <p:nvPr/>
        </p:nvSpPr>
        <p:spPr>
          <a:xfrm>
            <a:off x="2100877" y="6127588"/>
            <a:ext cx="5027337" cy="461665"/>
          </a:xfrm>
          <a:prstGeom prst="rect">
            <a:avLst/>
          </a:prstGeom>
          <a:noFill/>
        </p:spPr>
        <p:txBody>
          <a:bodyPr wrap="none" rtlCol="0">
            <a:spAutoFit/>
          </a:bodyPr>
          <a:lstStyle/>
          <a:p>
            <a:pPr algn="ctr"/>
            <a:r>
              <a:rPr lang="en-US" altLang="zh-CN" sz="2400" dirty="0"/>
              <a:t>Email</a:t>
            </a:r>
            <a:r>
              <a:rPr lang="zh-CN" altLang="en-US" sz="2400" dirty="0"/>
              <a:t>：</a:t>
            </a:r>
            <a:r>
              <a:rPr lang="en-US" altLang="zh-CN" sz="2400" dirty="0">
                <a:hlinkClick r:id="rId2"/>
              </a:rPr>
              <a:t>wangbingshu@nwpu.edu.cn</a:t>
            </a:r>
            <a:r>
              <a:rPr lang="en-US" altLang="zh-CN" sz="2400" dirty="0"/>
              <a:t> </a:t>
            </a:r>
            <a:endParaRPr lang="zh-CN" altLang="en-US" sz="2400" dirty="0"/>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 name="文本框 1"/>
          <p:cNvSpPr txBox="1"/>
          <p:nvPr/>
        </p:nvSpPr>
        <p:spPr>
          <a:xfrm>
            <a:off x="4677509" y="128755"/>
            <a:ext cx="4466492" cy="583565"/>
          </a:xfrm>
          <a:prstGeom prst="rect">
            <a:avLst/>
          </a:prstGeom>
          <a:noFill/>
        </p:spPr>
        <p:txBody>
          <a:bodyPr wrap="square">
            <a:spAutoFit/>
          </a:bodyPr>
          <a:lstStyle/>
          <a:p>
            <a:r>
              <a:rPr lang="zh-CN" altLang="en-US" sz="3200" dirty="0">
                <a:solidFill>
                  <a:schemeClr val="bg1"/>
                </a:solidFill>
              </a:rPr>
              <a:t>软件学院</a:t>
            </a:r>
            <a:endParaRPr lang="zh-CN" altLang="en-US" sz="3200" dirty="0">
              <a:solidFill>
                <a:schemeClr val="bg1"/>
              </a:solidFill>
            </a:endParaRPr>
          </a:p>
        </p:txBody>
      </p:sp>
      <p:sp>
        <p:nvSpPr>
          <p:cNvPr id="5" name="文本框 4"/>
          <p:cNvSpPr txBox="1"/>
          <p:nvPr/>
        </p:nvSpPr>
        <p:spPr>
          <a:xfrm>
            <a:off x="2956636" y="1755199"/>
            <a:ext cx="3230880" cy="1014730"/>
          </a:xfrm>
          <a:prstGeom prst="rect">
            <a:avLst/>
          </a:prstGeom>
          <a:solidFill>
            <a:schemeClr val="bg1"/>
          </a:solidFill>
        </p:spPr>
        <p:txBody>
          <a:bodyPr wrap="none" rtlCol="0">
            <a:spAutoFit/>
          </a:bodyPr>
          <a:lstStyle/>
          <a:p>
            <a:pPr algn="ctr"/>
            <a:r>
              <a:rPr lang="zh-CN" altLang="en-US" sz="6000" kern="100" dirty="0">
                <a:solidFill>
                  <a:srgbClr val="000000"/>
                </a:solidFill>
              </a:rPr>
              <a:t>数据结构</a:t>
            </a:r>
            <a:endParaRPr lang="zh-CN" altLang="en-US" sz="6000" kern="100" dirty="0">
              <a:solidFill>
                <a:srgbClr val="000000"/>
              </a:solidFill>
            </a:endParaRPr>
          </a:p>
        </p:txBody>
      </p:sp>
      <p:sp>
        <p:nvSpPr>
          <p:cNvPr id="6" name="文本框 5"/>
          <p:cNvSpPr txBox="1"/>
          <p:nvPr/>
        </p:nvSpPr>
        <p:spPr>
          <a:xfrm>
            <a:off x="3166264" y="2979255"/>
            <a:ext cx="2811780" cy="398780"/>
          </a:xfrm>
          <a:prstGeom prst="rect">
            <a:avLst/>
          </a:prstGeom>
          <a:noFill/>
        </p:spPr>
        <p:txBody>
          <a:bodyPr wrap="none" rtlCol="0">
            <a:spAutoFit/>
          </a:bodyPr>
          <a:lstStyle/>
          <a:p>
            <a:r>
              <a:rPr lang="en-US" sz="2000" dirty="0">
                <a:latin typeface="微软雅黑" panose="020B0503020204020204" pitchFamily="34" charset="-122"/>
                <a:ea typeface="微软雅黑" panose="020B0503020204020204" pitchFamily="34" charset="-122"/>
              </a:rPr>
              <a:t>2026</a:t>
            </a:r>
            <a:r>
              <a:rPr lang="zh-CN" altLang="en-US" sz="2000" dirty="0">
                <a:latin typeface="微软雅黑" panose="020B0503020204020204" pitchFamily="34" charset="-122"/>
                <a:ea typeface="微软雅黑" panose="020B0503020204020204" pitchFamily="34" charset="-122"/>
              </a:rPr>
              <a:t>年春季本科生课程</a:t>
            </a:r>
            <a:endParaRPr lang="zh-CN" altLang="en-US" sz="20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2485098" y="4455354"/>
            <a:ext cx="4216082" cy="521970"/>
          </a:xfrm>
          <a:prstGeom prst="rect">
            <a:avLst/>
          </a:prstGeom>
          <a:noFill/>
        </p:spPr>
        <p:txBody>
          <a:bodyPr wrap="square">
            <a:spAutoFit/>
          </a:bodyPr>
          <a:lstStyle/>
          <a:p>
            <a:pPr algn="ctr"/>
            <a:r>
              <a:rPr lang="zh-CN" sz="2800" dirty="0">
                <a:latin typeface="Times New Roman" panose="02020603050405020304" charset="0"/>
                <a:cs typeface="Times New Roman" panose="02020603050405020304" charset="0"/>
              </a:rPr>
              <a:t>主讲教师：</a:t>
            </a:r>
            <a:r>
              <a:rPr lang="zh-CN" altLang="en-US" sz="2800" dirty="0">
                <a:latin typeface="NimbusRomNo9L-Regu"/>
              </a:rPr>
              <a:t>王兵书</a:t>
            </a:r>
            <a:endParaRPr lang="en-US" altLang="zh-CN" sz="2800" dirty="0">
              <a:latin typeface="NimbusRomNo9L-Regu"/>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B130DD-CC1B-40AE-987C-D28F25B9504B}" type="slidenum">
              <a:rPr lang="zh-CN" altLang="en-US">
                <a:latin typeface="Calibri" panose="020F0502020204030204" pitchFamily="34" charset="0"/>
              </a:rPr>
            </a:fld>
            <a:endParaRPr lang="zh-CN" altLang="en-US">
              <a:latin typeface="Calibri" panose="020F0502020204030204" pitchFamily="34" charset="0"/>
            </a:endParaRPr>
          </a:p>
        </p:txBody>
      </p:sp>
      <p:sp>
        <p:nvSpPr>
          <p:cNvPr id="34" name="矩形 33"/>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7782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文本框 16"/>
          <p:cNvSpPr txBox="1">
            <a:spLocks noChangeArrowheads="1"/>
          </p:cNvSpPr>
          <p:nvPr/>
        </p:nvSpPr>
        <p:spPr bwMode="auto">
          <a:xfrm>
            <a:off x="1127125" y="150813"/>
            <a:ext cx="637381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solidFill>
                  <a:schemeClr val="bg1"/>
                </a:solidFill>
              </a:rPr>
              <a:t>6.2.2 </a:t>
            </a:r>
            <a:r>
              <a:rPr lang="zh-CN" altLang="en-US" sz="3200" dirty="0">
                <a:solidFill>
                  <a:schemeClr val="bg1"/>
                </a:solidFill>
              </a:rPr>
              <a:t>二叉树性质</a:t>
            </a:r>
            <a:endParaRPr lang="zh-CN" altLang="en-US" sz="3200" dirty="0">
              <a:solidFill>
                <a:schemeClr val="bg1"/>
              </a:solidFill>
            </a:endParaRPr>
          </a:p>
          <a:p>
            <a:endParaRPr lang="zh-CN" altLang="en-US" sz="3200" dirty="0">
              <a:solidFill>
                <a:schemeClr val="bg1"/>
              </a:solidFill>
            </a:endParaRPr>
          </a:p>
        </p:txBody>
      </p:sp>
      <p:sp>
        <p:nvSpPr>
          <p:cNvPr id="77829" name="文本框 1"/>
          <p:cNvSpPr txBox="1">
            <a:spLocks noChangeArrowheads="1"/>
          </p:cNvSpPr>
          <p:nvPr/>
        </p:nvSpPr>
        <p:spPr bwMode="auto">
          <a:xfrm>
            <a:off x="40481" y="975385"/>
            <a:ext cx="4273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微软雅黑" panose="020B0503020204020204" pitchFamily="34" charset="-122"/>
                <a:ea typeface="微软雅黑" panose="020B0503020204020204" pitchFamily="34" charset="-122"/>
              </a:rPr>
              <a:t>二叉树的性质</a:t>
            </a:r>
            <a:endParaRPr lang="zh-CN" altLang="en-US" sz="2800" b="1" dirty="0">
              <a:latin typeface="微软雅黑" panose="020B0503020204020204" pitchFamily="34" charset="-122"/>
              <a:ea typeface="微软雅黑" panose="020B0503020204020204" pitchFamily="34" charset="-122"/>
            </a:endParaRPr>
          </a:p>
        </p:txBody>
      </p:sp>
      <p:sp>
        <p:nvSpPr>
          <p:cNvPr id="8" name="文本框 1"/>
          <p:cNvSpPr txBox="1">
            <a:spLocks noChangeArrowheads="1"/>
          </p:cNvSpPr>
          <p:nvPr/>
        </p:nvSpPr>
        <p:spPr bwMode="auto">
          <a:xfrm>
            <a:off x="112713" y="1257373"/>
            <a:ext cx="1572711" cy="5347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1</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2</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3</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solidFill>
                  <a:srgbClr val="FF0000"/>
                </a:solidFill>
                <a:latin typeface="微软雅黑" panose="020B0503020204020204" pitchFamily="34" charset="-122"/>
                <a:ea typeface="微软雅黑" panose="020B0503020204020204" pitchFamily="34" charset="-122"/>
              </a:rPr>
              <a:t>满二叉树</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完全二叉树</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4</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5</a:t>
            </a:r>
            <a:endParaRPr lang="en-US" altLang="zh-CN" sz="2000" dirty="0">
              <a:latin typeface="微软雅黑" panose="020B0503020204020204" pitchFamily="34" charset="-122"/>
              <a:ea typeface="微软雅黑" panose="020B0503020204020204" pitchFamily="34" charset="-122"/>
            </a:endParaRPr>
          </a:p>
        </p:txBody>
      </p:sp>
      <p:sp>
        <p:nvSpPr>
          <p:cNvPr id="9" name="文本框 1"/>
          <p:cNvSpPr txBox="1">
            <a:spLocks noChangeArrowheads="1"/>
          </p:cNvSpPr>
          <p:nvPr/>
        </p:nvSpPr>
        <p:spPr bwMode="auto">
          <a:xfrm>
            <a:off x="1994376" y="1803676"/>
            <a:ext cx="6699458" cy="105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满二叉树</a:t>
            </a:r>
            <a:r>
              <a:rPr lang="zh-CN" altLang="en-US" sz="2000" dirty="0">
                <a:latin typeface="微软雅黑" panose="020B0503020204020204" pitchFamily="34" charset="-122"/>
                <a:ea typeface="微软雅黑" panose="020B0503020204020204" pitchFamily="34" charset="-122"/>
              </a:rPr>
              <a:t>：深度为</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且有</a:t>
            </a:r>
            <a:r>
              <a:rPr lang="en-US" altLang="zh-CN" sz="2000" dirty="0">
                <a:latin typeface="微软雅黑" panose="020B0503020204020204" pitchFamily="34" charset="-122"/>
                <a:ea typeface="微软雅黑" panose="020B0503020204020204" pitchFamily="34" charset="-122"/>
                <a:sym typeface="+mn-ea"/>
              </a:rPr>
              <a:t>2</a:t>
            </a:r>
            <a:r>
              <a:rPr lang="en-US" altLang="zh-CN" sz="2000" baseline="30000" dirty="0">
                <a:latin typeface="微软雅黑" panose="020B0503020204020204" pitchFamily="34" charset="-122"/>
                <a:ea typeface="微软雅黑" panose="020B0503020204020204" pitchFamily="34" charset="-122"/>
                <a:sym typeface="+mn-ea"/>
              </a:rPr>
              <a:t>k</a:t>
            </a:r>
            <a:r>
              <a:rPr lang="en-US" altLang="zh-CN" sz="2000" dirty="0">
                <a:latin typeface="微软雅黑" panose="020B0503020204020204" pitchFamily="34" charset="-122"/>
                <a:ea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rPr>
              <a:t>个结点的二叉树。在满二叉树中，每层结点都是满的，即每层结点都具有最大结点数。</a:t>
            </a:r>
            <a:endParaRPr lang="zh-CN" altLang="en-US" sz="2000"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3342640" y="3328670"/>
            <a:ext cx="3709670" cy="25006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B130DD-CC1B-40AE-987C-D28F25B9504B}" type="slidenum">
              <a:rPr lang="zh-CN" altLang="en-US">
                <a:latin typeface="Calibri" panose="020F0502020204030204" pitchFamily="34" charset="0"/>
              </a:rPr>
            </a:fld>
            <a:endParaRPr lang="zh-CN" altLang="en-US">
              <a:latin typeface="Calibri" panose="020F0502020204030204" pitchFamily="34" charset="0"/>
            </a:endParaRPr>
          </a:p>
        </p:txBody>
      </p:sp>
      <p:sp>
        <p:nvSpPr>
          <p:cNvPr id="34" name="矩形 33"/>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7782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文本框 16"/>
          <p:cNvSpPr txBox="1">
            <a:spLocks noChangeArrowheads="1"/>
          </p:cNvSpPr>
          <p:nvPr/>
        </p:nvSpPr>
        <p:spPr bwMode="auto">
          <a:xfrm>
            <a:off x="1127125" y="150813"/>
            <a:ext cx="637381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solidFill>
                  <a:schemeClr val="bg1"/>
                </a:solidFill>
              </a:rPr>
              <a:t>6.2.2 </a:t>
            </a:r>
            <a:r>
              <a:rPr lang="zh-CN" altLang="en-US" sz="3200" dirty="0">
                <a:solidFill>
                  <a:schemeClr val="bg1"/>
                </a:solidFill>
              </a:rPr>
              <a:t>二叉树性质</a:t>
            </a:r>
            <a:endParaRPr lang="zh-CN" altLang="en-US" sz="3200" dirty="0">
              <a:solidFill>
                <a:schemeClr val="bg1"/>
              </a:solidFill>
            </a:endParaRPr>
          </a:p>
          <a:p>
            <a:endParaRPr lang="zh-CN" altLang="en-US" sz="3200" dirty="0">
              <a:solidFill>
                <a:schemeClr val="bg1"/>
              </a:solidFill>
            </a:endParaRPr>
          </a:p>
        </p:txBody>
      </p:sp>
      <p:sp>
        <p:nvSpPr>
          <p:cNvPr id="77829" name="文本框 1"/>
          <p:cNvSpPr txBox="1">
            <a:spLocks noChangeArrowheads="1"/>
          </p:cNvSpPr>
          <p:nvPr/>
        </p:nvSpPr>
        <p:spPr bwMode="auto">
          <a:xfrm>
            <a:off x="40481" y="975385"/>
            <a:ext cx="4273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微软雅黑" panose="020B0503020204020204" pitchFamily="34" charset="-122"/>
                <a:ea typeface="微软雅黑" panose="020B0503020204020204" pitchFamily="34" charset="-122"/>
              </a:rPr>
              <a:t>二叉树的性质</a:t>
            </a:r>
            <a:endParaRPr lang="zh-CN" altLang="en-US" sz="2800" b="1" dirty="0">
              <a:latin typeface="微软雅黑" panose="020B0503020204020204" pitchFamily="34" charset="-122"/>
              <a:ea typeface="微软雅黑" panose="020B0503020204020204" pitchFamily="34" charset="-122"/>
            </a:endParaRPr>
          </a:p>
        </p:txBody>
      </p:sp>
      <p:sp>
        <p:nvSpPr>
          <p:cNvPr id="8" name="文本框 1"/>
          <p:cNvSpPr txBox="1">
            <a:spLocks noChangeArrowheads="1"/>
          </p:cNvSpPr>
          <p:nvPr/>
        </p:nvSpPr>
        <p:spPr bwMode="auto">
          <a:xfrm>
            <a:off x="112713" y="1257373"/>
            <a:ext cx="1572711" cy="5347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1</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2</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3</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满二叉树</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solidFill>
                  <a:srgbClr val="FF0000"/>
                </a:solidFill>
                <a:latin typeface="微软雅黑" panose="020B0503020204020204" pitchFamily="34" charset="-122"/>
                <a:ea typeface="微软雅黑" panose="020B0503020204020204" pitchFamily="34" charset="-122"/>
              </a:rPr>
              <a:t>完全二叉树</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4</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5</a:t>
            </a:r>
            <a:endParaRPr lang="en-US" altLang="zh-CN" sz="2000" dirty="0">
              <a:latin typeface="微软雅黑" panose="020B0503020204020204" pitchFamily="34" charset="-122"/>
              <a:ea typeface="微软雅黑" panose="020B0503020204020204" pitchFamily="34" charset="-122"/>
            </a:endParaRPr>
          </a:p>
        </p:txBody>
      </p:sp>
      <p:sp>
        <p:nvSpPr>
          <p:cNvPr id="9" name="文本框 1"/>
          <p:cNvSpPr txBox="1">
            <a:spLocks noChangeArrowheads="1"/>
          </p:cNvSpPr>
          <p:nvPr/>
        </p:nvSpPr>
        <p:spPr bwMode="auto">
          <a:xfrm>
            <a:off x="1994376" y="1803676"/>
            <a:ext cx="698757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完全二叉树</a:t>
            </a:r>
            <a:r>
              <a:rPr lang="zh-CN" altLang="en-US" sz="2000" dirty="0">
                <a:latin typeface="微软雅黑" panose="020B0503020204020204" pitchFamily="34" charset="-122"/>
                <a:ea typeface="微软雅黑" panose="020B0503020204020204" pitchFamily="34" charset="-122"/>
              </a:rPr>
              <a:t>：深度为</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，结点数为</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的二叉树，如果其结点</a:t>
            </a:r>
            <a:r>
              <a:rPr lang="en-US" altLang="zh-CN" sz="2000" dirty="0">
                <a:latin typeface="微软雅黑" panose="020B0503020204020204" pitchFamily="34" charset="-122"/>
                <a:ea typeface="微软雅黑" panose="020B0503020204020204" pitchFamily="34" charset="-122"/>
              </a:rPr>
              <a:t>1~n</a:t>
            </a:r>
            <a:r>
              <a:rPr lang="zh-CN" altLang="en-US" sz="2000" dirty="0">
                <a:latin typeface="微软雅黑" panose="020B0503020204020204" pitchFamily="34" charset="-122"/>
                <a:ea typeface="微软雅黑" panose="020B0503020204020204" pitchFamily="34" charset="-122"/>
              </a:rPr>
              <a:t>的位置序号分别与等高的满二叉树的结点</a:t>
            </a:r>
            <a:r>
              <a:rPr lang="en-US" altLang="zh-CN" sz="2000" dirty="0">
                <a:latin typeface="微软雅黑" panose="020B0503020204020204" pitchFamily="34" charset="-122"/>
                <a:ea typeface="微软雅黑" panose="020B0503020204020204" pitchFamily="34" charset="-122"/>
              </a:rPr>
              <a:t>1~n</a:t>
            </a:r>
            <a:r>
              <a:rPr lang="zh-CN" altLang="en-US" sz="2000" dirty="0">
                <a:latin typeface="微软雅黑" panose="020B0503020204020204" pitchFamily="34" charset="-122"/>
                <a:ea typeface="微软雅黑" panose="020B0503020204020204" pitchFamily="34" charset="-122"/>
              </a:rPr>
              <a:t>的位置序号一一对应，则为完全二叉树。</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满二叉树必为完全二叉树，而完全二叉树不一定是满二叉树。</a:t>
            </a:r>
            <a:endParaRPr lang="en-US" altLang="zh-CN" sz="2000"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3269816" y="3835717"/>
            <a:ext cx="3796665" cy="26523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B130DD-CC1B-40AE-987C-D28F25B9504B}" type="slidenum">
              <a:rPr lang="zh-CN" altLang="en-US">
                <a:latin typeface="Calibri" panose="020F0502020204030204" pitchFamily="34" charset="0"/>
              </a:rPr>
            </a:fld>
            <a:endParaRPr lang="zh-CN" altLang="en-US">
              <a:latin typeface="Calibri" panose="020F0502020204030204" pitchFamily="34" charset="0"/>
            </a:endParaRPr>
          </a:p>
        </p:txBody>
      </p:sp>
      <p:sp>
        <p:nvSpPr>
          <p:cNvPr id="34" name="矩形 33"/>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7782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文本框 16"/>
          <p:cNvSpPr txBox="1">
            <a:spLocks noChangeArrowheads="1"/>
          </p:cNvSpPr>
          <p:nvPr/>
        </p:nvSpPr>
        <p:spPr bwMode="auto">
          <a:xfrm>
            <a:off x="1127125" y="150813"/>
            <a:ext cx="637381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solidFill>
                  <a:schemeClr val="bg1"/>
                </a:solidFill>
              </a:rPr>
              <a:t>6.2.2 </a:t>
            </a:r>
            <a:r>
              <a:rPr lang="zh-CN" altLang="en-US" sz="3200" dirty="0">
                <a:solidFill>
                  <a:schemeClr val="bg1"/>
                </a:solidFill>
              </a:rPr>
              <a:t>二叉树性质</a:t>
            </a:r>
            <a:endParaRPr lang="zh-CN" altLang="en-US" sz="3200" dirty="0">
              <a:solidFill>
                <a:schemeClr val="bg1"/>
              </a:solidFill>
            </a:endParaRPr>
          </a:p>
          <a:p>
            <a:endParaRPr lang="zh-CN" altLang="en-US" sz="3200" dirty="0">
              <a:solidFill>
                <a:schemeClr val="bg1"/>
              </a:solidFill>
            </a:endParaRPr>
          </a:p>
        </p:txBody>
      </p:sp>
      <p:sp>
        <p:nvSpPr>
          <p:cNvPr id="77829" name="文本框 1"/>
          <p:cNvSpPr txBox="1">
            <a:spLocks noChangeArrowheads="1"/>
          </p:cNvSpPr>
          <p:nvPr/>
        </p:nvSpPr>
        <p:spPr bwMode="auto">
          <a:xfrm>
            <a:off x="40481" y="975385"/>
            <a:ext cx="4273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微软雅黑" panose="020B0503020204020204" pitchFamily="34" charset="-122"/>
                <a:ea typeface="微软雅黑" panose="020B0503020204020204" pitchFamily="34" charset="-122"/>
              </a:rPr>
              <a:t>二叉树的性质</a:t>
            </a:r>
            <a:endParaRPr lang="zh-CN" altLang="en-US" sz="2800" b="1" dirty="0">
              <a:latin typeface="微软雅黑" panose="020B0503020204020204" pitchFamily="34" charset="-122"/>
              <a:ea typeface="微软雅黑" panose="020B0503020204020204" pitchFamily="34" charset="-122"/>
            </a:endParaRPr>
          </a:p>
        </p:txBody>
      </p:sp>
      <p:sp>
        <p:nvSpPr>
          <p:cNvPr id="8" name="文本框 1"/>
          <p:cNvSpPr txBox="1">
            <a:spLocks noChangeArrowheads="1"/>
          </p:cNvSpPr>
          <p:nvPr/>
        </p:nvSpPr>
        <p:spPr bwMode="auto">
          <a:xfrm>
            <a:off x="112713" y="1257373"/>
            <a:ext cx="1572711" cy="5347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1</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2</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3</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满二叉树</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完全二叉树</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solidFill>
                  <a:srgbClr val="FF0000"/>
                </a:solidFill>
                <a:latin typeface="微软雅黑" panose="020B0503020204020204" pitchFamily="34" charset="-122"/>
                <a:ea typeface="微软雅黑" panose="020B0503020204020204" pitchFamily="34" charset="-122"/>
              </a:rPr>
              <a:t>性质</a:t>
            </a:r>
            <a:r>
              <a:rPr lang="en-US" altLang="zh-CN" sz="2000" dirty="0">
                <a:solidFill>
                  <a:srgbClr val="FF0000"/>
                </a:solidFill>
                <a:latin typeface="微软雅黑" panose="020B0503020204020204" pitchFamily="34" charset="-122"/>
                <a:ea typeface="微软雅黑" panose="020B0503020204020204" pitchFamily="34" charset="-122"/>
              </a:rPr>
              <a:t>4</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5</a:t>
            </a:r>
            <a:endParaRPr lang="en-US" altLang="zh-CN" sz="2000" dirty="0">
              <a:latin typeface="微软雅黑" panose="020B0503020204020204" pitchFamily="34" charset="-122"/>
              <a:ea typeface="微软雅黑" panose="020B0503020204020204" pitchFamily="34" charset="-122"/>
            </a:endParaRPr>
          </a:p>
        </p:txBody>
      </p:sp>
      <p:sp>
        <p:nvSpPr>
          <p:cNvPr id="9" name="文本框 1"/>
          <p:cNvSpPr txBox="1">
            <a:spLocks noChangeArrowheads="1"/>
          </p:cNvSpPr>
          <p:nvPr/>
        </p:nvSpPr>
        <p:spPr bwMode="auto">
          <a:xfrm>
            <a:off x="1890204" y="1567056"/>
            <a:ext cx="7141083" cy="471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latin typeface="微软雅黑" panose="020B0503020204020204" pitchFamily="34" charset="-122"/>
                <a:ea typeface="微软雅黑" panose="020B0503020204020204" pitchFamily="34" charset="-122"/>
              </a:rPr>
              <a:t>性质</a:t>
            </a:r>
            <a:r>
              <a:rPr lang="en-US" altLang="zh-CN" sz="2400" b="1"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：具有</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个结点的完全</a:t>
            </a:r>
            <a:r>
              <a:rPr lang="zh-CN" altLang="en-US" sz="2000">
                <a:latin typeface="微软雅黑" panose="020B0503020204020204" pitchFamily="34" charset="-122"/>
                <a:ea typeface="微软雅黑" panose="020B0503020204020204" pitchFamily="34" charset="-122"/>
              </a:rPr>
              <a:t>二叉树的层深度</a:t>
            </a:r>
            <a:r>
              <a:rPr lang="zh-CN" altLang="en-US" sz="2000" dirty="0">
                <a:latin typeface="微软雅黑" panose="020B0503020204020204" pitchFamily="34" charset="-122"/>
                <a:ea typeface="微软雅黑" panose="020B0503020204020204" pitchFamily="34" charset="-122"/>
              </a:rPr>
              <a:t>为 </a:t>
            </a:r>
            <a:r>
              <a:rPr lang="zh-CN" altLang="en-US" sz="2000" dirty="0">
                <a:latin typeface="Lucida Sans Unicode" panose="020B0602030504020204" pitchFamily="34" charset="0"/>
                <a:ea typeface="微软雅黑" panose="020B0503020204020204" pitchFamily="34" charset="-122"/>
                <a:cs typeface="Lucida Sans Unicode" panose="020B0602030504020204" pitchFamily="34" charset="0"/>
              </a:rPr>
              <a:t>⌊</a:t>
            </a:r>
            <a:r>
              <a:rPr lang="en-US" altLang="zh-CN" sz="2000" dirty="0">
                <a:latin typeface="微软雅黑" panose="020B0503020204020204" pitchFamily="34" charset="-122"/>
                <a:ea typeface="微软雅黑" panose="020B0503020204020204" pitchFamily="34" charset="-122"/>
              </a:rPr>
              <a:t>log</a:t>
            </a:r>
            <a:r>
              <a:rPr lang="en-US" altLang="zh-CN" sz="2000" baseline="-25000" dirty="0">
                <a:solidFill>
                  <a:schemeClr val="tx1"/>
                </a:solidFill>
                <a:uFillTx/>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rPr>
              <a:t>n</a:t>
            </a:r>
            <a:r>
              <a:rPr lang="zh-CN" altLang="en-US" sz="2000" dirty="0">
                <a:latin typeface="Lucida Sans Unicode" panose="020B0602030504020204" pitchFamily="34" charset="0"/>
                <a:ea typeface="微软雅黑" panose="020B0503020204020204" pitchFamily="34" charset="-122"/>
                <a:cs typeface="Lucida Sans Unicode" panose="020B0602030504020204" pitchFamily="34" charset="0"/>
              </a:rPr>
              <a:t>⌋</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证明：</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设</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个结点的完全二叉树的深度为</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，根据性质</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可知，</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k-1</a:t>
            </a:r>
            <a:r>
              <a:rPr lang="zh-CN" altLang="en-US" sz="2000" dirty="0">
                <a:latin typeface="微软雅黑" panose="020B0503020204020204" pitchFamily="34" charset="-122"/>
                <a:ea typeface="微软雅黑" panose="020B0503020204020204" pitchFamily="34" charset="-122"/>
              </a:rPr>
              <a:t>层满二叉树的结点总数为：</a:t>
            </a:r>
            <a:r>
              <a:rPr lang="en-US" altLang="zh-CN" sz="2000" dirty="0">
                <a:latin typeface="微软雅黑" panose="020B0503020204020204" pitchFamily="34" charset="-122"/>
                <a:ea typeface="微软雅黑" panose="020B0503020204020204" pitchFamily="34" charset="-122"/>
                <a:sym typeface="+mn-ea"/>
              </a:rPr>
              <a:t>2</a:t>
            </a:r>
            <a:r>
              <a:rPr lang="en-US" altLang="zh-CN" sz="2000" baseline="30000" dirty="0">
                <a:latin typeface="微软雅黑" panose="020B0503020204020204" pitchFamily="34" charset="-122"/>
                <a:ea typeface="微软雅黑" panose="020B0503020204020204" pitchFamily="34" charset="-122"/>
                <a:sym typeface="+mn-ea"/>
              </a:rPr>
              <a:t>k-1</a:t>
            </a:r>
            <a:r>
              <a:rPr lang="en-US" altLang="zh-CN" sz="2000" dirty="0">
                <a:latin typeface="微软雅黑" panose="020B0503020204020204" pitchFamily="34" charset="-122"/>
                <a:ea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sym typeface="+mn-ea"/>
              </a:rPr>
              <a:t>，</a:t>
            </a:r>
            <a:endParaRPr lang="en-US" altLang="zh-CN" sz="2000" dirty="0">
              <a:latin typeface="微软雅黑" panose="020B0503020204020204" pitchFamily="34" charset="-122"/>
              <a:ea typeface="微软雅黑" panose="020B0503020204020204" pitchFamily="34"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层满二叉树的结点总数为：</a:t>
            </a:r>
            <a:r>
              <a:rPr lang="en-US" altLang="zh-CN" sz="2000" dirty="0">
                <a:latin typeface="微软雅黑" panose="020B0503020204020204" pitchFamily="34" charset="-122"/>
                <a:ea typeface="微软雅黑" panose="020B0503020204020204" pitchFamily="34" charset="-122"/>
                <a:sym typeface="+mn-ea"/>
              </a:rPr>
              <a:t>2</a:t>
            </a:r>
            <a:r>
              <a:rPr lang="en-US" altLang="zh-CN" sz="2000" baseline="30000" dirty="0">
                <a:latin typeface="微软雅黑" panose="020B0503020204020204" pitchFamily="34" charset="-122"/>
                <a:ea typeface="微软雅黑" panose="020B0503020204020204" pitchFamily="34" charset="-122"/>
                <a:sym typeface="+mn-ea"/>
              </a:rPr>
              <a:t>k</a:t>
            </a:r>
            <a:r>
              <a:rPr lang="en-US" altLang="zh-CN" sz="2000" dirty="0">
                <a:latin typeface="微软雅黑" panose="020B0503020204020204" pitchFamily="34" charset="-122"/>
                <a:ea typeface="微软雅黑" panose="020B0503020204020204" pitchFamily="34" charset="-122"/>
                <a:sym typeface="+mn-ea"/>
              </a:rPr>
              <a:t>-1</a:t>
            </a:r>
            <a:endParaRPr lang="en-US" altLang="zh-CN" sz="2000" dirty="0">
              <a:latin typeface="微软雅黑" panose="020B0503020204020204" pitchFamily="34" charset="-122"/>
              <a:ea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rPr>
              <a:t>显然有：</a:t>
            </a:r>
            <a:endParaRPr lang="zh-CN" altLang="en-US"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sym typeface="+mn-ea"/>
              </a:rPr>
              <a:t>2</a:t>
            </a:r>
            <a:r>
              <a:rPr lang="en-US" altLang="zh-CN" sz="2000" baseline="30000" dirty="0">
                <a:latin typeface="微软雅黑" panose="020B0503020204020204" pitchFamily="34" charset="-122"/>
                <a:ea typeface="微软雅黑" panose="020B0503020204020204" pitchFamily="34" charset="-122"/>
                <a:sym typeface="+mn-ea"/>
              </a:rPr>
              <a:t>k-1</a:t>
            </a:r>
            <a:r>
              <a:rPr lang="en-US" altLang="zh-CN" sz="2000" dirty="0">
                <a:latin typeface="微软雅黑" panose="020B0503020204020204" pitchFamily="34" charset="-122"/>
                <a:ea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sym typeface="+mn-ea"/>
              </a:rPr>
              <a:t> ＜ </a:t>
            </a:r>
            <a:r>
              <a:rPr lang="en-US" altLang="zh-CN" sz="2000" dirty="0">
                <a:latin typeface="微软雅黑" panose="020B0503020204020204" pitchFamily="34" charset="-122"/>
                <a:ea typeface="微软雅黑" panose="020B0503020204020204" pitchFamily="34" charset="-122"/>
                <a:sym typeface="+mn-ea"/>
              </a:rPr>
              <a:t>n ≤ 2</a:t>
            </a:r>
            <a:r>
              <a:rPr lang="en-US" altLang="zh-CN" sz="2000" baseline="30000" dirty="0">
                <a:latin typeface="微软雅黑" panose="020B0503020204020204" pitchFamily="34" charset="-122"/>
                <a:ea typeface="微软雅黑" panose="020B0503020204020204" pitchFamily="34" charset="-122"/>
                <a:sym typeface="+mn-ea"/>
              </a:rPr>
              <a:t>k</a:t>
            </a:r>
            <a:r>
              <a:rPr lang="en-US" altLang="zh-CN" sz="2000" dirty="0">
                <a:latin typeface="微软雅黑" panose="020B0503020204020204" pitchFamily="34" charset="-122"/>
                <a:ea typeface="微软雅黑" panose="020B0503020204020204" pitchFamily="34" charset="-122"/>
                <a:sym typeface="+mn-ea"/>
              </a:rPr>
              <a:t>-1            2</a:t>
            </a:r>
            <a:r>
              <a:rPr lang="en-US" altLang="zh-CN" sz="2000" baseline="30000" dirty="0">
                <a:latin typeface="微软雅黑" panose="020B0503020204020204" pitchFamily="34" charset="-122"/>
                <a:ea typeface="微软雅黑" panose="020B0503020204020204" pitchFamily="34" charset="-122"/>
                <a:sym typeface="+mn-ea"/>
              </a:rPr>
              <a:t>k-1</a:t>
            </a:r>
            <a:r>
              <a:rPr lang="en-US" altLang="zh-CN" sz="2000" dirty="0">
                <a:latin typeface="微软雅黑" panose="020B0503020204020204" pitchFamily="34" charset="-122"/>
                <a:ea typeface="微软雅黑" panose="020B0503020204020204" pitchFamily="34" charset="-122"/>
                <a:sym typeface="+mn-ea"/>
              </a:rPr>
              <a:t>≤n</a:t>
            </a:r>
            <a:r>
              <a:rPr lang="zh-CN" altLang="en-US"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2</a:t>
            </a:r>
            <a:r>
              <a:rPr lang="en-US" altLang="zh-CN" sz="2000" baseline="30000" dirty="0">
                <a:latin typeface="微软雅黑" panose="020B0503020204020204" pitchFamily="34" charset="-122"/>
                <a:ea typeface="微软雅黑" panose="020B0503020204020204" pitchFamily="34" charset="-122"/>
                <a:sym typeface="+mn-ea"/>
              </a:rPr>
              <a:t>k</a:t>
            </a:r>
            <a:endParaRPr lang="en-US" altLang="zh-CN" sz="2000" baseline="30000" dirty="0">
              <a:latin typeface="微软雅黑" panose="020B0503020204020204" pitchFamily="34" charset="-122"/>
              <a:ea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sym typeface="+mn-ea"/>
              </a:rPr>
              <a:t>取对数有：</a:t>
            </a:r>
            <a:r>
              <a:rPr lang="en-US" altLang="zh-CN" sz="2000" dirty="0">
                <a:latin typeface="微软雅黑" panose="020B0503020204020204" pitchFamily="34" charset="-122"/>
                <a:ea typeface="微软雅黑" panose="020B0503020204020204" pitchFamily="34" charset="-122"/>
                <a:sym typeface="+mn-ea"/>
              </a:rPr>
              <a:t>k-1 ≤ log</a:t>
            </a:r>
            <a:r>
              <a:rPr lang="en-US" altLang="zh-CN" sz="2000" baseline="-25000" dirty="0">
                <a:uFillTx/>
                <a:latin typeface="微软雅黑" panose="020B0503020204020204" pitchFamily="34" charset="-122"/>
                <a:ea typeface="微软雅黑" panose="020B0503020204020204" pitchFamily="34" charset="-122"/>
                <a:sym typeface="+mn-ea"/>
              </a:rPr>
              <a:t>2</a:t>
            </a:r>
            <a:r>
              <a:rPr lang="en-US" altLang="zh-CN" sz="2000" dirty="0">
                <a:latin typeface="微软雅黑" panose="020B0503020204020204" pitchFamily="34" charset="-122"/>
                <a:ea typeface="微软雅黑" panose="020B0503020204020204" pitchFamily="34" charset="-122"/>
                <a:sym typeface="+mn-ea"/>
              </a:rPr>
              <a:t>n &lt; k</a:t>
            </a:r>
            <a:endParaRPr lang="en-US" altLang="zh-CN" sz="2000" dirty="0">
              <a:latin typeface="微软雅黑" panose="020B0503020204020204" pitchFamily="34" charset="-122"/>
              <a:ea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sym typeface="+mn-ea"/>
              </a:rPr>
              <a:t>因为</a:t>
            </a:r>
            <a:r>
              <a:rPr lang="en-US" altLang="zh-CN" sz="2000" dirty="0">
                <a:latin typeface="微软雅黑" panose="020B0503020204020204" pitchFamily="34" charset="-122"/>
                <a:ea typeface="微软雅黑" panose="020B0503020204020204" pitchFamily="34" charset="-122"/>
                <a:sym typeface="+mn-ea"/>
              </a:rPr>
              <a:t>k</a:t>
            </a:r>
            <a:r>
              <a:rPr lang="zh-CN" altLang="en-US" sz="2000" dirty="0">
                <a:latin typeface="微软雅黑" panose="020B0503020204020204" pitchFamily="34" charset="-122"/>
                <a:ea typeface="微软雅黑" panose="020B0503020204020204" pitchFamily="34" charset="-122"/>
                <a:sym typeface="+mn-ea"/>
              </a:rPr>
              <a:t>是整数，所以</a:t>
            </a:r>
            <a:r>
              <a:rPr lang="en-US" altLang="zh-CN" sz="2000" dirty="0">
                <a:latin typeface="微软雅黑" panose="020B0503020204020204" pitchFamily="34" charset="-122"/>
                <a:ea typeface="微软雅黑" panose="020B0503020204020204" pitchFamily="34" charset="-122"/>
                <a:sym typeface="+mn-ea"/>
              </a:rPr>
              <a:t>k-1=</a:t>
            </a:r>
            <a:r>
              <a:rPr lang="zh-CN" altLang="en-US" sz="2000" dirty="0">
                <a:latin typeface="Lucida Sans Unicode" panose="020B0602030504020204" pitchFamily="34" charset="0"/>
                <a:ea typeface="微软雅黑" panose="020B0503020204020204" pitchFamily="34" charset="-122"/>
                <a:cs typeface="Lucida Sans Unicode" panose="020B0602030504020204" pitchFamily="34" charset="0"/>
              </a:rPr>
              <a:t> ⌊</a:t>
            </a:r>
            <a:r>
              <a:rPr lang="en-US" altLang="zh-CN" sz="2000" dirty="0">
                <a:latin typeface="微软雅黑" panose="020B0503020204020204" pitchFamily="34" charset="-122"/>
                <a:ea typeface="微软雅黑" panose="020B0503020204020204" pitchFamily="34" charset="-122"/>
                <a:sym typeface="+mn-ea"/>
              </a:rPr>
              <a:t>log</a:t>
            </a:r>
            <a:r>
              <a:rPr lang="en-US" altLang="zh-CN" sz="2000" baseline="-25000" dirty="0">
                <a:uFillTx/>
                <a:latin typeface="微软雅黑" panose="020B0503020204020204" pitchFamily="34" charset="-122"/>
                <a:ea typeface="微软雅黑" panose="020B0503020204020204" pitchFamily="34" charset="-122"/>
                <a:sym typeface="+mn-ea"/>
              </a:rPr>
              <a:t>2</a:t>
            </a:r>
            <a:r>
              <a:rPr lang="en-US" altLang="zh-CN" sz="2000" dirty="0">
                <a:latin typeface="微软雅黑" panose="020B0503020204020204" pitchFamily="34" charset="-122"/>
                <a:ea typeface="微软雅黑" panose="020B0503020204020204" pitchFamily="34" charset="-122"/>
                <a:sym typeface="+mn-ea"/>
              </a:rPr>
              <a:t>n</a:t>
            </a:r>
            <a:r>
              <a:rPr lang="zh-CN" altLang="en-US" sz="2000" dirty="0">
                <a:latin typeface="Lucida Sans Unicode" panose="020B0602030504020204" pitchFamily="34" charset="0"/>
                <a:ea typeface="微软雅黑" panose="020B0503020204020204" pitchFamily="34" charset="-122"/>
                <a:cs typeface="Lucida Sans Unicode" panose="020B0602030504020204" pitchFamily="34" charset="0"/>
              </a:rPr>
              <a:t>⌋ </a:t>
            </a:r>
            <a:r>
              <a:rPr lang="zh-CN" altLang="en-US"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k=</a:t>
            </a:r>
            <a:r>
              <a:rPr lang="zh-CN" altLang="en-US" sz="2000" dirty="0">
                <a:latin typeface="Lucida Sans Unicode" panose="020B0602030504020204" pitchFamily="34" charset="0"/>
                <a:ea typeface="微软雅黑" panose="020B0503020204020204" pitchFamily="34" charset="-122"/>
                <a:cs typeface="Lucida Sans Unicode" panose="020B0602030504020204" pitchFamily="34" charset="0"/>
              </a:rPr>
              <a:t> ⌊</a:t>
            </a:r>
            <a:r>
              <a:rPr lang="en-US" altLang="zh-CN" sz="2000" dirty="0">
                <a:latin typeface="微软雅黑" panose="020B0503020204020204" pitchFamily="34" charset="-122"/>
                <a:ea typeface="微软雅黑" panose="020B0503020204020204" pitchFamily="34" charset="-122"/>
                <a:sym typeface="+mn-ea"/>
              </a:rPr>
              <a:t>log</a:t>
            </a:r>
            <a:r>
              <a:rPr lang="en-US" altLang="zh-CN" sz="2000" baseline="-25000" dirty="0">
                <a:uFillTx/>
                <a:latin typeface="微软雅黑" panose="020B0503020204020204" pitchFamily="34" charset="-122"/>
                <a:ea typeface="微软雅黑" panose="020B0503020204020204" pitchFamily="34" charset="-122"/>
                <a:sym typeface="+mn-ea"/>
              </a:rPr>
              <a:t>2</a:t>
            </a:r>
            <a:r>
              <a:rPr lang="en-US" altLang="zh-CN" sz="2000" dirty="0">
                <a:latin typeface="微软雅黑" panose="020B0503020204020204" pitchFamily="34" charset="-122"/>
                <a:ea typeface="微软雅黑" panose="020B0503020204020204" pitchFamily="34" charset="-122"/>
                <a:sym typeface="+mn-ea"/>
              </a:rPr>
              <a:t>n</a:t>
            </a:r>
            <a:r>
              <a:rPr lang="zh-CN" altLang="en-US" sz="2000" dirty="0">
                <a:latin typeface="Lucida Sans Unicode" panose="020B0602030504020204" pitchFamily="34" charset="0"/>
                <a:ea typeface="微软雅黑" panose="020B0503020204020204" pitchFamily="34" charset="-122"/>
                <a:cs typeface="Lucida Sans Unicode" panose="020B0602030504020204" pitchFamily="34" charset="0"/>
              </a:rPr>
              <a:t>⌋ </a:t>
            </a:r>
            <a:r>
              <a:rPr lang="en-US" altLang="zh-CN" sz="2000" dirty="0">
                <a:latin typeface="微软雅黑" panose="020B0503020204020204" pitchFamily="34" charset="-122"/>
                <a:ea typeface="微软雅黑" panose="020B0503020204020204" pitchFamily="34" charset="-122"/>
                <a:sym typeface="+mn-ea"/>
              </a:rPr>
              <a:t>+1</a:t>
            </a:r>
            <a:endParaRPr lang="en-US" altLang="zh-CN" sz="2000" dirty="0">
              <a:latin typeface="微软雅黑" panose="020B0503020204020204" pitchFamily="34" charset="-122"/>
              <a:ea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sym typeface="+mn-ea"/>
              </a:rPr>
              <a:t>结论成立。</a:t>
            </a:r>
            <a:endParaRPr lang="zh-CN" altLang="en-US" sz="2000" dirty="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B130DD-CC1B-40AE-987C-D28F25B9504B}" type="slidenum">
              <a:rPr lang="zh-CN" altLang="en-US">
                <a:latin typeface="Calibri" panose="020F0502020204030204" pitchFamily="34" charset="0"/>
              </a:rPr>
            </a:fld>
            <a:endParaRPr lang="zh-CN" altLang="en-US">
              <a:latin typeface="Calibri" panose="020F0502020204030204" pitchFamily="34" charset="0"/>
            </a:endParaRPr>
          </a:p>
        </p:txBody>
      </p:sp>
      <p:sp>
        <p:nvSpPr>
          <p:cNvPr id="34" name="矩形 33"/>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7782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文本框 16"/>
          <p:cNvSpPr txBox="1">
            <a:spLocks noChangeArrowheads="1"/>
          </p:cNvSpPr>
          <p:nvPr/>
        </p:nvSpPr>
        <p:spPr bwMode="auto">
          <a:xfrm>
            <a:off x="1127125" y="150813"/>
            <a:ext cx="637381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solidFill>
                  <a:schemeClr val="bg1"/>
                </a:solidFill>
              </a:rPr>
              <a:t>6.2.2 </a:t>
            </a:r>
            <a:r>
              <a:rPr lang="zh-CN" altLang="en-US" sz="3200" dirty="0">
                <a:solidFill>
                  <a:schemeClr val="bg1"/>
                </a:solidFill>
              </a:rPr>
              <a:t>二叉树性质</a:t>
            </a:r>
            <a:endParaRPr lang="zh-CN" altLang="en-US" sz="3200" dirty="0">
              <a:solidFill>
                <a:schemeClr val="bg1"/>
              </a:solidFill>
            </a:endParaRPr>
          </a:p>
          <a:p>
            <a:endParaRPr lang="zh-CN" altLang="en-US" sz="3200" dirty="0">
              <a:solidFill>
                <a:schemeClr val="bg1"/>
              </a:solidFill>
            </a:endParaRPr>
          </a:p>
        </p:txBody>
      </p:sp>
      <p:sp>
        <p:nvSpPr>
          <p:cNvPr id="77829" name="文本框 1"/>
          <p:cNvSpPr txBox="1">
            <a:spLocks noChangeArrowheads="1"/>
          </p:cNvSpPr>
          <p:nvPr/>
        </p:nvSpPr>
        <p:spPr bwMode="auto">
          <a:xfrm>
            <a:off x="40481" y="975385"/>
            <a:ext cx="4273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微软雅黑" panose="020B0503020204020204" pitchFamily="34" charset="-122"/>
                <a:ea typeface="微软雅黑" panose="020B0503020204020204" pitchFamily="34" charset="-122"/>
              </a:rPr>
              <a:t>二叉树的性质</a:t>
            </a:r>
            <a:endParaRPr lang="zh-CN" altLang="en-US" sz="2800" b="1" dirty="0">
              <a:latin typeface="微软雅黑" panose="020B0503020204020204" pitchFamily="34" charset="-122"/>
              <a:ea typeface="微软雅黑" panose="020B0503020204020204" pitchFamily="34" charset="-122"/>
            </a:endParaRPr>
          </a:p>
        </p:txBody>
      </p:sp>
      <p:sp>
        <p:nvSpPr>
          <p:cNvPr id="8" name="文本框 1"/>
          <p:cNvSpPr txBox="1">
            <a:spLocks noChangeArrowheads="1"/>
          </p:cNvSpPr>
          <p:nvPr/>
        </p:nvSpPr>
        <p:spPr bwMode="auto">
          <a:xfrm>
            <a:off x="112713" y="1257373"/>
            <a:ext cx="1572711" cy="5347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1</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2</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3</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满二叉树</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完全二叉树</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latin typeface="微软雅黑" panose="020B0503020204020204" pitchFamily="34" charset="-122"/>
                <a:ea typeface="微软雅黑" panose="020B0503020204020204" pitchFamily="34" charset="-122"/>
              </a:rPr>
              <a:t>性质</a:t>
            </a:r>
            <a:r>
              <a:rPr lang="en-US" altLang="zh-CN" sz="2000" dirty="0">
                <a:latin typeface="微软雅黑" panose="020B0503020204020204" pitchFamily="34" charset="-122"/>
                <a:ea typeface="微软雅黑" panose="020B0503020204020204" pitchFamily="34" charset="-122"/>
              </a:rPr>
              <a:t>4</a:t>
            </a:r>
            <a:endParaRPr lang="en-US" altLang="zh-CN" sz="2000" dirty="0">
              <a:latin typeface="微软雅黑" panose="020B0503020204020204" pitchFamily="34" charset="-122"/>
              <a:ea typeface="微软雅黑" panose="020B0503020204020204" pitchFamily="34" charset="-122"/>
            </a:endParaRPr>
          </a:p>
          <a:p>
            <a:pPr>
              <a:lnSpc>
                <a:spcPct val="250000"/>
              </a:lnSpc>
            </a:pPr>
            <a:r>
              <a:rPr lang="zh-CN" altLang="en-US" sz="2000" dirty="0">
                <a:solidFill>
                  <a:srgbClr val="FF0000"/>
                </a:solidFill>
                <a:latin typeface="微软雅黑" panose="020B0503020204020204" pitchFamily="34" charset="-122"/>
                <a:ea typeface="微软雅黑" panose="020B0503020204020204" pitchFamily="34" charset="-122"/>
              </a:rPr>
              <a:t>性质</a:t>
            </a:r>
            <a:r>
              <a:rPr lang="en-US" altLang="zh-CN" sz="2000" dirty="0">
                <a:solidFill>
                  <a:srgbClr val="FF0000"/>
                </a:solidFill>
                <a:latin typeface="微软雅黑" panose="020B0503020204020204" pitchFamily="34" charset="-122"/>
                <a:ea typeface="微软雅黑" panose="020B0503020204020204" pitchFamily="34" charset="-122"/>
              </a:rPr>
              <a:t>5</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9" name="文本框 1"/>
          <p:cNvSpPr txBox="1">
            <a:spLocks noChangeArrowheads="1"/>
          </p:cNvSpPr>
          <p:nvPr/>
        </p:nvSpPr>
        <p:spPr bwMode="auto">
          <a:xfrm>
            <a:off x="2005951" y="1537893"/>
            <a:ext cx="6699458" cy="4746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性质</a:t>
            </a:r>
            <a:r>
              <a:rPr lang="en-US" altLang="zh-CN" sz="2400" b="1"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：对于具有</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个结点的完全二叉树，如果按照从上到下和从左到右的顺序对二叉树中的所有结点从</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开始顺序编号，则对于任意的序号为</a:t>
            </a:r>
            <a:r>
              <a:rPr lang="en-US" altLang="zh-CN" sz="2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的结点有：</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）若</a:t>
            </a:r>
            <a:r>
              <a:rPr lang="en-US" altLang="zh-CN" sz="2000" dirty="0">
                <a:latin typeface="微软雅黑" panose="020B0503020204020204" pitchFamily="34" charset="-122"/>
                <a:ea typeface="微软雅黑" panose="020B0503020204020204" pitchFamily="34" charset="-122"/>
              </a:rPr>
              <a:t>i=1</a:t>
            </a:r>
            <a:r>
              <a:rPr lang="zh-CN" altLang="en-US" sz="2000" dirty="0">
                <a:latin typeface="微软雅黑" panose="020B0503020204020204" pitchFamily="34" charset="-122"/>
                <a:ea typeface="微软雅黑" panose="020B0503020204020204" pitchFamily="34" charset="-122"/>
              </a:rPr>
              <a:t>，则</a:t>
            </a:r>
            <a:r>
              <a:rPr lang="en-US" altLang="zh-CN" sz="2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无双亲结点</a:t>
            </a:r>
            <a:endParaRPr lang="zh-CN" altLang="en-US"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若</a:t>
            </a:r>
            <a:r>
              <a:rPr lang="en-US" altLang="zh-CN" sz="2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，则</a:t>
            </a:r>
            <a:r>
              <a:rPr lang="en-US" altLang="zh-CN" sz="2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的双亲结点为</a:t>
            </a:r>
            <a:r>
              <a:rPr lang="zh-CN" altLang="en-US" sz="2000" dirty="0">
                <a:latin typeface="Lucida Sans Unicode" panose="020B0602030504020204" pitchFamily="34" charset="0"/>
                <a:ea typeface="微软雅黑" panose="020B0503020204020204" pitchFamily="34" charset="-122"/>
                <a:cs typeface="Lucida Sans Unicode" panose="020B0602030504020204" pitchFamily="34" charset="0"/>
              </a:rPr>
              <a:t>⌊ </a:t>
            </a:r>
            <a:r>
              <a:rPr lang="en-US" altLang="zh-CN" sz="2000" dirty="0" err="1">
                <a:latin typeface="微软雅黑" panose="020B0503020204020204" pitchFamily="34" charset="-122"/>
                <a:ea typeface="微软雅黑" panose="020B0503020204020204" pitchFamily="34" charset="-122"/>
                <a:sym typeface="+mn-ea"/>
              </a:rPr>
              <a:t>i</a:t>
            </a:r>
            <a:r>
              <a:rPr lang="en-US" altLang="zh-CN" sz="2000" dirty="0">
                <a:latin typeface="微软雅黑" panose="020B0503020204020204" pitchFamily="34" charset="-122"/>
                <a:ea typeface="微软雅黑" panose="020B0503020204020204" pitchFamily="34" charset="-122"/>
                <a:sym typeface="+mn-ea"/>
              </a:rPr>
              <a:t>/2</a:t>
            </a:r>
            <a:r>
              <a:rPr lang="zh-CN" altLang="en-US" sz="2000" dirty="0">
                <a:latin typeface="Lucida Sans Unicode" panose="020B0602030504020204" pitchFamily="34" charset="0"/>
                <a:ea typeface="微软雅黑" panose="020B0503020204020204" pitchFamily="34" charset="-122"/>
                <a:cs typeface="Lucida Sans Unicode" panose="020B0602030504020204" pitchFamily="34" charset="0"/>
              </a:rPr>
              <a:t> ⌋</a:t>
            </a:r>
            <a:endParaRPr lang="en-US" altLang="zh-CN" sz="2000" dirty="0">
              <a:latin typeface="Lucida Sans Unicode" panose="020B0602030504020204" pitchFamily="34" charset="0"/>
              <a:ea typeface="微软雅黑" panose="020B0503020204020204" pitchFamily="34" charset="-122"/>
              <a:cs typeface="Lucida Sans Unicode" panose="020B0602030504020204" pitchFamily="34" charset="0"/>
            </a:endParaRP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）若</a:t>
            </a:r>
            <a:r>
              <a:rPr lang="en-US" altLang="zh-CN" sz="2000" dirty="0">
                <a:latin typeface="微软雅黑" panose="020B0503020204020204" pitchFamily="34" charset="-122"/>
                <a:ea typeface="微软雅黑" panose="020B0503020204020204" pitchFamily="34" charset="-122"/>
              </a:rPr>
              <a:t>2*i</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，则</a:t>
            </a:r>
            <a:r>
              <a:rPr lang="en-US" altLang="zh-CN" sz="2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无左孩子</a:t>
            </a:r>
            <a:endParaRPr lang="zh-CN" altLang="en-US"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若</a:t>
            </a:r>
            <a:r>
              <a:rPr lang="en-US" altLang="zh-CN" sz="2000" dirty="0">
                <a:latin typeface="微软雅黑" panose="020B0503020204020204" pitchFamily="34" charset="-122"/>
                <a:ea typeface="微软雅黑" panose="020B0503020204020204" pitchFamily="34" charset="-122"/>
              </a:rPr>
              <a:t>2*</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sym typeface="+mn-ea"/>
              </a:rPr>
              <a:t> ≤ </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，则</a:t>
            </a:r>
            <a:r>
              <a:rPr lang="en-US" altLang="zh-CN" sz="2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结点的左孩子结点为</a:t>
            </a:r>
            <a:r>
              <a:rPr lang="en-US" altLang="zh-CN" sz="2000" dirty="0">
                <a:latin typeface="微软雅黑" panose="020B0503020204020204" pitchFamily="34" charset="-122"/>
                <a:ea typeface="微软雅黑" panose="020B0503020204020204" pitchFamily="34" charset="-122"/>
              </a:rPr>
              <a:t>2*i</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）若</a:t>
            </a:r>
            <a:r>
              <a:rPr lang="en-US" altLang="zh-CN" sz="2000" dirty="0">
                <a:latin typeface="微软雅黑" panose="020B0503020204020204" pitchFamily="34" charset="-122"/>
                <a:ea typeface="微软雅黑" panose="020B0503020204020204" pitchFamily="34" charset="-122"/>
                <a:sym typeface="+mn-ea"/>
              </a:rPr>
              <a:t>2*i+1</a:t>
            </a:r>
            <a:r>
              <a:rPr lang="zh-CN" altLang="en-US"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n</a:t>
            </a:r>
            <a:r>
              <a:rPr lang="zh-CN" altLang="en-US" sz="2000" dirty="0">
                <a:latin typeface="微软雅黑" panose="020B0503020204020204" pitchFamily="34" charset="-122"/>
                <a:ea typeface="微软雅黑" panose="020B0503020204020204" pitchFamily="34" charset="-122"/>
                <a:sym typeface="+mn-ea"/>
              </a:rPr>
              <a:t>，则</a:t>
            </a:r>
            <a:r>
              <a:rPr lang="en-US" altLang="zh-CN" sz="2000" dirty="0" err="1">
                <a:latin typeface="微软雅黑" panose="020B0503020204020204" pitchFamily="34" charset="-122"/>
                <a:ea typeface="微软雅黑" panose="020B0503020204020204" pitchFamily="34" charset="-122"/>
                <a:sym typeface="+mn-ea"/>
              </a:rPr>
              <a:t>i</a:t>
            </a:r>
            <a:r>
              <a:rPr lang="zh-CN" altLang="en-US" sz="2000" dirty="0">
                <a:latin typeface="微软雅黑" panose="020B0503020204020204" pitchFamily="34" charset="-122"/>
                <a:ea typeface="微软雅黑" panose="020B0503020204020204" pitchFamily="34" charset="-122"/>
                <a:sym typeface="+mn-ea"/>
              </a:rPr>
              <a:t>无右孩子</a:t>
            </a:r>
            <a:endParaRPr lang="zh-CN" altLang="en-US" sz="2000" dirty="0">
              <a:latin typeface="微软雅黑" panose="020B0503020204020204" pitchFamily="34" charset="-122"/>
              <a:ea typeface="微软雅黑" panose="020B0503020204020204" pitchFamily="34"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若</a:t>
            </a:r>
            <a:r>
              <a:rPr lang="en-US" altLang="zh-CN" sz="2000" dirty="0">
                <a:latin typeface="微软雅黑" panose="020B0503020204020204" pitchFamily="34" charset="-122"/>
                <a:ea typeface="微软雅黑" panose="020B0503020204020204" pitchFamily="34" charset="-122"/>
                <a:sym typeface="+mn-ea"/>
              </a:rPr>
              <a:t>2*i+1≤n</a:t>
            </a:r>
            <a:r>
              <a:rPr lang="zh-CN" altLang="en-US" sz="2000" dirty="0">
                <a:latin typeface="微软雅黑" panose="020B0503020204020204" pitchFamily="34" charset="-122"/>
                <a:ea typeface="微软雅黑" panose="020B0503020204020204" pitchFamily="34" charset="-122"/>
                <a:sym typeface="+mn-ea"/>
              </a:rPr>
              <a:t>，则</a:t>
            </a:r>
            <a:r>
              <a:rPr lang="en-US" altLang="zh-CN" sz="2000" dirty="0">
                <a:latin typeface="微软雅黑" panose="020B0503020204020204" pitchFamily="34" charset="-122"/>
                <a:ea typeface="微软雅黑" panose="020B0503020204020204" pitchFamily="34" charset="-122"/>
                <a:sym typeface="+mn-ea"/>
              </a:rPr>
              <a:t>i</a:t>
            </a:r>
            <a:r>
              <a:rPr lang="zh-CN" altLang="en-US" sz="2000" dirty="0">
                <a:latin typeface="微软雅黑" panose="020B0503020204020204" pitchFamily="34" charset="-122"/>
                <a:ea typeface="微软雅黑" panose="020B0503020204020204" pitchFamily="34" charset="-122"/>
                <a:sym typeface="+mn-ea"/>
              </a:rPr>
              <a:t>的右孩子结点为</a:t>
            </a:r>
            <a:r>
              <a:rPr lang="en-US" altLang="zh-CN" sz="2000" dirty="0">
                <a:latin typeface="微软雅黑" panose="020B0503020204020204" pitchFamily="34" charset="-122"/>
                <a:ea typeface="微软雅黑" panose="020B0503020204020204" pitchFamily="34" charset="-122"/>
                <a:sym typeface="+mn-ea"/>
              </a:rPr>
              <a:t>2*i+1</a:t>
            </a:r>
            <a:endParaRPr lang="zh-CN" altLang="en-US" sz="2000" dirty="0">
              <a:latin typeface="微软雅黑" panose="020B0503020204020204" pitchFamily="34" charset="-122"/>
              <a:ea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sym typeface="+mn-ea"/>
              </a:rPr>
              <a:t>用归纳法证明其中的（</a:t>
            </a:r>
            <a:r>
              <a:rPr lang="en-US" altLang="zh-CN" sz="2000" dirty="0">
                <a:latin typeface="微软雅黑" panose="020B0503020204020204" pitchFamily="34" charset="-122"/>
                <a:ea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sym typeface="+mn-ea"/>
              </a:rPr>
              <a:t>）和（</a:t>
            </a:r>
            <a:r>
              <a:rPr lang="en-US" altLang="zh-CN" sz="2000" dirty="0">
                <a:latin typeface="微软雅黑" panose="020B0503020204020204" pitchFamily="34" charset="-122"/>
                <a:ea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B130DD-CC1B-40AE-987C-D28F25B9504B}" type="slidenum">
              <a:rPr lang="zh-CN" altLang="en-US">
                <a:latin typeface="Calibri" panose="020F0502020204030204" pitchFamily="34" charset="0"/>
              </a:rPr>
            </a:fld>
            <a:endParaRPr lang="zh-CN" altLang="en-US">
              <a:latin typeface="Calibri" panose="020F0502020204030204" pitchFamily="34" charset="0"/>
            </a:endParaRPr>
          </a:p>
        </p:txBody>
      </p:sp>
      <p:sp>
        <p:nvSpPr>
          <p:cNvPr id="8" name="文本框 1"/>
          <p:cNvSpPr txBox="1">
            <a:spLocks noChangeArrowheads="1"/>
          </p:cNvSpPr>
          <p:nvPr/>
        </p:nvSpPr>
        <p:spPr bwMode="auto">
          <a:xfrm>
            <a:off x="324660" y="-105144"/>
            <a:ext cx="1572711" cy="730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250000"/>
              </a:lnSpc>
            </a:pPr>
            <a:r>
              <a:rPr lang="zh-CN" altLang="en-US" sz="2000" dirty="0">
                <a:solidFill>
                  <a:srgbClr val="FF0000"/>
                </a:solidFill>
                <a:latin typeface="微软雅黑" panose="020B0503020204020204" pitchFamily="34" charset="-122"/>
                <a:ea typeface="微软雅黑" panose="020B0503020204020204" pitchFamily="34" charset="-122"/>
              </a:rPr>
              <a:t>性质</a:t>
            </a:r>
            <a:r>
              <a:rPr lang="en-US" altLang="zh-CN" sz="2000" dirty="0">
                <a:solidFill>
                  <a:srgbClr val="FF0000"/>
                </a:solidFill>
                <a:latin typeface="微软雅黑" panose="020B0503020204020204" pitchFamily="34" charset="-122"/>
                <a:ea typeface="微软雅黑" panose="020B0503020204020204" pitchFamily="34" charset="-122"/>
              </a:rPr>
              <a:t>5</a:t>
            </a:r>
            <a:endParaRPr lang="en-US" altLang="zh-CN" sz="2000"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文本框 1"/>
              <p:cNvSpPr txBox="1">
                <a:spLocks noChangeArrowheads="1"/>
              </p:cNvSpPr>
              <p:nvPr/>
            </p:nvSpPr>
            <p:spPr bwMode="auto">
              <a:xfrm>
                <a:off x="905122" y="187325"/>
                <a:ext cx="7869483" cy="6554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）当</a:t>
                </a:r>
                <a:r>
                  <a:rPr lang="zh-CN" altLang="en-US" sz="2000" dirty="0">
                    <a:solidFill>
                      <a:srgbClr val="FF0000"/>
                    </a:solidFill>
                    <a:latin typeface="微软雅黑" panose="020B0503020204020204" pitchFamily="34" charset="-122"/>
                    <a:ea typeface="微软雅黑" panose="020B0503020204020204" pitchFamily="34" charset="-122"/>
                  </a:rPr>
                  <a:t> </a:t>
                </a:r>
                <a:r>
                  <a:rPr lang="en-US" altLang="zh-CN" sz="2000" dirty="0" err="1">
                    <a:solidFill>
                      <a:srgbClr val="FF0000"/>
                    </a:solidFill>
                    <a:latin typeface="微软雅黑" panose="020B0503020204020204" pitchFamily="34" charset="-122"/>
                    <a:ea typeface="微软雅黑" panose="020B0503020204020204" pitchFamily="34" charset="-122"/>
                  </a:rPr>
                  <a:t>i</a:t>
                </a:r>
                <a:r>
                  <a:rPr lang="en-US" altLang="zh-CN" sz="2000" dirty="0">
                    <a:solidFill>
                      <a:srgbClr val="FF0000"/>
                    </a:solidFill>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时，由完全二叉树的定义可知，如果</a:t>
                </a:r>
                <a14:m>
                  <m:oMath xmlns:m="http://schemas.openxmlformats.org/officeDocument/2006/math">
                    <m:r>
                      <a:rPr lang="en-US" altLang="zh-CN" sz="2000" b="0" i="0" smtClean="0">
                        <a:latin typeface="Cambria Math" panose="02040503050406030204" pitchFamily="18" charset="0"/>
                        <a:ea typeface="Cambria Math" panose="02040503050406030204" pitchFamily="18" charset="0"/>
                      </a:rPr>
                      <m:t>2</m:t>
                    </m:r>
                    <m:r>
                      <m:rPr>
                        <m:sty m:val="p"/>
                      </m:rPr>
                      <a:rPr lang="en-US" altLang="zh-CN" sz="2000" i="0">
                        <a:latin typeface="Cambria Math" panose="02040503050406030204" pitchFamily="18" charset="0"/>
                        <a:ea typeface="Cambria Math" panose="02040503050406030204" pitchFamily="18" charset="0"/>
                      </a:rPr>
                      <m:t>i</m:t>
                    </m:r>
                    <m:r>
                      <a:rPr lang="en-US" altLang="zh-CN" sz="200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2</m:t>
                    </m:r>
                    <m:r>
                      <a:rPr lang="en-US" altLang="zh-CN" sz="2000" i="0" smtClean="0">
                        <a:latin typeface="Cambria Math" panose="02040503050406030204" pitchFamily="18" charset="0"/>
                        <a:ea typeface="Cambria Math" panose="02040503050406030204" pitchFamily="18" charset="0"/>
                      </a:rPr>
                      <m:t>≤</m:t>
                    </m:r>
                    <m:r>
                      <m:rPr>
                        <m:sty m:val="p"/>
                      </m:rPr>
                      <a:rPr lang="en-US" altLang="zh-CN" sz="2000" b="0" i="0" smtClean="0">
                        <a:latin typeface="Cambria Math" panose="02040503050406030204" pitchFamily="18" charset="0"/>
                        <a:ea typeface="Cambria Math" panose="02040503050406030204" pitchFamily="18" charset="0"/>
                      </a:rPr>
                      <m:t>n</m:t>
                    </m:r>
                  </m:oMath>
                </a14:m>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说明二叉树中存在两个或两个以上的结点，所以其左孩子结点存在且序号为</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；反之，如果</a:t>
                </a:r>
                <a14:m>
                  <m:oMath xmlns:m="http://schemas.openxmlformats.org/officeDocument/2006/math">
                    <m:r>
                      <a:rPr lang="en-US" altLang="zh-CN" sz="2000">
                        <a:latin typeface="Cambria Math" panose="02040503050406030204" pitchFamily="18" charset="0"/>
                        <a:ea typeface="Cambria Math" panose="02040503050406030204" pitchFamily="18" charset="0"/>
                      </a:rPr>
                      <m:t>2</m:t>
                    </m:r>
                    <m:r>
                      <a:rPr lang="en-US" altLang="zh-CN" sz="2000" b="0" i="1" smtClean="0">
                        <a:latin typeface="Cambria Math" panose="02040503050406030204" pitchFamily="18" charset="0"/>
                        <a:ea typeface="Cambria Math" panose="02040503050406030204" pitchFamily="18" charset="0"/>
                      </a:rPr>
                      <m:t>&gt;</m:t>
                    </m:r>
                    <m:r>
                      <m:rPr>
                        <m:sty m:val="p"/>
                      </m:rPr>
                      <a:rPr lang="en-US" altLang="zh-CN" sz="2000">
                        <a:latin typeface="Cambria Math" panose="02040503050406030204" pitchFamily="18" charset="0"/>
                        <a:ea typeface="Cambria Math" panose="02040503050406030204" pitchFamily="18" charset="0"/>
                      </a:rPr>
                      <m:t>n</m:t>
                    </m:r>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说明二叉树中不存在序号为</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的结点，其左孩子不存在。当</a:t>
                </a:r>
                <a14:m>
                  <m:oMath xmlns:m="http://schemas.openxmlformats.org/officeDocument/2006/math">
                    <m:r>
                      <a:rPr lang="en-US" altLang="zh-CN" sz="2000" b="0" i="0" smtClean="0">
                        <a:latin typeface="Cambria Math" panose="02040503050406030204" pitchFamily="18" charset="0"/>
                        <a:ea typeface="Cambria Math" panose="02040503050406030204" pitchFamily="18" charset="0"/>
                      </a:rPr>
                      <m:t>2</m:t>
                    </m:r>
                    <m:r>
                      <m:rPr>
                        <m:sty m:val="p"/>
                      </m:rPr>
                      <a:rPr lang="en-US" altLang="zh-CN" sz="2000" b="0" i="0" smtClean="0">
                        <a:latin typeface="Cambria Math" panose="02040503050406030204" pitchFamily="18" charset="0"/>
                        <a:ea typeface="Cambria Math" panose="02040503050406030204" pitchFamily="18" charset="0"/>
                      </a:rPr>
                      <m:t>i</m:t>
                    </m:r>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1</m:t>
                    </m:r>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3</m:t>
                    </m:r>
                    <m:r>
                      <a:rPr lang="en-US" altLang="zh-CN" sz="2000" b="0" i="0" smtClean="0">
                        <a:latin typeface="Cambria Math" panose="02040503050406030204" pitchFamily="18" charset="0"/>
                        <a:ea typeface="Cambria Math" panose="02040503050406030204" pitchFamily="18" charset="0"/>
                      </a:rPr>
                      <m:t>≤</m:t>
                    </m:r>
                    <m:r>
                      <m:rPr>
                        <m:sty m:val="p"/>
                      </m:rPr>
                      <a:rPr lang="en-US" altLang="zh-CN" sz="2000" i="0">
                        <a:latin typeface="Cambria Math" panose="02040503050406030204" pitchFamily="18" charset="0"/>
                        <a:ea typeface="Cambria Math" panose="02040503050406030204" pitchFamily="18" charset="0"/>
                      </a:rPr>
                      <m:t>n</m:t>
                    </m:r>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说明其右孩子存在且序号为</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，如果</a:t>
                </a:r>
                <a14:m>
                  <m:oMath xmlns:m="http://schemas.openxmlformats.org/officeDocument/2006/math">
                    <m:r>
                      <a:rPr lang="en-US" altLang="zh-CN" sz="2000" dirty="0" smtClean="0">
                        <a:latin typeface="Cambria Math" panose="02040503050406030204" pitchFamily="18" charset="0"/>
                        <a:ea typeface="Cambria Math" panose="02040503050406030204" pitchFamily="18" charset="0"/>
                      </a:rPr>
                      <m:t>3</m:t>
                    </m:r>
                    <m:r>
                      <a:rPr lang="en-US" altLang="zh-CN" sz="2000" i="1">
                        <a:latin typeface="Cambria Math" panose="02040503050406030204" pitchFamily="18" charset="0"/>
                        <a:ea typeface="Cambria Math" panose="02040503050406030204" pitchFamily="18" charset="0"/>
                      </a:rPr>
                      <m:t>&gt;</m:t>
                    </m:r>
                    <m:r>
                      <m:rPr>
                        <m:sty m:val="p"/>
                      </m:rPr>
                      <a:rPr lang="en-US" altLang="zh-CN" sz="2000">
                        <a:latin typeface="Cambria Math" panose="02040503050406030204" pitchFamily="18" charset="0"/>
                        <a:ea typeface="Cambria Math" panose="02040503050406030204" pitchFamily="18" charset="0"/>
                      </a:rPr>
                      <m:t>n</m:t>
                    </m:r>
                  </m:oMath>
                </a14:m>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则二叉树中不存在序号为</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的结点，其右孩子不存在。</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）假设对于序号为 </a:t>
                </a:r>
                <a:r>
                  <a:rPr lang="en-US" altLang="zh-CN" sz="2000" dirty="0">
                    <a:solidFill>
                      <a:srgbClr val="FF0000"/>
                    </a:solidFill>
                    <a:latin typeface="微软雅黑" panose="020B0503020204020204" pitchFamily="34" charset="-122"/>
                    <a:ea typeface="微软雅黑" panose="020B0503020204020204" pitchFamily="34" charset="-122"/>
                  </a:rPr>
                  <a:t>j(</a:t>
                </a:r>
                <a14:m>
                  <m:oMath xmlns:m="http://schemas.openxmlformats.org/officeDocument/2006/math">
                    <m:r>
                      <a:rPr lang="en-US" altLang="zh-CN" sz="2000" b="0" i="0" smtClean="0">
                        <a:solidFill>
                          <a:srgbClr val="FF0000"/>
                        </a:solidFill>
                        <a:latin typeface="Cambria Math" panose="02040503050406030204" pitchFamily="18" charset="0"/>
                        <a:ea typeface="微软雅黑" panose="020B0503020204020204" pitchFamily="34" charset="-122"/>
                      </a:rPr>
                      <m:t>1</m:t>
                    </m:r>
                    <m:r>
                      <a:rPr lang="en-US" altLang="zh-CN" sz="2000" b="0" i="0" smtClean="0">
                        <a:solidFill>
                          <a:srgbClr val="FF0000"/>
                        </a:solidFill>
                        <a:latin typeface="Cambria Math" panose="02040503050406030204" pitchFamily="18" charset="0"/>
                        <a:ea typeface="Cambria Math" panose="02040503050406030204" pitchFamily="18" charset="0"/>
                      </a:rPr>
                      <m:t>≤</m:t>
                    </m:r>
                    <m:r>
                      <m:rPr>
                        <m:sty m:val="p"/>
                      </m:rPr>
                      <a:rPr lang="en-US" altLang="zh-CN" sz="2000" b="0" i="0" smtClean="0">
                        <a:solidFill>
                          <a:srgbClr val="FF0000"/>
                        </a:solidFill>
                        <a:latin typeface="Cambria Math" panose="02040503050406030204" pitchFamily="18" charset="0"/>
                        <a:ea typeface="Cambria Math" panose="02040503050406030204" pitchFamily="18" charset="0"/>
                      </a:rPr>
                      <m:t>j</m:t>
                    </m:r>
                    <m:r>
                      <a:rPr lang="en-US" altLang="zh-CN" sz="2000" b="0" i="0" smtClean="0">
                        <a:solidFill>
                          <a:srgbClr val="FF0000"/>
                        </a:solidFill>
                        <a:latin typeface="Cambria Math" panose="02040503050406030204" pitchFamily="18" charset="0"/>
                        <a:ea typeface="Cambria Math" panose="02040503050406030204" pitchFamily="18" charset="0"/>
                      </a:rPr>
                      <m:t>≤</m:t>
                    </m:r>
                    <m:r>
                      <m:rPr>
                        <m:sty m:val="p"/>
                      </m:rPr>
                      <a:rPr lang="en-US" altLang="zh-CN" sz="2000" b="0" i="0" smtClean="0">
                        <a:solidFill>
                          <a:srgbClr val="FF0000"/>
                        </a:solidFill>
                        <a:latin typeface="Cambria Math" panose="02040503050406030204" pitchFamily="18" charset="0"/>
                        <a:ea typeface="Cambria Math" panose="02040503050406030204" pitchFamily="18" charset="0"/>
                      </a:rPr>
                      <m:t>i</m:t>
                    </m:r>
                  </m:oMath>
                </a14:m>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的结点</a:t>
                </a:r>
                <a:r>
                  <a:rPr lang="zh-CN" altLang="en-US" sz="2000" dirty="0">
                    <a:latin typeface="微软雅黑" panose="020B0503020204020204" pitchFamily="34" charset="-122"/>
                    <a:ea typeface="微软雅黑" panose="020B0503020204020204" pitchFamily="34" charset="-122"/>
                  </a:rPr>
                  <a:t>，当 </a:t>
                </a:r>
                <a14:m>
                  <m:oMath xmlns:m="http://schemas.openxmlformats.org/officeDocument/2006/math">
                    <m:r>
                      <a:rPr lang="en-US" altLang="zh-CN" sz="2000" i="0">
                        <a:latin typeface="Cambria Math" panose="02040503050406030204" pitchFamily="18" charset="0"/>
                        <a:ea typeface="Cambria Math" panose="02040503050406030204" pitchFamily="18" charset="0"/>
                      </a:rPr>
                      <m:t>2</m:t>
                    </m:r>
                    <m:r>
                      <m:rPr>
                        <m:sty m:val="p"/>
                      </m:rPr>
                      <a:rPr lang="en-US" altLang="zh-CN" sz="2000" i="0" smtClean="0">
                        <a:latin typeface="Cambria Math" panose="02040503050406030204" pitchFamily="18" charset="0"/>
                        <a:ea typeface="Cambria Math" panose="02040503050406030204" pitchFamily="18" charset="0"/>
                      </a:rPr>
                      <m:t>j</m:t>
                    </m:r>
                    <m:r>
                      <a:rPr lang="en-US" altLang="zh-CN" sz="2000" i="0">
                        <a:latin typeface="Cambria Math" panose="02040503050406030204" pitchFamily="18" charset="0"/>
                        <a:ea typeface="Cambria Math" panose="02040503050406030204" pitchFamily="18" charset="0"/>
                      </a:rPr>
                      <m:t>≤</m:t>
                    </m:r>
                    <m:r>
                      <m:rPr>
                        <m:sty m:val="p"/>
                      </m:rPr>
                      <a:rPr lang="en-US" altLang="zh-CN" sz="2000" i="0">
                        <a:latin typeface="Cambria Math" panose="02040503050406030204" pitchFamily="18" charset="0"/>
                        <a:ea typeface="Cambria Math" panose="02040503050406030204" pitchFamily="18" charset="0"/>
                      </a:rPr>
                      <m:t>n</m:t>
                    </m:r>
                  </m:oMath>
                </a14:m>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其左孩子存在且序号为</a:t>
                </a:r>
                <a14:m>
                  <m:oMath xmlns:m="http://schemas.openxmlformats.org/officeDocument/2006/math">
                    <m:r>
                      <a:rPr lang="en-US" altLang="zh-CN" sz="2000" i="0">
                        <a:latin typeface="Cambria Math" panose="02040503050406030204" pitchFamily="18" charset="0"/>
                        <a:ea typeface="Cambria Math" panose="02040503050406030204" pitchFamily="18" charset="0"/>
                      </a:rPr>
                      <m:t>2</m:t>
                    </m:r>
                    <m:r>
                      <m:rPr>
                        <m:sty m:val="p"/>
                      </m:rPr>
                      <a:rPr lang="en-US" altLang="zh-CN" sz="2000" i="0">
                        <a:latin typeface="Cambria Math" panose="02040503050406030204" pitchFamily="18" charset="0"/>
                        <a:ea typeface="Cambria Math" panose="02040503050406030204" pitchFamily="18" charset="0"/>
                      </a:rPr>
                      <m:t>j</m:t>
                    </m:r>
                  </m:oMath>
                </a14:m>
                <a:r>
                  <a:rPr lang="zh-CN" altLang="en-US" sz="2000" dirty="0">
                    <a:latin typeface="微软雅黑" panose="020B0503020204020204" pitchFamily="34" charset="-122"/>
                    <a:ea typeface="微软雅黑" panose="020B0503020204020204" pitchFamily="34" charset="-122"/>
                  </a:rPr>
                  <a:t>，当</a:t>
                </a:r>
                <a14:m>
                  <m:oMath xmlns:m="http://schemas.openxmlformats.org/officeDocument/2006/math">
                    <m:r>
                      <a:rPr lang="en-US" altLang="zh-CN" sz="2000" i="0">
                        <a:latin typeface="Cambria Math" panose="02040503050406030204" pitchFamily="18" charset="0"/>
                        <a:ea typeface="Cambria Math" panose="02040503050406030204" pitchFamily="18" charset="0"/>
                      </a:rPr>
                      <m:t>2</m:t>
                    </m:r>
                    <m:r>
                      <m:rPr>
                        <m:sty m:val="p"/>
                      </m:rPr>
                      <a:rPr lang="en-US" altLang="zh-CN" sz="2000" i="0">
                        <a:latin typeface="Cambria Math" panose="02040503050406030204" pitchFamily="18" charset="0"/>
                        <a:ea typeface="Cambria Math" panose="02040503050406030204" pitchFamily="18" charset="0"/>
                      </a:rPr>
                      <m:t>j</m:t>
                    </m:r>
                    <m:r>
                      <a:rPr lang="en-US" altLang="zh-CN" sz="2000" b="0" i="0" smtClean="0">
                        <a:latin typeface="Cambria Math" panose="02040503050406030204" pitchFamily="18" charset="0"/>
                        <a:ea typeface="Cambria Math" panose="02040503050406030204" pitchFamily="18" charset="0"/>
                      </a:rPr>
                      <m:t>&gt;</m:t>
                    </m:r>
                    <m:r>
                      <m:rPr>
                        <m:sty m:val="p"/>
                      </m:rPr>
                      <a:rPr lang="en-US" altLang="zh-CN" sz="2000" i="0">
                        <a:latin typeface="Cambria Math" panose="02040503050406030204" pitchFamily="18" charset="0"/>
                        <a:ea typeface="Cambria Math" panose="02040503050406030204" pitchFamily="18" charset="0"/>
                      </a:rPr>
                      <m:t>n</m:t>
                    </m:r>
                  </m:oMath>
                </a14:m>
                <a:r>
                  <a:rPr lang="zh-CN" altLang="en-US" sz="2000" dirty="0">
                    <a:latin typeface="微软雅黑" panose="020B0503020204020204" pitchFamily="34" charset="-122"/>
                    <a:ea typeface="微软雅黑" panose="020B0503020204020204" pitchFamily="34" charset="-122"/>
                  </a:rPr>
                  <a:t>时，其左孩子不存在；当 </a:t>
                </a:r>
                <a14:m>
                  <m:oMath xmlns:m="http://schemas.openxmlformats.org/officeDocument/2006/math">
                    <m:r>
                      <a:rPr lang="en-US" altLang="zh-CN" sz="2000" i="0">
                        <a:latin typeface="Cambria Math" panose="02040503050406030204" pitchFamily="18" charset="0"/>
                        <a:ea typeface="Cambria Math" panose="02040503050406030204" pitchFamily="18" charset="0"/>
                      </a:rPr>
                      <m:t>2</m:t>
                    </m:r>
                    <m:r>
                      <m:rPr>
                        <m:sty m:val="p"/>
                      </m:rPr>
                      <a:rPr lang="en-US" altLang="zh-CN" sz="2000" i="0">
                        <a:latin typeface="Cambria Math" panose="02040503050406030204" pitchFamily="18" charset="0"/>
                        <a:ea typeface="Cambria Math" panose="02040503050406030204" pitchFamily="18" charset="0"/>
                      </a:rPr>
                      <m:t>j</m:t>
                    </m:r>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1</m:t>
                    </m:r>
                    <m:r>
                      <a:rPr lang="en-US" altLang="zh-CN" sz="2000" i="0">
                        <a:latin typeface="Cambria Math" panose="02040503050406030204" pitchFamily="18" charset="0"/>
                        <a:ea typeface="Cambria Math" panose="02040503050406030204" pitchFamily="18" charset="0"/>
                      </a:rPr>
                      <m:t>≤</m:t>
                    </m:r>
                    <m:r>
                      <m:rPr>
                        <m:sty m:val="p"/>
                      </m:rPr>
                      <a:rPr lang="en-US" altLang="zh-CN" sz="2000" i="0">
                        <a:latin typeface="Cambria Math" panose="02040503050406030204" pitchFamily="18" charset="0"/>
                        <a:ea typeface="Cambria Math" panose="02040503050406030204" pitchFamily="18" charset="0"/>
                      </a:rPr>
                      <m:t>n</m:t>
                    </m:r>
                  </m:oMath>
                </a14:m>
                <a:r>
                  <a:rPr lang="zh-CN" altLang="en-US" sz="2000" dirty="0">
                    <a:latin typeface="微软雅黑" panose="020B0503020204020204" pitchFamily="34" charset="-122"/>
                    <a:ea typeface="微软雅黑" panose="020B0503020204020204" pitchFamily="34" charset="-122"/>
                  </a:rPr>
                  <a:t>时，其右孩子存在且序号为</a:t>
                </a:r>
                <a:r>
                  <a:rPr lang="en-US" altLang="zh-CN" sz="2000" dirty="0">
                    <a:latin typeface="微软雅黑" panose="020B0503020204020204" pitchFamily="34" charset="-122"/>
                    <a:ea typeface="微软雅黑" panose="020B0503020204020204" pitchFamily="34" charset="-122"/>
                  </a:rPr>
                  <a:t>2j+1, </a:t>
                </a:r>
                <a:r>
                  <a:rPr lang="zh-CN" altLang="en-US" sz="2000" dirty="0">
                    <a:latin typeface="微软雅黑" panose="020B0503020204020204" pitchFamily="34" charset="-122"/>
                    <a:ea typeface="微软雅黑" panose="020B0503020204020204" pitchFamily="34" charset="-122"/>
                  </a:rPr>
                  <a:t>当</a:t>
                </a:r>
                <a14:m>
                  <m:oMath xmlns:m="http://schemas.openxmlformats.org/officeDocument/2006/math">
                    <m:r>
                      <a:rPr lang="en-US" altLang="zh-CN" sz="2000">
                        <a:latin typeface="Cambria Math" panose="02040503050406030204" pitchFamily="18" charset="0"/>
                        <a:ea typeface="Cambria Math" panose="02040503050406030204" pitchFamily="18" charset="0"/>
                      </a:rPr>
                      <m:t>2</m:t>
                    </m:r>
                    <m:r>
                      <m:rPr>
                        <m:sty m:val="p"/>
                      </m:rPr>
                      <a:rPr lang="en-US" altLang="zh-CN" sz="2000">
                        <a:latin typeface="Cambria Math" panose="02040503050406030204" pitchFamily="18" charset="0"/>
                        <a:ea typeface="Cambria Math" panose="02040503050406030204" pitchFamily="18" charset="0"/>
                      </a:rPr>
                      <m:t>j</m:t>
                    </m:r>
                    <m:r>
                      <a:rPr lang="en-US" altLang="zh-CN" sz="2000">
                        <a:latin typeface="Cambria Math" panose="02040503050406030204" pitchFamily="18" charset="0"/>
                        <a:ea typeface="Cambria Math" panose="02040503050406030204" pitchFamily="18" charset="0"/>
                      </a:rPr>
                      <m:t>+</m:t>
                    </m:r>
                    <m:r>
                      <a:rPr lang="en-US" altLang="zh-CN" sz="2000">
                        <a:latin typeface="Cambria Math" panose="02040503050406030204" pitchFamily="18" charset="0"/>
                        <a:ea typeface="Cambria Math" panose="02040503050406030204" pitchFamily="18" charset="0"/>
                      </a:rPr>
                      <m:t>1</m:t>
                    </m:r>
                    <m:r>
                      <a:rPr lang="en-US" altLang="zh-CN" sz="2000">
                        <a:latin typeface="Cambria Math" panose="02040503050406030204" pitchFamily="18" charset="0"/>
                        <a:ea typeface="Cambria Math" panose="02040503050406030204" pitchFamily="18" charset="0"/>
                      </a:rPr>
                      <m:t>&gt;</m:t>
                    </m:r>
                    <m:r>
                      <m:rPr>
                        <m:sty m:val="p"/>
                      </m:rPr>
                      <a:rPr lang="en-US" altLang="zh-CN" sz="2000">
                        <a:latin typeface="Cambria Math" panose="02040503050406030204" pitchFamily="18" charset="0"/>
                        <a:ea typeface="Cambria Math" panose="02040503050406030204" pitchFamily="18" charset="0"/>
                      </a:rPr>
                      <m:t>n</m:t>
                    </m:r>
                  </m:oMath>
                </a14:m>
                <a:r>
                  <a:rPr lang="zh-CN" altLang="en-US" sz="2000" dirty="0">
                    <a:latin typeface="微软雅黑" panose="020B0503020204020204" pitchFamily="34" charset="-122"/>
                    <a:ea typeface="微软雅黑" panose="020B0503020204020204" pitchFamily="34" charset="-122"/>
                  </a:rPr>
                  <a:t>时，其右孩子不存在。</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当</a:t>
                </a:r>
                <a:r>
                  <a:rPr lang="en-US" altLang="zh-CN" sz="2000" dirty="0" err="1">
                    <a:solidFill>
                      <a:srgbClr val="FF0000"/>
                    </a:solidFill>
                    <a:latin typeface="微软雅黑" panose="020B0503020204020204" pitchFamily="34" charset="-122"/>
                    <a:ea typeface="微软雅黑" panose="020B0503020204020204" pitchFamily="34" charset="-122"/>
                  </a:rPr>
                  <a:t>i</a:t>
                </a:r>
                <a:r>
                  <a:rPr lang="en-US" altLang="zh-CN" sz="2000" dirty="0">
                    <a:solidFill>
                      <a:srgbClr val="FF0000"/>
                    </a:solidFill>
                    <a:latin typeface="微软雅黑" panose="020B0503020204020204" pitchFamily="34" charset="-122"/>
                    <a:ea typeface="微软雅黑" panose="020B0503020204020204" pitchFamily="34" charset="-122"/>
                  </a:rPr>
                  <a:t>=j+1</a:t>
                </a:r>
                <a:r>
                  <a:rPr lang="zh-CN" altLang="en-US" sz="2000" dirty="0">
                    <a:solidFill>
                      <a:srgbClr val="FF0000"/>
                    </a:solidFill>
                    <a:latin typeface="微软雅黑" panose="020B0503020204020204" pitchFamily="34" charset="-122"/>
                    <a:ea typeface="微软雅黑" panose="020B0503020204020204" pitchFamily="34" charset="-122"/>
                  </a:rPr>
                  <a:t>时</a:t>
                </a:r>
                <a:r>
                  <a:rPr lang="zh-CN" altLang="en-US" sz="2000" dirty="0">
                    <a:latin typeface="微软雅黑" panose="020B0503020204020204" pitchFamily="34" charset="-122"/>
                    <a:ea typeface="微软雅黑" panose="020B0503020204020204" pitchFamily="34" charset="-122"/>
                  </a:rPr>
                  <a:t>，根据完全二叉树的定义，若其左孩子存在，则其左孩子的序号一定等于序号为</a:t>
                </a:r>
                <a:r>
                  <a:rPr lang="en-US" altLang="zh-CN" sz="2000" dirty="0">
                    <a:latin typeface="微软雅黑" panose="020B0503020204020204" pitchFamily="34" charset="-122"/>
                    <a:ea typeface="微软雅黑" panose="020B0503020204020204" pitchFamily="34" charset="-122"/>
                  </a:rPr>
                  <a:t>j</a:t>
                </a:r>
                <a:r>
                  <a:rPr lang="zh-CN" altLang="en-US" sz="2000" dirty="0">
                    <a:latin typeface="微软雅黑" panose="020B0503020204020204" pitchFamily="34" charset="-122"/>
                    <a:ea typeface="微软雅黑" panose="020B0503020204020204" pitchFamily="34" charset="-122"/>
                  </a:rPr>
                  <a:t>的右孩子的序号加</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，即其左孩子的序号为</a:t>
                </a:r>
                <a14:m>
                  <m:oMath xmlns:m="http://schemas.openxmlformats.org/officeDocument/2006/math">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0" smtClean="0">
                            <a:latin typeface="Cambria Math" panose="02040503050406030204" pitchFamily="18" charset="0"/>
                            <a:ea typeface="Cambria Math" panose="02040503050406030204" pitchFamily="18" charset="0"/>
                          </a:rPr>
                          <m:t>2</m:t>
                        </m:r>
                        <m:r>
                          <m:rPr>
                            <m:sty m:val="p"/>
                          </m:rPr>
                          <a:rPr lang="en-US" altLang="zh-CN" sz="2000" b="0" i="0" smtClean="0">
                            <a:latin typeface="Cambria Math" panose="02040503050406030204" pitchFamily="18" charset="0"/>
                            <a:ea typeface="Cambria Math" panose="02040503050406030204" pitchFamily="18" charset="0"/>
                          </a:rPr>
                          <m:t>j</m:t>
                        </m:r>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1</m:t>
                        </m:r>
                      </m:e>
                    </m:d>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1</m:t>
                    </m:r>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2</m:t>
                    </m:r>
                    <m:d>
                      <m:dPr>
                        <m:ctrlPr>
                          <a:rPr lang="en-US" altLang="zh-CN" sz="2000" b="0" i="1" smtClean="0">
                            <a:latin typeface="Cambria Math" panose="02040503050406030204" pitchFamily="18" charset="0"/>
                            <a:ea typeface="Cambria Math" panose="02040503050406030204" pitchFamily="18" charset="0"/>
                          </a:rPr>
                        </m:ctrlPr>
                      </m:dPr>
                      <m:e>
                        <m:r>
                          <m:rPr>
                            <m:sty m:val="p"/>
                          </m:rPr>
                          <a:rPr lang="en-US" altLang="zh-CN" sz="2000" b="0" i="0" smtClean="0">
                            <a:latin typeface="Cambria Math" panose="02040503050406030204" pitchFamily="18" charset="0"/>
                            <a:ea typeface="Cambria Math" panose="02040503050406030204" pitchFamily="18" charset="0"/>
                          </a:rPr>
                          <m:t>j</m:t>
                        </m:r>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1</m:t>
                        </m:r>
                      </m:e>
                    </m:d>
                    <m:r>
                      <a:rPr lang="en-US" altLang="zh-CN" sz="2000" b="0" i="0" smtClean="0">
                        <a:latin typeface="Cambria Math" panose="02040503050406030204" pitchFamily="18" charset="0"/>
                        <a:ea typeface="Cambria Math" panose="02040503050406030204" pitchFamily="18" charset="0"/>
                      </a:rPr>
                      <m:t>=</m:t>
                    </m:r>
                    <m:r>
                      <a:rPr lang="en-US" altLang="zh-CN" sz="2000">
                        <a:latin typeface="Cambria Math" panose="02040503050406030204" pitchFamily="18" charset="0"/>
                        <a:ea typeface="Cambria Math" panose="02040503050406030204" pitchFamily="18" charset="0"/>
                      </a:rPr>
                      <m:t>2</m:t>
                    </m:r>
                    <m:r>
                      <m:rPr>
                        <m:sty m:val="p"/>
                      </m:rPr>
                      <a:rPr lang="en-US" altLang="zh-CN" sz="2000">
                        <a:latin typeface="Cambria Math" panose="02040503050406030204" pitchFamily="18" charset="0"/>
                        <a:ea typeface="Cambria Math" panose="02040503050406030204" pitchFamily="18" charset="0"/>
                      </a:rPr>
                      <m:t>i</m:t>
                    </m:r>
                    <m:r>
                      <a:rPr lang="en-US" altLang="zh-CN" sz="2000" i="1">
                        <a:latin typeface="Cambria Math" panose="02040503050406030204" pitchFamily="18" charset="0"/>
                        <a:ea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rPr>
                  <a:t>且</a:t>
                </a:r>
                <a14:m>
                  <m:oMath xmlns:m="http://schemas.openxmlformats.org/officeDocument/2006/math">
                    <m:r>
                      <a:rPr lang="en-US" altLang="zh-CN" sz="2000" b="0" i="0" smtClean="0">
                        <a:latin typeface="Cambria Math" panose="02040503050406030204" pitchFamily="18" charset="0"/>
                        <a:ea typeface="Cambria Math" panose="02040503050406030204" pitchFamily="18" charset="0"/>
                      </a:rPr>
                      <m:t>2</m:t>
                    </m:r>
                    <m:r>
                      <m:rPr>
                        <m:sty m:val="p"/>
                      </m:rPr>
                      <a:rPr lang="en-US" altLang="zh-CN" sz="2000" b="0" i="0" smtClean="0">
                        <a:latin typeface="Cambria Math" panose="02040503050406030204" pitchFamily="18" charset="0"/>
                        <a:ea typeface="Cambria Math" panose="02040503050406030204" pitchFamily="18" charset="0"/>
                      </a:rPr>
                      <m:t>i</m:t>
                    </m:r>
                    <m:r>
                      <a:rPr lang="en-US" altLang="zh-CN" sz="2000" i="0" smtClean="0">
                        <a:latin typeface="Cambria Math" panose="02040503050406030204" pitchFamily="18" charset="0"/>
                        <a:ea typeface="Cambria Math" panose="02040503050406030204" pitchFamily="18" charset="0"/>
                      </a:rPr>
                      <m:t>≤</m:t>
                    </m:r>
                    <m:r>
                      <m:rPr>
                        <m:sty m:val="p"/>
                      </m:rPr>
                      <a:rPr lang="en-US" altLang="zh-CN" sz="2000" b="0" i="0" smtClean="0">
                        <a:latin typeface="Cambria Math" panose="02040503050406030204" pitchFamily="18" charset="0"/>
                        <a:ea typeface="Cambria Math" panose="02040503050406030204" pitchFamily="18" charset="0"/>
                      </a:rPr>
                      <m:t>n</m:t>
                    </m:r>
                  </m:oMath>
                </a14:m>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如果</a:t>
                </a:r>
                <a14:m>
                  <m:oMath xmlns:m="http://schemas.openxmlformats.org/officeDocument/2006/math">
                    <m:r>
                      <a:rPr lang="en-US" altLang="zh-CN" sz="2000">
                        <a:latin typeface="Cambria Math" panose="02040503050406030204" pitchFamily="18" charset="0"/>
                        <a:ea typeface="Cambria Math" panose="02040503050406030204" pitchFamily="18" charset="0"/>
                      </a:rPr>
                      <m:t>2</m:t>
                    </m:r>
                    <m:r>
                      <m:rPr>
                        <m:sty m:val="p"/>
                      </m:rPr>
                      <a:rPr lang="en-US" altLang="zh-CN" sz="2000">
                        <a:latin typeface="Cambria Math" panose="02040503050406030204" pitchFamily="18" charset="0"/>
                        <a:ea typeface="Cambria Math" panose="02040503050406030204" pitchFamily="18" charset="0"/>
                      </a:rPr>
                      <m:t>i</m:t>
                    </m:r>
                    <m:r>
                      <a:rPr lang="en-US" altLang="zh-CN" sz="2000" b="0" i="0" smtClean="0">
                        <a:latin typeface="Cambria Math" panose="02040503050406030204" pitchFamily="18" charset="0"/>
                        <a:ea typeface="Cambria Math" panose="02040503050406030204" pitchFamily="18" charset="0"/>
                      </a:rPr>
                      <m:t>&gt;</m:t>
                    </m:r>
                    <m:r>
                      <m:rPr>
                        <m:sty m:val="p"/>
                      </m:rPr>
                      <a:rPr lang="en-US" altLang="zh-CN" sz="2000">
                        <a:latin typeface="Cambria Math" panose="02040503050406030204" pitchFamily="18" charset="0"/>
                        <a:ea typeface="Cambria Math" panose="02040503050406030204" pitchFamily="18" charset="0"/>
                      </a:rPr>
                      <m:t>n</m:t>
                    </m:r>
                    <m:r>
                      <a:rPr lang="en-US" altLang="zh-CN" sz="2000" i="1">
                        <a:latin typeface="Cambria Math" panose="02040503050406030204" pitchFamily="18" charset="0"/>
                        <a:ea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rPr>
                  <a:t>，则其左孩子不存在。若右孩子结点存在，则其右孩子结点的序号应该是其左孩子结点序号加</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 即右孩子结点序号为</a:t>
                </a:r>
                <a14:m>
                  <m:oMath xmlns:m="http://schemas.openxmlformats.org/officeDocument/2006/math">
                    <m:r>
                      <a:rPr lang="en-US" altLang="zh-CN" sz="2000">
                        <a:latin typeface="Cambria Math" panose="02040503050406030204" pitchFamily="18" charset="0"/>
                        <a:ea typeface="Cambria Math" panose="02040503050406030204" pitchFamily="18" charset="0"/>
                      </a:rPr>
                      <m:t>2</m:t>
                    </m:r>
                    <m:r>
                      <m:rPr>
                        <m:sty m:val="p"/>
                      </m:rPr>
                      <a:rPr lang="en-US" altLang="zh-CN" sz="2000">
                        <a:latin typeface="Cambria Math" panose="02040503050406030204" pitchFamily="18" charset="0"/>
                        <a:ea typeface="Cambria Math" panose="02040503050406030204" pitchFamily="18" charset="0"/>
                      </a:rPr>
                      <m:t>i</m:t>
                    </m:r>
                    <m:r>
                      <a:rPr lang="en-US" altLang="zh-CN" sz="2000">
                        <a:latin typeface="Cambria Math" panose="02040503050406030204" pitchFamily="18" charset="0"/>
                        <a:ea typeface="Cambria Math" panose="02040503050406030204" pitchFamily="18" charset="0"/>
                      </a:rPr>
                      <m:t>+</m:t>
                    </m:r>
                    <m:r>
                      <a:rPr lang="en-US" altLang="zh-CN" sz="2000">
                        <a:latin typeface="Cambria Math" panose="02040503050406030204" pitchFamily="18" charset="0"/>
                        <a:ea typeface="Cambria Math" panose="02040503050406030204" pitchFamily="18" charset="0"/>
                      </a:rPr>
                      <m:t>1</m:t>
                    </m:r>
                  </m:oMath>
                </a14:m>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且有</a:t>
                </a:r>
                <a14:m>
                  <m:oMath xmlns:m="http://schemas.openxmlformats.org/officeDocument/2006/math">
                    <m:r>
                      <a:rPr lang="en-US" altLang="zh-CN" sz="2000" b="0" i="0" smtClean="0">
                        <a:latin typeface="Cambria Math" panose="02040503050406030204" pitchFamily="18" charset="0"/>
                        <a:ea typeface="Cambria Math" panose="02040503050406030204" pitchFamily="18" charset="0"/>
                      </a:rPr>
                      <m:t>2</m:t>
                    </m:r>
                    <m:r>
                      <m:rPr>
                        <m:sty m:val="p"/>
                      </m:rPr>
                      <a:rPr lang="en-US" altLang="zh-CN" sz="2000" b="0" i="0" smtClean="0">
                        <a:latin typeface="Cambria Math" panose="02040503050406030204" pitchFamily="18" charset="0"/>
                        <a:ea typeface="Cambria Math" panose="02040503050406030204" pitchFamily="18" charset="0"/>
                      </a:rPr>
                      <m:t>i</m:t>
                    </m:r>
                    <m:r>
                      <a:rPr lang="en-US" altLang="zh-CN" sz="2000" i="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1</m:t>
                    </m:r>
                    <m:r>
                      <a:rPr lang="en-US" altLang="zh-CN" sz="2000" i="0" smtClean="0">
                        <a:latin typeface="Cambria Math" panose="02040503050406030204" pitchFamily="18" charset="0"/>
                        <a:ea typeface="Cambria Math" panose="02040503050406030204" pitchFamily="18" charset="0"/>
                      </a:rPr>
                      <m:t>≤</m:t>
                    </m:r>
                    <m:r>
                      <m:rPr>
                        <m:sty m:val="p"/>
                      </m:rPr>
                      <a:rPr lang="en-US" altLang="zh-CN" sz="2000" b="0" i="0" smtClean="0">
                        <a:latin typeface="Cambria Math" panose="02040503050406030204" pitchFamily="18" charset="0"/>
                        <a:ea typeface="Cambria Math" panose="02040503050406030204" pitchFamily="18" charset="0"/>
                      </a:rPr>
                      <m:t>n</m:t>
                    </m:r>
                  </m:oMath>
                </a14:m>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如果</a:t>
                </a:r>
                <a14:m>
                  <m:oMath xmlns:m="http://schemas.openxmlformats.org/officeDocument/2006/math">
                    <m:r>
                      <a:rPr lang="en-US" altLang="zh-CN" sz="2000" i="0">
                        <a:latin typeface="Cambria Math" panose="02040503050406030204" pitchFamily="18" charset="0"/>
                        <a:ea typeface="Cambria Math" panose="02040503050406030204" pitchFamily="18" charset="0"/>
                      </a:rPr>
                      <m:t>2</m:t>
                    </m:r>
                    <m:r>
                      <m:rPr>
                        <m:sty m:val="p"/>
                      </m:rPr>
                      <a:rPr lang="en-US" altLang="zh-CN" sz="2000" i="0" smtClean="0">
                        <a:latin typeface="Cambria Math" panose="02040503050406030204" pitchFamily="18" charset="0"/>
                        <a:ea typeface="Cambria Math" panose="02040503050406030204" pitchFamily="18" charset="0"/>
                      </a:rPr>
                      <m:t>i</m:t>
                    </m:r>
                    <m:r>
                      <a:rPr lang="en-US" altLang="zh-CN" sz="2000" b="0" i="0" smtClean="0">
                        <a:latin typeface="Cambria Math" panose="02040503050406030204" pitchFamily="18" charset="0"/>
                        <a:ea typeface="Cambria Math" panose="02040503050406030204" pitchFamily="18" charset="0"/>
                      </a:rPr>
                      <m:t>+</m:t>
                    </m:r>
                    <m:r>
                      <a:rPr lang="en-US" altLang="zh-CN" sz="2000" b="0" i="0" smtClean="0">
                        <a:latin typeface="Cambria Math" panose="02040503050406030204" pitchFamily="18" charset="0"/>
                        <a:ea typeface="Cambria Math" panose="02040503050406030204" pitchFamily="18" charset="0"/>
                      </a:rPr>
                      <m:t>1</m:t>
                    </m:r>
                    <m:r>
                      <a:rPr lang="en-US" altLang="zh-CN" sz="2000" b="0" i="0" smtClean="0">
                        <a:latin typeface="Cambria Math" panose="02040503050406030204" pitchFamily="18" charset="0"/>
                        <a:ea typeface="Cambria Math" panose="02040503050406030204" pitchFamily="18" charset="0"/>
                      </a:rPr>
                      <m:t>&gt;</m:t>
                    </m:r>
                    <m:r>
                      <m:rPr>
                        <m:sty m:val="p"/>
                      </m:rPr>
                      <a:rPr lang="en-US" altLang="zh-CN" sz="2000" i="0">
                        <a:latin typeface="Cambria Math" panose="02040503050406030204" pitchFamily="18" charset="0"/>
                        <a:ea typeface="Cambria Math" panose="02040503050406030204" pitchFamily="18" charset="0"/>
                      </a:rPr>
                      <m:t>n</m:t>
                    </m:r>
                  </m:oMath>
                </a14:m>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则右孩子不存在。</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p:txBody>
          </p:sp>
        </mc:Choice>
        <mc:Fallback>
          <p:sp>
            <p:nvSpPr>
              <p:cNvPr id="9" name="文本框 1"/>
              <p:cNvSpPr txBox="1">
                <a:spLocks noRot="1" noChangeAspect="1" noMove="1" noResize="1" noEditPoints="1" noAdjustHandles="1" noChangeArrowheads="1" noChangeShapeType="1" noTextEdit="1"/>
              </p:cNvSpPr>
              <p:nvPr/>
            </p:nvSpPr>
            <p:spPr bwMode="auto">
              <a:xfrm>
                <a:off x="905122" y="187325"/>
                <a:ext cx="7869483" cy="6554470"/>
              </a:xfrm>
              <a:prstGeom prst="rect">
                <a:avLst/>
              </a:prstGeom>
              <a:blipFill rotWithShape="1">
                <a:blip r:embed="rId1"/>
                <a:stretch>
                  <a:fillRect l="-3" r="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B130DD-CC1B-40AE-987C-D28F25B9504B}" type="slidenum">
              <a:rPr lang="zh-CN" altLang="en-US">
                <a:latin typeface="Calibri" panose="020F0502020204030204" pitchFamily="34" charset="0"/>
              </a:rPr>
            </a:fld>
            <a:endParaRPr lang="zh-CN" altLang="en-US">
              <a:latin typeface="Calibri" panose="020F0502020204030204" pitchFamily="34" charset="0"/>
            </a:endParaRPr>
          </a:p>
        </p:txBody>
      </p:sp>
      <p:sp>
        <p:nvSpPr>
          <p:cNvPr id="34" name="矩形 33"/>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ct val="150000"/>
              </a:lnSpc>
            </a:pPr>
            <a:endParaRPr lang="zh-CN" altLang="en-US" noProof="1"/>
          </a:p>
        </p:txBody>
      </p:sp>
      <p:pic>
        <p:nvPicPr>
          <p:cNvPr id="7782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文本框 16"/>
          <p:cNvSpPr txBox="1">
            <a:spLocks noChangeArrowheads="1"/>
          </p:cNvSpPr>
          <p:nvPr/>
        </p:nvSpPr>
        <p:spPr bwMode="auto">
          <a:xfrm>
            <a:off x="1127125" y="150813"/>
            <a:ext cx="6373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solidFill>
                  <a:schemeClr val="bg1"/>
                </a:solidFill>
              </a:rPr>
              <a:t>6.2.3 </a:t>
            </a:r>
            <a:r>
              <a:rPr lang="zh-CN" altLang="en-US" sz="3200" dirty="0">
                <a:solidFill>
                  <a:schemeClr val="bg1"/>
                </a:solidFill>
              </a:rPr>
              <a:t>二叉树的存储结构</a:t>
            </a:r>
            <a:endParaRPr lang="zh-CN" altLang="en-US" sz="3200" dirty="0">
              <a:solidFill>
                <a:schemeClr val="bg1"/>
              </a:solidFill>
            </a:endParaRPr>
          </a:p>
          <a:p>
            <a:endParaRPr lang="zh-CN" altLang="en-US" sz="3200" dirty="0">
              <a:solidFill>
                <a:schemeClr val="bg1"/>
              </a:solidFill>
            </a:endParaRPr>
          </a:p>
        </p:txBody>
      </p:sp>
      <p:sp>
        <p:nvSpPr>
          <p:cNvPr id="77829" name="文本框 1"/>
          <p:cNvSpPr txBox="1">
            <a:spLocks noChangeArrowheads="1"/>
          </p:cNvSpPr>
          <p:nvPr/>
        </p:nvSpPr>
        <p:spPr bwMode="auto">
          <a:xfrm>
            <a:off x="40481" y="975385"/>
            <a:ext cx="427355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微软雅黑" panose="020B0503020204020204" pitchFamily="34" charset="-122"/>
                <a:ea typeface="微软雅黑" panose="020B0503020204020204" pitchFamily="34" charset="-122"/>
              </a:rPr>
              <a:t>二叉树的存储结构</a:t>
            </a:r>
            <a:endParaRPr lang="zh-CN" altLang="en-US" sz="2800" b="1" dirty="0">
              <a:latin typeface="微软雅黑" panose="020B0503020204020204" pitchFamily="34" charset="-122"/>
              <a:ea typeface="微软雅黑" panose="020B0503020204020204" pitchFamily="34" charset="-122"/>
            </a:endParaRPr>
          </a:p>
        </p:txBody>
      </p:sp>
      <p:sp>
        <p:nvSpPr>
          <p:cNvPr id="9" name="文本框 1"/>
          <p:cNvSpPr txBox="1">
            <a:spLocks noChangeArrowheads="1"/>
          </p:cNvSpPr>
          <p:nvPr/>
        </p:nvSpPr>
        <p:spPr bwMode="auto">
          <a:xfrm>
            <a:off x="224155" y="1704340"/>
            <a:ext cx="8448040" cy="1272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60000"/>
              </a:lnSpc>
            </a:pPr>
            <a:r>
              <a:rPr lang="zh-CN" altLang="en-US" sz="2400" dirty="0">
                <a:latin typeface="微软雅黑" panose="020B0503020204020204" pitchFamily="34" charset="-122"/>
                <a:ea typeface="微软雅黑" panose="020B0503020204020204" pitchFamily="34" charset="-122"/>
              </a:rPr>
              <a:t>二叉树的结构是非线性的，每一个结点最多可以有两个后继</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sym typeface="+mn-ea"/>
            </a:endParaRPr>
          </a:p>
          <a:p>
            <a:pPr>
              <a:lnSpc>
                <a:spcPct val="160000"/>
              </a:lnSpc>
            </a:pPr>
            <a:r>
              <a:rPr lang="zh-CN" altLang="en-US" sz="2400" dirty="0">
                <a:latin typeface="微软雅黑" panose="020B0503020204020204" pitchFamily="34" charset="-122"/>
                <a:ea typeface="微软雅黑" panose="020B0503020204020204" pitchFamily="34" charset="-122"/>
                <a:sym typeface="+mn-ea"/>
              </a:rPr>
              <a:t>二叉树的存储结构有两种：顺序存储结构和链式存储结构。</a:t>
            </a:r>
            <a:endParaRPr lang="zh-CN" altLang="en-US" sz="2400" dirty="0">
              <a:latin typeface="微软雅黑" panose="020B0503020204020204" pitchFamily="34" charset="-122"/>
              <a:ea typeface="微软雅黑" panose="020B0503020204020204" pitchFamily="34" charset="-122"/>
              <a:sym typeface="+mn-ea"/>
            </a:endParaRPr>
          </a:p>
        </p:txBody>
      </p:sp>
      <p:sp>
        <p:nvSpPr>
          <p:cNvPr id="2" name="文本框 1"/>
          <p:cNvSpPr txBox="1">
            <a:spLocks noChangeArrowheads="1"/>
          </p:cNvSpPr>
          <p:nvPr/>
        </p:nvSpPr>
        <p:spPr bwMode="auto">
          <a:xfrm>
            <a:off x="2599386" y="3285957"/>
            <a:ext cx="4273550" cy="14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lnSpc>
                <a:spcPct val="150000"/>
              </a:lnSpc>
              <a:buFont typeface="Wingdings" panose="05000000000000000000" charset="0"/>
              <a:buChar char="l"/>
            </a:pPr>
            <a:r>
              <a:rPr lang="zh-CN" altLang="en-US" sz="3200" b="1" dirty="0">
                <a:latin typeface="微软雅黑" panose="020B0503020204020204" pitchFamily="34" charset="-122"/>
                <a:ea typeface="微软雅黑" panose="020B0503020204020204" pitchFamily="34" charset="-122"/>
              </a:rPr>
              <a:t>顺序存储结构</a:t>
            </a:r>
            <a:endParaRPr lang="zh-CN" altLang="en-US" sz="3200" b="1" dirty="0">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charset="0"/>
              <a:buChar char="l"/>
            </a:pPr>
            <a:r>
              <a:rPr lang="zh-CN" altLang="en-US" sz="3200" b="1" dirty="0">
                <a:latin typeface="微软雅黑" panose="020B0503020204020204" pitchFamily="34" charset="-122"/>
                <a:ea typeface="微软雅黑" panose="020B0503020204020204" pitchFamily="34" charset="-122"/>
              </a:rPr>
              <a:t>链式存储结构</a:t>
            </a:r>
            <a:endParaRPr lang="zh-CN" altLang="en-US" sz="32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B130DD-CC1B-40AE-987C-D28F25B9504B}" type="slidenum">
              <a:rPr lang="zh-CN" altLang="en-US">
                <a:latin typeface="Calibri" panose="020F0502020204030204" pitchFamily="34" charset="0"/>
              </a:rPr>
            </a:fld>
            <a:endParaRPr lang="zh-CN" altLang="en-US">
              <a:latin typeface="Calibri" panose="020F0502020204030204" pitchFamily="34" charset="0"/>
            </a:endParaRPr>
          </a:p>
        </p:txBody>
      </p:sp>
      <p:sp>
        <p:nvSpPr>
          <p:cNvPr id="34" name="矩形 33"/>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7782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文本框 16"/>
          <p:cNvSpPr txBox="1">
            <a:spLocks noChangeArrowheads="1"/>
          </p:cNvSpPr>
          <p:nvPr/>
        </p:nvSpPr>
        <p:spPr bwMode="auto">
          <a:xfrm>
            <a:off x="1127125" y="150813"/>
            <a:ext cx="6373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solidFill>
                  <a:schemeClr val="bg1"/>
                </a:solidFill>
              </a:rPr>
              <a:t>6.2.3 </a:t>
            </a:r>
            <a:r>
              <a:rPr lang="zh-CN" altLang="en-US" sz="3200" dirty="0">
                <a:solidFill>
                  <a:schemeClr val="bg1"/>
                </a:solidFill>
              </a:rPr>
              <a:t>二叉树的存储结构</a:t>
            </a:r>
            <a:endParaRPr lang="zh-CN" altLang="en-US" sz="3200" dirty="0">
              <a:solidFill>
                <a:schemeClr val="bg1"/>
              </a:solidFill>
            </a:endParaRPr>
          </a:p>
          <a:p>
            <a:endParaRPr lang="zh-CN" altLang="en-US" sz="3200" dirty="0">
              <a:solidFill>
                <a:schemeClr val="bg1"/>
              </a:solidFill>
            </a:endParaRPr>
          </a:p>
        </p:txBody>
      </p:sp>
      <p:sp>
        <p:nvSpPr>
          <p:cNvPr id="77829" name="文本框 1"/>
          <p:cNvSpPr txBox="1">
            <a:spLocks noChangeArrowheads="1"/>
          </p:cNvSpPr>
          <p:nvPr/>
        </p:nvSpPr>
        <p:spPr bwMode="auto">
          <a:xfrm>
            <a:off x="113030" y="1227455"/>
            <a:ext cx="852043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latin typeface="微软雅黑" panose="020B0503020204020204" pitchFamily="34" charset="-122"/>
                <a:ea typeface="微软雅黑" panose="020B0503020204020204" pitchFamily="34" charset="-122"/>
              </a:rPr>
              <a:t>顺序存储结构：</a:t>
            </a:r>
            <a:r>
              <a:rPr lang="zh-CN" altLang="en-US" sz="2800" dirty="0">
                <a:latin typeface="微软雅黑" panose="020B0503020204020204" pitchFamily="34" charset="-122"/>
                <a:ea typeface="微软雅黑" panose="020B0503020204020204" pitchFamily="34" charset="-122"/>
              </a:rPr>
              <a:t>是用一组连续的存储单元来存放二叉</a:t>
            </a: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树的数据元素。</a:t>
            </a:r>
            <a:endParaRPr lang="zh-CN" altLang="en-US" sz="2800" dirty="0">
              <a:latin typeface="微软雅黑" panose="020B0503020204020204" pitchFamily="34" charset="-122"/>
              <a:ea typeface="微软雅黑" panose="020B0503020204020204" pitchFamily="34" charset="-122"/>
            </a:endParaRPr>
          </a:p>
        </p:txBody>
      </p:sp>
      <p:sp>
        <p:nvSpPr>
          <p:cNvPr id="8" name="椭圆 7"/>
          <p:cNvSpPr/>
          <p:nvPr/>
        </p:nvSpPr>
        <p:spPr>
          <a:xfrm>
            <a:off x="283976" y="5408755"/>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t>H</a:t>
            </a:r>
            <a:endParaRPr lang="zh-CN" altLang="en-US" sz="3200" dirty="0"/>
          </a:p>
        </p:txBody>
      </p:sp>
      <p:sp>
        <p:nvSpPr>
          <p:cNvPr id="9" name="椭圆 8"/>
          <p:cNvSpPr/>
          <p:nvPr/>
        </p:nvSpPr>
        <p:spPr>
          <a:xfrm>
            <a:off x="1835895" y="5362010"/>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t>I</a:t>
            </a:r>
            <a:endParaRPr lang="zh-CN" altLang="en-US" sz="3200" dirty="0"/>
          </a:p>
        </p:txBody>
      </p:sp>
      <p:sp>
        <p:nvSpPr>
          <p:cNvPr id="10" name="椭圆 9"/>
          <p:cNvSpPr/>
          <p:nvPr/>
        </p:nvSpPr>
        <p:spPr>
          <a:xfrm>
            <a:off x="3721795" y="4412867"/>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t>E</a:t>
            </a:r>
            <a:endParaRPr lang="zh-CN" altLang="en-US" sz="3200" dirty="0"/>
          </a:p>
        </p:txBody>
      </p:sp>
      <p:sp>
        <p:nvSpPr>
          <p:cNvPr id="11" name="椭圆 10"/>
          <p:cNvSpPr/>
          <p:nvPr/>
        </p:nvSpPr>
        <p:spPr>
          <a:xfrm>
            <a:off x="5599079" y="4336311"/>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t>F</a:t>
            </a:r>
            <a:endParaRPr lang="zh-CN" altLang="en-US" sz="3200" dirty="0"/>
          </a:p>
        </p:txBody>
      </p:sp>
      <p:sp>
        <p:nvSpPr>
          <p:cNvPr id="12" name="椭圆 11"/>
          <p:cNvSpPr/>
          <p:nvPr/>
        </p:nvSpPr>
        <p:spPr>
          <a:xfrm>
            <a:off x="1158101" y="4351346"/>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D</a:t>
            </a:r>
            <a:endParaRPr lang="zh-CN" altLang="en-US" sz="3200" dirty="0">
              <a:solidFill>
                <a:schemeClr val="tx1"/>
              </a:solidFill>
            </a:endParaRPr>
          </a:p>
        </p:txBody>
      </p:sp>
      <p:sp>
        <p:nvSpPr>
          <p:cNvPr id="13" name="椭圆 12"/>
          <p:cNvSpPr/>
          <p:nvPr/>
        </p:nvSpPr>
        <p:spPr>
          <a:xfrm>
            <a:off x="2294389" y="3318486"/>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B </a:t>
            </a:r>
            <a:endParaRPr lang="zh-CN" altLang="en-US" sz="3200" dirty="0">
              <a:solidFill>
                <a:schemeClr val="tx1"/>
              </a:solidFill>
            </a:endParaRPr>
          </a:p>
        </p:txBody>
      </p:sp>
      <p:sp>
        <p:nvSpPr>
          <p:cNvPr id="14" name="椭圆 13"/>
          <p:cNvSpPr/>
          <p:nvPr/>
        </p:nvSpPr>
        <p:spPr>
          <a:xfrm>
            <a:off x="6822870" y="4273279"/>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t>G</a:t>
            </a:r>
            <a:endParaRPr lang="zh-CN" altLang="en-US" sz="3200" dirty="0"/>
          </a:p>
        </p:txBody>
      </p:sp>
      <p:sp>
        <p:nvSpPr>
          <p:cNvPr id="15" name="椭圆 14"/>
          <p:cNvSpPr/>
          <p:nvPr/>
        </p:nvSpPr>
        <p:spPr>
          <a:xfrm>
            <a:off x="6095171" y="3236007"/>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C </a:t>
            </a:r>
            <a:endParaRPr lang="zh-CN" altLang="en-US" sz="3200" dirty="0">
              <a:solidFill>
                <a:schemeClr val="tx1"/>
              </a:solidFill>
            </a:endParaRPr>
          </a:p>
        </p:txBody>
      </p:sp>
      <p:sp>
        <p:nvSpPr>
          <p:cNvPr id="16" name="椭圆 15"/>
          <p:cNvSpPr/>
          <p:nvPr/>
        </p:nvSpPr>
        <p:spPr>
          <a:xfrm>
            <a:off x="3791528" y="2207108"/>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A </a:t>
            </a:r>
            <a:endParaRPr lang="zh-CN" altLang="en-US" sz="3200" dirty="0">
              <a:solidFill>
                <a:schemeClr val="tx1"/>
              </a:solidFill>
            </a:endParaRPr>
          </a:p>
        </p:txBody>
      </p:sp>
      <p:cxnSp>
        <p:nvCxnSpPr>
          <p:cNvPr id="20" name="直接连接符 19"/>
          <p:cNvCxnSpPr>
            <a:stCxn id="12" idx="3"/>
            <a:endCxn id="8" idx="0"/>
          </p:cNvCxnSpPr>
          <p:nvPr/>
        </p:nvCxnSpPr>
        <p:spPr>
          <a:xfrm flipH="1">
            <a:off x="606497" y="4907974"/>
            <a:ext cx="646068" cy="5007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2" idx="5"/>
            <a:endCxn id="9" idx="0"/>
          </p:cNvCxnSpPr>
          <p:nvPr/>
        </p:nvCxnSpPr>
        <p:spPr>
          <a:xfrm>
            <a:off x="1708679" y="4907974"/>
            <a:ext cx="449737" cy="4540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3" idx="5"/>
            <a:endCxn id="10" idx="0"/>
          </p:cNvCxnSpPr>
          <p:nvPr/>
        </p:nvCxnSpPr>
        <p:spPr>
          <a:xfrm>
            <a:off x="2844967" y="3875114"/>
            <a:ext cx="1199349" cy="53775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3" idx="3"/>
            <a:endCxn id="12" idx="0"/>
          </p:cNvCxnSpPr>
          <p:nvPr/>
        </p:nvCxnSpPr>
        <p:spPr>
          <a:xfrm flipH="1">
            <a:off x="1480622" y="3875114"/>
            <a:ext cx="908231" cy="47623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6" idx="3"/>
            <a:endCxn id="13" idx="7"/>
          </p:cNvCxnSpPr>
          <p:nvPr/>
        </p:nvCxnSpPr>
        <p:spPr>
          <a:xfrm flipH="1">
            <a:off x="2844967" y="2763736"/>
            <a:ext cx="1041025" cy="65025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6" idx="5"/>
            <a:endCxn id="15" idx="1"/>
          </p:cNvCxnSpPr>
          <p:nvPr/>
        </p:nvCxnSpPr>
        <p:spPr>
          <a:xfrm>
            <a:off x="4342106" y="2763736"/>
            <a:ext cx="1847529" cy="56777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5" idx="5"/>
            <a:endCxn id="14" idx="0"/>
          </p:cNvCxnSpPr>
          <p:nvPr/>
        </p:nvCxnSpPr>
        <p:spPr>
          <a:xfrm>
            <a:off x="6645749" y="3792635"/>
            <a:ext cx="499642" cy="4806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5" idx="3"/>
            <a:endCxn id="11" idx="0"/>
          </p:cNvCxnSpPr>
          <p:nvPr/>
        </p:nvCxnSpPr>
        <p:spPr>
          <a:xfrm flipH="1">
            <a:off x="5921600" y="3792635"/>
            <a:ext cx="268035" cy="543676"/>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 name="表格 4"/>
          <p:cNvGraphicFramePr>
            <a:graphicFrameLocks noGrp="1"/>
          </p:cNvGraphicFramePr>
          <p:nvPr/>
        </p:nvGraphicFramePr>
        <p:xfrm>
          <a:off x="467131" y="6157728"/>
          <a:ext cx="7799412" cy="572613"/>
        </p:xfrm>
        <a:graphic>
          <a:graphicData uri="http://schemas.openxmlformats.org/drawingml/2006/table">
            <a:tbl>
              <a:tblPr firstRow="1" bandRow="1">
                <a:tableStyleId>{5940675A-B579-460E-94D1-54222C63F5DA}</a:tableStyleId>
              </a:tblPr>
              <a:tblGrid>
                <a:gridCol w="649951"/>
                <a:gridCol w="649951"/>
                <a:gridCol w="649951"/>
                <a:gridCol w="649951"/>
                <a:gridCol w="649951"/>
                <a:gridCol w="649951"/>
                <a:gridCol w="649951"/>
                <a:gridCol w="649951"/>
                <a:gridCol w="649951"/>
                <a:gridCol w="649951"/>
                <a:gridCol w="649951"/>
                <a:gridCol w="649951"/>
              </a:tblGrid>
              <a:tr h="572613">
                <a:tc>
                  <a:txBody>
                    <a:bodyPr/>
                    <a:lstStyle/>
                    <a:p>
                      <a:r>
                        <a:rPr lang="en-US" altLang="zh-CN" sz="2800" dirty="0"/>
                        <a:t>A</a:t>
                      </a:r>
                      <a:endParaRPr lang="zh-CN" altLang="en-US" sz="2800" dirty="0"/>
                    </a:p>
                  </a:txBody>
                  <a:tcPr/>
                </a:tc>
                <a:tc>
                  <a:txBody>
                    <a:bodyPr/>
                    <a:lstStyle/>
                    <a:p>
                      <a:r>
                        <a:rPr lang="en-US" altLang="zh-CN" sz="2800" dirty="0"/>
                        <a:t>B</a:t>
                      </a:r>
                      <a:endParaRPr lang="zh-CN" altLang="en-US" sz="2800" dirty="0"/>
                    </a:p>
                  </a:txBody>
                  <a:tcPr/>
                </a:tc>
                <a:tc>
                  <a:txBody>
                    <a:bodyPr/>
                    <a:lstStyle/>
                    <a:p>
                      <a:r>
                        <a:rPr lang="en-US" altLang="zh-CN" sz="2800" dirty="0"/>
                        <a:t>C</a:t>
                      </a:r>
                      <a:endParaRPr lang="zh-CN" altLang="en-US" sz="2800" dirty="0"/>
                    </a:p>
                  </a:txBody>
                  <a:tcPr/>
                </a:tc>
                <a:tc>
                  <a:txBody>
                    <a:bodyPr/>
                    <a:lstStyle/>
                    <a:p>
                      <a:r>
                        <a:rPr lang="en-US" altLang="zh-CN" sz="2800" dirty="0"/>
                        <a:t>D</a:t>
                      </a:r>
                      <a:endParaRPr lang="zh-CN" altLang="en-US" sz="2800" dirty="0"/>
                    </a:p>
                  </a:txBody>
                  <a:tcPr/>
                </a:tc>
                <a:tc>
                  <a:txBody>
                    <a:bodyPr/>
                    <a:lstStyle/>
                    <a:p>
                      <a:r>
                        <a:rPr lang="en-US" altLang="zh-CN" sz="2800" dirty="0"/>
                        <a:t>E</a:t>
                      </a:r>
                      <a:endParaRPr lang="zh-CN" altLang="en-US" sz="2800" dirty="0"/>
                    </a:p>
                  </a:txBody>
                  <a:tcPr/>
                </a:tc>
                <a:tc>
                  <a:txBody>
                    <a:bodyPr/>
                    <a:lstStyle/>
                    <a:p>
                      <a:r>
                        <a:rPr lang="en-US" altLang="zh-CN" sz="2800" dirty="0"/>
                        <a:t>F</a:t>
                      </a:r>
                      <a:endParaRPr lang="zh-CN" altLang="en-US" sz="2800" dirty="0"/>
                    </a:p>
                  </a:txBody>
                  <a:tcPr/>
                </a:tc>
                <a:tc>
                  <a:txBody>
                    <a:bodyPr/>
                    <a:lstStyle/>
                    <a:p>
                      <a:r>
                        <a:rPr lang="en-US" altLang="zh-CN" sz="2800" dirty="0"/>
                        <a:t>G</a:t>
                      </a:r>
                      <a:endParaRPr lang="zh-CN" altLang="en-US" sz="2800" dirty="0"/>
                    </a:p>
                  </a:txBody>
                  <a:tcPr/>
                </a:tc>
                <a:tc>
                  <a:txBody>
                    <a:bodyPr/>
                    <a:lstStyle/>
                    <a:p>
                      <a:r>
                        <a:rPr lang="en-US" altLang="zh-CN" sz="2800" dirty="0"/>
                        <a:t>H</a:t>
                      </a:r>
                      <a:endParaRPr lang="zh-CN" altLang="en-US" sz="2800" dirty="0"/>
                    </a:p>
                  </a:txBody>
                  <a:tcPr/>
                </a:tc>
                <a:tc>
                  <a:txBody>
                    <a:bodyPr/>
                    <a:lstStyle/>
                    <a:p>
                      <a:r>
                        <a:rPr lang="en-US" altLang="zh-CN" sz="2800" dirty="0"/>
                        <a:t>I</a:t>
                      </a:r>
                      <a:endParaRPr lang="zh-CN" altLang="en-US" sz="2800" dirty="0"/>
                    </a:p>
                  </a:txBody>
                  <a:tcPr/>
                </a:tc>
                <a:tc>
                  <a:txBody>
                    <a:bodyPr/>
                    <a:lstStyle/>
                    <a:p>
                      <a:r>
                        <a:rPr lang="en-US" altLang="zh-CN" sz="2800" dirty="0"/>
                        <a:t>J</a:t>
                      </a:r>
                      <a:endParaRPr lang="zh-CN" altLang="en-US" sz="2800" dirty="0"/>
                    </a:p>
                  </a:txBody>
                  <a:tcPr/>
                </a:tc>
                <a:tc>
                  <a:txBody>
                    <a:bodyPr/>
                    <a:lstStyle/>
                    <a:p>
                      <a:r>
                        <a:rPr lang="en-US" altLang="zh-CN" sz="2800" dirty="0"/>
                        <a:t>K</a:t>
                      </a:r>
                      <a:endParaRPr lang="zh-CN" altLang="en-US" sz="2800" dirty="0"/>
                    </a:p>
                  </a:txBody>
                  <a:tcPr/>
                </a:tc>
                <a:tc>
                  <a:txBody>
                    <a:bodyPr/>
                    <a:lstStyle/>
                    <a:p>
                      <a:r>
                        <a:rPr lang="en-US" altLang="zh-CN" sz="2800" dirty="0"/>
                        <a:t>L</a:t>
                      </a:r>
                      <a:endParaRPr lang="zh-CN" altLang="en-US" sz="2800" dirty="0"/>
                    </a:p>
                  </a:txBody>
                  <a:tcPr/>
                </a:tc>
              </a:tr>
            </a:tbl>
          </a:graphicData>
        </a:graphic>
      </p:graphicFrame>
      <p:sp>
        <p:nvSpPr>
          <p:cNvPr id="32" name="椭圆 31"/>
          <p:cNvSpPr/>
          <p:nvPr/>
        </p:nvSpPr>
        <p:spPr>
          <a:xfrm>
            <a:off x="2863360" y="5362010"/>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t>J</a:t>
            </a:r>
            <a:endParaRPr lang="zh-CN" altLang="en-US" sz="3200" dirty="0"/>
          </a:p>
        </p:txBody>
      </p:sp>
      <p:sp>
        <p:nvSpPr>
          <p:cNvPr id="33" name="椭圆 32"/>
          <p:cNvSpPr/>
          <p:nvPr/>
        </p:nvSpPr>
        <p:spPr>
          <a:xfrm>
            <a:off x="4297713" y="5371655"/>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t>K</a:t>
            </a:r>
            <a:endParaRPr lang="zh-CN" altLang="en-US" sz="3200" dirty="0"/>
          </a:p>
        </p:txBody>
      </p:sp>
      <p:sp>
        <p:nvSpPr>
          <p:cNvPr id="35" name="椭圆 34"/>
          <p:cNvSpPr/>
          <p:nvPr/>
        </p:nvSpPr>
        <p:spPr>
          <a:xfrm>
            <a:off x="5182574" y="5408755"/>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t>L</a:t>
            </a:r>
            <a:endParaRPr lang="zh-CN" altLang="en-US" sz="3200" dirty="0"/>
          </a:p>
        </p:txBody>
      </p:sp>
      <p:cxnSp>
        <p:nvCxnSpPr>
          <p:cNvPr id="58" name="直接连接符 57"/>
          <p:cNvCxnSpPr>
            <a:stCxn id="11" idx="3"/>
            <a:endCxn id="35" idx="0"/>
          </p:cNvCxnSpPr>
          <p:nvPr/>
        </p:nvCxnSpPr>
        <p:spPr>
          <a:xfrm flipH="1">
            <a:off x="5505095" y="4892939"/>
            <a:ext cx="188448" cy="5158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10" idx="3"/>
            <a:endCxn id="32" idx="7"/>
          </p:cNvCxnSpPr>
          <p:nvPr/>
        </p:nvCxnSpPr>
        <p:spPr>
          <a:xfrm flipH="1">
            <a:off x="3413938" y="4969495"/>
            <a:ext cx="402321" cy="48801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10" idx="5"/>
            <a:endCxn id="33" idx="0"/>
          </p:cNvCxnSpPr>
          <p:nvPr/>
        </p:nvCxnSpPr>
        <p:spPr>
          <a:xfrm>
            <a:off x="4272373" y="4969495"/>
            <a:ext cx="347861" cy="402160"/>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B130DD-CC1B-40AE-987C-D28F25B9504B}" type="slidenum">
              <a:rPr lang="zh-CN" altLang="en-US">
                <a:latin typeface="Calibri" panose="020F0502020204030204" pitchFamily="34" charset="0"/>
              </a:rPr>
            </a:fld>
            <a:endParaRPr lang="zh-CN" altLang="en-US">
              <a:latin typeface="Calibri" panose="020F0502020204030204" pitchFamily="34" charset="0"/>
            </a:endParaRPr>
          </a:p>
        </p:txBody>
      </p:sp>
      <p:sp>
        <p:nvSpPr>
          <p:cNvPr id="34" name="矩形 33"/>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7782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文本框 16"/>
          <p:cNvSpPr txBox="1">
            <a:spLocks noChangeArrowheads="1"/>
          </p:cNvSpPr>
          <p:nvPr/>
        </p:nvSpPr>
        <p:spPr bwMode="auto">
          <a:xfrm>
            <a:off x="1127125" y="150813"/>
            <a:ext cx="6373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solidFill>
                  <a:schemeClr val="bg1"/>
                </a:solidFill>
              </a:rPr>
              <a:t>6.2.3 </a:t>
            </a:r>
            <a:r>
              <a:rPr lang="zh-CN" altLang="en-US" sz="3200" dirty="0">
                <a:solidFill>
                  <a:schemeClr val="bg1"/>
                </a:solidFill>
              </a:rPr>
              <a:t>二叉树的存储结构</a:t>
            </a:r>
            <a:endParaRPr lang="zh-CN" altLang="en-US" sz="3200" dirty="0">
              <a:solidFill>
                <a:schemeClr val="bg1"/>
              </a:solidFill>
            </a:endParaRPr>
          </a:p>
          <a:p>
            <a:endParaRPr lang="zh-CN" altLang="en-US" sz="3200" dirty="0">
              <a:solidFill>
                <a:schemeClr val="bg1"/>
              </a:solidFill>
            </a:endParaRPr>
          </a:p>
        </p:txBody>
      </p:sp>
      <p:sp>
        <p:nvSpPr>
          <p:cNvPr id="77829" name="文本框 1"/>
          <p:cNvSpPr txBox="1">
            <a:spLocks noChangeArrowheads="1"/>
          </p:cNvSpPr>
          <p:nvPr/>
        </p:nvSpPr>
        <p:spPr bwMode="auto">
          <a:xfrm>
            <a:off x="161186" y="823963"/>
            <a:ext cx="8520430" cy="1955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800" dirty="0">
                <a:latin typeface="微软雅黑" panose="020B0503020204020204" pitchFamily="34" charset="-122"/>
                <a:ea typeface="微软雅黑" panose="020B0503020204020204" pitchFamily="34" charset="-122"/>
              </a:rPr>
              <a:t>      对于一般的二叉树，我们必须按照完全二叉树的形式来存储，这样就会造成空间的浪费，单支树就是一个极端的情况。</a:t>
            </a:r>
            <a:endParaRPr lang="zh-CN" altLang="en-US" sz="2800" dirty="0">
              <a:latin typeface="微软雅黑" panose="020B0503020204020204" pitchFamily="34" charset="-122"/>
              <a:ea typeface="微软雅黑" panose="020B0503020204020204" pitchFamily="34" charset="-122"/>
            </a:endParaRPr>
          </a:p>
        </p:txBody>
      </p:sp>
      <p:sp>
        <p:nvSpPr>
          <p:cNvPr id="8" name="椭圆 7"/>
          <p:cNvSpPr/>
          <p:nvPr/>
        </p:nvSpPr>
        <p:spPr>
          <a:xfrm>
            <a:off x="2412053" y="4827529"/>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t>C</a:t>
            </a:r>
            <a:endParaRPr lang="zh-CN" altLang="en-US" sz="3200" dirty="0"/>
          </a:p>
        </p:txBody>
      </p:sp>
      <p:sp>
        <p:nvSpPr>
          <p:cNvPr id="9" name="椭圆 8"/>
          <p:cNvSpPr/>
          <p:nvPr/>
        </p:nvSpPr>
        <p:spPr>
          <a:xfrm>
            <a:off x="1698431" y="3714114"/>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B </a:t>
            </a:r>
            <a:endParaRPr lang="zh-CN" altLang="en-US" sz="3200" dirty="0">
              <a:solidFill>
                <a:schemeClr val="tx1"/>
              </a:solidFill>
            </a:endParaRPr>
          </a:p>
        </p:txBody>
      </p:sp>
      <p:sp>
        <p:nvSpPr>
          <p:cNvPr id="10" name="椭圆 9"/>
          <p:cNvSpPr/>
          <p:nvPr/>
        </p:nvSpPr>
        <p:spPr>
          <a:xfrm>
            <a:off x="895928" y="2776870"/>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A </a:t>
            </a:r>
            <a:endParaRPr lang="zh-CN" altLang="en-US" sz="3200" dirty="0">
              <a:solidFill>
                <a:schemeClr val="tx1"/>
              </a:solidFill>
            </a:endParaRPr>
          </a:p>
        </p:txBody>
      </p:sp>
      <p:cxnSp>
        <p:nvCxnSpPr>
          <p:cNvPr id="11" name="直接连接符 10"/>
          <p:cNvCxnSpPr>
            <a:stCxn id="10" idx="5"/>
            <a:endCxn id="9" idx="1"/>
          </p:cNvCxnSpPr>
          <p:nvPr/>
        </p:nvCxnSpPr>
        <p:spPr>
          <a:xfrm>
            <a:off x="1446506" y="3333498"/>
            <a:ext cx="346389" cy="47611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3174053" y="5979485"/>
            <a:ext cx="645042" cy="6521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t>D</a:t>
            </a:r>
            <a:endParaRPr lang="zh-CN" altLang="en-US" sz="3200" dirty="0"/>
          </a:p>
        </p:txBody>
      </p:sp>
      <p:cxnSp>
        <p:nvCxnSpPr>
          <p:cNvPr id="16" name="直接连接符 15"/>
          <p:cNvCxnSpPr>
            <a:stCxn id="8" idx="5"/>
            <a:endCxn id="15" idx="0"/>
          </p:cNvCxnSpPr>
          <p:nvPr/>
        </p:nvCxnSpPr>
        <p:spPr>
          <a:xfrm>
            <a:off x="2962631" y="5384157"/>
            <a:ext cx="533943" cy="59532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9" idx="5"/>
            <a:endCxn id="8" idx="0"/>
          </p:cNvCxnSpPr>
          <p:nvPr/>
        </p:nvCxnSpPr>
        <p:spPr>
          <a:xfrm>
            <a:off x="2249009" y="4270742"/>
            <a:ext cx="485565" cy="55678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6" name="表格 4"/>
          <p:cNvGraphicFramePr>
            <a:graphicFrameLocks noGrp="1"/>
          </p:cNvGraphicFramePr>
          <p:nvPr/>
        </p:nvGraphicFramePr>
        <p:xfrm>
          <a:off x="2906600" y="3357380"/>
          <a:ext cx="5955750" cy="572613"/>
        </p:xfrm>
        <a:graphic>
          <a:graphicData uri="http://schemas.openxmlformats.org/drawingml/2006/table">
            <a:tbl>
              <a:tblPr firstRow="1" bandRow="1">
                <a:tableStyleId>{5940675A-B579-460E-94D1-54222C63F5DA}</a:tableStyleId>
              </a:tblPr>
              <a:tblGrid>
                <a:gridCol w="397050"/>
                <a:gridCol w="397050"/>
                <a:gridCol w="397050"/>
                <a:gridCol w="397050"/>
                <a:gridCol w="397050"/>
                <a:gridCol w="397050"/>
                <a:gridCol w="397050"/>
                <a:gridCol w="397050"/>
                <a:gridCol w="397050"/>
                <a:gridCol w="397050"/>
                <a:gridCol w="397050"/>
                <a:gridCol w="397050"/>
                <a:gridCol w="397050"/>
                <a:gridCol w="397050"/>
                <a:gridCol w="397050"/>
              </a:tblGrid>
              <a:tr h="572613">
                <a:tc>
                  <a:txBody>
                    <a:bodyPr/>
                    <a:lstStyle/>
                    <a:p>
                      <a:r>
                        <a:rPr lang="en-US" altLang="zh-CN" sz="2800" dirty="0"/>
                        <a:t>A</a:t>
                      </a:r>
                      <a:endParaRPr lang="zh-CN" altLang="en-US" sz="2800" dirty="0"/>
                    </a:p>
                  </a:txBody>
                  <a:tcPr/>
                </a:tc>
                <a:tc>
                  <a:txBody>
                    <a:bodyPr/>
                    <a:lstStyle/>
                    <a:p>
                      <a:r>
                        <a:rPr lang="en-US" altLang="zh-CN" sz="2800" dirty="0"/>
                        <a:t>^</a:t>
                      </a:r>
                      <a:endParaRPr lang="zh-CN" altLang="en-US" sz="2800" dirty="0"/>
                    </a:p>
                  </a:txBody>
                  <a:tcPr/>
                </a:tc>
                <a:tc>
                  <a:txBody>
                    <a:bodyPr/>
                    <a:lstStyle/>
                    <a:p>
                      <a:r>
                        <a:rPr lang="en-US" altLang="zh-CN" sz="2800" dirty="0"/>
                        <a:t>B</a:t>
                      </a:r>
                      <a:endParaRPr lang="zh-CN" altLang="en-US" sz="2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a:t>
                      </a:r>
                      <a:endPar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a:t>
                      </a:r>
                      <a:endPar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tc>
                <a:tc>
                  <a:txBody>
                    <a:bodyPr/>
                    <a:lstStyle/>
                    <a:p>
                      <a:r>
                        <a:rPr lang="en-US" altLang="zh-CN" sz="2800" dirty="0"/>
                        <a:t>C </a:t>
                      </a:r>
                      <a:endParaRPr lang="zh-CN" altLang="en-US" sz="28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a:t>
                      </a:r>
                      <a:endPar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a:t>
                      </a:r>
                      <a:endPar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a:t>
                      </a:r>
                      <a:endPar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D </a:t>
                      </a:r>
                      <a:endParaRPr kumimoji="0" lang="zh-CN" altLang="en-US" sz="2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B130DD-CC1B-40AE-987C-D28F25B9504B}" type="slidenum">
              <a:rPr lang="zh-CN" altLang="en-US">
                <a:latin typeface="Calibri" panose="020F0502020204030204" pitchFamily="34" charset="0"/>
              </a:rPr>
            </a:fld>
            <a:endParaRPr lang="zh-CN" altLang="en-US">
              <a:latin typeface="Calibri" panose="020F0502020204030204" pitchFamily="34" charset="0"/>
            </a:endParaRPr>
          </a:p>
        </p:txBody>
      </p:sp>
      <p:sp>
        <p:nvSpPr>
          <p:cNvPr id="34" name="矩形 33"/>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7782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文本框 16"/>
          <p:cNvSpPr txBox="1">
            <a:spLocks noChangeArrowheads="1"/>
          </p:cNvSpPr>
          <p:nvPr/>
        </p:nvSpPr>
        <p:spPr bwMode="auto">
          <a:xfrm>
            <a:off x="1127125" y="150813"/>
            <a:ext cx="6373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solidFill>
                  <a:schemeClr val="bg1"/>
                </a:solidFill>
              </a:rPr>
              <a:t>6.2.3 </a:t>
            </a:r>
            <a:r>
              <a:rPr lang="zh-CN" altLang="en-US" sz="3200" dirty="0">
                <a:solidFill>
                  <a:schemeClr val="bg1"/>
                </a:solidFill>
              </a:rPr>
              <a:t>二叉树的存储结构</a:t>
            </a:r>
            <a:endParaRPr lang="zh-CN" altLang="en-US" sz="3200" dirty="0">
              <a:solidFill>
                <a:schemeClr val="bg1"/>
              </a:solidFill>
            </a:endParaRPr>
          </a:p>
          <a:p>
            <a:endParaRPr lang="zh-CN" altLang="en-US" sz="3200" dirty="0">
              <a:solidFill>
                <a:schemeClr val="bg1"/>
              </a:solidFill>
            </a:endParaRPr>
          </a:p>
        </p:txBody>
      </p:sp>
      <p:sp>
        <p:nvSpPr>
          <p:cNvPr id="77829" name="文本框 1"/>
          <p:cNvSpPr txBox="1">
            <a:spLocks noChangeArrowheads="1"/>
          </p:cNvSpPr>
          <p:nvPr/>
        </p:nvSpPr>
        <p:spPr bwMode="auto">
          <a:xfrm>
            <a:off x="113030" y="1114425"/>
            <a:ext cx="852043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latin typeface="微软雅黑" panose="020B0503020204020204" pitchFamily="34" charset="-122"/>
                <a:ea typeface="微软雅黑" panose="020B0503020204020204" pitchFamily="34" charset="-122"/>
              </a:rPr>
              <a:t>链式存储结构：</a:t>
            </a:r>
            <a:r>
              <a:rPr lang="zh-CN" altLang="en-US" sz="2800" dirty="0">
                <a:latin typeface="微软雅黑" panose="020B0503020204020204" pitchFamily="34" charset="-122"/>
                <a:ea typeface="微软雅黑" panose="020B0503020204020204" pitchFamily="34" charset="-122"/>
              </a:rPr>
              <a:t>对于任意的二叉树来说，每个结点只有两个孩子，一个双亲结点。我们可以涉及每个结点至少包括三个域：</a:t>
            </a:r>
            <a:r>
              <a:rPr lang="zh-CN" altLang="en-US" sz="2800" dirty="0">
                <a:solidFill>
                  <a:srgbClr val="FF0000"/>
                </a:solidFill>
                <a:latin typeface="微软雅黑" panose="020B0503020204020204" pitchFamily="34" charset="-122"/>
                <a:ea typeface="微软雅黑" panose="020B0503020204020204" pitchFamily="34" charset="-122"/>
              </a:rPr>
              <a:t>数据域</a:t>
            </a:r>
            <a:r>
              <a:rPr lang="zh-CN" altLang="en-US" sz="2800" dirty="0">
                <a:latin typeface="微软雅黑" panose="020B0503020204020204" pitchFamily="34" charset="-122"/>
                <a:ea typeface="微软雅黑" panose="020B0503020204020204" pitchFamily="34" charset="-122"/>
              </a:rPr>
              <a:t>、</a:t>
            </a:r>
            <a:r>
              <a:rPr lang="zh-CN" altLang="en-US" sz="2800" dirty="0">
                <a:solidFill>
                  <a:srgbClr val="FF0000"/>
                </a:solidFill>
                <a:latin typeface="微软雅黑" panose="020B0503020204020204" pitchFamily="34" charset="-122"/>
                <a:ea typeface="微软雅黑" panose="020B0503020204020204" pitchFamily="34" charset="-122"/>
              </a:rPr>
              <a:t>左孩子域</a:t>
            </a:r>
            <a:r>
              <a:rPr lang="zh-CN" altLang="en-US" sz="2800" dirty="0">
                <a:latin typeface="微软雅黑" panose="020B0503020204020204" pitchFamily="34" charset="-122"/>
                <a:ea typeface="微软雅黑" panose="020B0503020204020204" pitchFamily="34" charset="-122"/>
              </a:rPr>
              <a:t>和</a:t>
            </a:r>
            <a:r>
              <a:rPr lang="zh-CN" altLang="en-US" sz="2800" dirty="0">
                <a:solidFill>
                  <a:srgbClr val="FF0000"/>
                </a:solidFill>
                <a:latin typeface="微软雅黑" panose="020B0503020204020204" pitchFamily="34" charset="-122"/>
                <a:ea typeface="微软雅黑" panose="020B0503020204020204" pitchFamily="34" charset="-122"/>
              </a:rPr>
              <a:t>右孩子域</a:t>
            </a:r>
            <a:r>
              <a:rPr lang="zh-CN" altLang="en-US"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
        <p:nvSpPr>
          <p:cNvPr id="8" name="椭圆 7"/>
          <p:cNvSpPr/>
          <p:nvPr/>
        </p:nvSpPr>
        <p:spPr>
          <a:xfrm>
            <a:off x="839470" y="3429000"/>
            <a:ext cx="444770" cy="4851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B </a:t>
            </a:r>
            <a:endParaRPr lang="zh-CN" altLang="en-US" sz="3200" dirty="0">
              <a:solidFill>
                <a:schemeClr val="tx1"/>
              </a:solidFill>
            </a:endParaRPr>
          </a:p>
        </p:txBody>
      </p:sp>
      <p:sp>
        <p:nvSpPr>
          <p:cNvPr id="9" name="椭圆 8"/>
          <p:cNvSpPr/>
          <p:nvPr/>
        </p:nvSpPr>
        <p:spPr>
          <a:xfrm>
            <a:off x="1657345" y="2641381"/>
            <a:ext cx="444770" cy="4851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A </a:t>
            </a:r>
            <a:endParaRPr lang="zh-CN" altLang="en-US" sz="3200" dirty="0">
              <a:solidFill>
                <a:schemeClr val="tx1"/>
              </a:solidFill>
            </a:endParaRPr>
          </a:p>
        </p:txBody>
      </p:sp>
      <p:cxnSp>
        <p:nvCxnSpPr>
          <p:cNvPr id="10" name="直接连接符 9"/>
          <p:cNvCxnSpPr>
            <a:stCxn id="9" idx="3"/>
            <a:endCxn id="8" idx="7"/>
          </p:cNvCxnSpPr>
          <p:nvPr/>
        </p:nvCxnSpPr>
        <p:spPr>
          <a:xfrm flipH="1">
            <a:off x="1219105" y="3055522"/>
            <a:ext cx="503375" cy="44453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83403" y="4198861"/>
            <a:ext cx="444770" cy="4851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D </a:t>
            </a:r>
            <a:endParaRPr lang="zh-CN" altLang="en-US" sz="3200" dirty="0">
              <a:solidFill>
                <a:schemeClr val="tx1"/>
              </a:solidFill>
            </a:endParaRPr>
          </a:p>
        </p:txBody>
      </p:sp>
      <p:cxnSp>
        <p:nvCxnSpPr>
          <p:cNvPr id="15" name="直接连接符 14"/>
          <p:cNvCxnSpPr>
            <a:stCxn id="8" idx="3"/>
            <a:endCxn id="12" idx="7"/>
          </p:cNvCxnSpPr>
          <p:nvPr/>
        </p:nvCxnSpPr>
        <p:spPr>
          <a:xfrm flipH="1">
            <a:off x="463038" y="3843141"/>
            <a:ext cx="441567" cy="42677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682220" y="4970414"/>
            <a:ext cx="444770" cy="4851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G </a:t>
            </a:r>
            <a:endParaRPr lang="zh-CN" altLang="en-US" sz="3200" dirty="0">
              <a:solidFill>
                <a:schemeClr val="tx1"/>
              </a:solidFill>
            </a:endParaRPr>
          </a:p>
        </p:txBody>
      </p:sp>
      <p:cxnSp>
        <p:nvCxnSpPr>
          <p:cNvPr id="21" name="直接连接符 20"/>
          <p:cNvCxnSpPr>
            <a:stCxn id="12" idx="5"/>
            <a:endCxn id="20" idx="1"/>
          </p:cNvCxnSpPr>
          <p:nvPr/>
        </p:nvCxnSpPr>
        <p:spPr>
          <a:xfrm>
            <a:off x="463038" y="4613002"/>
            <a:ext cx="284317" cy="42846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2416161" y="3452021"/>
            <a:ext cx="444770" cy="4851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C </a:t>
            </a:r>
            <a:endParaRPr lang="zh-CN" altLang="en-US" sz="3200" dirty="0">
              <a:solidFill>
                <a:schemeClr val="tx1"/>
              </a:solidFill>
            </a:endParaRPr>
          </a:p>
        </p:txBody>
      </p:sp>
      <p:cxnSp>
        <p:nvCxnSpPr>
          <p:cNvPr id="25" name="直接连接符 24"/>
          <p:cNvCxnSpPr>
            <a:stCxn id="9" idx="5"/>
            <a:endCxn id="24" idx="1"/>
          </p:cNvCxnSpPr>
          <p:nvPr/>
        </p:nvCxnSpPr>
        <p:spPr>
          <a:xfrm>
            <a:off x="2036980" y="3055522"/>
            <a:ext cx="444316" cy="46755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1731841" y="4271139"/>
            <a:ext cx="444770" cy="4851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E </a:t>
            </a:r>
            <a:endParaRPr lang="zh-CN" altLang="en-US" sz="3200" dirty="0">
              <a:solidFill>
                <a:schemeClr val="tx1"/>
              </a:solidFill>
            </a:endParaRPr>
          </a:p>
        </p:txBody>
      </p:sp>
      <p:sp>
        <p:nvSpPr>
          <p:cNvPr id="29" name="椭圆 28"/>
          <p:cNvSpPr/>
          <p:nvPr/>
        </p:nvSpPr>
        <p:spPr>
          <a:xfrm>
            <a:off x="3161097" y="4287227"/>
            <a:ext cx="444770" cy="4851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3200" dirty="0">
                <a:solidFill>
                  <a:schemeClr val="tx1"/>
                </a:solidFill>
              </a:rPr>
              <a:t>F </a:t>
            </a:r>
            <a:endParaRPr lang="zh-CN" altLang="en-US" sz="3200" dirty="0">
              <a:solidFill>
                <a:schemeClr val="tx1"/>
              </a:solidFill>
            </a:endParaRPr>
          </a:p>
        </p:txBody>
      </p:sp>
      <p:cxnSp>
        <p:nvCxnSpPr>
          <p:cNvPr id="30" name="直接连接符 29"/>
          <p:cNvCxnSpPr>
            <a:stCxn id="24" idx="5"/>
            <a:endCxn id="29" idx="1"/>
          </p:cNvCxnSpPr>
          <p:nvPr/>
        </p:nvCxnSpPr>
        <p:spPr>
          <a:xfrm>
            <a:off x="2795796" y="3866162"/>
            <a:ext cx="430436" cy="4921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4" idx="3"/>
            <a:endCxn id="28" idx="7"/>
          </p:cNvCxnSpPr>
          <p:nvPr/>
        </p:nvCxnSpPr>
        <p:spPr>
          <a:xfrm flipH="1">
            <a:off x="2111476" y="3866162"/>
            <a:ext cx="369820" cy="47603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846866" y="6109985"/>
            <a:ext cx="1620957" cy="523220"/>
          </a:xfrm>
          <a:prstGeom prst="rect">
            <a:avLst/>
          </a:prstGeom>
          <a:noFill/>
        </p:spPr>
        <p:txBody>
          <a:bodyPr wrap="none" rtlCol="0">
            <a:spAutoFit/>
          </a:bodyPr>
          <a:lstStyle/>
          <a:p>
            <a:r>
              <a:rPr lang="zh-CN" altLang="en-US" sz="2800" dirty="0"/>
              <a:t>二叉链表</a:t>
            </a:r>
            <a:endParaRPr lang="zh-CN" altLang="en-US" sz="2800" dirty="0"/>
          </a:p>
        </p:txBody>
      </p:sp>
      <p:graphicFrame>
        <p:nvGraphicFramePr>
          <p:cNvPr id="40" name="表格 4"/>
          <p:cNvGraphicFramePr>
            <a:graphicFrameLocks noGrp="1"/>
          </p:cNvGraphicFramePr>
          <p:nvPr/>
        </p:nvGraphicFramePr>
        <p:xfrm>
          <a:off x="3074846" y="6081772"/>
          <a:ext cx="4572000" cy="614363"/>
        </p:xfrm>
        <a:graphic>
          <a:graphicData uri="http://schemas.openxmlformats.org/drawingml/2006/table">
            <a:tbl>
              <a:tblPr firstRow="1" bandRow="1">
                <a:tableStyleId>{5940675A-B579-460E-94D1-54222C63F5DA}</a:tableStyleId>
              </a:tblPr>
              <a:tblGrid>
                <a:gridCol w="1524000"/>
                <a:gridCol w="1524000"/>
                <a:gridCol w="1524000"/>
              </a:tblGrid>
              <a:tr h="614363">
                <a:tc>
                  <a:txBody>
                    <a:bodyPr/>
                    <a:lstStyle/>
                    <a:p>
                      <a:r>
                        <a:rPr lang="en-US" altLang="zh-CN" sz="2800" dirty="0" err="1"/>
                        <a:t>LChild</a:t>
                      </a:r>
                      <a:endParaRPr lang="zh-CN" altLang="en-US" sz="2800" dirty="0"/>
                    </a:p>
                  </a:txBody>
                  <a:tcPr/>
                </a:tc>
                <a:tc>
                  <a:txBody>
                    <a:bodyPr/>
                    <a:lstStyle/>
                    <a:p>
                      <a:r>
                        <a:rPr lang="en-US" altLang="zh-CN" sz="2800" dirty="0"/>
                        <a:t>Data</a:t>
                      </a:r>
                      <a:endParaRPr lang="zh-CN" altLang="en-US" sz="2800" dirty="0"/>
                    </a:p>
                  </a:txBody>
                  <a:tcPr/>
                </a:tc>
                <a:tc>
                  <a:txBody>
                    <a:bodyPr/>
                    <a:lstStyle/>
                    <a:p>
                      <a:r>
                        <a:rPr lang="en-US" altLang="zh-CN" sz="2800" dirty="0" err="1"/>
                        <a:t>RChild</a:t>
                      </a:r>
                      <a:endParaRPr lang="zh-CN" altLang="en-US" sz="2800" dirty="0"/>
                    </a:p>
                  </a:txBody>
                  <a:tcPr/>
                </a:tc>
              </a:tr>
            </a:tbl>
          </a:graphicData>
        </a:graphic>
      </p:graphicFrame>
      <p:graphicFrame>
        <p:nvGraphicFramePr>
          <p:cNvPr id="41" name="表格 4"/>
          <p:cNvGraphicFramePr>
            <a:graphicFrameLocks noGrp="1"/>
          </p:cNvGraphicFramePr>
          <p:nvPr/>
        </p:nvGraphicFramePr>
        <p:xfrm>
          <a:off x="5578016" y="2581528"/>
          <a:ext cx="1242060" cy="396240"/>
        </p:xfrm>
        <a:graphic>
          <a:graphicData uri="http://schemas.openxmlformats.org/drawingml/2006/table">
            <a:tbl>
              <a:tblPr firstRow="1" bandRow="1">
                <a:tableStyleId>{5940675A-B579-460E-94D1-54222C63F5DA}</a:tableStyleId>
              </a:tblPr>
              <a:tblGrid>
                <a:gridCol w="414020"/>
                <a:gridCol w="330636"/>
                <a:gridCol w="497404"/>
              </a:tblGrid>
              <a:tr h="358819">
                <a:tc>
                  <a:txBody>
                    <a:bodyPr/>
                    <a:lstStyle/>
                    <a:p>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A</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txBody>
                  <a:tcPr/>
                </a:tc>
              </a:tr>
            </a:tbl>
          </a:graphicData>
        </a:graphic>
      </p:graphicFrame>
      <p:graphicFrame>
        <p:nvGraphicFramePr>
          <p:cNvPr id="58" name="表格 4"/>
          <p:cNvGraphicFramePr>
            <a:graphicFrameLocks noGrp="1"/>
          </p:cNvGraphicFramePr>
          <p:nvPr/>
        </p:nvGraphicFramePr>
        <p:xfrm>
          <a:off x="4739816" y="3382745"/>
          <a:ext cx="1242060" cy="396240"/>
        </p:xfrm>
        <a:graphic>
          <a:graphicData uri="http://schemas.openxmlformats.org/drawingml/2006/table">
            <a:tbl>
              <a:tblPr firstRow="1" bandRow="1">
                <a:tableStyleId>{5940675A-B579-460E-94D1-54222C63F5DA}</a:tableStyleId>
              </a:tblPr>
              <a:tblGrid>
                <a:gridCol w="414020"/>
                <a:gridCol w="330636"/>
                <a:gridCol w="497404"/>
              </a:tblGrid>
              <a:tr h="358819">
                <a:tc>
                  <a:txBody>
                    <a:bodyPr/>
                    <a:lstStyle/>
                    <a:p>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B</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 </a:t>
                      </a:r>
                      <a:r>
                        <a:rPr lang="en-US" altLang="zh-CN" sz="2000" dirty="0">
                          <a:latin typeface="Lucida Sans Unicode" panose="020B0602030504020204" pitchFamily="34" charset="0"/>
                          <a:ea typeface="微软雅黑" panose="020B0503020204020204" pitchFamily="34" charset="-122"/>
                          <a:cs typeface="Lucida Sans Unicode" panose="020B0602030504020204" pitchFamily="34" charset="0"/>
                        </a:rPr>
                        <a:t>∧</a:t>
                      </a:r>
                      <a:endParaRPr lang="zh-CN" altLang="en-US" sz="2000" dirty="0">
                        <a:latin typeface="微软雅黑" panose="020B0503020204020204" pitchFamily="34" charset="-122"/>
                        <a:ea typeface="微软雅黑" panose="020B0503020204020204" pitchFamily="34" charset="-122"/>
                      </a:endParaRPr>
                    </a:p>
                  </a:txBody>
                  <a:tcPr/>
                </a:tc>
              </a:tr>
            </a:tbl>
          </a:graphicData>
        </a:graphic>
      </p:graphicFrame>
      <p:graphicFrame>
        <p:nvGraphicFramePr>
          <p:cNvPr id="61" name="表格 4"/>
          <p:cNvGraphicFramePr>
            <a:graphicFrameLocks noGrp="1"/>
          </p:cNvGraphicFramePr>
          <p:nvPr/>
        </p:nvGraphicFramePr>
        <p:xfrm>
          <a:off x="6627472" y="3328742"/>
          <a:ext cx="1242060" cy="396240"/>
        </p:xfrm>
        <a:graphic>
          <a:graphicData uri="http://schemas.openxmlformats.org/drawingml/2006/table">
            <a:tbl>
              <a:tblPr firstRow="1" bandRow="1">
                <a:tableStyleId>{5940675A-B579-460E-94D1-54222C63F5DA}</a:tableStyleId>
              </a:tblPr>
              <a:tblGrid>
                <a:gridCol w="414020"/>
                <a:gridCol w="330636"/>
                <a:gridCol w="497404"/>
              </a:tblGrid>
              <a:tr h="358819">
                <a:tc>
                  <a:txBody>
                    <a:bodyPr/>
                    <a:lstStyle/>
                    <a:p>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C</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txBody>
                  <a:tcPr/>
                </a:tc>
              </a:tr>
            </a:tbl>
          </a:graphicData>
        </a:graphic>
      </p:graphicFrame>
      <p:graphicFrame>
        <p:nvGraphicFramePr>
          <p:cNvPr id="62" name="表格 4"/>
          <p:cNvGraphicFramePr>
            <a:graphicFrameLocks noGrp="1"/>
          </p:cNvGraphicFramePr>
          <p:nvPr/>
        </p:nvGraphicFramePr>
        <p:xfrm>
          <a:off x="6087126" y="4292635"/>
          <a:ext cx="1242060" cy="396240"/>
        </p:xfrm>
        <a:graphic>
          <a:graphicData uri="http://schemas.openxmlformats.org/drawingml/2006/table">
            <a:tbl>
              <a:tblPr firstRow="1" bandRow="1">
                <a:tableStyleId>{5940675A-B579-460E-94D1-54222C63F5DA}</a:tableStyleId>
              </a:tblPr>
              <a:tblGrid>
                <a:gridCol w="414020"/>
                <a:gridCol w="330636"/>
                <a:gridCol w="497404"/>
              </a:tblGrid>
              <a:tr h="358819">
                <a:tc>
                  <a:txBody>
                    <a:bodyPr/>
                    <a:lstStyle/>
                    <a:p>
                      <a:r>
                        <a:rPr lang="en-US" altLang="zh-CN" sz="2000" dirty="0">
                          <a:latin typeface="Lucida Sans Unicode" panose="020B0602030504020204" pitchFamily="34" charset="0"/>
                          <a:ea typeface="微软雅黑" panose="020B0503020204020204" pitchFamily="34" charset="-122"/>
                          <a:cs typeface="Lucida Sans Unicode" panose="020B0602030504020204" pitchFamily="34" charset="0"/>
                        </a:rPr>
                        <a:t>∧</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E</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 </a:t>
                      </a:r>
                      <a:r>
                        <a:rPr lang="en-US" altLang="zh-CN" sz="2000" dirty="0">
                          <a:latin typeface="Lucida Sans Unicode" panose="020B0602030504020204" pitchFamily="34" charset="0"/>
                          <a:ea typeface="微软雅黑" panose="020B0503020204020204" pitchFamily="34" charset="-122"/>
                          <a:cs typeface="Lucida Sans Unicode" panose="020B0602030504020204" pitchFamily="34" charset="0"/>
                        </a:rPr>
                        <a:t>∧</a:t>
                      </a:r>
                      <a:endParaRPr lang="zh-CN" altLang="en-US" sz="2000" dirty="0">
                        <a:latin typeface="微软雅黑" panose="020B0503020204020204" pitchFamily="34" charset="-122"/>
                        <a:ea typeface="微软雅黑" panose="020B0503020204020204" pitchFamily="34" charset="-122"/>
                      </a:endParaRPr>
                    </a:p>
                  </a:txBody>
                  <a:tcPr/>
                </a:tc>
              </a:tr>
            </a:tbl>
          </a:graphicData>
        </a:graphic>
      </p:graphicFrame>
      <p:graphicFrame>
        <p:nvGraphicFramePr>
          <p:cNvPr id="63" name="表格 4"/>
          <p:cNvGraphicFramePr>
            <a:graphicFrameLocks noGrp="1"/>
          </p:cNvGraphicFramePr>
          <p:nvPr/>
        </p:nvGraphicFramePr>
        <p:xfrm>
          <a:off x="7759042" y="4269916"/>
          <a:ext cx="1242060" cy="396240"/>
        </p:xfrm>
        <a:graphic>
          <a:graphicData uri="http://schemas.openxmlformats.org/drawingml/2006/table">
            <a:tbl>
              <a:tblPr firstRow="1" bandRow="1">
                <a:tableStyleId>{5940675A-B579-460E-94D1-54222C63F5DA}</a:tableStyleId>
              </a:tblPr>
              <a:tblGrid>
                <a:gridCol w="414020"/>
                <a:gridCol w="330636"/>
                <a:gridCol w="497404"/>
              </a:tblGrid>
              <a:tr h="358819">
                <a:tc>
                  <a:txBody>
                    <a:bodyPr/>
                    <a:lstStyle/>
                    <a:p>
                      <a:r>
                        <a:rPr lang="en-US" altLang="zh-CN" sz="2000" dirty="0">
                          <a:latin typeface="Lucida Sans Unicode" panose="020B0602030504020204" pitchFamily="34" charset="0"/>
                          <a:ea typeface="微软雅黑" panose="020B0503020204020204" pitchFamily="34" charset="-122"/>
                          <a:cs typeface="Lucida Sans Unicode" panose="020B0602030504020204" pitchFamily="34" charset="0"/>
                        </a:rPr>
                        <a:t>∧</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F</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 </a:t>
                      </a:r>
                      <a:r>
                        <a:rPr lang="en-US" altLang="zh-CN" sz="2000" dirty="0">
                          <a:latin typeface="Lucida Sans Unicode" panose="020B0602030504020204" pitchFamily="34" charset="0"/>
                          <a:ea typeface="微软雅黑" panose="020B0503020204020204" pitchFamily="34" charset="-122"/>
                          <a:cs typeface="Lucida Sans Unicode" panose="020B0602030504020204" pitchFamily="34" charset="0"/>
                        </a:rPr>
                        <a:t>∧</a:t>
                      </a:r>
                      <a:endParaRPr lang="zh-CN" altLang="en-US" sz="2000" dirty="0">
                        <a:latin typeface="微软雅黑" panose="020B0503020204020204" pitchFamily="34" charset="-122"/>
                        <a:ea typeface="微软雅黑" panose="020B0503020204020204" pitchFamily="34" charset="-122"/>
                      </a:endParaRPr>
                    </a:p>
                  </a:txBody>
                  <a:tcPr/>
                </a:tc>
              </a:tr>
            </a:tbl>
          </a:graphicData>
        </a:graphic>
      </p:graphicFrame>
      <p:graphicFrame>
        <p:nvGraphicFramePr>
          <p:cNvPr id="64" name="表格 4"/>
          <p:cNvGraphicFramePr>
            <a:graphicFrameLocks noGrp="1"/>
          </p:cNvGraphicFramePr>
          <p:nvPr/>
        </p:nvGraphicFramePr>
        <p:xfrm>
          <a:off x="4845066" y="5061134"/>
          <a:ext cx="1242060" cy="396240"/>
        </p:xfrm>
        <a:graphic>
          <a:graphicData uri="http://schemas.openxmlformats.org/drawingml/2006/table">
            <a:tbl>
              <a:tblPr firstRow="1" bandRow="1">
                <a:tableStyleId>{5940675A-B579-460E-94D1-54222C63F5DA}</a:tableStyleId>
              </a:tblPr>
              <a:tblGrid>
                <a:gridCol w="414020"/>
                <a:gridCol w="330636"/>
                <a:gridCol w="497404"/>
              </a:tblGrid>
              <a:tr h="358819">
                <a:tc>
                  <a:txBody>
                    <a:bodyPr/>
                    <a:lstStyle/>
                    <a:p>
                      <a:r>
                        <a:rPr lang="en-US" altLang="zh-CN" sz="2000" dirty="0">
                          <a:latin typeface="Lucida Sans Unicode" panose="020B0602030504020204" pitchFamily="34" charset="0"/>
                          <a:ea typeface="微软雅黑" panose="020B0503020204020204" pitchFamily="34" charset="-122"/>
                          <a:cs typeface="Lucida Sans Unicode" panose="020B0602030504020204" pitchFamily="34" charset="0"/>
                        </a:rPr>
                        <a:t>∧</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G</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 </a:t>
                      </a:r>
                      <a:r>
                        <a:rPr lang="en-US" altLang="zh-CN" sz="2000" dirty="0">
                          <a:latin typeface="Lucida Sans Unicode" panose="020B0602030504020204" pitchFamily="34" charset="0"/>
                          <a:ea typeface="微软雅黑" panose="020B0503020204020204" pitchFamily="34" charset="-122"/>
                          <a:cs typeface="Lucida Sans Unicode" panose="020B0602030504020204" pitchFamily="34" charset="0"/>
                        </a:rPr>
                        <a:t>∧</a:t>
                      </a:r>
                      <a:endParaRPr lang="zh-CN" altLang="en-US" sz="2000" dirty="0">
                        <a:latin typeface="微软雅黑" panose="020B0503020204020204" pitchFamily="34" charset="-122"/>
                        <a:ea typeface="微软雅黑" panose="020B0503020204020204" pitchFamily="34" charset="-122"/>
                      </a:endParaRPr>
                    </a:p>
                  </a:txBody>
                  <a:tcPr/>
                </a:tc>
              </a:tr>
            </a:tbl>
          </a:graphicData>
        </a:graphic>
      </p:graphicFrame>
      <p:graphicFrame>
        <p:nvGraphicFramePr>
          <p:cNvPr id="65" name="表格 4"/>
          <p:cNvGraphicFramePr>
            <a:graphicFrameLocks noGrp="1"/>
          </p:cNvGraphicFramePr>
          <p:nvPr/>
        </p:nvGraphicFramePr>
        <p:xfrm>
          <a:off x="3921952" y="4292635"/>
          <a:ext cx="1242060" cy="396240"/>
        </p:xfrm>
        <a:graphic>
          <a:graphicData uri="http://schemas.openxmlformats.org/drawingml/2006/table">
            <a:tbl>
              <a:tblPr firstRow="1" bandRow="1">
                <a:tableStyleId>{5940675A-B579-460E-94D1-54222C63F5DA}</a:tableStyleId>
              </a:tblPr>
              <a:tblGrid>
                <a:gridCol w="414020"/>
                <a:gridCol w="330636"/>
                <a:gridCol w="497404"/>
              </a:tblGrid>
              <a:tr h="358819">
                <a:tc>
                  <a:txBody>
                    <a:bodyPr/>
                    <a:lstStyle/>
                    <a:p>
                      <a:r>
                        <a:rPr lang="en-US" altLang="zh-CN" sz="2000" dirty="0">
                          <a:latin typeface="Lucida Sans Unicode" panose="020B0602030504020204" pitchFamily="34" charset="0"/>
                          <a:ea typeface="微软雅黑" panose="020B0503020204020204" pitchFamily="34" charset="-122"/>
                          <a:cs typeface="Lucida Sans Unicode" panose="020B0602030504020204" pitchFamily="34" charset="0"/>
                        </a:rPr>
                        <a:t>∧</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D</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txBody>
                  <a:tcPr/>
                </a:tc>
              </a:tr>
            </a:tbl>
          </a:graphicData>
        </a:graphic>
      </p:graphicFrame>
      <p:cxnSp>
        <p:nvCxnSpPr>
          <p:cNvPr id="55" name="直接箭头连接符 54"/>
          <p:cNvCxnSpPr>
            <a:endCxn id="58" idx="0"/>
          </p:cNvCxnSpPr>
          <p:nvPr/>
        </p:nvCxnSpPr>
        <p:spPr>
          <a:xfrm flipH="1">
            <a:off x="5360846" y="2779648"/>
            <a:ext cx="420708" cy="603097"/>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endCxn id="65" idx="0"/>
          </p:cNvCxnSpPr>
          <p:nvPr/>
        </p:nvCxnSpPr>
        <p:spPr>
          <a:xfrm flipH="1">
            <a:off x="4542982" y="3651163"/>
            <a:ext cx="415073" cy="641472"/>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endCxn id="62" idx="0"/>
          </p:cNvCxnSpPr>
          <p:nvPr/>
        </p:nvCxnSpPr>
        <p:spPr>
          <a:xfrm flipH="1">
            <a:off x="6708156" y="3607248"/>
            <a:ext cx="207536" cy="685387"/>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endCxn id="63" idx="0"/>
          </p:cNvCxnSpPr>
          <p:nvPr/>
        </p:nvCxnSpPr>
        <p:spPr>
          <a:xfrm>
            <a:off x="7604706" y="3571502"/>
            <a:ext cx="775366" cy="698414"/>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1" idx="0"/>
          </p:cNvCxnSpPr>
          <p:nvPr/>
        </p:nvCxnSpPr>
        <p:spPr>
          <a:xfrm>
            <a:off x="6628601" y="2766634"/>
            <a:ext cx="619901" cy="562108"/>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endCxn id="64" idx="0"/>
          </p:cNvCxnSpPr>
          <p:nvPr/>
        </p:nvCxnSpPr>
        <p:spPr>
          <a:xfrm>
            <a:off x="4854061" y="4529825"/>
            <a:ext cx="612035" cy="53130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20" grpId="0" animBg="1"/>
      <p:bldP spid="24" grpId="0" animBg="1"/>
      <p:bldP spid="28" grpId="0" animBg="1"/>
      <p:bldP spid="29" grpId="0" animBg="1"/>
      <p:bldP spid="3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B130DD-CC1B-40AE-987C-D28F25B9504B}" type="slidenum">
              <a:rPr lang="zh-CN" altLang="en-US">
                <a:latin typeface="Calibri" panose="020F0502020204030204" pitchFamily="34" charset="0"/>
              </a:rPr>
            </a:fld>
            <a:endParaRPr lang="zh-CN" altLang="en-US">
              <a:latin typeface="Calibri" panose="020F0502020204030204" pitchFamily="34" charset="0"/>
            </a:endParaRPr>
          </a:p>
        </p:txBody>
      </p:sp>
      <p:sp>
        <p:nvSpPr>
          <p:cNvPr id="34" name="矩形 33"/>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7782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文本框 16"/>
          <p:cNvSpPr txBox="1">
            <a:spLocks noChangeArrowheads="1"/>
          </p:cNvSpPr>
          <p:nvPr/>
        </p:nvSpPr>
        <p:spPr bwMode="auto">
          <a:xfrm>
            <a:off x="1127125" y="150813"/>
            <a:ext cx="6373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solidFill>
                  <a:schemeClr val="bg1"/>
                </a:solidFill>
              </a:rPr>
              <a:t>6.2.3 </a:t>
            </a:r>
            <a:r>
              <a:rPr lang="zh-CN" altLang="en-US" sz="3200" dirty="0">
                <a:solidFill>
                  <a:schemeClr val="bg1"/>
                </a:solidFill>
              </a:rPr>
              <a:t>二叉树的存储结构</a:t>
            </a:r>
            <a:endParaRPr lang="zh-CN" altLang="en-US" sz="3200" dirty="0">
              <a:solidFill>
                <a:schemeClr val="bg1"/>
              </a:solidFill>
            </a:endParaRPr>
          </a:p>
          <a:p>
            <a:endParaRPr lang="zh-CN" altLang="en-US" sz="3200" dirty="0">
              <a:solidFill>
                <a:schemeClr val="bg1"/>
              </a:solidFill>
            </a:endParaRPr>
          </a:p>
        </p:txBody>
      </p:sp>
      <p:sp>
        <p:nvSpPr>
          <p:cNvPr id="77829" name="文本框 1"/>
          <p:cNvSpPr txBox="1">
            <a:spLocks noChangeArrowheads="1"/>
          </p:cNvSpPr>
          <p:nvPr/>
        </p:nvSpPr>
        <p:spPr bwMode="auto">
          <a:xfrm>
            <a:off x="311785" y="885825"/>
            <a:ext cx="8520430"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800" dirty="0">
                <a:latin typeface="微软雅黑" panose="020B0503020204020204" pitchFamily="34" charset="-122"/>
                <a:ea typeface="微软雅黑" panose="020B0503020204020204" pitchFamily="34" charset="-122"/>
              </a:rPr>
              <a:t>二叉树的二叉链表结点的结构用</a:t>
            </a:r>
            <a:r>
              <a:rPr lang="en-US" altLang="zh-CN" sz="2800" dirty="0">
                <a:solidFill>
                  <a:srgbClr val="FF0000"/>
                </a:solidFill>
                <a:latin typeface="微软雅黑" panose="020B0503020204020204" pitchFamily="34" charset="-122"/>
                <a:ea typeface="微软雅黑" panose="020B0503020204020204" pitchFamily="34" charset="-122"/>
              </a:rPr>
              <a:t>C</a:t>
            </a:r>
            <a:r>
              <a:rPr lang="zh-CN" altLang="en-US" sz="2800" dirty="0">
                <a:solidFill>
                  <a:srgbClr val="FF0000"/>
                </a:solidFill>
                <a:latin typeface="微软雅黑" panose="020B0503020204020204" pitchFamily="34" charset="-122"/>
                <a:ea typeface="微软雅黑" panose="020B0503020204020204" pitchFamily="34" charset="-122"/>
              </a:rPr>
              <a:t>语言</a:t>
            </a:r>
            <a:r>
              <a:rPr lang="zh-CN" altLang="en-US" sz="2800" dirty="0">
                <a:latin typeface="微软雅黑" panose="020B0503020204020204" pitchFamily="34" charset="-122"/>
                <a:ea typeface="微软雅黑" panose="020B0503020204020204" pitchFamily="34" charset="-122"/>
              </a:rPr>
              <a:t>描述为：</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typedef struct Node</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DataType        </a:t>
            </a:r>
            <a:r>
              <a:rPr lang="en-US" altLang="zh-CN" sz="2400" dirty="0">
                <a:solidFill>
                  <a:srgbClr val="FF0000"/>
                </a:solidFill>
                <a:latin typeface="微软雅黑" panose="020B0503020204020204" pitchFamily="34" charset="-122"/>
                <a:ea typeface="微软雅黑" panose="020B0503020204020204" pitchFamily="34" charset="-122"/>
              </a:rPr>
              <a:t>data</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struct Node    </a:t>
            </a:r>
            <a:r>
              <a:rPr lang="en-US" altLang="zh-CN" sz="2400" dirty="0">
                <a:solidFill>
                  <a:srgbClr val="FF0000"/>
                </a:solidFill>
                <a:latin typeface="微软雅黑" panose="020B0503020204020204" pitchFamily="34" charset="-122"/>
                <a:ea typeface="微软雅黑" panose="020B0503020204020204" pitchFamily="34" charset="-122"/>
              </a:rPr>
              <a:t>*LChild</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sym typeface="+mn-ea"/>
              </a:rPr>
              <a:t>		struct Node   </a:t>
            </a:r>
            <a:r>
              <a:rPr lang="en-US" altLang="zh-CN" sz="2400" dirty="0">
                <a:solidFill>
                  <a:srgbClr val="FF0000"/>
                </a:solidFill>
                <a:latin typeface="微软雅黑" panose="020B0503020204020204" pitchFamily="34" charset="-122"/>
                <a:ea typeface="微软雅黑" panose="020B0503020204020204" pitchFamily="34" charset="-122"/>
                <a:sym typeface="+mn-ea"/>
              </a:rPr>
              <a:t> *RChild</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BiTNode</a:t>
            </a:r>
            <a:r>
              <a:rPr lang="zh-CN" altLang="en-US" sz="2400" dirty="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a:t>
            </a:r>
            <a:r>
              <a:rPr lang="en-US" altLang="zh-CN" sz="2400" dirty="0" err="1">
                <a:solidFill>
                  <a:srgbClr val="FF0000"/>
                </a:solidFill>
                <a:latin typeface="微软雅黑" panose="020B0503020204020204" pitchFamily="34" charset="-122"/>
                <a:ea typeface="微软雅黑" panose="020B0503020204020204" pitchFamily="34" charset="-122"/>
              </a:rPr>
              <a:t>BiTree</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512662" y="5681245"/>
            <a:ext cx="1620957" cy="523220"/>
          </a:xfrm>
          <a:prstGeom prst="rect">
            <a:avLst/>
          </a:prstGeom>
          <a:noFill/>
        </p:spPr>
        <p:txBody>
          <a:bodyPr wrap="none" rtlCol="0">
            <a:spAutoFit/>
          </a:bodyPr>
          <a:lstStyle/>
          <a:p>
            <a:r>
              <a:rPr lang="zh-CN" altLang="en-US" sz="2800" dirty="0"/>
              <a:t>三叉链表</a:t>
            </a:r>
            <a:endParaRPr lang="zh-CN" altLang="en-US" sz="2800" dirty="0"/>
          </a:p>
        </p:txBody>
      </p:sp>
      <p:graphicFrame>
        <p:nvGraphicFramePr>
          <p:cNvPr id="4" name="表格 4"/>
          <p:cNvGraphicFramePr>
            <a:graphicFrameLocks noGrp="1"/>
          </p:cNvGraphicFramePr>
          <p:nvPr/>
        </p:nvGraphicFramePr>
        <p:xfrm>
          <a:off x="2197953" y="5635674"/>
          <a:ext cx="6096000" cy="614363"/>
        </p:xfrm>
        <a:graphic>
          <a:graphicData uri="http://schemas.openxmlformats.org/drawingml/2006/table">
            <a:tbl>
              <a:tblPr firstRow="1" bandRow="1">
                <a:tableStyleId>{5940675A-B579-460E-94D1-54222C63F5DA}</a:tableStyleId>
              </a:tblPr>
              <a:tblGrid>
                <a:gridCol w="1524000"/>
                <a:gridCol w="1524000"/>
                <a:gridCol w="1524000"/>
                <a:gridCol w="1524000"/>
              </a:tblGrid>
              <a:tr h="614363">
                <a:tc>
                  <a:txBody>
                    <a:bodyPr/>
                    <a:lstStyle/>
                    <a:p>
                      <a:r>
                        <a:rPr lang="en-US" altLang="zh-CN" sz="2800" dirty="0" err="1"/>
                        <a:t>LChild</a:t>
                      </a:r>
                      <a:endParaRPr lang="zh-CN" altLang="en-US" sz="2800" dirty="0"/>
                    </a:p>
                  </a:txBody>
                  <a:tcPr/>
                </a:tc>
                <a:tc>
                  <a:txBody>
                    <a:bodyPr/>
                    <a:lstStyle/>
                    <a:p>
                      <a:r>
                        <a:rPr lang="en-US" altLang="zh-CN" sz="2800" b="1" dirty="0"/>
                        <a:t>Data</a:t>
                      </a:r>
                      <a:endParaRPr lang="zh-CN" altLang="en-US" sz="2800" b="1" dirty="0"/>
                    </a:p>
                  </a:txBody>
                  <a:tcPr/>
                </a:tc>
                <a:tc>
                  <a:txBody>
                    <a:bodyPr/>
                    <a:lstStyle/>
                    <a:p>
                      <a:r>
                        <a:rPr lang="en-US" altLang="zh-CN" sz="2800" dirty="0"/>
                        <a:t>Parent </a:t>
                      </a:r>
                      <a:endParaRPr lang="zh-CN" altLang="en-US" sz="2800" dirty="0"/>
                    </a:p>
                  </a:txBody>
                  <a:tcPr/>
                </a:tc>
                <a:tc>
                  <a:txBody>
                    <a:bodyPr/>
                    <a:lstStyle/>
                    <a:p>
                      <a:r>
                        <a:rPr lang="en-US" altLang="zh-CN" sz="2800" dirty="0" err="1"/>
                        <a:t>RChild</a:t>
                      </a:r>
                      <a:endParaRPr lang="zh-CN" altLang="en-US" sz="2800" dirty="0"/>
                    </a:p>
                  </a:txBody>
                  <a:tcPr/>
                </a:tc>
              </a:tr>
            </a:tbl>
          </a:graphicData>
        </a:graphic>
      </p:graphicFrame>
      <p:sp>
        <p:nvSpPr>
          <p:cNvPr id="10" name="文本框 9"/>
          <p:cNvSpPr txBox="1"/>
          <p:nvPr/>
        </p:nvSpPr>
        <p:spPr>
          <a:xfrm>
            <a:off x="512662" y="4199551"/>
            <a:ext cx="8237722" cy="1135054"/>
          </a:xfrm>
          <a:prstGeom prst="rect">
            <a:avLst/>
          </a:prstGeom>
          <a:noFill/>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有时，为了找到父结点，可以增加一个</a:t>
            </a:r>
            <a:r>
              <a:rPr lang="en-US" altLang="zh-CN" sz="2400" dirty="0">
                <a:latin typeface="微软雅黑" panose="020B0503020204020204" pitchFamily="34" charset="-122"/>
                <a:ea typeface="微软雅黑" panose="020B0503020204020204" pitchFamily="34" charset="-122"/>
              </a:rPr>
              <a:t>Parent</a:t>
            </a:r>
            <a:r>
              <a:rPr lang="zh-CN" altLang="en-US" sz="2400" dirty="0">
                <a:latin typeface="微软雅黑" panose="020B0503020204020204" pitchFamily="34" charset="-122"/>
                <a:ea typeface="微软雅黑" panose="020B0503020204020204" pitchFamily="34" charset="-122"/>
              </a:rPr>
              <a:t>域，</a:t>
            </a:r>
            <a:r>
              <a:rPr lang="en-US" altLang="zh-CN" sz="2400" dirty="0">
                <a:latin typeface="微软雅黑" panose="020B0503020204020204" pitchFamily="34" charset="-122"/>
                <a:ea typeface="微软雅黑" panose="020B0503020204020204" pitchFamily="34" charset="-122"/>
              </a:rPr>
              <a:t>Parent</a:t>
            </a:r>
            <a:r>
              <a:rPr lang="zh-CN" altLang="en-US" sz="2400" dirty="0">
                <a:latin typeface="微软雅黑" panose="020B0503020204020204" pitchFamily="34" charset="-122"/>
                <a:ea typeface="微软雅黑" panose="020B0503020204020204" pitchFamily="34" charset="-122"/>
              </a:rPr>
              <a:t>域指向该结点的父结点。该结点结构如下：</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B130DD-CC1B-40AE-987C-D28F25B9504B}" type="slidenum">
              <a:rPr lang="zh-CN" altLang="en-US">
                <a:latin typeface="Calibri" panose="020F0502020204030204" pitchFamily="34" charset="0"/>
              </a:rPr>
            </a:fld>
            <a:endParaRPr lang="zh-CN" altLang="en-US">
              <a:latin typeface="Calibri" panose="020F0502020204030204" pitchFamily="34" charset="0"/>
            </a:endParaRPr>
          </a:p>
        </p:txBody>
      </p:sp>
      <p:sp>
        <p:nvSpPr>
          <p:cNvPr id="34" name="矩形 33"/>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7782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文本框 16"/>
          <p:cNvSpPr txBox="1">
            <a:spLocks noChangeArrowheads="1"/>
          </p:cNvSpPr>
          <p:nvPr/>
        </p:nvSpPr>
        <p:spPr bwMode="auto">
          <a:xfrm>
            <a:off x="1127125" y="150813"/>
            <a:ext cx="6373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solidFill>
                  <a:schemeClr val="bg1"/>
                </a:solidFill>
              </a:rPr>
              <a:t>6.2.3 </a:t>
            </a:r>
            <a:r>
              <a:rPr lang="zh-CN" altLang="en-US" sz="3200" dirty="0">
                <a:solidFill>
                  <a:schemeClr val="bg1"/>
                </a:solidFill>
              </a:rPr>
              <a:t>二叉树的存储结构</a:t>
            </a:r>
            <a:endParaRPr lang="zh-CN" altLang="en-US" sz="3200" dirty="0">
              <a:solidFill>
                <a:schemeClr val="bg1"/>
              </a:solidFill>
            </a:endParaRPr>
          </a:p>
          <a:p>
            <a:endParaRPr lang="zh-CN" altLang="en-US" sz="3200" dirty="0">
              <a:solidFill>
                <a:schemeClr val="bg1"/>
              </a:solidFill>
            </a:endParaRPr>
          </a:p>
        </p:txBody>
      </p:sp>
      <p:sp>
        <p:nvSpPr>
          <p:cNvPr id="77829" name="文本框 1"/>
          <p:cNvSpPr txBox="1">
            <a:spLocks noChangeArrowheads="1"/>
          </p:cNvSpPr>
          <p:nvPr/>
        </p:nvSpPr>
        <p:spPr bwMode="auto">
          <a:xfrm>
            <a:off x="463550" y="1002253"/>
            <a:ext cx="8520430" cy="518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800" dirty="0">
                <a:solidFill>
                  <a:srgbClr val="FF0000"/>
                </a:solidFill>
                <a:latin typeface="微软雅黑" panose="020B0503020204020204" pitchFamily="34" charset="-122"/>
                <a:ea typeface="微软雅黑" panose="020B0503020204020204" pitchFamily="34" charset="-122"/>
              </a:rPr>
              <a:t>结论：</a:t>
            </a:r>
            <a:endParaRPr lang="zh-CN" altLang="en-US" sz="28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若一个二叉树含有</a:t>
            </a:r>
            <a:r>
              <a:rPr lang="en-US" altLang="zh-CN" sz="2800" dirty="0">
                <a:latin typeface="微软雅黑" panose="020B0503020204020204" pitchFamily="34" charset="-122"/>
                <a:ea typeface="微软雅黑" panose="020B0503020204020204" pitchFamily="34" charset="-122"/>
              </a:rPr>
              <a:t>n</a:t>
            </a:r>
            <a:r>
              <a:rPr lang="zh-CN" altLang="en-US" sz="2800" dirty="0">
                <a:latin typeface="微软雅黑" panose="020B0503020204020204" pitchFamily="34" charset="-122"/>
                <a:ea typeface="微软雅黑" panose="020B0503020204020204" pitchFamily="34" charset="-122"/>
              </a:rPr>
              <a:t>个结点，则它的二叉链表中必含有</a:t>
            </a:r>
            <a:r>
              <a:rPr lang="en-US" altLang="zh-CN" sz="2800" dirty="0">
                <a:latin typeface="微软雅黑" panose="020B0503020204020204" pitchFamily="34" charset="-122"/>
                <a:ea typeface="微软雅黑" panose="020B0503020204020204" pitchFamily="34" charset="-122"/>
              </a:rPr>
              <a:t>2n</a:t>
            </a:r>
            <a:r>
              <a:rPr lang="zh-CN" altLang="en-US" sz="2800" dirty="0">
                <a:latin typeface="微软雅黑" panose="020B0503020204020204" pitchFamily="34" charset="-122"/>
                <a:ea typeface="微软雅黑" panose="020B0503020204020204" pitchFamily="34" charset="-122"/>
              </a:rPr>
              <a:t>个指针域，其中必有</a:t>
            </a:r>
            <a:r>
              <a:rPr lang="en-US" altLang="zh-CN" sz="2800" dirty="0">
                <a:latin typeface="微软雅黑" panose="020B0503020204020204" pitchFamily="34" charset="-122"/>
                <a:ea typeface="微软雅黑" panose="020B0503020204020204" pitchFamily="34" charset="-122"/>
              </a:rPr>
              <a:t>n+1</a:t>
            </a:r>
            <a:r>
              <a:rPr lang="zh-CN" altLang="en-US" sz="2800" dirty="0">
                <a:latin typeface="微软雅黑" panose="020B0503020204020204" pitchFamily="34" charset="-122"/>
                <a:ea typeface="微软雅黑" panose="020B0503020204020204" pitchFamily="34" charset="-122"/>
              </a:rPr>
              <a:t>个空的链域。</a:t>
            </a:r>
            <a:endParaRPr lang="zh-CN" altLang="en-US" sz="2800" dirty="0">
              <a:latin typeface="微软雅黑" panose="020B0503020204020204" pitchFamily="34" charset="-122"/>
              <a:ea typeface="微软雅黑" panose="020B0503020204020204" pitchFamily="34" charset="-122"/>
            </a:endParaRPr>
          </a:p>
          <a:p>
            <a:pPr>
              <a:lnSpc>
                <a:spcPct val="150000"/>
              </a:lnSpc>
            </a:pP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证明结论：</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分支数目：</a:t>
            </a:r>
            <a:r>
              <a:rPr lang="en-US" altLang="zh-CN" sz="2800" dirty="0">
                <a:latin typeface="微软雅黑" panose="020B0503020204020204" pitchFamily="34" charset="-122"/>
                <a:ea typeface="微软雅黑" panose="020B0503020204020204" pitchFamily="34" charset="-122"/>
              </a:rPr>
              <a:t>B=n-1</a:t>
            </a:r>
            <a:r>
              <a:rPr lang="zh-CN" altLang="en-US"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即非空的链域有：</a:t>
            </a:r>
            <a:r>
              <a:rPr lang="en-US" altLang="zh-CN" sz="2800" dirty="0">
                <a:latin typeface="微软雅黑" panose="020B0503020204020204" pitchFamily="34" charset="-122"/>
                <a:ea typeface="微软雅黑" panose="020B0503020204020204" pitchFamily="34" charset="-122"/>
              </a:rPr>
              <a:t>n-1</a:t>
            </a:r>
            <a:r>
              <a:rPr lang="zh-CN" altLang="en-US" sz="2800" dirty="0">
                <a:latin typeface="微软雅黑" panose="020B0503020204020204" pitchFamily="34" charset="-122"/>
                <a:ea typeface="微软雅黑" panose="020B0503020204020204" pitchFamily="34" charset="-122"/>
              </a:rPr>
              <a:t>个，</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故空链域有</a:t>
            </a:r>
            <a:r>
              <a:rPr lang="en-US" altLang="zh-CN" sz="2800" dirty="0">
                <a:latin typeface="微软雅黑" panose="020B0503020204020204" pitchFamily="34" charset="-122"/>
                <a:ea typeface="微软雅黑" panose="020B0503020204020204" pitchFamily="34" charset="-122"/>
              </a:rPr>
              <a:t>2n-</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n-1</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=n+1</a:t>
            </a:r>
            <a:r>
              <a:rPr lang="zh-CN" altLang="en-US" sz="2800" dirty="0">
                <a:latin typeface="微软雅黑" panose="020B0503020204020204" pitchFamily="34" charset="-122"/>
                <a:ea typeface="微软雅黑" panose="020B0503020204020204" pitchFamily="34" charset="-122"/>
              </a:rPr>
              <a:t>个。</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82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82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rot="10800000"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bg1"/>
                </a:solidFill>
              </a:rPr>
              <a:t>第六章   树和二叉树</a:t>
            </a:r>
            <a:endParaRPr lang="zh-CN" altLang="en-US" sz="4000" b="1" dirty="0">
              <a:solidFill>
                <a:schemeClr val="bg1"/>
              </a:solidFill>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0" name="矩形 5"/>
          <p:cNvSpPr/>
          <p:nvPr/>
        </p:nvSpPr>
        <p:spPr>
          <a:xfrm>
            <a:off x="494030" y="1130300"/>
            <a:ext cx="7377430" cy="4979505"/>
          </a:xfrm>
          <a:prstGeom prst="rect">
            <a:avLst/>
          </a:prstGeom>
          <a:noFill/>
          <a:ln w="9525">
            <a:noFill/>
          </a:ln>
        </p:spPr>
        <p:txBody>
          <a:bodyPr wrap="square" anchor="t">
            <a:spAutoFit/>
          </a:bodyPr>
          <a:lstStyle/>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.1</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 树的定义与基本术语</a:t>
            </a:r>
            <a:endParaRPr lang="en-US" altLang="zh-CN"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.2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二叉树</a:t>
            </a:r>
            <a:endParaRPr lang="en-US" altLang="zh-CN"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.3 </a:t>
            </a:r>
            <a:r>
              <a:rPr lang="zh-CN" altLang="en-US"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二叉树的遍历与线索化</a:t>
            </a:r>
            <a:endParaRPr lang="zh-CN" altLang="en-US"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.4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树、森林和二叉树的关系</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3600" dirty="0">
                <a:latin typeface="微软雅黑" panose="020B0503020204020204" pitchFamily="34" charset="-122"/>
                <a:ea typeface="微软雅黑" panose="020B0503020204020204" pitchFamily="34" charset="-122"/>
                <a:sym typeface="Wingdings" panose="05000000000000000000" pitchFamily="2" charset="2"/>
              </a:rPr>
              <a:t> 6</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.5 哈夫曼树及其应用</a:t>
            </a:r>
            <a:endParaRPr lang="zh-CN" altLang="en-US" sz="32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3600" dirty="0">
                <a:latin typeface="微软雅黑" panose="020B0503020204020204" pitchFamily="34" charset="-122"/>
                <a:ea typeface="微软雅黑" panose="020B0503020204020204" pitchFamily="34" charset="-122"/>
                <a:sym typeface="Wingdings" panose="05000000000000000000" pitchFamily="2" charset="2"/>
              </a:rPr>
              <a:t>6</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.6 总结与提高</a:t>
            </a:r>
            <a:endParaRPr lang="zh-CN" altLang="en-US" sz="32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rot="10800000"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40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4000" dirty="0">
                <a:latin typeface="微软雅黑" panose="020B0503020204020204" pitchFamily="34" charset="-122"/>
                <a:ea typeface="微软雅黑" panose="020B0503020204020204" pitchFamily="34" charset="-122"/>
                <a:sym typeface="Arial" panose="020B0604020202020204" pitchFamily="34" charset="0"/>
              </a:rPr>
              <a:t>.3 </a:t>
            </a:r>
            <a:r>
              <a:rPr lang="zh-CN" altLang="en-US" sz="4000" dirty="0">
                <a:latin typeface="微软雅黑" panose="020B0503020204020204" pitchFamily="34" charset="-122"/>
                <a:ea typeface="微软雅黑" panose="020B0503020204020204" pitchFamily="34" charset="-122"/>
                <a:sym typeface="Arial" panose="020B0604020202020204" pitchFamily="34" charset="0"/>
              </a:rPr>
              <a:t>二叉树的遍历与线索化</a:t>
            </a:r>
            <a:endParaRPr lang="zh-CN" altLang="en-US" sz="4000" dirty="0">
              <a:latin typeface="微软雅黑" panose="020B0503020204020204" pitchFamily="34" charset="-122"/>
              <a:ea typeface="微软雅黑" panose="020B0503020204020204" pitchFamily="34" charset="-122"/>
              <a:sym typeface="Arial" panose="020B0604020202020204" pitchFamily="34" charset="0"/>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0" name="矩形 5"/>
          <p:cNvSpPr/>
          <p:nvPr/>
        </p:nvSpPr>
        <p:spPr>
          <a:xfrm>
            <a:off x="530225" y="986790"/>
            <a:ext cx="7377430" cy="5441170"/>
          </a:xfrm>
          <a:prstGeom prst="rect">
            <a:avLst/>
          </a:prstGeom>
          <a:noFill/>
          <a:ln w="9525">
            <a:noFill/>
          </a:ln>
        </p:spPr>
        <p:txBody>
          <a:bodyPr wrap="square" anchor="t">
            <a:spAutoFit/>
          </a:bodyPr>
          <a:lstStyle/>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.3.1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800" dirty="0">
                <a:latin typeface="微软雅黑" panose="020B0503020204020204" pitchFamily="34" charset="-122"/>
                <a:ea typeface="微软雅黑" panose="020B0503020204020204" pitchFamily="34" charset="-122"/>
                <a:sym typeface="Arial" panose="020B0604020202020204" pitchFamily="34" charset="0"/>
              </a:rPr>
              <a:t> </a:t>
            </a:r>
            <a:r>
              <a:rPr lang="en-US" altLang="zh-CN" sz="280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800" dirty="0">
                <a:latin typeface="微软雅黑" panose="020B0503020204020204" pitchFamily="34" charset="-122"/>
                <a:ea typeface="微软雅黑" panose="020B0503020204020204" pitchFamily="34" charset="-122"/>
                <a:sym typeface="Arial" panose="020B0604020202020204" pitchFamily="34" charset="0"/>
              </a:rPr>
              <a:t>一、遍历的概念</a:t>
            </a:r>
            <a:endParaRPr lang="zh-CN" altLang="en-US" sz="28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800" dirty="0">
                <a:latin typeface="微软雅黑" panose="020B0503020204020204" pitchFamily="34" charset="-122"/>
                <a:ea typeface="微软雅黑" panose="020B0503020204020204" pitchFamily="34" charset="-122"/>
                <a:sym typeface="Arial" panose="020B0604020202020204" pitchFamily="34" charset="0"/>
              </a:rPr>
              <a:t> </a:t>
            </a:r>
            <a:r>
              <a:rPr lang="en-US" altLang="zh-CN" sz="280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800" dirty="0">
                <a:latin typeface="微软雅黑" panose="020B0503020204020204" pitchFamily="34" charset="-122"/>
                <a:ea typeface="微软雅黑" panose="020B0503020204020204" pitchFamily="34" charset="-122"/>
                <a:sym typeface="Arial" panose="020B0604020202020204" pitchFamily="34" charset="0"/>
              </a:rPr>
              <a:t>二、遍历规律与递归算法</a:t>
            </a:r>
            <a:endParaRPr lang="en-US" altLang="zh-CN" sz="28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.3.2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遍历算法的应用</a:t>
            </a:r>
            <a:endParaRPr lang="en-US" altLang="zh-CN"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.3.3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基于栈的递归消除</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.3.4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线索二叉树</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3600" dirty="0">
                <a:latin typeface="微软雅黑" panose="020B0503020204020204" pitchFamily="34" charset="-122"/>
                <a:ea typeface="微软雅黑" panose="020B0503020204020204" pitchFamily="34" charset="-122"/>
                <a:sym typeface="Wingdings" panose="05000000000000000000" pitchFamily="2" charset="2"/>
              </a:rPr>
              <a:t> 6</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3.5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由遍历序列确定二叉树</a:t>
            </a:r>
            <a:endParaRPr lang="zh-CN" altLang="en-US" sz="32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8" name="文本框 7"/>
          <p:cNvSpPr txBox="1"/>
          <p:nvPr/>
        </p:nvSpPr>
        <p:spPr>
          <a:xfrm>
            <a:off x="446980" y="373900"/>
            <a:ext cx="8697019" cy="1471750"/>
          </a:xfrm>
          <a:prstGeom prst="rect">
            <a:avLst/>
          </a:prstGeom>
          <a:noFill/>
        </p:spPr>
        <p:txBody>
          <a:bodyPr wrap="square" rtlCol="0">
            <a:spAutoFit/>
          </a:bodyPr>
          <a:lstStyle/>
          <a:p>
            <a:pPr>
              <a:lnSpc>
                <a:spcPct val="150000"/>
              </a:lnSpc>
            </a:pPr>
            <a:r>
              <a:rPr lang="zh-CN" altLang="en-US" sz="2800" dirty="0">
                <a:latin typeface="微软雅黑" panose="020B0503020204020204" pitchFamily="34" charset="-122"/>
                <a:ea typeface="微软雅黑" panose="020B0503020204020204" pitchFamily="34" charset="-122"/>
              </a:rPr>
              <a:t>遍历：</a:t>
            </a:r>
            <a:endParaRPr lang="en-US" altLang="zh-CN" sz="2800" dirty="0">
              <a:latin typeface="微软雅黑" panose="020B0503020204020204" pitchFamily="34" charset="-122"/>
              <a:ea typeface="微软雅黑" panose="020B0503020204020204" pitchFamily="34" charset="-122"/>
            </a:endParaRPr>
          </a:p>
          <a:p>
            <a:pPr>
              <a:lnSpc>
                <a:spcPct val="150000"/>
              </a:lnSpc>
            </a:pPr>
            <a:r>
              <a:rPr lang="zh-CN" altLang="en-US" sz="2800" b="0" i="0" dirty="0">
                <a:effectLst/>
                <a:latin typeface="微软雅黑" panose="020B0503020204020204" pitchFamily="34" charset="-122"/>
                <a:ea typeface="微软雅黑" panose="020B0503020204020204" pitchFamily="34" charset="-122"/>
              </a:rPr>
              <a:t>高樯健席从今始，</a:t>
            </a:r>
            <a:r>
              <a:rPr lang="zh-CN" altLang="en-US" sz="3600" b="1" i="0" dirty="0">
                <a:effectLst/>
                <a:latin typeface="微软雅黑" panose="020B0503020204020204" pitchFamily="34" charset="-122"/>
                <a:ea typeface="微软雅黑" panose="020B0503020204020204" pitchFamily="34" charset="-122"/>
              </a:rPr>
              <a:t>遍历</a:t>
            </a:r>
            <a:r>
              <a:rPr lang="zh-CN" altLang="en-US" sz="2800" b="0" i="0" dirty="0">
                <a:effectLst/>
                <a:latin typeface="微软雅黑" panose="020B0503020204020204" pitchFamily="34" charset="-122"/>
                <a:ea typeface="微软雅黑" panose="020B0503020204020204" pitchFamily="34" charset="-122"/>
              </a:rPr>
              <a:t>三湘与五湖。</a:t>
            </a:r>
            <a:endParaRPr lang="en-US" altLang="zh-CN" sz="2800" b="0" i="0" dirty="0">
              <a:effectLst/>
              <a:latin typeface="微软雅黑" panose="020B0503020204020204" pitchFamily="34" charset="-122"/>
              <a:ea typeface="微软雅黑" panose="020B0503020204020204" pitchFamily="34" charset="-122"/>
            </a:endParaRPr>
          </a:p>
        </p:txBody>
      </p:sp>
      <p:pic>
        <p:nvPicPr>
          <p:cNvPr id="1026" name="Picture 2" descr="李白乘舟顺江而下手绘水墨古船动画素材_漫品狗_MG动画短片素材_flash源文件_动漫矢量图免费素材网"/>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73956" y="3921318"/>
            <a:ext cx="4796088" cy="293668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446980" y="2168815"/>
            <a:ext cx="8697018" cy="1667764"/>
          </a:xfrm>
          <a:prstGeom prst="rect">
            <a:avLst/>
          </a:prstGeom>
          <a:noFill/>
        </p:spPr>
        <p:txBody>
          <a:bodyPr wrap="square">
            <a:spAutoFit/>
          </a:bodyPr>
          <a:lstStyle/>
          <a:p>
            <a:pPr>
              <a:lnSpc>
                <a:spcPct val="150000"/>
              </a:lnSpc>
            </a:pPr>
            <a:r>
              <a:rPr lang="zh-CN" altLang="en-US" sz="2400" dirty="0">
                <a:latin typeface="新宋体" panose="02010609030101010101" pitchFamily="49" charset="-122"/>
                <a:ea typeface="新宋体" panose="02010609030101010101" pitchFamily="49" charset="-122"/>
              </a:rPr>
              <a:t>三湘：</a:t>
            </a:r>
            <a:r>
              <a:rPr lang="zh-CN" altLang="en-US" sz="2400" b="0" i="0" u="none" strike="noStrike" dirty="0">
                <a:effectLst/>
                <a:latin typeface="新宋体" panose="02010609030101010101" pitchFamily="49" charset="-122"/>
                <a:ea typeface="新宋体" panose="02010609030101010101" pitchFamily="49" charset="-122"/>
              </a:rPr>
              <a:t>湖南湘乡、湘潭、湘阴</a:t>
            </a:r>
            <a:r>
              <a:rPr lang="en-US" altLang="zh-CN" sz="2400" b="0" i="0" u="none" strike="noStrike" dirty="0">
                <a:effectLst/>
                <a:latin typeface="新宋体" panose="02010609030101010101" pitchFamily="49" charset="-122"/>
                <a:ea typeface="新宋体" panose="02010609030101010101" pitchFamily="49" charset="-122"/>
              </a:rPr>
              <a:t>(</a:t>
            </a:r>
            <a:r>
              <a:rPr lang="zh-CN" altLang="en-US" sz="2400" b="0" i="0" u="none" strike="noStrike" dirty="0">
                <a:effectLst/>
                <a:latin typeface="新宋体" panose="02010609030101010101" pitchFamily="49" charset="-122"/>
                <a:ea typeface="新宋体" panose="02010609030101010101" pitchFamily="49" charset="-122"/>
              </a:rPr>
              <a:t>或湘源</a:t>
            </a:r>
            <a:r>
              <a:rPr lang="en-US" altLang="zh-CN" sz="2400" b="0" i="0" u="none" strike="noStrike" dirty="0">
                <a:effectLst/>
                <a:latin typeface="新宋体" panose="02010609030101010101" pitchFamily="49" charset="-122"/>
                <a:ea typeface="新宋体" panose="02010609030101010101" pitchFamily="49" charset="-122"/>
              </a:rPr>
              <a:t>)</a:t>
            </a:r>
            <a:r>
              <a:rPr lang="zh-CN" altLang="en-US" sz="2400" b="0" i="0" u="none" strike="noStrike" dirty="0">
                <a:effectLst/>
                <a:latin typeface="新宋体" panose="02010609030101010101" pitchFamily="49" charset="-122"/>
                <a:ea typeface="新宋体" panose="02010609030101010101" pitchFamily="49" charset="-122"/>
              </a:rPr>
              <a:t>，合称三湘。</a:t>
            </a:r>
            <a:endParaRPr lang="zh-CN" altLang="en-US" sz="2400" b="0" i="0" u="none" strike="noStrike" dirty="0">
              <a:effectLst/>
              <a:latin typeface="新宋体" panose="02010609030101010101" pitchFamily="49" charset="-122"/>
              <a:ea typeface="新宋体" panose="02010609030101010101" pitchFamily="49" charset="-122"/>
            </a:endParaRPr>
          </a:p>
          <a:p>
            <a:pPr>
              <a:lnSpc>
                <a:spcPct val="150000"/>
              </a:lnSpc>
            </a:pPr>
            <a:r>
              <a:rPr lang="zh-CN" altLang="en-US" sz="2400" b="0" i="0" u="none" strike="noStrike" dirty="0">
                <a:effectLst/>
                <a:latin typeface="新宋体" panose="02010609030101010101" pitchFamily="49" charset="-122"/>
                <a:ea typeface="新宋体" panose="02010609030101010101" pitchFamily="49" charset="-122"/>
              </a:rPr>
              <a:t>古人诗文中的三湘，多泛指湘江流域及洞庭湖地区。</a:t>
            </a:r>
            <a:endParaRPr lang="en-US" altLang="zh-CN" sz="2400" b="0" i="0" u="none" strike="noStrike" dirty="0">
              <a:effectLst/>
              <a:latin typeface="新宋体" panose="02010609030101010101" pitchFamily="49" charset="-122"/>
              <a:ea typeface="新宋体" panose="02010609030101010101" pitchFamily="49" charset="-122"/>
            </a:endParaRPr>
          </a:p>
          <a:p>
            <a:pPr>
              <a:lnSpc>
                <a:spcPct val="150000"/>
              </a:lnSpc>
            </a:pPr>
            <a:r>
              <a:rPr lang="zh-CN" altLang="en-US" sz="2400" dirty="0">
                <a:latin typeface="新宋体" panose="02010609030101010101" pitchFamily="49" charset="-122"/>
                <a:ea typeface="新宋体" panose="02010609030101010101" pitchFamily="49" charset="-122"/>
              </a:rPr>
              <a:t>五湖：吴越地区湖泊。亦有古人说“五湖者，太湖之别名也。”</a:t>
            </a:r>
            <a:endParaRPr lang="en-US" altLang="zh-CN" sz="2400" dirty="0">
              <a:latin typeface="新宋体" panose="02010609030101010101" pitchFamily="49" charset="-122"/>
              <a:ea typeface="新宋体"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6.3.1</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8" name="文本框 7"/>
          <p:cNvSpPr txBox="1"/>
          <p:nvPr/>
        </p:nvSpPr>
        <p:spPr>
          <a:xfrm>
            <a:off x="342900" y="1035613"/>
            <a:ext cx="8250038" cy="3894208"/>
          </a:xfrm>
          <a:prstGeom prst="rect">
            <a:avLst/>
          </a:prstGeom>
          <a:noFill/>
        </p:spPr>
        <p:txBody>
          <a:bodyPr wrap="square" rtlCol="0">
            <a:spAutoFit/>
          </a:bodyPr>
          <a:lstStyle/>
          <a:p>
            <a:pPr>
              <a:lnSpc>
                <a:spcPct val="150000"/>
              </a:lnSpc>
            </a:pPr>
            <a:r>
              <a:rPr lang="en-US" altLang="zh-CN" sz="2800" dirty="0" err="1">
                <a:solidFill>
                  <a:schemeClr val="accent1"/>
                </a:solidFill>
                <a:latin typeface="微软雅黑" panose="020B0503020204020204" pitchFamily="34" charset="-122"/>
                <a:ea typeface="微软雅黑" panose="020B0503020204020204" pitchFamily="34" charset="-122"/>
              </a:rPr>
              <a:t>二叉树定义</a:t>
            </a:r>
            <a:r>
              <a:rPr lang="en-US" altLang="zh-CN" sz="2800" dirty="0">
                <a:solidFill>
                  <a:schemeClr val="accent1"/>
                </a:solidFill>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en-US" altLang="zh-CN" sz="2800" dirty="0">
                <a:latin typeface="微软雅黑" panose="020B0503020204020204" pitchFamily="34" charset="-122"/>
                <a:ea typeface="微软雅黑" panose="020B0503020204020204" pitchFamily="34" charset="-122"/>
              </a:rPr>
              <a:t>     n&gt;=0 </a:t>
            </a:r>
            <a:r>
              <a:rPr lang="zh-CN" altLang="en-US" sz="2800" dirty="0">
                <a:latin typeface="微软雅黑" panose="020B0503020204020204" pitchFamily="34" charset="-122"/>
                <a:ea typeface="微软雅黑" panose="020B0503020204020204" pitchFamily="34" charset="-122"/>
              </a:rPr>
              <a:t>个有限结点构成的集合；</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en-US" altLang="zh-CN" sz="2800" dirty="0">
                <a:latin typeface="微软雅黑" panose="020B0503020204020204" pitchFamily="34" charset="-122"/>
                <a:ea typeface="微软雅黑" panose="020B0503020204020204" pitchFamily="34" charset="-122"/>
              </a:rPr>
              <a:t>     n = 0 </a:t>
            </a:r>
            <a:r>
              <a:rPr lang="zh-CN" altLang="en-US" sz="2800" dirty="0">
                <a:latin typeface="微软雅黑" panose="020B0503020204020204" pitchFamily="34" charset="-122"/>
                <a:ea typeface="微软雅黑" panose="020B0503020204020204" pitchFamily="34" charset="-122"/>
              </a:rPr>
              <a:t>为空二叉树；</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en-US" altLang="zh-CN" sz="2800" dirty="0">
                <a:latin typeface="微软雅黑" panose="020B0503020204020204" pitchFamily="34" charset="-122"/>
                <a:ea typeface="微软雅黑" panose="020B0503020204020204" pitchFamily="34" charset="-122"/>
              </a:rPr>
              <a:t>     n &gt; 0 </a:t>
            </a:r>
            <a:r>
              <a:rPr lang="zh-CN" altLang="en-US" sz="2800" dirty="0">
                <a:latin typeface="微软雅黑" panose="020B0503020204020204" pitchFamily="34" charset="-122"/>
                <a:ea typeface="微软雅黑" panose="020B0503020204020204" pitchFamily="34" charset="-122"/>
              </a:rPr>
              <a:t>的二叉树由一个根节点和分别称为左右子树的两个互不相交的二叉树构成</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solidFill>
                  <a:schemeClr val="accent1"/>
                </a:solidFill>
                <a:latin typeface="微软雅黑" panose="020B0503020204020204" pitchFamily="34" charset="-122"/>
                <a:ea typeface="微软雅黑" panose="020B0503020204020204" pitchFamily="34" charset="-122"/>
              </a:rPr>
              <a:t>二叉树的二叉链表存储结构</a:t>
            </a:r>
            <a:r>
              <a:rPr lang="en-US" altLang="zh-CN" sz="2800" dirty="0">
                <a:solidFill>
                  <a:schemeClr val="accent1"/>
                </a:solidFill>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 </a:t>
            </a:r>
            <a:endParaRPr lang="en-US" altLang="zh-CN" sz="2800" dirty="0">
              <a:latin typeface="微软雅黑" panose="020B0503020204020204" pitchFamily="34" charset="-122"/>
              <a:ea typeface="微软雅黑" panose="020B0503020204020204" pitchFamily="34" charset="-122"/>
            </a:endParaRPr>
          </a:p>
        </p:txBody>
      </p:sp>
      <p:cxnSp>
        <p:nvCxnSpPr>
          <p:cNvPr id="13" name="直接箭头连接符 12"/>
          <p:cNvCxnSpPr/>
          <p:nvPr/>
        </p:nvCxnSpPr>
        <p:spPr>
          <a:xfrm flipH="1">
            <a:off x="1830070" y="5673566"/>
            <a:ext cx="598805" cy="4254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3025140" y="5673566"/>
            <a:ext cx="472440" cy="4254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383790" y="5218906"/>
            <a:ext cx="641350" cy="245110"/>
          </a:xfrm>
          <a:prstGeom prst="rect">
            <a:avLst/>
          </a:prstGeom>
          <a:noFill/>
        </p:spPr>
        <p:txBody>
          <a:bodyPr wrap="square" rtlCol="0">
            <a:spAutoFit/>
          </a:bodyPr>
          <a:lstStyle/>
          <a:p>
            <a:pPr algn="ctr"/>
            <a:r>
              <a:rPr lang="en-US" altLang="zh-CN" sz="1000">
                <a:solidFill>
                  <a:schemeClr val="lt1"/>
                </a:solidFill>
              </a:rPr>
              <a:t>Data</a:t>
            </a:r>
            <a:endParaRPr lang="en-US" altLang="zh-CN" sz="1000">
              <a:solidFill>
                <a:schemeClr val="lt1"/>
              </a:solidFill>
            </a:endParaRPr>
          </a:p>
        </p:txBody>
      </p:sp>
      <p:graphicFrame>
        <p:nvGraphicFramePr>
          <p:cNvPr id="18" name="表格 17"/>
          <p:cNvGraphicFramePr/>
          <p:nvPr>
            <p:custDataLst>
              <p:tags r:id="rId2"/>
            </p:custDataLst>
          </p:nvPr>
        </p:nvGraphicFramePr>
        <p:xfrm>
          <a:off x="4844503" y="5304730"/>
          <a:ext cx="4314501" cy="507261"/>
        </p:xfrm>
        <a:graphic>
          <a:graphicData uri="http://schemas.openxmlformats.org/drawingml/2006/table">
            <a:tbl>
              <a:tblPr firstRow="1" bandRow="1">
                <a:tableStyleId>{5C22544A-7EE6-4342-B048-85BDC9FD1C3A}</a:tableStyleId>
              </a:tblPr>
              <a:tblGrid>
                <a:gridCol w="1438167"/>
                <a:gridCol w="1438167"/>
                <a:gridCol w="1438167"/>
              </a:tblGrid>
              <a:tr h="507261">
                <a:tc>
                  <a:txBody>
                    <a:bodyPr/>
                    <a:lstStyle/>
                    <a:p>
                      <a:pPr algn="ctr">
                        <a:buNone/>
                      </a:pPr>
                      <a:r>
                        <a:rPr lang="en-US" altLang="zh-CN" sz="2400" dirty="0" err="1"/>
                        <a:t>LChild</a:t>
                      </a:r>
                      <a:endParaRPr lang="en-US" altLang="zh-CN" sz="2400" dirty="0"/>
                    </a:p>
                  </a:txBody>
                  <a:tcPr/>
                </a:tc>
                <a:tc>
                  <a:txBody>
                    <a:bodyPr/>
                    <a:lstStyle/>
                    <a:p>
                      <a:pPr algn="ctr">
                        <a:buNone/>
                      </a:pPr>
                      <a:r>
                        <a:rPr lang="en-US" altLang="zh-CN" sz="2400"/>
                        <a:t>Data</a:t>
                      </a:r>
                      <a:endParaRPr lang="en-US" altLang="zh-CN" sz="2400"/>
                    </a:p>
                  </a:txBody>
                  <a:tcPr/>
                </a:tc>
                <a:tc>
                  <a:txBody>
                    <a:bodyPr/>
                    <a:lstStyle/>
                    <a:p>
                      <a:pPr algn="ctr">
                        <a:buNone/>
                      </a:pPr>
                      <a:r>
                        <a:rPr lang="en-US" altLang="zh-CN" sz="2400" dirty="0" err="1">
                          <a:sym typeface="+mn-ea"/>
                        </a:rPr>
                        <a:t>RChild</a:t>
                      </a:r>
                      <a:endParaRPr lang="en-US" altLang="zh-CN" sz="2400" dirty="0"/>
                    </a:p>
                  </a:txBody>
                  <a:tcPr/>
                </a:tc>
              </a:tr>
            </a:tbl>
          </a:graphicData>
        </a:graphic>
      </p:graphicFrame>
      <p:sp>
        <p:nvSpPr>
          <p:cNvPr id="19" name="椭圆 18"/>
          <p:cNvSpPr/>
          <p:nvPr/>
        </p:nvSpPr>
        <p:spPr>
          <a:xfrm>
            <a:off x="2263958" y="4945814"/>
            <a:ext cx="926100" cy="81232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800" dirty="0">
                <a:solidFill>
                  <a:schemeClr val="tx1"/>
                </a:solidFill>
              </a:rPr>
              <a:t>Data</a:t>
            </a:r>
            <a:endParaRPr lang="en-US" altLang="zh-CN" sz="1800" dirty="0">
              <a:solidFill>
                <a:schemeClr val="tx1"/>
              </a:solidFill>
            </a:endParaRPr>
          </a:p>
        </p:txBody>
      </p:sp>
      <p:cxnSp>
        <p:nvCxnSpPr>
          <p:cNvPr id="22" name="直接箭头连接符 21"/>
          <p:cNvCxnSpPr/>
          <p:nvPr/>
        </p:nvCxnSpPr>
        <p:spPr>
          <a:xfrm>
            <a:off x="3025140" y="5673566"/>
            <a:ext cx="472440" cy="4254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a:off x="1830070" y="5673566"/>
            <a:ext cx="598805" cy="425450"/>
          </a:xfrm>
          <a:prstGeom prst="straightConnector1">
            <a:avLst/>
          </a:prstGeom>
          <a:ln w="38100">
            <a:solidFill>
              <a:schemeClr val="accent1"/>
            </a:solidFill>
            <a:tailEnd type="arrow" w="med" len="med"/>
          </a:ln>
        </p:spPr>
        <p:style>
          <a:lnRef idx="1">
            <a:schemeClr val="dk1"/>
          </a:lnRef>
          <a:fillRef idx="0">
            <a:schemeClr val="dk1"/>
          </a:fillRef>
          <a:effectRef idx="0">
            <a:schemeClr val="dk1"/>
          </a:effectRef>
          <a:fontRef idx="minor">
            <a:schemeClr val="tx1"/>
          </a:fontRef>
        </p:style>
      </p:cxnSp>
      <p:cxnSp>
        <p:nvCxnSpPr>
          <p:cNvPr id="26" name="直接箭头连接符 25"/>
          <p:cNvCxnSpPr/>
          <p:nvPr/>
        </p:nvCxnSpPr>
        <p:spPr>
          <a:xfrm>
            <a:off x="3025140" y="5673566"/>
            <a:ext cx="472440" cy="425450"/>
          </a:xfrm>
          <a:prstGeom prst="straightConnector1">
            <a:avLst/>
          </a:prstGeom>
          <a:ln w="38100">
            <a:solidFill>
              <a:schemeClr val="accent1"/>
            </a:solidFill>
            <a:tailEnd type="arrow" w="med" len="med"/>
          </a:ln>
        </p:spPr>
        <p:style>
          <a:lnRef idx="1">
            <a:schemeClr val="dk1"/>
          </a:lnRef>
          <a:fillRef idx="0">
            <a:schemeClr val="dk1"/>
          </a:fillRef>
          <a:effectRef idx="0">
            <a:schemeClr val="dk1"/>
          </a:effectRef>
          <a:fontRef idx="minor">
            <a:schemeClr val="tx1"/>
          </a:fontRef>
        </p:style>
      </p:cxnSp>
      <p:sp>
        <p:nvSpPr>
          <p:cNvPr id="28" name="文本框 27"/>
          <p:cNvSpPr txBox="1"/>
          <p:nvPr/>
        </p:nvSpPr>
        <p:spPr>
          <a:xfrm>
            <a:off x="1161097" y="6095721"/>
            <a:ext cx="1143953" cy="461665"/>
          </a:xfrm>
          <a:prstGeom prst="rect">
            <a:avLst/>
          </a:prstGeom>
          <a:noFill/>
        </p:spPr>
        <p:txBody>
          <a:bodyPr wrap="square" rtlCol="0">
            <a:spAutoFit/>
          </a:bodyPr>
          <a:lstStyle/>
          <a:p>
            <a:pPr algn="ctr"/>
            <a:r>
              <a:rPr lang="en-US" altLang="zh-CN" sz="2400" dirty="0" err="1">
                <a:solidFill>
                  <a:schemeClr val="tx1"/>
                </a:solidFill>
              </a:rPr>
              <a:t>LChild</a:t>
            </a:r>
            <a:endParaRPr lang="en-US" altLang="zh-CN" sz="2400" dirty="0">
              <a:solidFill>
                <a:schemeClr val="tx1"/>
              </a:solidFill>
            </a:endParaRPr>
          </a:p>
        </p:txBody>
      </p:sp>
      <p:sp>
        <p:nvSpPr>
          <p:cNvPr id="29" name="文本框 28"/>
          <p:cNvSpPr txBox="1"/>
          <p:nvPr/>
        </p:nvSpPr>
        <p:spPr>
          <a:xfrm>
            <a:off x="2925603" y="6095721"/>
            <a:ext cx="1143953" cy="461665"/>
          </a:xfrm>
          <a:prstGeom prst="rect">
            <a:avLst/>
          </a:prstGeom>
          <a:noFill/>
        </p:spPr>
        <p:txBody>
          <a:bodyPr wrap="square" rtlCol="0">
            <a:spAutoFit/>
          </a:bodyPr>
          <a:lstStyle/>
          <a:p>
            <a:pPr algn="ctr"/>
            <a:r>
              <a:rPr lang="en-US" altLang="zh-CN" sz="2400" dirty="0" err="1"/>
              <a:t>R</a:t>
            </a:r>
            <a:r>
              <a:rPr lang="en-US" altLang="zh-CN" sz="2400" dirty="0" err="1">
                <a:solidFill>
                  <a:schemeClr val="tx1"/>
                </a:solidFill>
              </a:rPr>
              <a:t>Child</a:t>
            </a:r>
            <a:endParaRPr lang="en-US" altLang="zh-CN"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6.3.1</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8" name="文本框 7"/>
          <p:cNvSpPr txBox="1"/>
          <p:nvPr/>
        </p:nvSpPr>
        <p:spPr>
          <a:xfrm>
            <a:off x="351790" y="1068705"/>
            <a:ext cx="8719542" cy="2036648"/>
          </a:xfrm>
          <a:prstGeom prst="rect">
            <a:avLst/>
          </a:prstGeom>
          <a:noFill/>
        </p:spPr>
        <p:txBody>
          <a:bodyPr wrap="square" rtlCol="0">
            <a:spAutoFit/>
          </a:bodyPr>
          <a:lstStyle/>
          <a:p>
            <a:pPr>
              <a:lnSpc>
                <a:spcPct val="150000"/>
              </a:lnSpc>
            </a:pPr>
            <a:r>
              <a:rPr lang="en-US" altLang="zh-CN" sz="2800" dirty="0" err="1">
                <a:solidFill>
                  <a:schemeClr val="accent1"/>
                </a:solidFill>
                <a:latin typeface="微软雅黑" panose="020B0503020204020204" pitchFamily="34" charset="-122"/>
                <a:ea typeface="微软雅黑" panose="020B0503020204020204" pitchFamily="34" charset="-122"/>
              </a:rPr>
              <a:t>遍历含义</a:t>
            </a:r>
            <a:r>
              <a:rPr lang="zh-CN" altLang="en-US" sz="2800" dirty="0">
                <a:solidFill>
                  <a:schemeClr val="accent1"/>
                </a:solidFill>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指按</a:t>
            </a:r>
            <a:r>
              <a:rPr lang="zh-CN" altLang="en-US" sz="2800" dirty="0">
                <a:solidFill>
                  <a:srgbClr val="FF0000"/>
                </a:solidFill>
                <a:latin typeface="微软雅黑" panose="020B0503020204020204" pitchFamily="34" charset="-122"/>
                <a:ea typeface="微软雅黑" panose="020B0503020204020204" pitchFamily="34" charset="-122"/>
              </a:rPr>
              <a:t>一定规律</a:t>
            </a:r>
            <a:r>
              <a:rPr lang="en-US" altLang="zh-CN" sz="2800" dirty="0" err="1">
                <a:latin typeface="微软雅黑" panose="020B0503020204020204" pitchFamily="34" charset="-122"/>
                <a:ea typeface="微软雅黑" panose="020B0503020204020204" pitchFamily="34" charset="-122"/>
              </a:rPr>
              <a:t>对二叉树中的每个结点访问且仅</a:t>
            </a:r>
            <a:r>
              <a:rPr lang="en-US" altLang="zh-CN" sz="2800" dirty="0" err="1">
                <a:solidFill>
                  <a:srgbClr val="FF0000"/>
                </a:solidFill>
                <a:latin typeface="微软雅黑" panose="020B0503020204020204" pitchFamily="34" charset="-122"/>
                <a:ea typeface="微软雅黑" panose="020B0503020204020204" pitchFamily="34" charset="-122"/>
              </a:rPr>
              <a:t>访问一次</a:t>
            </a:r>
            <a:r>
              <a:rPr lang="zh-CN" altLang="en-US" sz="2800" dirty="0">
                <a:solidFill>
                  <a:srgbClr val="FF0000"/>
                </a:solidFill>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solidFill>
                  <a:schemeClr val="accent1"/>
                </a:solidFill>
                <a:latin typeface="微软雅黑" panose="020B0503020204020204" pitchFamily="34" charset="-122"/>
                <a:ea typeface="微软雅黑" panose="020B0503020204020204" pitchFamily="34" charset="-122"/>
              </a:rPr>
              <a:t>遍历目的：</a:t>
            </a:r>
            <a:r>
              <a:rPr lang="zh-CN" altLang="en-US" sz="2800" dirty="0">
                <a:latin typeface="微软雅黑" panose="020B0503020204020204" pitchFamily="34" charset="-122"/>
                <a:ea typeface="微软雅黑" panose="020B0503020204020204" pitchFamily="34" charset="-122"/>
              </a:rPr>
              <a:t>将非线性化结构变成线性化的访问序列。</a:t>
            </a:r>
            <a:r>
              <a:rPr lang="en-US" altLang="zh-CN" sz="3200" dirty="0">
                <a:latin typeface="微软雅黑" panose="020B0503020204020204" pitchFamily="34" charset="-122"/>
                <a:ea typeface="微软雅黑" panose="020B0503020204020204" pitchFamily="34" charset="-122"/>
              </a:rPr>
              <a:t>   </a:t>
            </a:r>
            <a:endParaRPr lang="en-US" altLang="zh-CN" sz="32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2383790" y="4515485"/>
            <a:ext cx="641350" cy="245110"/>
          </a:xfrm>
          <a:prstGeom prst="rect">
            <a:avLst/>
          </a:prstGeom>
          <a:noFill/>
        </p:spPr>
        <p:txBody>
          <a:bodyPr wrap="square" rtlCol="0">
            <a:spAutoFit/>
          </a:bodyPr>
          <a:lstStyle/>
          <a:p>
            <a:pPr algn="ctr"/>
            <a:r>
              <a:rPr lang="en-US" altLang="zh-CN" sz="1000">
                <a:solidFill>
                  <a:schemeClr val="lt1"/>
                </a:solidFill>
              </a:rPr>
              <a:t>Data</a:t>
            </a:r>
            <a:endParaRPr lang="en-US" altLang="zh-CN" sz="1000">
              <a:solidFill>
                <a:schemeClr val="lt1"/>
              </a:solidFill>
            </a:endParaRPr>
          </a:p>
        </p:txBody>
      </p:sp>
      <p:sp>
        <p:nvSpPr>
          <p:cNvPr id="11" name="椭圆 10"/>
          <p:cNvSpPr/>
          <p:nvPr/>
        </p:nvSpPr>
        <p:spPr>
          <a:xfrm>
            <a:off x="1548130" y="3879850"/>
            <a:ext cx="661670" cy="53213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450975" y="5641340"/>
            <a:ext cx="661670" cy="53213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363470" y="4711065"/>
            <a:ext cx="661670" cy="53213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86460" y="4760595"/>
            <a:ext cx="661670" cy="53213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51790" y="5641340"/>
            <a:ext cx="661670" cy="53213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7"/>
          <p:cNvCxnSpPr>
            <a:stCxn id="11" idx="3"/>
          </p:cNvCxnSpPr>
          <p:nvPr/>
        </p:nvCxnSpPr>
        <p:spPr>
          <a:xfrm flipH="1">
            <a:off x="1345565" y="4333875"/>
            <a:ext cx="299720" cy="43497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1" idx="5"/>
            <a:endCxn id="13" idx="1"/>
          </p:cNvCxnSpPr>
          <p:nvPr/>
        </p:nvCxnSpPr>
        <p:spPr>
          <a:xfrm>
            <a:off x="2112645" y="4333875"/>
            <a:ext cx="347980" cy="45529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4" idx="3"/>
            <a:endCxn id="16" idx="0"/>
          </p:cNvCxnSpPr>
          <p:nvPr/>
        </p:nvCxnSpPr>
        <p:spPr>
          <a:xfrm flipH="1">
            <a:off x="682625" y="5214620"/>
            <a:ext cx="300990" cy="42672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4" idx="5"/>
            <a:endCxn id="12" idx="0"/>
          </p:cNvCxnSpPr>
          <p:nvPr/>
        </p:nvCxnSpPr>
        <p:spPr>
          <a:xfrm>
            <a:off x="1450975" y="5214620"/>
            <a:ext cx="330835" cy="42672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2" name="右箭头 22"/>
          <p:cNvSpPr/>
          <p:nvPr/>
        </p:nvSpPr>
        <p:spPr>
          <a:xfrm>
            <a:off x="3469005" y="4458970"/>
            <a:ext cx="2205355" cy="833755"/>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3" name="文本框 22"/>
          <p:cNvSpPr txBox="1"/>
          <p:nvPr/>
        </p:nvSpPr>
        <p:spPr>
          <a:xfrm>
            <a:off x="4085590" y="4250690"/>
            <a:ext cx="1457960" cy="460375"/>
          </a:xfrm>
          <a:prstGeom prst="rect">
            <a:avLst/>
          </a:prstGeom>
          <a:noFill/>
        </p:spPr>
        <p:txBody>
          <a:bodyPr wrap="square" rtlCol="0">
            <a:spAutoFit/>
          </a:bodyPr>
          <a:lstStyle/>
          <a:p>
            <a:r>
              <a:rPr lang="zh-CN" altLang="en-US" sz="2400" dirty="0"/>
              <a:t>遍历</a:t>
            </a:r>
            <a:endParaRPr lang="zh-CN" altLang="en-US" sz="2400" dirty="0"/>
          </a:p>
        </p:txBody>
      </p:sp>
      <p:sp>
        <p:nvSpPr>
          <p:cNvPr id="24" name="文本框 23"/>
          <p:cNvSpPr txBox="1"/>
          <p:nvPr/>
        </p:nvSpPr>
        <p:spPr>
          <a:xfrm>
            <a:off x="5953760" y="4711065"/>
            <a:ext cx="2823210" cy="583565"/>
          </a:xfrm>
          <a:prstGeom prst="rect">
            <a:avLst/>
          </a:prstGeom>
          <a:noFill/>
        </p:spPr>
        <p:txBody>
          <a:bodyPr wrap="square" rtlCol="0">
            <a:spAutoFit/>
          </a:bodyPr>
          <a:lstStyle/>
          <a:p>
            <a:r>
              <a:rPr lang="zh-CN" altLang="en-US" sz="3200" dirty="0"/>
              <a:t>结点访问序列</a:t>
            </a:r>
            <a:endParaRPr lang="zh-CN" altLang="en-US" sz="3200" dirty="0"/>
          </a:p>
        </p:txBody>
      </p:sp>
      <p:cxnSp>
        <p:nvCxnSpPr>
          <p:cNvPr id="25" name="直接箭头连接符 24"/>
          <p:cNvCxnSpPr/>
          <p:nvPr/>
        </p:nvCxnSpPr>
        <p:spPr>
          <a:xfrm flipH="1">
            <a:off x="2896870" y="5297805"/>
            <a:ext cx="8890" cy="65405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303145" y="6068695"/>
            <a:ext cx="1500505" cy="368300"/>
          </a:xfrm>
          <a:prstGeom prst="rect">
            <a:avLst/>
          </a:prstGeom>
          <a:noFill/>
        </p:spPr>
        <p:txBody>
          <a:bodyPr wrap="square" rtlCol="0">
            <a:spAutoFit/>
          </a:bodyPr>
          <a:lstStyle/>
          <a:p>
            <a:r>
              <a:rPr lang="zh-CN" altLang="en-US"/>
              <a:t>非线性结构</a:t>
            </a:r>
            <a:endParaRPr lang="zh-CN" altLang="en-US"/>
          </a:p>
        </p:txBody>
      </p:sp>
      <p:cxnSp>
        <p:nvCxnSpPr>
          <p:cNvPr id="27" name="直接箭头连接符 26"/>
          <p:cNvCxnSpPr/>
          <p:nvPr/>
        </p:nvCxnSpPr>
        <p:spPr>
          <a:xfrm>
            <a:off x="7136765" y="5288915"/>
            <a:ext cx="9525" cy="65405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698615" y="5951855"/>
            <a:ext cx="995045" cy="368300"/>
          </a:xfrm>
          <a:prstGeom prst="rect">
            <a:avLst/>
          </a:prstGeom>
          <a:noFill/>
        </p:spPr>
        <p:txBody>
          <a:bodyPr wrap="square" rtlCol="0">
            <a:spAutoFit/>
          </a:bodyPr>
          <a:lstStyle/>
          <a:p>
            <a:r>
              <a:rPr lang="zh-CN" altLang="en-US"/>
              <a:t>线性化</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1"/>
      <p:bldP spid="22" grpId="0" animBg="1"/>
      <p:bldP spid="23" grpId="0"/>
      <p:bldP spid="24" grpId="0"/>
      <p:bldP spid="26" grpId="0"/>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6.3.1</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 name="文本框 1"/>
          <p:cNvSpPr txBox="1"/>
          <p:nvPr/>
        </p:nvSpPr>
        <p:spPr>
          <a:xfrm>
            <a:off x="471204" y="1089165"/>
            <a:ext cx="8115678" cy="5632311"/>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用</a:t>
            </a:r>
            <a:r>
              <a:rPr lang="en-US" altLang="zh-CN" sz="2400" dirty="0">
                <a:latin typeface="微软雅黑" panose="020B0503020204020204" pitchFamily="34" charset="-122"/>
                <a:ea typeface="微软雅黑" panose="020B0503020204020204" pitchFamily="34" charset="-122"/>
              </a:rPr>
              <a:t>L</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D</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R</a:t>
            </a:r>
            <a:r>
              <a:rPr lang="zh-CN" altLang="en-US" sz="2400" dirty="0">
                <a:latin typeface="微软雅黑" panose="020B0503020204020204" pitchFamily="34" charset="-122"/>
                <a:ea typeface="微软雅黑" panose="020B0503020204020204" pitchFamily="34" charset="-122"/>
              </a:rPr>
              <a:t>分别表示遍历左子树、访问根节点、遍历右子树</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二叉树的遍历顺序有：</a:t>
            </a:r>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）访问根，遍历左子树，遍历右子树（</a:t>
            </a:r>
            <a:r>
              <a:rPr lang="zh-CN" altLang="en-US" sz="2400" dirty="0">
                <a:solidFill>
                  <a:schemeClr val="tx1"/>
                </a:solidFill>
                <a:latin typeface="微软雅黑" panose="020B0503020204020204" pitchFamily="34" charset="-122"/>
                <a:ea typeface="微软雅黑" panose="020B0503020204020204" pitchFamily="34" charset="-122"/>
              </a:rPr>
              <a:t>记做</a:t>
            </a:r>
            <a:r>
              <a:rPr lang="en-US" altLang="zh-CN" sz="2400" dirty="0">
                <a:solidFill>
                  <a:srgbClr val="FF0000"/>
                </a:solidFill>
                <a:latin typeface="微软雅黑" panose="020B0503020204020204" pitchFamily="34" charset="-122"/>
                <a:ea typeface="微软雅黑" panose="020B0503020204020204" pitchFamily="34" charset="-122"/>
              </a:rPr>
              <a:t>DLR</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sym typeface="+mn-ea"/>
              </a:rPr>
              <a:t>2</a:t>
            </a:r>
            <a:r>
              <a:rPr lang="zh-CN" altLang="en-US" sz="2400" dirty="0">
                <a:latin typeface="微软雅黑" panose="020B0503020204020204" pitchFamily="34" charset="-122"/>
                <a:ea typeface="微软雅黑" panose="020B0503020204020204" pitchFamily="34" charset="-122"/>
                <a:sym typeface="+mn-ea"/>
              </a:rPr>
              <a:t>）访问根，遍历右子树，遍历左子树（</a:t>
            </a:r>
            <a:r>
              <a:rPr lang="zh-CN" altLang="en-US" sz="2400" dirty="0">
                <a:solidFill>
                  <a:schemeClr val="tx1"/>
                </a:solidFill>
                <a:latin typeface="微软雅黑" panose="020B0503020204020204" pitchFamily="34" charset="-122"/>
                <a:ea typeface="微软雅黑" panose="020B0503020204020204" pitchFamily="34" charset="-122"/>
                <a:sym typeface="+mn-ea"/>
              </a:rPr>
              <a:t>记做</a:t>
            </a:r>
            <a:r>
              <a:rPr lang="en-US" altLang="zh-CN" sz="2400" dirty="0">
                <a:solidFill>
                  <a:srgbClr val="FF0000"/>
                </a:solidFill>
                <a:latin typeface="微软雅黑" panose="020B0503020204020204" pitchFamily="34" charset="-122"/>
                <a:ea typeface="微软雅黑" panose="020B0503020204020204" pitchFamily="34" charset="-122"/>
                <a:sym typeface="+mn-ea"/>
              </a:rPr>
              <a:t>DRL</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sym typeface="+mn-ea"/>
            </a:endParaRPr>
          </a:p>
          <a:p>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）遍历左子树，访问根，遍历右子树（记做</a:t>
            </a:r>
            <a:r>
              <a:rPr lang="en-US" altLang="zh-CN" sz="2400" dirty="0">
                <a:solidFill>
                  <a:srgbClr val="FF0000"/>
                </a:solidFill>
                <a:latin typeface="微软雅黑" panose="020B0503020204020204" pitchFamily="34" charset="-122"/>
                <a:ea typeface="微软雅黑" panose="020B0503020204020204" pitchFamily="34" charset="-122"/>
              </a:rPr>
              <a:t>LDR</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sym typeface="+mn-ea"/>
              </a:rPr>
              <a:t>4</a:t>
            </a:r>
            <a:r>
              <a:rPr lang="zh-CN" altLang="en-US" sz="2400" dirty="0">
                <a:latin typeface="微软雅黑" panose="020B0503020204020204" pitchFamily="34" charset="-122"/>
                <a:ea typeface="微软雅黑" panose="020B0503020204020204" pitchFamily="34" charset="-122"/>
                <a:sym typeface="+mn-ea"/>
              </a:rPr>
              <a:t>）遍历右子树，访问根，遍历左子树（记做</a:t>
            </a:r>
            <a:r>
              <a:rPr lang="en-US" altLang="zh-CN" sz="2400" dirty="0">
                <a:solidFill>
                  <a:srgbClr val="FF0000"/>
                </a:solidFill>
                <a:latin typeface="微软雅黑" panose="020B0503020204020204" pitchFamily="34" charset="-122"/>
                <a:ea typeface="微软雅黑" panose="020B0503020204020204" pitchFamily="34" charset="-122"/>
                <a:sym typeface="+mn-ea"/>
              </a:rPr>
              <a:t>RDL</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sym typeface="+mn-ea"/>
            </a:endParaRPr>
          </a:p>
          <a:p>
            <a:endParaRPr lang="zh-CN" altLang="en-US" sz="2400" dirty="0">
              <a:latin typeface="微软雅黑" panose="020B0503020204020204" pitchFamily="34" charset="-122"/>
              <a:ea typeface="微软雅黑" panose="020B0503020204020204" pitchFamily="34" charset="-122"/>
              <a:sym typeface="+mn-ea"/>
            </a:endParaRPr>
          </a:p>
          <a:p>
            <a:r>
              <a:rPr lang="zh-CN" altLang="en-US" sz="2400" dirty="0">
                <a:latin typeface="微软雅黑" panose="020B0503020204020204" pitchFamily="34" charset="-122"/>
                <a:ea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sym typeface="+mn-ea"/>
              </a:rPr>
              <a:t>5</a:t>
            </a:r>
            <a:r>
              <a:rPr lang="zh-CN" altLang="en-US" sz="2400" dirty="0">
                <a:latin typeface="微软雅黑" panose="020B0503020204020204" pitchFamily="34" charset="-122"/>
                <a:ea typeface="微软雅黑" panose="020B0503020204020204" pitchFamily="34" charset="-122"/>
                <a:sym typeface="+mn-ea"/>
              </a:rPr>
              <a:t>）遍历左子树，遍历右子树，访问根（记做</a:t>
            </a:r>
            <a:r>
              <a:rPr lang="en-US" altLang="zh-CN" sz="2400" dirty="0">
                <a:solidFill>
                  <a:srgbClr val="FF0000"/>
                </a:solidFill>
                <a:latin typeface="微软雅黑" panose="020B0503020204020204" pitchFamily="34" charset="-122"/>
                <a:ea typeface="微软雅黑" panose="020B0503020204020204" pitchFamily="34" charset="-122"/>
                <a:sym typeface="+mn-ea"/>
              </a:rPr>
              <a:t>LRD</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sym typeface="+mn-ea"/>
            </a:endParaRPr>
          </a:p>
          <a:p>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sym typeface="+mn-ea"/>
              </a:rPr>
              <a:t>6</a:t>
            </a:r>
            <a:r>
              <a:rPr lang="zh-CN" altLang="en-US" sz="2400" dirty="0">
                <a:latin typeface="微软雅黑" panose="020B0503020204020204" pitchFamily="34" charset="-122"/>
                <a:ea typeface="微软雅黑" panose="020B0503020204020204" pitchFamily="34" charset="-122"/>
                <a:sym typeface="+mn-ea"/>
              </a:rPr>
              <a:t>）遍历右子树，遍历左子树，访问根（记做</a:t>
            </a:r>
            <a:r>
              <a:rPr lang="en-US" altLang="zh-CN" sz="2400" dirty="0">
                <a:solidFill>
                  <a:srgbClr val="FF0000"/>
                </a:solidFill>
                <a:latin typeface="微软雅黑" panose="020B0503020204020204" pitchFamily="34" charset="-122"/>
                <a:ea typeface="微软雅黑" panose="020B0503020204020204" pitchFamily="34" charset="-122"/>
                <a:sym typeface="+mn-ea"/>
              </a:rPr>
              <a:t>RLD</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6.3.1</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 name="文本框 1"/>
          <p:cNvSpPr txBox="1"/>
          <p:nvPr/>
        </p:nvSpPr>
        <p:spPr>
          <a:xfrm>
            <a:off x="277760" y="895438"/>
            <a:ext cx="7336155" cy="556703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      用</a:t>
            </a:r>
            <a:r>
              <a:rPr lang="en-US" altLang="zh-CN" sz="2400" dirty="0">
                <a:latin typeface="微软雅黑" panose="020B0503020204020204" pitchFamily="34" charset="-122"/>
                <a:ea typeface="微软雅黑" panose="020B0503020204020204" pitchFamily="34" charset="-122"/>
              </a:rPr>
              <a:t>L</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D</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R</a:t>
            </a:r>
            <a:r>
              <a:rPr lang="zh-CN" altLang="en-US" sz="2400" dirty="0">
                <a:latin typeface="微软雅黑" panose="020B0503020204020204" pitchFamily="34" charset="-122"/>
                <a:ea typeface="微软雅黑" panose="020B0503020204020204" pitchFamily="34" charset="-122"/>
              </a:rPr>
              <a:t>分别表示遍历左子树、访问根节点、遍历右子树， 按照先左后右的顺序遍历 有：</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）访问根，遍历左子树，遍历右子树（</a:t>
            </a:r>
            <a:r>
              <a:rPr lang="zh-CN" altLang="en-US" sz="2400" dirty="0">
                <a:solidFill>
                  <a:schemeClr val="tx1"/>
                </a:solidFill>
                <a:latin typeface="微软雅黑" panose="020B0503020204020204" pitchFamily="34" charset="-122"/>
                <a:ea typeface="微软雅黑" panose="020B0503020204020204" pitchFamily="34" charset="-122"/>
              </a:rPr>
              <a:t>记做</a:t>
            </a:r>
            <a:r>
              <a:rPr lang="en-US" altLang="zh-CN" sz="2400" dirty="0">
                <a:solidFill>
                  <a:srgbClr val="FF0000"/>
                </a:solidFill>
                <a:latin typeface="微软雅黑" panose="020B0503020204020204" pitchFamily="34" charset="-122"/>
                <a:ea typeface="微软雅黑" panose="020B0503020204020204" pitchFamily="34" charset="-122"/>
              </a:rPr>
              <a:t>DLR</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先序遍历</a:t>
            </a:r>
            <a:r>
              <a:rPr lang="zh-CN" altLang="en-US" sz="2400" dirty="0">
                <a:latin typeface="微软雅黑" panose="020B0503020204020204" pitchFamily="34" charset="-122"/>
                <a:ea typeface="微软雅黑" panose="020B0503020204020204" pitchFamily="34" charset="-122"/>
              </a:rPr>
              <a:t>（先根遍历）</a:t>
            </a:r>
            <a:endParaRPr lang="zh-CN" altLang="en-US" sz="2400" dirty="0">
              <a:latin typeface="微软雅黑" panose="020B0503020204020204" pitchFamily="34" charset="-122"/>
              <a:ea typeface="微软雅黑" panose="020B0503020204020204" pitchFamily="34" charset="-122"/>
            </a:endParaRPr>
          </a:p>
          <a:p>
            <a:pPr>
              <a:lnSpc>
                <a:spcPct val="150000"/>
              </a:lnSpc>
            </a:pP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）遍历左子树，访问根，遍历右子树（记做</a:t>
            </a:r>
            <a:r>
              <a:rPr lang="en-US" altLang="zh-CN" sz="2400" dirty="0">
                <a:solidFill>
                  <a:srgbClr val="FF0000"/>
                </a:solidFill>
                <a:latin typeface="微软雅黑" panose="020B0503020204020204" pitchFamily="34" charset="-122"/>
                <a:ea typeface="微软雅黑" panose="020B0503020204020204" pitchFamily="34" charset="-122"/>
              </a:rPr>
              <a:t>LDR</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中序遍历</a:t>
            </a:r>
            <a:r>
              <a:rPr lang="zh-CN" altLang="en-US" sz="2400" dirty="0">
                <a:latin typeface="微软雅黑" panose="020B0503020204020204" pitchFamily="34" charset="-122"/>
                <a:ea typeface="微软雅黑" panose="020B0503020204020204" pitchFamily="34" charset="-122"/>
              </a:rPr>
              <a:t>（中根遍历）</a:t>
            </a:r>
            <a:endParaRPr lang="en-US" altLang="zh-CN" sz="2400" dirty="0">
              <a:latin typeface="微软雅黑" panose="020B0503020204020204" pitchFamily="34" charset="-122"/>
              <a:ea typeface="微软雅黑" panose="020B0503020204020204" pitchFamily="34" charset="-122"/>
            </a:endParaRPr>
          </a:p>
          <a:p>
            <a:pPr>
              <a:lnSpc>
                <a:spcPct val="150000"/>
              </a:lnSpc>
            </a:pPr>
            <a:endParaRPr lang="zh-CN" altLang="en-US" sz="2400" dirty="0">
              <a:latin typeface="微软雅黑" panose="020B0503020204020204" pitchFamily="34" charset="-122"/>
              <a:ea typeface="微软雅黑" panose="020B0503020204020204" pitchFamily="34" charset="-122"/>
              <a:sym typeface="+mn-ea"/>
            </a:endParaRPr>
          </a:p>
          <a:p>
            <a:pPr>
              <a:lnSpc>
                <a:spcPct val="150000"/>
              </a:lnSpc>
            </a:pPr>
            <a:r>
              <a:rPr lang="zh-CN" altLang="en-US" sz="2400" dirty="0">
                <a:latin typeface="微软雅黑" panose="020B0503020204020204" pitchFamily="34" charset="-122"/>
                <a:ea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sym typeface="+mn-ea"/>
              </a:rPr>
              <a:t>5</a:t>
            </a:r>
            <a:r>
              <a:rPr lang="zh-CN" altLang="en-US" sz="2400" dirty="0">
                <a:latin typeface="微软雅黑" panose="020B0503020204020204" pitchFamily="34" charset="-122"/>
                <a:ea typeface="微软雅黑" panose="020B0503020204020204" pitchFamily="34" charset="-122"/>
                <a:sym typeface="+mn-ea"/>
              </a:rPr>
              <a:t>）遍历左子树，遍历右子树，访问根（记做</a:t>
            </a:r>
            <a:r>
              <a:rPr lang="en-US" altLang="zh-CN" sz="2400" dirty="0">
                <a:solidFill>
                  <a:srgbClr val="FF0000"/>
                </a:solidFill>
                <a:latin typeface="微软雅黑" panose="020B0503020204020204" pitchFamily="34" charset="-122"/>
                <a:ea typeface="微软雅黑" panose="020B0503020204020204" pitchFamily="34" charset="-122"/>
                <a:sym typeface="+mn-ea"/>
              </a:rPr>
              <a:t>LRD</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sym typeface="+mn-ea"/>
            </a:endParaRPr>
          </a:p>
          <a:p>
            <a:pPr>
              <a:lnSpc>
                <a:spcPct val="150000"/>
              </a:lnSpc>
            </a:pPr>
            <a:r>
              <a:rPr lang="en-US" altLang="zh-CN" sz="2400" dirty="0">
                <a:latin typeface="微软雅黑" panose="020B0503020204020204" pitchFamily="34" charset="-122"/>
                <a:ea typeface="微软雅黑" panose="020B0503020204020204" pitchFamily="34" charset="-122"/>
                <a:sym typeface="+mn-ea"/>
              </a:rPr>
              <a:t>   </a:t>
            </a:r>
            <a:r>
              <a:rPr lang="zh-CN" altLang="en-US" sz="2400" dirty="0">
                <a:solidFill>
                  <a:srgbClr val="FF0000"/>
                </a:solidFill>
                <a:latin typeface="微软雅黑" panose="020B0503020204020204" pitchFamily="34" charset="-122"/>
                <a:ea typeface="微软雅黑" panose="020B0503020204020204" pitchFamily="34" charset="-122"/>
                <a:sym typeface="+mn-ea"/>
              </a:rPr>
              <a:t>后序遍历</a:t>
            </a:r>
            <a:r>
              <a:rPr lang="zh-CN" altLang="en-US" sz="2400" dirty="0">
                <a:latin typeface="微软雅黑" panose="020B0503020204020204" pitchFamily="34" charset="-122"/>
                <a:ea typeface="微软雅黑" panose="020B0503020204020204" pitchFamily="34" charset="-122"/>
                <a:sym typeface="+mn-ea"/>
              </a:rPr>
              <a:t>（后根遍历）</a:t>
            </a:r>
            <a:endParaRPr lang="zh-CN" altLang="en-US" sz="2400"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35316" y="150770"/>
            <a:ext cx="6374304"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6.3.1</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30" name="文本框 29"/>
          <p:cNvSpPr txBox="1"/>
          <p:nvPr/>
        </p:nvSpPr>
        <p:spPr>
          <a:xfrm>
            <a:off x="331926" y="2387324"/>
            <a:ext cx="902811" cy="523220"/>
          </a:xfrm>
          <a:prstGeom prst="rect">
            <a:avLst/>
          </a:prstGeom>
          <a:noFill/>
        </p:spPr>
        <p:txBody>
          <a:bodyPr wrap="none" rtlCol="0">
            <a:spAutoFit/>
          </a:bodyPr>
          <a:lstStyle/>
          <a:p>
            <a:r>
              <a:rPr lang="zh-CN" altLang="en-US" sz="2800" dirty="0">
                <a:solidFill>
                  <a:schemeClr val="bg1"/>
                </a:solidFill>
              </a:rPr>
              <a:t>电梯</a:t>
            </a:r>
            <a:endParaRPr lang="zh-CN" altLang="en-US" sz="2800" dirty="0">
              <a:solidFill>
                <a:schemeClr val="bg1"/>
              </a:solidFill>
            </a:endParaRPr>
          </a:p>
        </p:txBody>
      </p:sp>
      <p:sp>
        <p:nvSpPr>
          <p:cNvPr id="32" name="文本框 31"/>
          <p:cNvSpPr txBox="1"/>
          <p:nvPr/>
        </p:nvSpPr>
        <p:spPr>
          <a:xfrm>
            <a:off x="4460905" y="2026250"/>
            <a:ext cx="678007" cy="1384995"/>
          </a:xfrm>
          <a:prstGeom prst="rect">
            <a:avLst/>
          </a:prstGeom>
          <a:noFill/>
        </p:spPr>
        <p:txBody>
          <a:bodyPr wrap="square" rtlCol="0">
            <a:spAutoFit/>
          </a:bodyPr>
          <a:lstStyle/>
          <a:p>
            <a:r>
              <a:rPr lang="zh-CN" altLang="en-US" sz="2800" dirty="0">
                <a:solidFill>
                  <a:schemeClr val="bg1"/>
                </a:solidFill>
              </a:rPr>
              <a:t>浏览器</a:t>
            </a:r>
            <a:endParaRPr lang="zh-CN" altLang="en-US" sz="2800" dirty="0">
              <a:solidFill>
                <a:schemeClr val="bg1"/>
              </a:solidFill>
            </a:endParaRPr>
          </a:p>
        </p:txBody>
      </p:sp>
      <p:sp>
        <p:nvSpPr>
          <p:cNvPr id="35" name="文本框 34"/>
          <p:cNvSpPr txBox="1"/>
          <p:nvPr/>
        </p:nvSpPr>
        <p:spPr>
          <a:xfrm>
            <a:off x="647113" y="5418923"/>
            <a:ext cx="2165714" cy="523220"/>
          </a:xfrm>
          <a:prstGeom prst="rect">
            <a:avLst/>
          </a:prstGeom>
          <a:noFill/>
        </p:spPr>
        <p:txBody>
          <a:bodyPr wrap="square" rtlCol="0">
            <a:spAutoFit/>
          </a:bodyPr>
          <a:lstStyle/>
          <a:p>
            <a:r>
              <a:rPr lang="zh-CN" altLang="en-US" sz="2800" dirty="0">
                <a:solidFill>
                  <a:schemeClr val="bg1"/>
                </a:solidFill>
              </a:rPr>
              <a:t>文本编辑器</a:t>
            </a:r>
            <a:endParaRPr lang="zh-CN" altLang="en-US" sz="2800" dirty="0">
              <a:solidFill>
                <a:schemeClr val="bg1"/>
              </a:solidFill>
            </a:endParaRPr>
          </a:p>
        </p:txBody>
      </p:sp>
      <p:sp>
        <p:nvSpPr>
          <p:cNvPr id="38" name="文本框 37"/>
          <p:cNvSpPr txBox="1"/>
          <p:nvPr/>
        </p:nvSpPr>
        <p:spPr>
          <a:xfrm>
            <a:off x="4412241" y="4252281"/>
            <a:ext cx="1049767" cy="1384995"/>
          </a:xfrm>
          <a:prstGeom prst="rect">
            <a:avLst/>
          </a:prstGeom>
          <a:noFill/>
        </p:spPr>
        <p:txBody>
          <a:bodyPr wrap="square" rtlCol="0">
            <a:spAutoFit/>
          </a:bodyPr>
          <a:lstStyle/>
          <a:p>
            <a:r>
              <a:rPr lang="zh-CN" altLang="en-US" sz="2800" dirty="0">
                <a:solidFill>
                  <a:schemeClr val="bg1"/>
                </a:solidFill>
              </a:rPr>
              <a:t>手机通话记录</a:t>
            </a:r>
            <a:endParaRPr lang="zh-CN" altLang="en-US" sz="2800" dirty="0">
              <a:solidFill>
                <a:schemeClr val="bg1"/>
              </a:solidFill>
            </a:endParaRPr>
          </a:p>
        </p:txBody>
      </p:sp>
      <p:sp>
        <p:nvSpPr>
          <p:cNvPr id="2" name="文本框 1"/>
          <p:cNvSpPr txBox="1"/>
          <p:nvPr/>
        </p:nvSpPr>
        <p:spPr>
          <a:xfrm>
            <a:off x="584200" y="1705610"/>
            <a:ext cx="4060190" cy="4006353"/>
          </a:xfrm>
          <a:prstGeom prst="rect">
            <a:avLst/>
          </a:prstGeom>
          <a:noFill/>
        </p:spPr>
        <p:txBody>
          <a:bodyPr wrap="square" rtlCol="0">
            <a:spAutoFit/>
          </a:bodyPr>
          <a:lstStyle/>
          <a:p>
            <a:pPr>
              <a:lnSpc>
                <a:spcPct val="150000"/>
              </a:lnSpc>
            </a:pPr>
            <a:r>
              <a:rPr lang="zh-CN" altLang="en-US" sz="2800" dirty="0">
                <a:latin typeface="微软雅黑" panose="020B0503020204020204" pitchFamily="34" charset="-122"/>
                <a:ea typeface="微软雅黑" panose="020B0503020204020204" pitchFamily="34" charset="-122"/>
              </a:rPr>
              <a:t>先序遍历的操作过程：</a:t>
            </a:r>
            <a:endParaRPr lang="zh-CN" altLang="en-US" sz="2800" dirty="0">
              <a:latin typeface="微软雅黑" panose="020B0503020204020204" pitchFamily="34" charset="-122"/>
              <a:ea typeface="微软雅黑" panose="020B0503020204020204" pitchFamily="34" charset="-122"/>
            </a:endParaRPr>
          </a:p>
          <a:p>
            <a:pPr>
              <a:lnSpc>
                <a:spcPct val="150000"/>
              </a:lnSpc>
            </a:pP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若二叉树为空，则为空操作，</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否则依次执行如下操作：</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）访问根节点；</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）按先序遍历左子树；</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sym typeface="+mn-ea"/>
              </a:rPr>
              <a:t>3</a:t>
            </a:r>
            <a:r>
              <a:rPr lang="zh-CN" altLang="en-US" sz="2400" dirty="0">
                <a:latin typeface="微软雅黑" panose="020B0503020204020204" pitchFamily="34" charset="-122"/>
                <a:ea typeface="微软雅黑" panose="020B0503020204020204" pitchFamily="34" charset="-122"/>
                <a:sym typeface="+mn-ea"/>
              </a:rPr>
              <a:t>）按先序遍历右子树；</a:t>
            </a:r>
            <a:endParaRPr lang="zh-CN" altLang="en-US" sz="24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876592" y="2246714"/>
            <a:ext cx="4369659" cy="3170099"/>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算法</a:t>
            </a:r>
            <a:r>
              <a:rPr lang="en-US" altLang="zh-CN" sz="2000" dirty="0">
                <a:latin typeface="微软雅黑" panose="020B0503020204020204" pitchFamily="34" charset="-122"/>
                <a:ea typeface="微软雅黑" panose="020B0503020204020204" pitchFamily="34" charset="-122"/>
              </a:rPr>
              <a:t>6.1</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void </a:t>
            </a:r>
            <a:r>
              <a:rPr lang="en-US" altLang="zh-CN" sz="2000" dirty="0" err="1">
                <a:latin typeface="微软雅黑" panose="020B0503020204020204" pitchFamily="34" charset="-122"/>
                <a:ea typeface="微软雅黑" panose="020B0503020204020204" pitchFamily="34" charset="-122"/>
              </a:rPr>
              <a:t>PreOrder</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a:solidFill>
                  <a:srgbClr val="FF0000"/>
                </a:solidFill>
                <a:latin typeface="微软雅黑" panose="020B0503020204020204" pitchFamily="34" charset="-122"/>
                <a:ea typeface="微软雅黑" panose="020B0503020204020204" pitchFamily="34" charset="-122"/>
              </a:rPr>
              <a:t>Visit(root-&gt;data);</a:t>
            </a:r>
            <a:endParaRPr lang="en-US" altLang="zh-CN" sz="2000" dirty="0">
              <a:solidFill>
                <a:srgbClr val="FF0000"/>
              </a:solidFill>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PreOrder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PreOrder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RChild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563213" y="967193"/>
            <a:ext cx="8314816" cy="523220"/>
          </a:xfrm>
          <a:prstGeom prst="rect">
            <a:avLst/>
          </a:prstGeom>
          <a:noFill/>
        </p:spPr>
        <p:txBody>
          <a:bodyPr wrap="square" rtlCol="0">
            <a:spAutoFit/>
          </a:bodyPr>
          <a:lstStyle/>
          <a:p>
            <a:r>
              <a:rPr lang="zh-CN" altLang="en-US" sz="2800" u="sng" dirty="0">
                <a:solidFill>
                  <a:srgbClr val="FF0000"/>
                </a:solidFill>
              </a:rPr>
              <a:t>先序遍历</a:t>
            </a:r>
            <a:r>
              <a:rPr lang="en-US" altLang="zh-CN" sz="2800" u="sng" dirty="0">
                <a:solidFill>
                  <a:srgbClr val="FF0000"/>
                </a:solidFill>
              </a:rPr>
              <a:t>(DLR)</a:t>
            </a:r>
            <a:r>
              <a:rPr lang="zh-CN" altLang="en-US" sz="2800" dirty="0">
                <a:solidFill>
                  <a:srgbClr val="FF0000"/>
                </a:solidFill>
              </a:rPr>
              <a:t>    </a:t>
            </a:r>
            <a:r>
              <a:rPr lang="zh-CN" altLang="en-US" sz="2800" dirty="0">
                <a:sym typeface="+mn-ea"/>
              </a:rPr>
              <a:t>中序遍历</a:t>
            </a:r>
            <a:r>
              <a:rPr lang="en-US" altLang="zh-CN" sz="2800" dirty="0">
                <a:sym typeface="+mn-ea"/>
              </a:rPr>
              <a:t>(LDR)</a:t>
            </a:r>
            <a:r>
              <a:rPr lang="zh-CN" altLang="en-US" sz="2800" dirty="0">
                <a:sym typeface="+mn-ea"/>
              </a:rPr>
              <a:t>     后序遍历</a:t>
            </a:r>
            <a:r>
              <a:rPr lang="en-US" altLang="zh-CN" sz="2800" dirty="0">
                <a:sym typeface="+mn-ea"/>
              </a:rPr>
              <a:t>(LRD)</a:t>
            </a:r>
            <a:r>
              <a:rPr lang="zh-CN" altLang="en-US" sz="2800" dirty="0">
                <a:sym typeface="+mn-ea"/>
              </a:rPr>
              <a:t> </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6.3.1</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6" name="椭圆 5"/>
          <p:cNvSpPr/>
          <p:nvPr/>
        </p:nvSpPr>
        <p:spPr>
          <a:xfrm>
            <a:off x="1305560" y="203708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A</a:t>
            </a:r>
            <a:endParaRPr lang="en-US" altLang="zh-CN"/>
          </a:p>
        </p:txBody>
      </p:sp>
      <p:sp>
        <p:nvSpPr>
          <p:cNvPr id="10" name="椭圆 9"/>
          <p:cNvSpPr/>
          <p:nvPr/>
        </p:nvSpPr>
        <p:spPr>
          <a:xfrm>
            <a:off x="2096135" y="29083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C</a:t>
            </a:r>
            <a:endParaRPr lang="en-US" altLang="zh-CN"/>
          </a:p>
        </p:txBody>
      </p:sp>
      <p:sp>
        <p:nvSpPr>
          <p:cNvPr id="11" name="椭圆 10"/>
          <p:cNvSpPr/>
          <p:nvPr/>
        </p:nvSpPr>
        <p:spPr>
          <a:xfrm>
            <a:off x="728980" y="29083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B</a:t>
            </a:r>
            <a:endParaRPr lang="en-US" altLang="zh-CN"/>
          </a:p>
        </p:txBody>
      </p:sp>
      <p:sp>
        <p:nvSpPr>
          <p:cNvPr id="12" name="椭圆 11"/>
          <p:cNvSpPr/>
          <p:nvPr/>
        </p:nvSpPr>
        <p:spPr>
          <a:xfrm>
            <a:off x="2969895" y="38989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E</a:t>
            </a:r>
            <a:endParaRPr lang="en-US" altLang="zh-CN"/>
          </a:p>
        </p:txBody>
      </p:sp>
      <p:sp>
        <p:nvSpPr>
          <p:cNvPr id="13" name="椭圆 12"/>
          <p:cNvSpPr/>
          <p:nvPr/>
        </p:nvSpPr>
        <p:spPr>
          <a:xfrm>
            <a:off x="1126490" y="38989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D</a:t>
            </a:r>
            <a:endParaRPr lang="en-US" altLang="zh-CN"/>
          </a:p>
        </p:txBody>
      </p:sp>
      <p:sp>
        <p:nvSpPr>
          <p:cNvPr id="16" name="椭圆 15"/>
          <p:cNvSpPr/>
          <p:nvPr/>
        </p:nvSpPr>
        <p:spPr>
          <a:xfrm>
            <a:off x="3850640" y="488442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H</a:t>
            </a:r>
            <a:endParaRPr lang="en-US" altLang="zh-CN"/>
          </a:p>
        </p:txBody>
      </p:sp>
      <p:sp>
        <p:nvSpPr>
          <p:cNvPr id="19" name="椭圆 18"/>
          <p:cNvSpPr/>
          <p:nvPr/>
        </p:nvSpPr>
        <p:spPr>
          <a:xfrm>
            <a:off x="206375" y="495554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F</a:t>
            </a:r>
            <a:endParaRPr lang="en-US" altLang="zh-CN"/>
          </a:p>
        </p:txBody>
      </p:sp>
      <p:sp>
        <p:nvSpPr>
          <p:cNvPr id="20" name="椭圆 19"/>
          <p:cNvSpPr/>
          <p:nvPr/>
        </p:nvSpPr>
        <p:spPr>
          <a:xfrm>
            <a:off x="1960880" y="495554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G</a:t>
            </a:r>
            <a:endParaRPr lang="en-US" altLang="zh-CN"/>
          </a:p>
        </p:txBody>
      </p:sp>
      <p:cxnSp>
        <p:nvCxnSpPr>
          <p:cNvPr id="21" name="直接连接符 20"/>
          <p:cNvCxnSpPr>
            <a:stCxn id="6" idx="3"/>
            <a:endCxn id="11" idx="7"/>
          </p:cNvCxnSpPr>
          <p:nvPr/>
        </p:nvCxnSpPr>
        <p:spPr>
          <a:xfrm flipH="1">
            <a:off x="1134110" y="2450465"/>
            <a:ext cx="241300" cy="528955"/>
          </a:xfrm>
          <a:prstGeom prst="line">
            <a:avLst/>
          </a:prstGeom>
        </p:spPr>
        <p:style>
          <a:lnRef idx="1">
            <a:schemeClr val="dk1"/>
          </a:lnRef>
          <a:fillRef idx="0">
            <a:schemeClr val="dk1"/>
          </a:fillRef>
          <a:effectRef idx="0">
            <a:schemeClr val="dk1"/>
          </a:effectRef>
          <a:fontRef idx="minor">
            <a:schemeClr val="tx1"/>
          </a:fontRef>
        </p:style>
      </p:cxnSp>
      <p:cxnSp>
        <p:nvCxnSpPr>
          <p:cNvPr id="22" name="直接连接符 21"/>
          <p:cNvCxnSpPr/>
          <p:nvPr/>
        </p:nvCxnSpPr>
        <p:spPr>
          <a:xfrm>
            <a:off x="1719580" y="2450465"/>
            <a:ext cx="455295" cy="528955"/>
          </a:xfrm>
          <a:prstGeom prst="line">
            <a:avLst/>
          </a:prstGeom>
        </p:spPr>
        <p:style>
          <a:lnRef idx="1">
            <a:schemeClr val="dk1"/>
          </a:lnRef>
          <a:fillRef idx="0">
            <a:schemeClr val="dk1"/>
          </a:fillRef>
          <a:effectRef idx="0">
            <a:schemeClr val="dk1"/>
          </a:effectRef>
          <a:fontRef idx="minor">
            <a:schemeClr val="tx1"/>
          </a:fontRef>
        </p:style>
      </p:cxnSp>
      <p:cxnSp>
        <p:nvCxnSpPr>
          <p:cNvPr id="23" name="直接连接符 22"/>
          <p:cNvCxnSpPr>
            <a:stCxn id="11" idx="4"/>
            <a:endCxn id="13" idx="0"/>
          </p:cNvCxnSpPr>
          <p:nvPr/>
        </p:nvCxnSpPr>
        <p:spPr>
          <a:xfrm>
            <a:off x="966470" y="3392805"/>
            <a:ext cx="397510" cy="506095"/>
          </a:xfrm>
          <a:prstGeom prst="line">
            <a:avLst/>
          </a:prstGeom>
        </p:spPr>
        <p:style>
          <a:lnRef idx="1">
            <a:schemeClr val="dk1"/>
          </a:lnRef>
          <a:fillRef idx="0">
            <a:schemeClr val="dk1"/>
          </a:fillRef>
          <a:effectRef idx="0">
            <a:schemeClr val="dk1"/>
          </a:effectRef>
          <a:fontRef idx="minor">
            <a:schemeClr val="tx1"/>
          </a:fontRef>
        </p:style>
      </p:cxnSp>
      <p:cxnSp>
        <p:nvCxnSpPr>
          <p:cNvPr id="24" name="直接连接符 23"/>
          <p:cNvCxnSpPr>
            <a:stCxn id="13" idx="3"/>
            <a:endCxn id="19" idx="0"/>
          </p:cNvCxnSpPr>
          <p:nvPr/>
        </p:nvCxnSpPr>
        <p:spPr>
          <a:xfrm flipH="1">
            <a:off x="443865" y="4312285"/>
            <a:ext cx="752475" cy="643255"/>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p:cNvCxnSpPr>
            <a:stCxn id="13" idx="5"/>
            <a:endCxn id="20" idx="0"/>
          </p:cNvCxnSpPr>
          <p:nvPr/>
        </p:nvCxnSpPr>
        <p:spPr>
          <a:xfrm>
            <a:off x="1531620" y="4312285"/>
            <a:ext cx="666750" cy="643255"/>
          </a:xfrm>
          <a:prstGeom prst="line">
            <a:avLst/>
          </a:prstGeom>
        </p:spPr>
        <p:style>
          <a:lnRef idx="1">
            <a:schemeClr val="dk1"/>
          </a:lnRef>
          <a:fillRef idx="0">
            <a:schemeClr val="dk1"/>
          </a:fillRef>
          <a:effectRef idx="0">
            <a:schemeClr val="dk1"/>
          </a:effectRef>
          <a:fontRef idx="minor">
            <a:schemeClr val="tx1"/>
          </a:fontRef>
        </p:style>
      </p:cxnSp>
      <p:cxnSp>
        <p:nvCxnSpPr>
          <p:cNvPr id="26" name="直接连接符 25"/>
          <p:cNvCxnSpPr>
            <a:stCxn id="10" idx="5"/>
            <a:endCxn id="12" idx="1"/>
          </p:cNvCxnSpPr>
          <p:nvPr/>
        </p:nvCxnSpPr>
        <p:spPr>
          <a:xfrm>
            <a:off x="2501265" y="3321685"/>
            <a:ext cx="538480" cy="648335"/>
          </a:xfrm>
          <a:prstGeom prst="line">
            <a:avLst/>
          </a:prstGeom>
        </p:spPr>
        <p:style>
          <a:lnRef idx="1">
            <a:schemeClr val="dk1"/>
          </a:lnRef>
          <a:fillRef idx="0">
            <a:schemeClr val="dk1"/>
          </a:fillRef>
          <a:effectRef idx="0">
            <a:schemeClr val="dk1"/>
          </a:effectRef>
          <a:fontRef idx="minor">
            <a:schemeClr val="tx1"/>
          </a:fontRef>
        </p:style>
      </p:cxnSp>
      <p:cxnSp>
        <p:nvCxnSpPr>
          <p:cNvPr id="29" name="直接连接符 28"/>
          <p:cNvCxnSpPr>
            <a:stCxn id="16" idx="1"/>
            <a:endCxn id="12" idx="5"/>
          </p:cNvCxnSpPr>
          <p:nvPr/>
        </p:nvCxnSpPr>
        <p:spPr>
          <a:xfrm flipH="1" flipV="1">
            <a:off x="3375025" y="4312285"/>
            <a:ext cx="545465" cy="643255"/>
          </a:xfrm>
          <a:prstGeom prst="line">
            <a:avLst/>
          </a:prstGeom>
        </p:spPr>
        <p:style>
          <a:lnRef idx="1">
            <a:schemeClr val="dk1"/>
          </a:lnRef>
          <a:fillRef idx="0">
            <a:schemeClr val="dk1"/>
          </a:fillRef>
          <a:effectRef idx="0">
            <a:schemeClr val="dk1"/>
          </a:effectRef>
          <a:fontRef idx="minor">
            <a:schemeClr val="tx1"/>
          </a:fontRef>
        </p:style>
      </p:cxnSp>
      <p:sp>
        <p:nvSpPr>
          <p:cNvPr id="30" name="文本框 29"/>
          <p:cNvSpPr txBox="1"/>
          <p:nvPr/>
        </p:nvSpPr>
        <p:spPr>
          <a:xfrm>
            <a:off x="385325" y="1118177"/>
            <a:ext cx="3946914" cy="461665"/>
          </a:xfrm>
          <a:prstGeom prst="rect">
            <a:avLst/>
          </a:prstGeom>
          <a:noFill/>
        </p:spPr>
        <p:txBody>
          <a:bodyPr wrap="none" rtlCol="0" anchor="t">
            <a:spAutoFit/>
          </a:bodyPr>
          <a:lstStyle/>
          <a:p>
            <a:r>
              <a:rPr lang="zh-CN" altLang="en-US" sz="2400" dirty="0">
                <a:latin typeface="微软雅黑" panose="020B0503020204020204" pitchFamily="34" charset="-122"/>
                <a:ea typeface="微软雅黑" panose="020B0503020204020204" pitchFamily="34" charset="-122"/>
                <a:sym typeface="+mn-ea"/>
              </a:rPr>
              <a:t>先序遍历 </a:t>
            </a:r>
            <a:r>
              <a:rPr lang="en-US" altLang="zh-CN" sz="2400" dirty="0">
                <a:latin typeface="微软雅黑" panose="020B0503020204020204" pitchFamily="34" charset="-122"/>
                <a:ea typeface="微软雅黑" panose="020B0503020204020204" pitchFamily="34" charset="-122"/>
                <a:sym typeface="+mn-ea"/>
              </a:rPr>
              <a:t>DLR</a:t>
            </a:r>
            <a:r>
              <a:rPr lang="zh-CN" altLang="en-US" sz="2400" dirty="0">
                <a:latin typeface="微软雅黑" panose="020B0503020204020204" pitchFamily="34" charset="-122"/>
                <a:ea typeface="微软雅黑" panose="020B0503020204020204" pitchFamily="34" charset="-122"/>
                <a:sym typeface="+mn-ea"/>
              </a:rPr>
              <a:t>的递归过程：</a:t>
            </a:r>
            <a:endParaRPr lang="zh-CN" altLang="en-US" sz="2400"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4815731" y="1282065"/>
            <a:ext cx="4744175" cy="3170099"/>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算法</a:t>
            </a:r>
            <a:r>
              <a:rPr lang="en-US" altLang="zh-CN" sz="2000" dirty="0">
                <a:latin typeface="微软雅黑" panose="020B0503020204020204" pitchFamily="34" charset="-122"/>
                <a:ea typeface="微软雅黑" panose="020B0503020204020204" pitchFamily="34" charset="-122"/>
              </a:rPr>
              <a:t>6.1</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void </a:t>
            </a:r>
            <a:r>
              <a:rPr lang="en-US" altLang="zh-CN" sz="2000" dirty="0" err="1">
                <a:latin typeface="微软雅黑" panose="020B0503020204020204" pitchFamily="34" charset="-122"/>
                <a:ea typeface="微软雅黑" panose="020B0503020204020204" pitchFamily="34" charset="-122"/>
              </a:rPr>
              <a:t>PreOrder</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solidFill>
                  <a:srgbClr val="FF0000"/>
                </a:solidFill>
                <a:latin typeface="微软雅黑" panose="020B0503020204020204" pitchFamily="34" charset="-122"/>
                <a:ea typeface="微软雅黑" panose="020B0503020204020204" pitchFamily="34" charset="-122"/>
              </a:rPr>
              <a:t>            Visit(root-&gt;data);</a:t>
            </a:r>
            <a:endParaRPr lang="en-US" altLang="zh-CN" sz="2000" dirty="0">
              <a:solidFill>
                <a:srgbClr val="FF0000"/>
              </a:solidFill>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PreOrder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PreOrder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RChild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17934" y="5828174"/>
            <a:ext cx="4506362" cy="523220"/>
          </a:xfrm>
          <a:prstGeom prst="rect">
            <a:avLst/>
          </a:prstGeom>
          <a:noFill/>
        </p:spPr>
        <p:txBody>
          <a:bodyPr wrap="none" rtlCol="0">
            <a:spAutoFit/>
          </a:bodyPr>
          <a:lstStyle/>
          <a:p>
            <a:r>
              <a:rPr lang="zh-CN" altLang="en-US" sz="2800" dirty="0"/>
              <a:t>遍历结果：</a:t>
            </a:r>
            <a:r>
              <a:rPr lang="en-US" altLang="zh-CN" sz="2800" dirty="0"/>
              <a:t>A B D F G C E H</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6.3.1</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30" name="文本框 29"/>
          <p:cNvSpPr txBox="1"/>
          <p:nvPr/>
        </p:nvSpPr>
        <p:spPr>
          <a:xfrm>
            <a:off x="331926" y="2387324"/>
            <a:ext cx="902811" cy="523220"/>
          </a:xfrm>
          <a:prstGeom prst="rect">
            <a:avLst/>
          </a:prstGeom>
          <a:noFill/>
        </p:spPr>
        <p:txBody>
          <a:bodyPr wrap="none" rtlCol="0">
            <a:spAutoFit/>
          </a:bodyPr>
          <a:lstStyle/>
          <a:p>
            <a:r>
              <a:rPr lang="zh-CN" altLang="en-US" sz="2800" dirty="0">
                <a:solidFill>
                  <a:schemeClr val="bg1"/>
                </a:solidFill>
              </a:rPr>
              <a:t>电梯</a:t>
            </a:r>
            <a:endParaRPr lang="zh-CN" altLang="en-US" sz="2800" dirty="0">
              <a:solidFill>
                <a:schemeClr val="bg1"/>
              </a:solidFill>
            </a:endParaRPr>
          </a:p>
        </p:txBody>
      </p:sp>
      <p:sp>
        <p:nvSpPr>
          <p:cNvPr id="32" name="文本框 31"/>
          <p:cNvSpPr txBox="1"/>
          <p:nvPr/>
        </p:nvSpPr>
        <p:spPr>
          <a:xfrm>
            <a:off x="4460905" y="2026250"/>
            <a:ext cx="678007" cy="1384995"/>
          </a:xfrm>
          <a:prstGeom prst="rect">
            <a:avLst/>
          </a:prstGeom>
          <a:noFill/>
        </p:spPr>
        <p:txBody>
          <a:bodyPr wrap="square" rtlCol="0">
            <a:spAutoFit/>
          </a:bodyPr>
          <a:lstStyle/>
          <a:p>
            <a:r>
              <a:rPr lang="zh-CN" altLang="en-US" sz="2800" dirty="0">
                <a:solidFill>
                  <a:schemeClr val="bg1"/>
                </a:solidFill>
              </a:rPr>
              <a:t>浏览器</a:t>
            </a:r>
            <a:endParaRPr lang="zh-CN" altLang="en-US" sz="2800" dirty="0">
              <a:solidFill>
                <a:schemeClr val="bg1"/>
              </a:solidFill>
            </a:endParaRPr>
          </a:p>
        </p:txBody>
      </p:sp>
      <p:sp>
        <p:nvSpPr>
          <p:cNvPr id="35" name="文本框 34"/>
          <p:cNvSpPr txBox="1"/>
          <p:nvPr/>
        </p:nvSpPr>
        <p:spPr>
          <a:xfrm>
            <a:off x="647113" y="5418923"/>
            <a:ext cx="2165714" cy="523220"/>
          </a:xfrm>
          <a:prstGeom prst="rect">
            <a:avLst/>
          </a:prstGeom>
          <a:noFill/>
        </p:spPr>
        <p:txBody>
          <a:bodyPr wrap="square" rtlCol="0">
            <a:spAutoFit/>
          </a:bodyPr>
          <a:lstStyle/>
          <a:p>
            <a:r>
              <a:rPr lang="zh-CN" altLang="en-US" sz="2800" dirty="0">
                <a:solidFill>
                  <a:schemeClr val="bg1"/>
                </a:solidFill>
              </a:rPr>
              <a:t>文本编辑器</a:t>
            </a:r>
            <a:endParaRPr lang="zh-CN" altLang="en-US" sz="2800" dirty="0">
              <a:solidFill>
                <a:schemeClr val="bg1"/>
              </a:solidFill>
            </a:endParaRPr>
          </a:p>
        </p:txBody>
      </p:sp>
      <p:sp>
        <p:nvSpPr>
          <p:cNvPr id="38" name="文本框 37"/>
          <p:cNvSpPr txBox="1"/>
          <p:nvPr/>
        </p:nvSpPr>
        <p:spPr>
          <a:xfrm>
            <a:off x="4412241" y="4252281"/>
            <a:ext cx="1049767" cy="1384995"/>
          </a:xfrm>
          <a:prstGeom prst="rect">
            <a:avLst/>
          </a:prstGeom>
          <a:noFill/>
        </p:spPr>
        <p:txBody>
          <a:bodyPr wrap="square" rtlCol="0">
            <a:spAutoFit/>
          </a:bodyPr>
          <a:lstStyle/>
          <a:p>
            <a:r>
              <a:rPr lang="zh-CN" altLang="en-US" sz="2800" dirty="0">
                <a:solidFill>
                  <a:schemeClr val="bg1"/>
                </a:solidFill>
              </a:rPr>
              <a:t>手机通话记录</a:t>
            </a:r>
            <a:endParaRPr lang="zh-CN" altLang="en-US" sz="2800" dirty="0">
              <a:solidFill>
                <a:schemeClr val="bg1"/>
              </a:solidFill>
            </a:endParaRPr>
          </a:p>
        </p:txBody>
      </p:sp>
      <p:sp>
        <p:nvSpPr>
          <p:cNvPr id="2" name="文本框 1"/>
          <p:cNvSpPr txBox="1"/>
          <p:nvPr/>
        </p:nvSpPr>
        <p:spPr>
          <a:xfrm>
            <a:off x="584200" y="1705610"/>
            <a:ext cx="4060190" cy="3914020"/>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中序遍历的递归过程：</a:t>
            </a:r>
            <a:endParaRPr lang="zh-CN" altLang="en-US" sz="2400" dirty="0">
              <a:latin typeface="微软雅黑" panose="020B0503020204020204" pitchFamily="34" charset="-122"/>
              <a:ea typeface="微软雅黑" panose="020B0503020204020204" pitchFamily="34" charset="-122"/>
            </a:endParaRPr>
          </a:p>
          <a:p>
            <a:pPr>
              <a:lnSpc>
                <a:spcPct val="150000"/>
              </a:lnSpc>
            </a:pP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若二叉树为空，则为空操作</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否则依次执行如下操作：</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）按中序遍历左子树；</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）访问根节点；</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sym typeface="+mn-ea"/>
              </a:rPr>
              <a:t>3</a:t>
            </a:r>
            <a:r>
              <a:rPr lang="zh-CN" altLang="en-US" sz="2400" dirty="0">
                <a:latin typeface="微软雅黑" panose="020B0503020204020204" pitchFamily="34" charset="-122"/>
                <a:ea typeface="微软雅黑" panose="020B0503020204020204" pitchFamily="34" charset="-122"/>
                <a:sym typeface="+mn-ea"/>
              </a:rPr>
              <a:t>）按中序遍历右子树；</a:t>
            </a:r>
            <a:endParaRPr lang="zh-CN" altLang="en-US" sz="24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969054" y="1993586"/>
            <a:ext cx="3843020" cy="3477875"/>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算法</a:t>
            </a:r>
            <a:r>
              <a:rPr lang="en-US" altLang="zh-CN" sz="2000" dirty="0">
                <a:latin typeface="微软雅黑" panose="020B0503020204020204" pitchFamily="34" charset="-122"/>
                <a:ea typeface="微软雅黑" panose="020B0503020204020204" pitchFamily="34" charset="-122"/>
              </a:rPr>
              <a:t>6.2</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void </a:t>
            </a:r>
            <a:r>
              <a:rPr lang="en-US" altLang="zh-CN" sz="2000" dirty="0" err="1">
                <a:latin typeface="微软雅黑" panose="020B0503020204020204" pitchFamily="34" charset="-122"/>
                <a:ea typeface="微软雅黑" panose="020B0503020204020204" pitchFamily="34" charset="-122"/>
              </a:rPr>
              <a:t>InOrder</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InOrder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sym typeface="+mn-ea"/>
              </a:rPr>
              <a:t>            </a:t>
            </a:r>
            <a:r>
              <a:rPr lang="en-US" altLang="zh-CN" sz="2000" dirty="0">
                <a:solidFill>
                  <a:srgbClr val="FF0000"/>
                </a:solidFill>
                <a:latin typeface="微软雅黑" panose="020B0503020204020204" pitchFamily="34" charset="-122"/>
                <a:ea typeface="微软雅黑" panose="020B0503020204020204" pitchFamily="34" charset="-122"/>
                <a:sym typeface="+mn-ea"/>
              </a:rPr>
              <a:t>Visit(root-&gt;data);</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InOrder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RChild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563213" y="967193"/>
            <a:ext cx="8314816" cy="523220"/>
          </a:xfrm>
          <a:prstGeom prst="rect">
            <a:avLst/>
          </a:prstGeom>
          <a:noFill/>
        </p:spPr>
        <p:txBody>
          <a:bodyPr wrap="square" rtlCol="0">
            <a:spAutoFit/>
          </a:bodyPr>
          <a:lstStyle/>
          <a:p>
            <a:r>
              <a:rPr lang="zh-CN" altLang="en-US" sz="2800" dirty="0"/>
              <a:t>先序遍历</a:t>
            </a:r>
            <a:r>
              <a:rPr lang="en-US" altLang="zh-CN" sz="2800" dirty="0"/>
              <a:t>(DLR)</a:t>
            </a:r>
            <a:r>
              <a:rPr lang="zh-CN" altLang="en-US" sz="2800" dirty="0"/>
              <a:t>    </a:t>
            </a:r>
            <a:r>
              <a:rPr lang="zh-CN" altLang="en-US" sz="2800" u="sng" dirty="0">
                <a:solidFill>
                  <a:srgbClr val="FF0000"/>
                </a:solidFill>
                <a:sym typeface="+mn-ea"/>
              </a:rPr>
              <a:t>中序遍历</a:t>
            </a:r>
            <a:r>
              <a:rPr lang="en-US" altLang="zh-CN" sz="2800" u="sng" dirty="0">
                <a:solidFill>
                  <a:srgbClr val="FF0000"/>
                </a:solidFill>
                <a:sym typeface="+mn-ea"/>
              </a:rPr>
              <a:t>(LDR)</a:t>
            </a:r>
            <a:r>
              <a:rPr lang="zh-CN" altLang="en-US" sz="2800" u="sng" dirty="0">
                <a:solidFill>
                  <a:srgbClr val="FF0000"/>
                </a:solidFill>
                <a:sym typeface="+mn-ea"/>
              </a:rPr>
              <a:t>     </a:t>
            </a:r>
            <a:r>
              <a:rPr lang="zh-CN" altLang="en-US" sz="2800" dirty="0">
                <a:sym typeface="+mn-ea"/>
              </a:rPr>
              <a:t>后序遍历</a:t>
            </a:r>
            <a:r>
              <a:rPr lang="en-US" altLang="zh-CN" sz="2800" dirty="0">
                <a:sym typeface="+mn-ea"/>
              </a:rPr>
              <a:t>(LRD)</a:t>
            </a:r>
            <a:r>
              <a:rPr lang="zh-CN" altLang="en-US" sz="2800" dirty="0">
                <a:sym typeface="+mn-ea"/>
              </a:rPr>
              <a:t> </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6.3.1</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6" name="椭圆 5"/>
          <p:cNvSpPr/>
          <p:nvPr/>
        </p:nvSpPr>
        <p:spPr>
          <a:xfrm>
            <a:off x="1305560" y="203708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A</a:t>
            </a:r>
            <a:endParaRPr lang="en-US" altLang="zh-CN"/>
          </a:p>
        </p:txBody>
      </p:sp>
      <p:sp>
        <p:nvSpPr>
          <p:cNvPr id="10" name="椭圆 9"/>
          <p:cNvSpPr/>
          <p:nvPr/>
        </p:nvSpPr>
        <p:spPr>
          <a:xfrm>
            <a:off x="2096135" y="29083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C</a:t>
            </a:r>
            <a:endParaRPr lang="en-US" altLang="zh-CN"/>
          </a:p>
        </p:txBody>
      </p:sp>
      <p:sp>
        <p:nvSpPr>
          <p:cNvPr id="11" name="椭圆 10"/>
          <p:cNvSpPr/>
          <p:nvPr/>
        </p:nvSpPr>
        <p:spPr>
          <a:xfrm>
            <a:off x="728980" y="29083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B</a:t>
            </a:r>
            <a:endParaRPr lang="en-US" altLang="zh-CN"/>
          </a:p>
        </p:txBody>
      </p:sp>
      <p:sp>
        <p:nvSpPr>
          <p:cNvPr id="12" name="椭圆 11"/>
          <p:cNvSpPr/>
          <p:nvPr/>
        </p:nvSpPr>
        <p:spPr>
          <a:xfrm>
            <a:off x="2969895" y="38989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E</a:t>
            </a:r>
            <a:endParaRPr lang="en-US" altLang="zh-CN"/>
          </a:p>
        </p:txBody>
      </p:sp>
      <p:sp>
        <p:nvSpPr>
          <p:cNvPr id="13" name="椭圆 12"/>
          <p:cNvSpPr/>
          <p:nvPr/>
        </p:nvSpPr>
        <p:spPr>
          <a:xfrm>
            <a:off x="1126490" y="38989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D</a:t>
            </a:r>
            <a:endParaRPr lang="en-US" altLang="zh-CN"/>
          </a:p>
        </p:txBody>
      </p:sp>
      <p:sp>
        <p:nvSpPr>
          <p:cNvPr id="16" name="椭圆 15"/>
          <p:cNvSpPr/>
          <p:nvPr/>
        </p:nvSpPr>
        <p:spPr>
          <a:xfrm>
            <a:off x="3850640" y="488442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H</a:t>
            </a:r>
            <a:endParaRPr lang="en-US" altLang="zh-CN"/>
          </a:p>
        </p:txBody>
      </p:sp>
      <p:sp>
        <p:nvSpPr>
          <p:cNvPr id="19" name="椭圆 18"/>
          <p:cNvSpPr/>
          <p:nvPr/>
        </p:nvSpPr>
        <p:spPr>
          <a:xfrm>
            <a:off x="206375" y="495554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F</a:t>
            </a:r>
            <a:endParaRPr lang="en-US" altLang="zh-CN"/>
          </a:p>
        </p:txBody>
      </p:sp>
      <p:sp>
        <p:nvSpPr>
          <p:cNvPr id="20" name="椭圆 19"/>
          <p:cNvSpPr/>
          <p:nvPr/>
        </p:nvSpPr>
        <p:spPr>
          <a:xfrm>
            <a:off x="1960880" y="495554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G</a:t>
            </a:r>
            <a:endParaRPr lang="en-US" altLang="zh-CN"/>
          </a:p>
        </p:txBody>
      </p:sp>
      <p:cxnSp>
        <p:nvCxnSpPr>
          <p:cNvPr id="21" name="直接连接符 20"/>
          <p:cNvCxnSpPr>
            <a:stCxn id="6" idx="3"/>
            <a:endCxn id="11" idx="7"/>
          </p:cNvCxnSpPr>
          <p:nvPr/>
        </p:nvCxnSpPr>
        <p:spPr>
          <a:xfrm flipH="1">
            <a:off x="1134110" y="2450465"/>
            <a:ext cx="241300" cy="528955"/>
          </a:xfrm>
          <a:prstGeom prst="line">
            <a:avLst/>
          </a:prstGeom>
        </p:spPr>
        <p:style>
          <a:lnRef idx="1">
            <a:schemeClr val="dk1"/>
          </a:lnRef>
          <a:fillRef idx="0">
            <a:schemeClr val="dk1"/>
          </a:fillRef>
          <a:effectRef idx="0">
            <a:schemeClr val="dk1"/>
          </a:effectRef>
          <a:fontRef idx="minor">
            <a:schemeClr val="tx1"/>
          </a:fontRef>
        </p:style>
      </p:cxnSp>
      <p:cxnSp>
        <p:nvCxnSpPr>
          <p:cNvPr id="22" name="直接连接符 21"/>
          <p:cNvCxnSpPr/>
          <p:nvPr/>
        </p:nvCxnSpPr>
        <p:spPr>
          <a:xfrm>
            <a:off x="1719580" y="2450465"/>
            <a:ext cx="455295" cy="528955"/>
          </a:xfrm>
          <a:prstGeom prst="line">
            <a:avLst/>
          </a:prstGeom>
        </p:spPr>
        <p:style>
          <a:lnRef idx="1">
            <a:schemeClr val="dk1"/>
          </a:lnRef>
          <a:fillRef idx="0">
            <a:schemeClr val="dk1"/>
          </a:fillRef>
          <a:effectRef idx="0">
            <a:schemeClr val="dk1"/>
          </a:effectRef>
          <a:fontRef idx="minor">
            <a:schemeClr val="tx1"/>
          </a:fontRef>
        </p:style>
      </p:cxnSp>
      <p:cxnSp>
        <p:nvCxnSpPr>
          <p:cNvPr id="23" name="直接连接符 22"/>
          <p:cNvCxnSpPr>
            <a:stCxn id="11" idx="4"/>
            <a:endCxn id="13" idx="0"/>
          </p:cNvCxnSpPr>
          <p:nvPr/>
        </p:nvCxnSpPr>
        <p:spPr>
          <a:xfrm>
            <a:off x="966470" y="3392805"/>
            <a:ext cx="397510" cy="506095"/>
          </a:xfrm>
          <a:prstGeom prst="line">
            <a:avLst/>
          </a:prstGeom>
        </p:spPr>
        <p:style>
          <a:lnRef idx="1">
            <a:schemeClr val="dk1"/>
          </a:lnRef>
          <a:fillRef idx="0">
            <a:schemeClr val="dk1"/>
          </a:fillRef>
          <a:effectRef idx="0">
            <a:schemeClr val="dk1"/>
          </a:effectRef>
          <a:fontRef idx="minor">
            <a:schemeClr val="tx1"/>
          </a:fontRef>
        </p:style>
      </p:cxnSp>
      <p:cxnSp>
        <p:nvCxnSpPr>
          <p:cNvPr id="24" name="直接连接符 23"/>
          <p:cNvCxnSpPr>
            <a:stCxn id="13" idx="3"/>
            <a:endCxn id="19" idx="0"/>
          </p:cNvCxnSpPr>
          <p:nvPr/>
        </p:nvCxnSpPr>
        <p:spPr>
          <a:xfrm flipH="1">
            <a:off x="443865" y="4312285"/>
            <a:ext cx="752475" cy="643255"/>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p:cNvCxnSpPr>
            <a:stCxn id="13" idx="5"/>
            <a:endCxn id="20" idx="0"/>
          </p:cNvCxnSpPr>
          <p:nvPr/>
        </p:nvCxnSpPr>
        <p:spPr>
          <a:xfrm>
            <a:off x="1531620" y="4312285"/>
            <a:ext cx="666750" cy="643255"/>
          </a:xfrm>
          <a:prstGeom prst="line">
            <a:avLst/>
          </a:prstGeom>
        </p:spPr>
        <p:style>
          <a:lnRef idx="1">
            <a:schemeClr val="dk1"/>
          </a:lnRef>
          <a:fillRef idx="0">
            <a:schemeClr val="dk1"/>
          </a:fillRef>
          <a:effectRef idx="0">
            <a:schemeClr val="dk1"/>
          </a:effectRef>
          <a:fontRef idx="minor">
            <a:schemeClr val="tx1"/>
          </a:fontRef>
        </p:style>
      </p:cxnSp>
      <p:cxnSp>
        <p:nvCxnSpPr>
          <p:cNvPr id="26" name="直接连接符 25"/>
          <p:cNvCxnSpPr>
            <a:stCxn id="10" idx="5"/>
            <a:endCxn id="12" idx="1"/>
          </p:cNvCxnSpPr>
          <p:nvPr/>
        </p:nvCxnSpPr>
        <p:spPr>
          <a:xfrm>
            <a:off x="2501265" y="3321685"/>
            <a:ext cx="538480" cy="648335"/>
          </a:xfrm>
          <a:prstGeom prst="line">
            <a:avLst/>
          </a:prstGeom>
        </p:spPr>
        <p:style>
          <a:lnRef idx="1">
            <a:schemeClr val="dk1"/>
          </a:lnRef>
          <a:fillRef idx="0">
            <a:schemeClr val="dk1"/>
          </a:fillRef>
          <a:effectRef idx="0">
            <a:schemeClr val="dk1"/>
          </a:effectRef>
          <a:fontRef idx="minor">
            <a:schemeClr val="tx1"/>
          </a:fontRef>
        </p:style>
      </p:cxnSp>
      <p:cxnSp>
        <p:nvCxnSpPr>
          <p:cNvPr id="29" name="直接连接符 28"/>
          <p:cNvCxnSpPr>
            <a:stCxn id="16" idx="1"/>
            <a:endCxn id="12" idx="5"/>
          </p:cNvCxnSpPr>
          <p:nvPr/>
        </p:nvCxnSpPr>
        <p:spPr>
          <a:xfrm flipH="1" flipV="1">
            <a:off x="3375025" y="4312285"/>
            <a:ext cx="545465" cy="643255"/>
          </a:xfrm>
          <a:prstGeom prst="line">
            <a:avLst/>
          </a:prstGeom>
        </p:spPr>
        <p:style>
          <a:lnRef idx="1">
            <a:schemeClr val="dk1"/>
          </a:lnRef>
          <a:fillRef idx="0">
            <a:schemeClr val="dk1"/>
          </a:fillRef>
          <a:effectRef idx="0">
            <a:schemeClr val="dk1"/>
          </a:effectRef>
          <a:fontRef idx="minor">
            <a:schemeClr val="tx1"/>
          </a:fontRef>
        </p:style>
      </p:cxnSp>
      <p:sp>
        <p:nvSpPr>
          <p:cNvPr id="30" name="文本框 29"/>
          <p:cNvSpPr txBox="1"/>
          <p:nvPr/>
        </p:nvSpPr>
        <p:spPr>
          <a:xfrm>
            <a:off x="385325" y="1118177"/>
            <a:ext cx="3855543" cy="461665"/>
          </a:xfrm>
          <a:prstGeom prst="rect">
            <a:avLst/>
          </a:prstGeom>
          <a:noFill/>
        </p:spPr>
        <p:txBody>
          <a:bodyPr wrap="none" rtlCol="0" anchor="t">
            <a:spAutoFit/>
          </a:bodyPr>
          <a:lstStyle/>
          <a:p>
            <a:r>
              <a:rPr lang="zh-CN" altLang="en-US" sz="2400" dirty="0">
                <a:latin typeface="微软雅黑" panose="020B0503020204020204" pitchFamily="34" charset="-122"/>
                <a:ea typeface="微软雅黑" panose="020B0503020204020204" pitchFamily="34" charset="-122"/>
                <a:sym typeface="+mn-ea"/>
              </a:rPr>
              <a:t>中序遍历</a:t>
            </a:r>
            <a:r>
              <a:rPr lang="en-US" altLang="zh-CN" sz="2400" dirty="0">
                <a:latin typeface="微软雅黑" panose="020B0503020204020204" pitchFamily="34" charset="-122"/>
                <a:ea typeface="微软雅黑" panose="020B0503020204020204" pitchFamily="34" charset="-122"/>
                <a:sym typeface="+mn-ea"/>
              </a:rPr>
              <a:t>LDR</a:t>
            </a:r>
            <a:r>
              <a:rPr lang="zh-CN" altLang="en-US" sz="2400" dirty="0">
                <a:latin typeface="微软雅黑" panose="020B0503020204020204" pitchFamily="34" charset="-122"/>
                <a:ea typeface="微软雅黑" panose="020B0503020204020204" pitchFamily="34" charset="-122"/>
                <a:sym typeface="+mn-ea"/>
              </a:rPr>
              <a:t>的递归过程：</a:t>
            </a:r>
            <a:endParaRPr lang="zh-CN" altLang="en-US" sz="24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17934" y="5828174"/>
            <a:ext cx="5093061" cy="523220"/>
          </a:xfrm>
          <a:prstGeom prst="rect">
            <a:avLst/>
          </a:prstGeom>
          <a:noFill/>
        </p:spPr>
        <p:txBody>
          <a:bodyPr wrap="none" rtlCol="0">
            <a:spAutoFit/>
          </a:bodyPr>
          <a:lstStyle/>
          <a:p>
            <a:r>
              <a:rPr lang="zh-CN" altLang="en-US" sz="2800" dirty="0"/>
              <a:t>遍历结果：</a:t>
            </a:r>
            <a:r>
              <a:rPr lang="en-US" altLang="zh-CN" sz="2800" dirty="0"/>
              <a:t>B  F  D  G  A  C  E  H</a:t>
            </a:r>
            <a:endParaRPr lang="zh-CN" altLang="en-US" sz="2800" dirty="0"/>
          </a:p>
        </p:txBody>
      </p:sp>
      <p:sp>
        <p:nvSpPr>
          <p:cNvPr id="28" name="文本框 27"/>
          <p:cNvSpPr txBox="1"/>
          <p:nvPr/>
        </p:nvSpPr>
        <p:spPr>
          <a:xfrm>
            <a:off x="4969054" y="1993586"/>
            <a:ext cx="3843020" cy="3477875"/>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算法</a:t>
            </a:r>
            <a:r>
              <a:rPr lang="en-US" altLang="zh-CN" sz="2000" dirty="0">
                <a:latin typeface="微软雅黑" panose="020B0503020204020204" pitchFamily="34" charset="-122"/>
                <a:ea typeface="微软雅黑" panose="020B0503020204020204" pitchFamily="34" charset="-122"/>
              </a:rPr>
              <a:t>6.2</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void </a:t>
            </a:r>
            <a:r>
              <a:rPr lang="en-US" altLang="zh-CN" sz="2000" dirty="0" err="1">
                <a:latin typeface="微软雅黑" panose="020B0503020204020204" pitchFamily="34" charset="-122"/>
                <a:ea typeface="微软雅黑" panose="020B0503020204020204" pitchFamily="34" charset="-122"/>
              </a:rPr>
              <a:t>InOrder</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InOrder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sym typeface="+mn-ea"/>
              </a:rPr>
              <a:t>            </a:t>
            </a:r>
            <a:r>
              <a:rPr lang="en-US" altLang="zh-CN" sz="2000" dirty="0">
                <a:solidFill>
                  <a:srgbClr val="FF0000"/>
                </a:solidFill>
                <a:latin typeface="微软雅黑" panose="020B0503020204020204" pitchFamily="34" charset="-122"/>
                <a:ea typeface="微软雅黑" panose="020B0503020204020204" pitchFamily="34" charset="-122"/>
                <a:sym typeface="+mn-ea"/>
              </a:rPr>
              <a:t>Visit(root-&gt;data);</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InOrder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RChild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6.3.1</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30" name="文本框 29"/>
          <p:cNvSpPr txBox="1"/>
          <p:nvPr/>
        </p:nvSpPr>
        <p:spPr>
          <a:xfrm>
            <a:off x="331926" y="2387324"/>
            <a:ext cx="902811" cy="523220"/>
          </a:xfrm>
          <a:prstGeom prst="rect">
            <a:avLst/>
          </a:prstGeom>
          <a:noFill/>
        </p:spPr>
        <p:txBody>
          <a:bodyPr wrap="none" rtlCol="0">
            <a:spAutoFit/>
          </a:bodyPr>
          <a:lstStyle/>
          <a:p>
            <a:r>
              <a:rPr lang="zh-CN" altLang="en-US" sz="2800" dirty="0">
                <a:solidFill>
                  <a:schemeClr val="bg1"/>
                </a:solidFill>
              </a:rPr>
              <a:t>电梯</a:t>
            </a:r>
            <a:endParaRPr lang="zh-CN" altLang="en-US" sz="2800" dirty="0">
              <a:solidFill>
                <a:schemeClr val="bg1"/>
              </a:solidFill>
            </a:endParaRPr>
          </a:p>
        </p:txBody>
      </p:sp>
      <p:sp>
        <p:nvSpPr>
          <p:cNvPr id="32" name="文本框 31"/>
          <p:cNvSpPr txBox="1"/>
          <p:nvPr/>
        </p:nvSpPr>
        <p:spPr>
          <a:xfrm>
            <a:off x="4460905" y="2026250"/>
            <a:ext cx="678007" cy="1384995"/>
          </a:xfrm>
          <a:prstGeom prst="rect">
            <a:avLst/>
          </a:prstGeom>
          <a:noFill/>
        </p:spPr>
        <p:txBody>
          <a:bodyPr wrap="square" rtlCol="0">
            <a:spAutoFit/>
          </a:bodyPr>
          <a:lstStyle/>
          <a:p>
            <a:r>
              <a:rPr lang="zh-CN" altLang="en-US" sz="2800" dirty="0">
                <a:solidFill>
                  <a:schemeClr val="bg1"/>
                </a:solidFill>
              </a:rPr>
              <a:t>浏览器</a:t>
            </a:r>
            <a:endParaRPr lang="zh-CN" altLang="en-US" sz="2800" dirty="0">
              <a:solidFill>
                <a:schemeClr val="bg1"/>
              </a:solidFill>
            </a:endParaRPr>
          </a:p>
        </p:txBody>
      </p:sp>
      <p:sp>
        <p:nvSpPr>
          <p:cNvPr id="35" name="文本框 34"/>
          <p:cNvSpPr txBox="1"/>
          <p:nvPr/>
        </p:nvSpPr>
        <p:spPr>
          <a:xfrm>
            <a:off x="647113" y="5418923"/>
            <a:ext cx="2165714" cy="523220"/>
          </a:xfrm>
          <a:prstGeom prst="rect">
            <a:avLst/>
          </a:prstGeom>
          <a:noFill/>
        </p:spPr>
        <p:txBody>
          <a:bodyPr wrap="square" rtlCol="0">
            <a:spAutoFit/>
          </a:bodyPr>
          <a:lstStyle/>
          <a:p>
            <a:r>
              <a:rPr lang="zh-CN" altLang="en-US" sz="2800" dirty="0">
                <a:solidFill>
                  <a:schemeClr val="bg1"/>
                </a:solidFill>
              </a:rPr>
              <a:t>文本编辑器</a:t>
            </a:r>
            <a:endParaRPr lang="zh-CN" altLang="en-US" sz="2800" dirty="0">
              <a:solidFill>
                <a:schemeClr val="bg1"/>
              </a:solidFill>
            </a:endParaRPr>
          </a:p>
        </p:txBody>
      </p:sp>
      <p:sp>
        <p:nvSpPr>
          <p:cNvPr id="38" name="文本框 37"/>
          <p:cNvSpPr txBox="1"/>
          <p:nvPr/>
        </p:nvSpPr>
        <p:spPr>
          <a:xfrm>
            <a:off x="4412241" y="4252281"/>
            <a:ext cx="1049767" cy="1384995"/>
          </a:xfrm>
          <a:prstGeom prst="rect">
            <a:avLst/>
          </a:prstGeom>
          <a:noFill/>
        </p:spPr>
        <p:txBody>
          <a:bodyPr wrap="square" rtlCol="0">
            <a:spAutoFit/>
          </a:bodyPr>
          <a:lstStyle/>
          <a:p>
            <a:r>
              <a:rPr lang="zh-CN" altLang="en-US" sz="2800" dirty="0">
                <a:solidFill>
                  <a:schemeClr val="bg1"/>
                </a:solidFill>
              </a:rPr>
              <a:t>手机通话记录</a:t>
            </a:r>
            <a:endParaRPr lang="zh-CN" altLang="en-US" sz="2800" dirty="0">
              <a:solidFill>
                <a:schemeClr val="bg1"/>
              </a:solidFill>
            </a:endParaRPr>
          </a:p>
        </p:txBody>
      </p:sp>
      <p:sp>
        <p:nvSpPr>
          <p:cNvPr id="2" name="文本框 1"/>
          <p:cNvSpPr txBox="1"/>
          <p:nvPr/>
        </p:nvSpPr>
        <p:spPr>
          <a:xfrm>
            <a:off x="584200" y="1705610"/>
            <a:ext cx="4060190" cy="3914020"/>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后序遍历的递归过程：</a:t>
            </a:r>
            <a:endParaRPr lang="zh-CN" altLang="en-US" sz="2400" dirty="0">
              <a:latin typeface="微软雅黑" panose="020B0503020204020204" pitchFamily="34" charset="-122"/>
              <a:ea typeface="微软雅黑" panose="020B0503020204020204" pitchFamily="34" charset="-122"/>
            </a:endParaRPr>
          </a:p>
          <a:p>
            <a:pPr>
              <a:lnSpc>
                <a:spcPct val="150000"/>
              </a:lnSpc>
            </a:pP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若二叉树为空，则为空操作</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否则依次执行如下操作：</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）按后序遍历左子树；</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sym typeface="+mn-ea"/>
              </a:rPr>
              <a:t>按后序遍历右子树；</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sym typeface="+mn-ea"/>
              </a:rPr>
              <a:t>3</a:t>
            </a:r>
            <a:r>
              <a:rPr lang="zh-CN" altLang="en-US" sz="2400" dirty="0">
                <a:latin typeface="微软雅黑" panose="020B0503020204020204" pitchFamily="34" charset="-122"/>
                <a:ea typeface="微软雅黑" panose="020B0503020204020204" pitchFamily="34" charset="-122"/>
                <a:sym typeface="+mn-ea"/>
              </a:rPr>
              <a:t>）访问根节点；</a:t>
            </a:r>
            <a:endParaRPr lang="zh-CN" altLang="en-US" sz="24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644390" y="2026250"/>
            <a:ext cx="4303704" cy="3477875"/>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算法</a:t>
            </a:r>
            <a:r>
              <a:rPr lang="en-US" altLang="zh-CN" sz="2000" dirty="0">
                <a:latin typeface="微软雅黑" panose="020B0503020204020204" pitchFamily="34" charset="-122"/>
                <a:ea typeface="微软雅黑" panose="020B0503020204020204" pitchFamily="34" charset="-122"/>
              </a:rPr>
              <a:t>6.3</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void </a:t>
            </a:r>
            <a:r>
              <a:rPr lang="en-US" altLang="zh-CN" sz="2000" dirty="0" err="1">
                <a:latin typeface="微软雅黑" panose="020B0503020204020204" pitchFamily="34" charset="-122"/>
                <a:ea typeface="微软雅黑" panose="020B0503020204020204" pitchFamily="34" charset="-122"/>
              </a:rPr>
              <a:t>PostOrder</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PostOrder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sym typeface="+mn-ea"/>
              </a:rPr>
              <a:t>            </a:t>
            </a:r>
            <a:r>
              <a:rPr lang="en-US" altLang="zh-CN" sz="2000" dirty="0" err="1">
                <a:latin typeface="微软雅黑" panose="020B0503020204020204" pitchFamily="34" charset="-122"/>
                <a:ea typeface="微软雅黑" panose="020B0503020204020204" pitchFamily="34" charset="-122"/>
                <a:sym typeface="+mn-ea"/>
              </a:rPr>
              <a:t>PostOrder</a:t>
            </a:r>
            <a:r>
              <a:rPr lang="en-US" altLang="zh-CN" sz="2000" dirty="0">
                <a:latin typeface="微软雅黑" panose="020B0503020204020204" pitchFamily="34" charset="-122"/>
                <a:ea typeface="微软雅黑" panose="020B0503020204020204" pitchFamily="34" charset="-122"/>
                <a:sym typeface="+mn-ea"/>
              </a:rPr>
              <a:t>(root-&gt;</a:t>
            </a:r>
            <a:r>
              <a:rPr lang="en-US" altLang="zh-CN" sz="2000" dirty="0" err="1">
                <a:latin typeface="微软雅黑" panose="020B0503020204020204" pitchFamily="34" charset="-122"/>
                <a:ea typeface="微软雅黑" panose="020B0503020204020204" pitchFamily="34" charset="-122"/>
                <a:sym typeface="+mn-ea"/>
              </a:rPr>
              <a:t>RChild</a:t>
            </a:r>
            <a:r>
              <a:rPr lang="en-US" altLang="zh-CN" sz="2000" dirty="0">
                <a:latin typeface="微软雅黑" panose="020B0503020204020204" pitchFamily="34" charset="-122"/>
                <a:ea typeface="微软雅黑" panose="020B0503020204020204" pitchFamily="34" charset="-122"/>
                <a:sym typeface="+mn-ea"/>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solidFill>
                  <a:srgbClr val="FF0000"/>
                </a:solidFill>
                <a:latin typeface="微软雅黑" panose="020B0503020204020204" pitchFamily="34" charset="-122"/>
                <a:ea typeface="微软雅黑" panose="020B0503020204020204" pitchFamily="34" charset="-122"/>
                <a:sym typeface="+mn-ea"/>
              </a:rPr>
              <a:t>            Visit(root-&gt;data);</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563213" y="967193"/>
            <a:ext cx="8314816" cy="523220"/>
          </a:xfrm>
          <a:prstGeom prst="rect">
            <a:avLst/>
          </a:prstGeom>
          <a:noFill/>
        </p:spPr>
        <p:txBody>
          <a:bodyPr wrap="square" rtlCol="0">
            <a:spAutoFit/>
          </a:bodyPr>
          <a:lstStyle/>
          <a:p>
            <a:r>
              <a:rPr lang="zh-CN" altLang="en-US" sz="2800" dirty="0"/>
              <a:t>先序遍历</a:t>
            </a:r>
            <a:r>
              <a:rPr lang="en-US" altLang="zh-CN" sz="2800" dirty="0"/>
              <a:t>(DLR)</a:t>
            </a:r>
            <a:r>
              <a:rPr lang="zh-CN" altLang="en-US" sz="2800" dirty="0"/>
              <a:t>    </a:t>
            </a:r>
            <a:r>
              <a:rPr lang="zh-CN" altLang="en-US" sz="2800" dirty="0">
                <a:sym typeface="+mn-ea"/>
              </a:rPr>
              <a:t>中序遍历</a:t>
            </a:r>
            <a:r>
              <a:rPr lang="en-US" altLang="zh-CN" sz="2800" dirty="0">
                <a:sym typeface="+mn-ea"/>
              </a:rPr>
              <a:t>(LDR)</a:t>
            </a:r>
            <a:r>
              <a:rPr lang="zh-CN" altLang="en-US" sz="2800" dirty="0">
                <a:sym typeface="+mn-ea"/>
              </a:rPr>
              <a:t>     </a:t>
            </a:r>
            <a:r>
              <a:rPr lang="zh-CN" altLang="en-US" sz="2800" u="sng" dirty="0">
                <a:solidFill>
                  <a:srgbClr val="FF0000"/>
                </a:solidFill>
                <a:sym typeface="+mn-ea"/>
              </a:rPr>
              <a:t>后序遍历</a:t>
            </a:r>
            <a:r>
              <a:rPr lang="en-US" altLang="zh-CN" sz="2800" u="sng" dirty="0">
                <a:solidFill>
                  <a:srgbClr val="FF0000"/>
                </a:solidFill>
                <a:sym typeface="+mn-ea"/>
              </a:rPr>
              <a:t>(LRD)</a:t>
            </a:r>
            <a:r>
              <a:rPr lang="zh-CN" altLang="en-US" sz="2800" u="sng" dirty="0">
                <a:solidFill>
                  <a:srgbClr val="FF0000"/>
                </a:solidFill>
                <a:sym typeface="+mn-ea"/>
              </a:rPr>
              <a:t> </a:t>
            </a:r>
            <a:endParaRPr lang="zh-CN" altLang="en-US" sz="2800" u="sng"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6.3.1</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6" name="椭圆 5"/>
          <p:cNvSpPr/>
          <p:nvPr/>
        </p:nvSpPr>
        <p:spPr>
          <a:xfrm>
            <a:off x="1305560" y="203708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A</a:t>
            </a:r>
            <a:endParaRPr lang="en-US" altLang="zh-CN"/>
          </a:p>
        </p:txBody>
      </p:sp>
      <p:sp>
        <p:nvSpPr>
          <p:cNvPr id="10" name="椭圆 9"/>
          <p:cNvSpPr/>
          <p:nvPr/>
        </p:nvSpPr>
        <p:spPr>
          <a:xfrm>
            <a:off x="2096135" y="29083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C</a:t>
            </a:r>
            <a:endParaRPr lang="en-US" altLang="zh-CN"/>
          </a:p>
        </p:txBody>
      </p:sp>
      <p:sp>
        <p:nvSpPr>
          <p:cNvPr id="11" name="椭圆 10"/>
          <p:cNvSpPr/>
          <p:nvPr/>
        </p:nvSpPr>
        <p:spPr>
          <a:xfrm>
            <a:off x="728980" y="29083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B</a:t>
            </a:r>
            <a:endParaRPr lang="en-US" altLang="zh-CN"/>
          </a:p>
        </p:txBody>
      </p:sp>
      <p:sp>
        <p:nvSpPr>
          <p:cNvPr id="12" name="椭圆 11"/>
          <p:cNvSpPr/>
          <p:nvPr/>
        </p:nvSpPr>
        <p:spPr>
          <a:xfrm>
            <a:off x="2969895" y="38989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E</a:t>
            </a:r>
            <a:endParaRPr lang="en-US" altLang="zh-CN"/>
          </a:p>
        </p:txBody>
      </p:sp>
      <p:sp>
        <p:nvSpPr>
          <p:cNvPr id="13" name="椭圆 12"/>
          <p:cNvSpPr/>
          <p:nvPr/>
        </p:nvSpPr>
        <p:spPr>
          <a:xfrm>
            <a:off x="1126490" y="389890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D</a:t>
            </a:r>
            <a:endParaRPr lang="en-US" altLang="zh-CN"/>
          </a:p>
        </p:txBody>
      </p:sp>
      <p:sp>
        <p:nvSpPr>
          <p:cNvPr id="16" name="椭圆 15"/>
          <p:cNvSpPr/>
          <p:nvPr/>
        </p:nvSpPr>
        <p:spPr>
          <a:xfrm>
            <a:off x="3850640" y="488442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H</a:t>
            </a:r>
            <a:endParaRPr lang="en-US" altLang="zh-CN"/>
          </a:p>
        </p:txBody>
      </p:sp>
      <p:sp>
        <p:nvSpPr>
          <p:cNvPr id="19" name="椭圆 18"/>
          <p:cNvSpPr/>
          <p:nvPr/>
        </p:nvSpPr>
        <p:spPr>
          <a:xfrm>
            <a:off x="206375" y="495554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F</a:t>
            </a:r>
            <a:endParaRPr lang="en-US" altLang="zh-CN"/>
          </a:p>
        </p:txBody>
      </p:sp>
      <p:sp>
        <p:nvSpPr>
          <p:cNvPr id="20" name="椭圆 19"/>
          <p:cNvSpPr/>
          <p:nvPr/>
        </p:nvSpPr>
        <p:spPr>
          <a:xfrm>
            <a:off x="1960880" y="4955540"/>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G</a:t>
            </a:r>
            <a:endParaRPr lang="en-US" altLang="zh-CN"/>
          </a:p>
        </p:txBody>
      </p:sp>
      <p:cxnSp>
        <p:nvCxnSpPr>
          <p:cNvPr id="21" name="直接连接符 20"/>
          <p:cNvCxnSpPr>
            <a:stCxn id="6" idx="3"/>
            <a:endCxn id="11" idx="7"/>
          </p:cNvCxnSpPr>
          <p:nvPr/>
        </p:nvCxnSpPr>
        <p:spPr>
          <a:xfrm flipH="1">
            <a:off x="1134110" y="2450465"/>
            <a:ext cx="241300" cy="528955"/>
          </a:xfrm>
          <a:prstGeom prst="line">
            <a:avLst/>
          </a:prstGeom>
        </p:spPr>
        <p:style>
          <a:lnRef idx="1">
            <a:schemeClr val="dk1"/>
          </a:lnRef>
          <a:fillRef idx="0">
            <a:schemeClr val="dk1"/>
          </a:fillRef>
          <a:effectRef idx="0">
            <a:schemeClr val="dk1"/>
          </a:effectRef>
          <a:fontRef idx="minor">
            <a:schemeClr val="tx1"/>
          </a:fontRef>
        </p:style>
      </p:cxnSp>
      <p:cxnSp>
        <p:nvCxnSpPr>
          <p:cNvPr id="22" name="直接连接符 21"/>
          <p:cNvCxnSpPr/>
          <p:nvPr/>
        </p:nvCxnSpPr>
        <p:spPr>
          <a:xfrm>
            <a:off x="1719580" y="2450465"/>
            <a:ext cx="455295" cy="528955"/>
          </a:xfrm>
          <a:prstGeom prst="line">
            <a:avLst/>
          </a:prstGeom>
        </p:spPr>
        <p:style>
          <a:lnRef idx="1">
            <a:schemeClr val="dk1"/>
          </a:lnRef>
          <a:fillRef idx="0">
            <a:schemeClr val="dk1"/>
          </a:fillRef>
          <a:effectRef idx="0">
            <a:schemeClr val="dk1"/>
          </a:effectRef>
          <a:fontRef idx="minor">
            <a:schemeClr val="tx1"/>
          </a:fontRef>
        </p:style>
      </p:cxnSp>
      <p:cxnSp>
        <p:nvCxnSpPr>
          <p:cNvPr id="23" name="直接连接符 22"/>
          <p:cNvCxnSpPr>
            <a:stCxn id="11" idx="4"/>
            <a:endCxn id="13" idx="0"/>
          </p:cNvCxnSpPr>
          <p:nvPr/>
        </p:nvCxnSpPr>
        <p:spPr>
          <a:xfrm>
            <a:off x="966470" y="3392805"/>
            <a:ext cx="397510" cy="506095"/>
          </a:xfrm>
          <a:prstGeom prst="line">
            <a:avLst/>
          </a:prstGeom>
        </p:spPr>
        <p:style>
          <a:lnRef idx="1">
            <a:schemeClr val="dk1"/>
          </a:lnRef>
          <a:fillRef idx="0">
            <a:schemeClr val="dk1"/>
          </a:fillRef>
          <a:effectRef idx="0">
            <a:schemeClr val="dk1"/>
          </a:effectRef>
          <a:fontRef idx="minor">
            <a:schemeClr val="tx1"/>
          </a:fontRef>
        </p:style>
      </p:cxnSp>
      <p:cxnSp>
        <p:nvCxnSpPr>
          <p:cNvPr id="24" name="直接连接符 23"/>
          <p:cNvCxnSpPr>
            <a:stCxn id="13" idx="3"/>
            <a:endCxn id="19" idx="0"/>
          </p:cNvCxnSpPr>
          <p:nvPr/>
        </p:nvCxnSpPr>
        <p:spPr>
          <a:xfrm flipH="1">
            <a:off x="443865" y="4312285"/>
            <a:ext cx="752475" cy="643255"/>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p:cNvCxnSpPr>
            <a:stCxn id="13" idx="5"/>
            <a:endCxn id="20" idx="0"/>
          </p:cNvCxnSpPr>
          <p:nvPr/>
        </p:nvCxnSpPr>
        <p:spPr>
          <a:xfrm>
            <a:off x="1531620" y="4312285"/>
            <a:ext cx="666750" cy="643255"/>
          </a:xfrm>
          <a:prstGeom prst="line">
            <a:avLst/>
          </a:prstGeom>
        </p:spPr>
        <p:style>
          <a:lnRef idx="1">
            <a:schemeClr val="dk1"/>
          </a:lnRef>
          <a:fillRef idx="0">
            <a:schemeClr val="dk1"/>
          </a:fillRef>
          <a:effectRef idx="0">
            <a:schemeClr val="dk1"/>
          </a:effectRef>
          <a:fontRef idx="minor">
            <a:schemeClr val="tx1"/>
          </a:fontRef>
        </p:style>
      </p:cxnSp>
      <p:cxnSp>
        <p:nvCxnSpPr>
          <p:cNvPr id="26" name="直接连接符 25"/>
          <p:cNvCxnSpPr>
            <a:stCxn id="10" idx="5"/>
            <a:endCxn id="12" idx="1"/>
          </p:cNvCxnSpPr>
          <p:nvPr/>
        </p:nvCxnSpPr>
        <p:spPr>
          <a:xfrm>
            <a:off x="2501265" y="3321685"/>
            <a:ext cx="538480" cy="648335"/>
          </a:xfrm>
          <a:prstGeom prst="line">
            <a:avLst/>
          </a:prstGeom>
        </p:spPr>
        <p:style>
          <a:lnRef idx="1">
            <a:schemeClr val="dk1"/>
          </a:lnRef>
          <a:fillRef idx="0">
            <a:schemeClr val="dk1"/>
          </a:fillRef>
          <a:effectRef idx="0">
            <a:schemeClr val="dk1"/>
          </a:effectRef>
          <a:fontRef idx="minor">
            <a:schemeClr val="tx1"/>
          </a:fontRef>
        </p:style>
      </p:cxnSp>
      <p:cxnSp>
        <p:nvCxnSpPr>
          <p:cNvPr id="29" name="直接连接符 28"/>
          <p:cNvCxnSpPr>
            <a:stCxn id="16" idx="1"/>
            <a:endCxn id="12" idx="5"/>
          </p:cNvCxnSpPr>
          <p:nvPr/>
        </p:nvCxnSpPr>
        <p:spPr>
          <a:xfrm flipH="1" flipV="1">
            <a:off x="3375025" y="4312285"/>
            <a:ext cx="545465" cy="643255"/>
          </a:xfrm>
          <a:prstGeom prst="line">
            <a:avLst/>
          </a:prstGeom>
        </p:spPr>
        <p:style>
          <a:lnRef idx="1">
            <a:schemeClr val="dk1"/>
          </a:lnRef>
          <a:fillRef idx="0">
            <a:schemeClr val="dk1"/>
          </a:fillRef>
          <a:effectRef idx="0">
            <a:schemeClr val="dk1"/>
          </a:effectRef>
          <a:fontRef idx="minor">
            <a:schemeClr val="tx1"/>
          </a:fontRef>
        </p:style>
      </p:cxnSp>
      <p:sp>
        <p:nvSpPr>
          <p:cNvPr id="27" name="文本框 26"/>
          <p:cNvSpPr txBox="1"/>
          <p:nvPr/>
        </p:nvSpPr>
        <p:spPr>
          <a:xfrm>
            <a:off x="4644390" y="2026250"/>
            <a:ext cx="4303704" cy="3477875"/>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算法</a:t>
            </a:r>
            <a:r>
              <a:rPr lang="en-US" altLang="zh-CN" sz="2000" dirty="0">
                <a:latin typeface="微软雅黑" panose="020B0503020204020204" pitchFamily="34" charset="-122"/>
                <a:ea typeface="微软雅黑" panose="020B0503020204020204" pitchFamily="34" charset="-122"/>
              </a:rPr>
              <a:t>6.3</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void </a:t>
            </a:r>
            <a:r>
              <a:rPr lang="en-US" altLang="zh-CN" sz="2000" dirty="0" err="1">
                <a:latin typeface="微软雅黑" panose="020B0503020204020204" pitchFamily="34" charset="-122"/>
                <a:ea typeface="微软雅黑" panose="020B0503020204020204" pitchFamily="34" charset="-122"/>
              </a:rPr>
              <a:t>PostOrder</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PostOrder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sym typeface="+mn-ea"/>
              </a:rPr>
              <a:t>            </a:t>
            </a:r>
            <a:r>
              <a:rPr lang="en-US" altLang="zh-CN" sz="2000" dirty="0" err="1">
                <a:latin typeface="微软雅黑" panose="020B0503020204020204" pitchFamily="34" charset="-122"/>
                <a:ea typeface="微软雅黑" panose="020B0503020204020204" pitchFamily="34" charset="-122"/>
                <a:sym typeface="+mn-ea"/>
              </a:rPr>
              <a:t>PostOrder</a:t>
            </a:r>
            <a:r>
              <a:rPr lang="en-US" altLang="zh-CN" sz="2000" dirty="0">
                <a:latin typeface="微软雅黑" panose="020B0503020204020204" pitchFamily="34" charset="-122"/>
                <a:ea typeface="微软雅黑" panose="020B0503020204020204" pitchFamily="34" charset="-122"/>
                <a:sym typeface="+mn-ea"/>
              </a:rPr>
              <a:t>(root-&gt;</a:t>
            </a:r>
            <a:r>
              <a:rPr lang="en-US" altLang="zh-CN" sz="2000" dirty="0" err="1">
                <a:latin typeface="微软雅黑" panose="020B0503020204020204" pitchFamily="34" charset="-122"/>
                <a:ea typeface="微软雅黑" panose="020B0503020204020204" pitchFamily="34" charset="-122"/>
                <a:sym typeface="+mn-ea"/>
              </a:rPr>
              <a:t>RChild</a:t>
            </a:r>
            <a:r>
              <a:rPr lang="en-US" altLang="zh-CN" sz="2000" dirty="0">
                <a:latin typeface="微软雅黑" panose="020B0503020204020204" pitchFamily="34" charset="-122"/>
                <a:ea typeface="微软雅黑" panose="020B0503020204020204" pitchFamily="34" charset="-122"/>
                <a:sym typeface="+mn-ea"/>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solidFill>
                  <a:srgbClr val="FF0000"/>
                </a:solidFill>
                <a:latin typeface="微软雅黑" panose="020B0503020204020204" pitchFamily="34" charset="-122"/>
                <a:ea typeface="微软雅黑" panose="020B0503020204020204" pitchFamily="34" charset="-122"/>
                <a:sym typeface="+mn-ea"/>
              </a:rPr>
              <a:t>            Visit(root-&gt;data);</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p:txBody>
      </p:sp>
      <p:sp>
        <p:nvSpPr>
          <p:cNvPr id="28" name="文本框 27"/>
          <p:cNvSpPr txBox="1"/>
          <p:nvPr/>
        </p:nvSpPr>
        <p:spPr>
          <a:xfrm>
            <a:off x="303530" y="1072052"/>
            <a:ext cx="4060190" cy="581057"/>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后序遍历</a:t>
            </a:r>
            <a:r>
              <a:rPr lang="en-US" altLang="zh-CN" sz="2400" dirty="0">
                <a:latin typeface="微软雅黑" panose="020B0503020204020204" pitchFamily="34" charset="-122"/>
                <a:ea typeface="微软雅黑" panose="020B0503020204020204" pitchFamily="34" charset="-122"/>
              </a:rPr>
              <a:t>LRD</a:t>
            </a:r>
            <a:r>
              <a:rPr lang="zh-CN" altLang="en-US" sz="2400" dirty="0">
                <a:latin typeface="微软雅黑" panose="020B0503020204020204" pitchFamily="34" charset="-122"/>
                <a:ea typeface="微软雅黑" panose="020B0503020204020204" pitchFamily="34" charset="-122"/>
              </a:rPr>
              <a:t>的递归过程：</a:t>
            </a:r>
            <a:endParaRPr lang="zh-CN" altLang="en-US" sz="2400" dirty="0">
              <a:latin typeface="微软雅黑" panose="020B0503020204020204" pitchFamily="34" charset="-122"/>
              <a:ea typeface="微软雅黑" panose="020B0503020204020204" pitchFamily="34" charset="-122"/>
            </a:endParaRPr>
          </a:p>
        </p:txBody>
      </p:sp>
      <p:sp>
        <p:nvSpPr>
          <p:cNvPr id="30" name="文本框 29"/>
          <p:cNvSpPr txBox="1"/>
          <p:nvPr/>
        </p:nvSpPr>
        <p:spPr>
          <a:xfrm>
            <a:off x="317934" y="5828174"/>
            <a:ext cx="4995278" cy="523220"/>
          </a:xfrm>
          <a:prstGeom prst="rect">
            <a:avLst/>
          </a:prstGeom>
          <a:noFill/>
        </p:spPr>
        <p:txBody>
          <a:bodyPr wrap="none" rtlCol="0">
            <a:spAutoFit/>
          </a:bodyPr>
          <a:lstStyle/>
          <a:p>
            <a:r>
              <a:rPr lang="zh-CN" altLang="en-US" sz="2800" dirty="0"/>
              <a:t>遍历结果：</a:t>
            </a:r>
            <a:r>
              <a:rPr lang="en-US" altLang="zh-CN" sz="2800" dirty="0"/>
              <a:t> F  G  D  B  H  E C A</a:t>
            </a: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8" name="文本框 27"/>
          <p:cNvSpPr txBox="1"/>
          <p:nvPr/>
        </p:nvSpPr>
        <p:spPr>
          <a:xfrm>
            <a:off x="2089941" y="720825"/>
            <a:ext cx="6154420" cy="743986"/>
          </a:xfrm>
          <a:prstGeom prst="rect">
            <a:avLst/>
          </a:prstGeom>
          <a:noFill/>
        </p:spPr>
        <p:txBody>
          <a:bodyPr wrap="square" rtlCol="0">
            <a:spAutoFit/>
          </a:bodyPr>
          <a:lstStyle/>
          <a:p>
            <a:pPr>
              <a:lnSpc>
                <a:spcPct val="150000"/>
              </a:lnSpc>
            </a:pPr>
            <a:r>
              <a:rPr lang="zh-CN" altLang="en-US" sz="3200" dirty="0">
                <a:latin typeface="微软雅黑" panose="020B0503020204020204" pitchFamily="34" charset="-122"/>
                <a:ea typeface="微软雅黑" panose="020B0503020204020204" pitchFamily="34" charset="-122"/>
              </a:rPr>
              <a:t>递归算法的时间复杂度分析 </a:t>
            </a:r>
            <a:endParaRPr lang="zh-CN" altLang="en-US"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793288" y="2173970"/>
            <a:ext cx="7854151" cy="2601546"/>
          </a:xfrm>
          <a:prstGeom prst="rect">
            <a:avLst/>
          </a:prstGeom>
          <a:noFill/>
        </p:spPr>
        <p:txBody>
          <a:bodyPr wrap="square" rtlCol="0">
            <a:spAutoFit/>
          </a:bodyPr>
          <a:lstStyle/>
          <a:p>
            <a:pPr>
              <a:lnSpc>
                <a:spcPct val="150000"/>
              </a:lnSpc>
            </a:pPr>
            <a:r>
              <a:rPr lang="zh-CN" altLang="en-US" sz="2800" dirty="0">
                <a:latin typeface="微软雅黑" panose="020B0503020204020204" pitchFamily="34" charset="-122"/>
                <a:ea typeface="微软雅黑" panose="020B0503020204020204" pitchFamily="34" charset="-122"/>
              </a:rPr>
              <a:t>      设二叉树有</a:t>
            </a:r>
            <a:r>
              <a:rPr lang="en-US" altLang="zh-CN" sz="2800" dirty="0">
                <a:latin typeface="微软雅黑" panose="020B0503020204020204" pitchFamily="34" charset="-122"/>
                <a:ea typeface="微软雅黑" panose="020B0503020204020204" pitchFamily="34" charset="-122"/>
              </a:rPr>
              <a:t>n</a:t>
            </a:r>
            <a:r>
              <a:rPr lang="zh-CN" altLang="en-US" sz="2800" dirty="0">
                <a:latin typeface="微软雅黑" panose="020B0503020204020204" pitchFamily="34" charset="-122"/>
                <a:ea typeface="微软雅黑" panose="020B0503020204020204" pitchFamily="34" charset="-122"/>
              </a:rPr>
              <a:t>个结点，对每个结点都要进行一次入栈和出栈的操作，即</a:t>
            </a:r>
            <a:r>
              <a:rPr lang="zh-CN" altLang="en-US" sz="2800" dirty="0">
                <a:solidFill>
                  <a:srgbClr val="FF0000"/>
                </a:solidFill>
                <a:latin typeface="微软雅黑" panose="020B0503020204020204" pitchFamily="34" charset="-122"/>
                <a:ea typeface="微软雅黑" panose="020B0503020204020204" pitchFamily="34" charset="-122"/>
              </a:rPr>
              <a:t>入栈和出栈各执行</a:t>
            </a:r>
            <a:r>
              <a:rPr lang="en-US" altLang="zh-CN" sz="2800" dirty="0">
                <a:solidFill>
                  <a:srgbClr val="FF0000"/>
                </a:solidFill>
                <a:latin typeface="微软雅黑" panose="020B0503020204020204" pitchFamily="34" charset="-122"/>
                <a:ea typeface="微软雅黑" panose="020B0503020204020204" pitchFamily="34" charset="-122"/>
              </a:rPr>
              <a:t>n</a:t>
            </a:r>
            <a:r>
              <a:rPr lang="zh-CN" altLang="en-US" sz="2800" dirty="0">
                <a:solidFill>
                  <a:srgbClr val="FF0000"/>
                </a:solidFill>
                <a:latin typeface="微软雅黑" panose="020B0503020204020204" pitchFamily="34" charset="-122"/>
                <a:ea typeface="微软雅黑" panose="020B0503020204020204" pitchFamily="34" charset="-122"/>
              </a:rPr>
              <a:t>次</a:t>
            </a:r>
            <a:r>
              <a:rPr lang="zh-CN" altLang="en-US" sz="2800" dirty="0">
                <a:latin typeface="微软雅黑" panose="020B0503020204020204" pitchFamily="34" charset="-122"/>
                <a:ea typeface="微软雅黑" panose="020B0503020204020204" pitchFamily="34" charset="-122"/>
              </a:rPr>
              <a:t>，对结点的访问也是</a:t>
            </a:r>
            <a:r>
              <a:rPr lang="en-US" altLang="zh-CN" sz="2800" dirty="0">
                <a:latin typeface="微软雅黑" panose="020B0503020204020204" pitchFamily="34" charset="-122"/>
                <a:ea typeface="微软雅黑" panose="020B0503020204020204" pitchFamily="34" charset="-122"/>
              </a:rPr>
              <a:t>n</a:t>
            </a:r>
            <a:r>
              <a:rPr lang="zh-CN" altLang="en-US" sz="2800" dirty="0">
                <a:latin typeface="微软雅黑" panose="020B0503020204020204" pitchFamily="34" charset="-122"/>
                <a:ea typeface="微软雅黑" panose="020B0503020204020204" pitchFamily="34" charset="-122"/>
              </a:rPr>
              <a:t>次，这些二叉树递归遍历算法的时间复杂度为</a:t>
            </a:r>
            <a:r>
              <a:rPr lang="en-US" altLang="zh-CN" sz="2800" dirty="0">
                <a:solidFill>
                  <a:srgbClr val="FF0000"/>
                </a:solidFill>
                <a:latin typeface="微软雅黑" panose="020B0503020204020204" pitchFamily="34" charset="-122"/>
                <a:ea typeface="微软雅黑" panose="020B0503020204020204" pitchFamily="34" charset="-122"/>
              </a:rPr>
              <a:t>O(n)</a:t>
            </a:r>
            <a:r>
              <a:rPr lang="zh-CN" altLang="en-US"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8" name="文本框 27"/>
          <p:cNvSpPr txBox="1"/>
          <p:nvPr/>
        </p:nvSpPr>
        <p:spPr>
          <a:xfrm>
            <a:off x="793287" y="381710"/>
            <a:ext cx="7944985" cy="3698641"/>
          </a:xfrm>
          <a:prstGeom prst="rect">
            <a:avLst/>
          </a:prstGeom>
          <a:noFill/>
        </p:spPr>
        <p:txBody>
          <a:bodyPr wrap="square" rtlCol="0">
            <a:spAutoFit/>
          </a:bodyPr>
          <a:lstStyle/>
          <a:p>
            <a:pPr>
              <a:lnSpc>
                <a:spcPct val="150000"/>
              </a:lnSpc>
            </a:pPr>
            <a:r>
              <a:rPr lang="zh-CN" altLang="en-US" sz="3200" dirty="0">
                <a:latin typeface="微软雅黑" panose="020B0503020204020204" pitchFamily="34" charset="-122"/>
                <a:ea typeface="微软雅黑" panose="020B0503020204020204" pitchFamily="34" charset="-122"/>
              </a:rPr>
              <a:t>思考：先序和后序一样，请问这样的二叉树是怎样的形态？</a:t>
            </a:r>
            <a:endParaRPr lang="en-US" altLang="zh-CN" sz="3200" dirty="0">
              <a:latin typeface="微软雅黑" panose="020B0503020204020204" pitchFamily="34" charset="-122"/>
              <a:ea typeface="微软雅黑" panose="020B0503020204020204" pitchFamily="34" charset="-122"/>
            </a:endParaRPr>
          </a:p>
          <a:p>
            <a:pPr>
              <a:lnSpc>
                <a:spcPct val="150000"/>
              </a:lnSpc>
            </a:pPr>
            <a:r>
              <a:rPr lang="zh-CN" altLang="en-US" sz="3200" dirty="0">
                <a:latin typeface="微软雅黑" panose="020B0503020204020204" pitchFamily="34" charset="-122"/>
                <a:ea typeface="微软雅黑" panose="020B0503020204020204" pitchFamily="34" charset="-122"/>
              </a:rPr>
              <a:t>先序：</a:t>
            </a:r>
            <a:r>
              <a:rPr lang="en-US" altLang="zh-CN" sz="3200" dirty="0">
                <a:latin typeface="微软雅黑" panose="020B0503020204020204" pitchFamily="34" charset="-122"/>
                <a:ea typeface="微软雅黑" panose="020B0503020204020204" pitchFamily="34" charset="-122"/>
              </a:rPr>
              <a:t>DLR</a:t>
            </a:r>
            <a:endParaRPr lang="en-US" altLang="zh-CN" sz="3200" dirty="0">
              <a:latin typeface="微软雅黑" panose="020B0503020204020204" pitchFamily="34" charset="-122"/>
              <a:ea typeface="微软雅黑" panose="020B0503020204020204" pitchFamily="34" charset="-122"/>
            </a:endParaRPr>
          </a:p>
          <a:p>
            <a:pPr>
              <a:lnSpc>
                <a:spcPct val="150000"/>
              </a:lnSpc>
            </a:pPr>
            <a:r>
              <a:rPr lang="zh-CN" altLang="en-US" sz="3200" dirty="0">
                <a:latin typeface="微软雅黑" panose="020B0503020204020204" pitchFamily="34" charset="-122"/>
                <a:ea typeface="微软雅黑" panose="020B0503020204020204" pitchFamily="34" charset="-122"/>
              </a:rPr>
              <a:t>中序：</a:t>
            </a:r>
            <a:r>
              <a:rPr lang="en-US" altLang="zh-CN" sz="3200" dirty="0">
                <a:latin typeface="微软雅黑" panose="020B0503020204020204" pitchFamily="34" charset="-122"/>
                <a:ea typeface="微软雅黑" panose="020B0503020204020204" pitchFamily="34" charset="-122"/>
              </a:rPr>
              <a:t>LDR</a:t>
            </a:r>
            <a:endParaRPr lang="en-US" altLang="zh-CN" sz="3200" dirty="0">
              <a:latin typeface="微软雅黑" panose="020B0503020204020204" pitchFamily="34" charset="-122"/>
              <a:ea typeface="微软雅黑" panose="020B0503020204020204" pitchFamily="34" charset="-122"/>
            </a:endParaRPr>
          </a:p>
          <a:p>
            <a:pPr>
              <a:lnSpc>
                <a:spcPct val="150000"/>
              </a:lnSpc>
            </a:pPr>
            <a:r>
              <a:rPr lang="zh-CN" altLang="en-US" sz="3200" dirty="0">
                <a:latin typeface="微软雅黑" panose="020B0503020204020204" pitchFamily="34" charset="-122"/>
                <a:ea typeface="微软雅黑" panose="020B0503020204020204" pitchFamily="34" charset="-122"/>
              </a:rPr>
              <a:t>后序：</a:t>
            </a:r>
            <a:r>
              <a:rPr lang="en-US" altLang="zh-CN" sz="3200" dirty="0">
                <a:latin typeface="微软雅黑" panose="020B0503020204020204" pitchFamily="34" charset="-122"/>
                <a:ea typeface="微软雅黑" panose="020B0503020204020204" pitchFamily="34" charset="-122"/>
              </a:rPr>
              <a:t>LRD</a:t>
            </a:r>
            <a:endParaRPr lang="zh-CN" altLang="en-US"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793288" y="2173970"/>
            <a:ext cx="7854151" cy="662554"/>
          </a:xfrm>
          <a:prstGeom prst="rect">
            <a:avLst/>
          </a:prstGeom>
          <a:noFill/>
        </p:spPr>
        <p:txBody>
          <a:bodyPr wrap="square" rtlCol="0">
            <a:spAutoFit/>
          </a:bodyPr>
          <a:lstStyle/>
          <a:p>
            <a:pPr>
              <a:lnSpc>
                <a:spcPct val="150000"/>
              </a:lnSpc>
            </a:pPr>
            <a:r>
              <a:rPr lang="en-US" altLang="zh-CN" sz="2800" dirty="0">
                <a:latin typeface="微软雅黑" panose="020B0503020204020204" pitchFamily="34" charset="-122"/>
                <a:ea typeface="微软雅黑" panose="020B0503020204020204" pitchFamily="34" charset="-122"/>
              </a:rPr>
              <a:t> </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5" y="150770"/>
            <a:ext cx="6215281"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6.3.2 </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遍历算法的应用</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4" name="文本框 3"/>
          <p:cNvSpPr txBox="1"/>
          <p:nvPr/>
        </p:nvSpPr>
        <p:spPr>
          <a:xfrm>
            <a:off x="708549" y="1210732"/>
            <a:ext cx="8078386" cy="4436536"/>
          </a:xfrm>
          <a:prstGeom prst="rect">
            <a:avLst/>
          </a:prstGeom>
          <a:noFill/>
        </p:spPr>
        <p:txBody>
          <a:bodyPr wrap="square" rtlCol="0">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1</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、输出二叉树中的结点</a:t>
            </a:r>
            <a:endParaRPr lang="en-US" altLang="zh-CN" sz="3200" dirty="0">
              <a:solidFill>
                <a:srgbClr val="FF0000"/>
              </a:solidFill>
              <a:latin typeface="微软雅黑" panose="020B0503020204020204" pitchFamily="34" charset="-122"/>
              <a:ea typeface="微软雅黑" panose="020B0503020204020204" pitchFamily="34" charset="-12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2</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、输出二叉树中的叶子节点</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3、统计叶子结点数目</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4</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、建立二叉链表方式存储的二叉树</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5</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、求二叉树高度</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6</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、按树状打印的二叉树</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2118625" y="-72642"/>
            <a:ext cx="6215281" cy="743217"/>
          </a:xfrm>
          <a:prstGeom prst="rect">
            <a:avLst/>
          </a:prstGeom>
          <a:noFill/>
        </p:spPr>
        <p:txBody>
          <a:bodyPr wrap="square">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1</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、输出二叉树中的结点</a:t>
            </a:r>
            <a:endParaRPr lang="en-US" altLang="zh-CN" sz="3200" dirty="0">
              <a:solidFill>
                <a:srgbClr val="FF0000"/>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11" name="文本框 10"/>
          <p:cNvSpPr txBox="1"/>
          <p:nvPr/>
        </p:nvSpPr>
        <p:spPr>
          <a:xfrm>
            <a:off x="564985" y="770777"/>
            <a:ext cx="8173288" cy="1955215"/>
          </a:xfrm>
          <a:prstGeom prst="rect">
            <a:avLst/>
          </a:prstGeom>
          <a:noFill/>
          <a:ln>
            <a:solidFill>
              <a:schemeClr val="bg1"/>
            </a:solidFill>
          </a:ln>
        </p:spPr>
        <p:txBody>
          <a:bodyPr wrap="square" rtlCol="0">
            <a:spAutoFit/>
          </a:bodyPr>
          <a:lstStyle/>
          <a:p>
            <a:pPr>
              <a:lnSpc>
                <a:spcPct val="150000"/>
              </a:lnSpc>
            </a:pPr>
            <a:r>
              <a:rPr lang="zh-CN" altLang="en-US" sz="2800" dirty="0">
                <a:latin typeface="微软雅黑" panose="020B0503020204020204" pitchFamily="34" charset="-122"/>
                <a:ea typeface="微软雅黑" panose="020B0503020204020204" pitchFamily="34" charset="-122"/>
              </a:rPr>
              <a:t>      输出二叉树中的结点并无次序要求，因此可采用三种遍历方法中的任意一个，只需将访问操作变成输出操作即可。</a:t>
            </a:r>
            <a:endParaRPr lang="en-US" altLang="zh-CN" sz="28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281971" y="2917124"/>
            <a:ext cx="3605744" cy="2862322"/>
          </a:xfrm>
          <a:prstGeom prst="rect">
            <a:avLst/>
          </a:prstGeom>
          <a:noFill/>
          <a:ln>
            <a:solidFill>
              <a:srgbClr val="0070C0"/>
            </a:solidFill>
          </a:ln>
        </p:spPr>
        <p:txBody>
          <a:bodyPr wrap="square" rtlCol="0">
            <a:spAutoFit/>
          </a:bodyPr>
          <a:lstStyle/>
          <a:p>
            <a:r>
              <a:rPr lang="zh-CN" altLang="en-US" dirty="0">
                <a:latin typeface="微软雅黑" panose="020B0503020204020204" pitchFamily="34" charset="-122"/>
                <a:ea typeface="微软雅黑" panose="020B0503020204020204" pitchFamily="34" charset="-122"/>
              </a:rPr>
              <a:t>算法</a:t>
            </a:r>
            <a:r>
              <a:rPr lang="en-US" altLang="zh-CN" dirty="0">
                <a:latin typeface="微软雅黑" panose="020B0503020204020204" pitchFamily="34" charset="-122"/>
                <a:ea typeface="微软雅黑" panose="020B0503020204020204" pitchFamily="34" charset="-122"/>
              </a:rPr>
              <a:t>6.1</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void </a:t>
            </a:r>
            <a:r>
              <a:rPr lang="en-US" altLang="zh-CN" dirty="0" err="1">
                <a:latin typeface="微软雅黑" panose="020B0503020204020204" pitchFamily="34" charset="-122"/>
                <a:ea typeface="微软雅黑" panose="020B0503020204020204" pitchFamily="34" charset="-122"/>
              </a:rPr>
              <a:t>PreOrder</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BiTree</a:t>
            </a:r>
            <a:r>
              <a:rPr lang="en-US" altLang="zh-CN" dirty="0">
                <a:latin typeface="微软雅黑" panose="020B0503020204020204" pitchFamily="34" charset="-122"/>
                <a:ea typeface="微软雅黑" panose="020B0503020204020204" pitchFamily="34" charset="-122"/>
              </a:rPr>
              <a:t> root)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if(root!=NULL)</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a:solidFill>
                  <a:srgbClr val="FF0000"/>
                </a:solidFill>
                <a:latin typeface="微软雅黑" panose="020B0503020204020204" pitchFamily="34" charset="-122"/>
                <a:ea typeface="微软雅黑" panose="020B0503020204020204" pitchFamily="34" charset="-122"/>
              </a:rPr>
              <a:t>Visit(root-&gt;data);</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PreOrder</a:t>
            </a:r>
            <a:r>
              <a:rPr lang="en-US" altLang="zh-CN" dirty="0">
                <a:latin typeface="微软雅黑" panose="020B0503020204020204" pitchFamily="34" charset="-122"/>
                <a:ea typeface="微软雅黑" panose="020B0503020204020204" pitchFamily="34" charset="-122"/>
              </a:rPr>
              <a:t>(root-&gt;</a:t>
            </a:r>
            <a:r>
              <a:rPr lang="en-US" altLang="zh-CN" dirty="0" err="1">
                <a:latin typeface="微软雅黑" panose="020B0503020204020204" pitchFamily="34" charset="-122"/>
                <a:ea typeface="微软雅黑" panose="020B0503020204020204" pitchFamily="34" charset="-122"/>
              </a:rPr>
              <a:t>LChild</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PreOrder</a:t>
            </a:r>
            <a:r>
              <a:rPr lang="en-US" altLang="zh-CN" dirty="0">
                <a:latin typeface="微软雅黑" panose="020B0503020204020204" pitchFamily="34" charset="-122"/>
                <a:ea typeface="微软雅黑" panose="020B0503020204020204" pitchFamily="34" charset="-122"/>
              </a:rPr>
              <a:t>(root-&gt;</a:t>
            </a:r>
            <a:r>
              <a:rPr lang="en-US" altLang="zh-CN" dirty="0" err="1">
                <a:latin typeface="微软雅黑" panose="020B0503020204020204" pitchFamily="34" charset="-122"/>
                <a:ea typeface="微软雅黑" panose="020B0503020204020204" pitchFamily="34" charset="-122"/>
              </a:rPr>
              <a:t>RChild</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5186816" y="2917124"/>
            <a:ext cx="3675213" cy="2862322"/>
          </a:xfrm>
          <a:prstGeom prst="rect">
            <a:avLst/>
          </a:prstGeom>
          <a:noFill/>
          <a:ln>
            <a:solidFill>
              <a:srgbClr val="0070C0"/>
            </a:solidFill>
          </a:ln>
        </p:spPr>
        <p:txBody>
          <a:bodyPr wrap="square" rtlCol="0">
            <a:spAutoFit/>
          </a:bodyPr>
          <a:lstStyle/>
          <a:p>
            <a:r>
              <a:rPr lang="zh-CN" altLang="en-US" dirty="0">
                <a:latin typeface="微软雅黑" panose="020B0503020204020204" pitchFamily="34" charset="-122"/>
                <a:ea typeface="微软雅黑" panose="020B0503020204020204" pitchFamily="34" charset="-122"/>
              </a:rPr>
              <a:t>算法</a:t>
            </a:r>
            <a:r>
              <a:rPr lang="en-US" altLang="zh-CN" dirty="0">
                <a:latin typeface="微软雅黑" panose="020B0503020204020204" pitchFamily="34" charset="-122"/>
                <a:ea typeface="微软雅黑" panose="020B0503020204020204" pitchFamily="34" charset="-122"/>
              </a:rPr>
              <a:t>6.4   </a:t>
            </a:r>
            <a:r>
              <a:rPr lang="zh-CN" altLang="en-US" dirty="0">
                <a:latin typeface="微软雅黑" panose="020B0503020204020204" pitchFamily="34" charset="-122"/>
                <a:ea typeface="微软雅黑" panose="020B0503020204020204" pitchFamily="34" charset="-122"/>
              </a:rPr>
              <a:t>先序遍历</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void </a:t>
            </a:r>
            <a:r>
              <a:rPr lang="en-US" altLang="zh-CN" dirty="0" err="1">
                <a:latin typeface="微软雅黑" panose="020B0503020204020204" pitchFamily="34" charset="-122"/>
                <a:ea typeface="微软雅黑" panose="020B0503020204020204" pitchFamily="34" charset="-122"/>
              </a:rPr>
              <a:t>PreOrder</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BiTree</a:t>
            </a:r>
            <a:r>
              <a:rPr lang="en-US" altLang="zh-CN" dirty="0">
                <a:latin typeface="微软雅黑" panose="020B0503020204020204" pitchFamily="34" charset="-122"/>
                <a:ea typeface="微软雅黑" panose="020B0503020204020204" pitchFamily="34" charset="-122"/>
              </a:rPr>
              <a:t> root)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if(root!=NULL)</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solidFill>
                  <a:srgbClr val="FF0000"/>
                </a:solidFill>
                <a:latin typeface="微软雅黑" panose="020B0503020204020204" pitchFamily="34" charset="-122"/>
                <a:ea typeface="微软雅黑" panose="020B0503020204020204" pitchFamily="34" charset="-122"/>
              </a:rPr>
              <a:t>prinf</a:t>
            </a:r>
            <a:r>
              <a:rPr lang="en-US" altLang="zh-CN" dirty="0">
                <a:solidFill>
                  <a:srgbClr val="FF0000"/>
                </a:solidFill>
                <a:latin typeface="微软雅黑" panose="020B0503020204020204" pitchFamily="34" charset="-122"/>
                <a:ea typeface="微软雅黑" panose="020B0503020204020204" pitchFamily="34" charset="-122"/>
              </a:rPr>
              <a:t>(root-&gt;data);</a:t>
            </a:r>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PreOrder</a:t>
            </a:r>
            <a:r>
              <a:rPr lang="en-US" altLang="zh-CN" dirty="0">
                <a:latin typeface="微软雅黑" panose="020B0503020204020204" pitchFamily="34" charset="-122"/>
                <a:ea typeface="微软雅黑" panose="020B0503020204020204" pitchFamily="34" charset="-122"/>
              </a:rPr>
              <a:t>(root-&gt;</a:t>
            </a:r>
            <a:r>
              <a:rPr lang="en-US" altLang="zh-CN" dirty="0" err="1">
                <a:latin typeface="微软雅黑" panose="020B0503020204020204" pitchFamily="34" charset="-122"/>
                <a:ea typeface="微软雅黑" panose="020B0503020204020204" pitchFamily="34" charset="-122"/>
              </a:rPr>
              <a:t>LChild</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PreOrder</a:t>
            </a:r>
            <a:r>
              <a:rPr lang="en-US" altLang="zh-CN" dirty="0">
                <a:latin typeface="微软雅黑" panose="020B0503020204020204" pitchFamily="34" charset="-122"/>
                <a:ea typeface="微软雅黑" panose="020B0503020204020204" pitchFamily="34" charset="-122"/>
              </a:rPr>
              <a:t>(root-&gt;</a:t>
            </a:r>
            <a:r>
              <a:rPr lang="en-US" altLang="zh-CN" dirty="0" err="1">
                <a:latin typeface="微软雅黑" panose="020B0503020204020204" pitchFamily="34" charset="-122"/>
                <a:ea typeface="微软雅黑" panose="020B0503020204020204" pitchFamily="34" charset="-122"/>
              </a:rPr>
              <a:t>RChild</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5" name="箭头: 右 4"/>
          <p:cNvSpPr/>
          <p:nvPr/>
        </p:nvSpPr>
        <p:spPr>
          <a:xfrm>
            <a:off x="4178384" y="3924048"/>
            <a:ext cx="726676" cy="5207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2118625" y="-72642"/>
            <a:ext cx="6215281" cy="743217"/>
          </a:xfrm>
          <a:prstGeom prst="rect">
            <a:avLst/>
          </a:prstGeom>
          <a:noFill/>
        </p:spPr>
        <p:txBody>
          <a:bodyPr wrap="square">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1</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、输出二叉树中的结点</a:t>
            </a:r>
            <a:endParaRPr lang="en-US" altLang="zh-CN" sz="3200" dirty="0">
              <a:solidFill>
                <a:srgbClr val="FF0000"/>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11" name="文本框 10"/>
          <p:cNvSpPr txBox="1"/>
          <p:nvPr/>
        </p:nvSpPr>
        <p:spPr>
          <a:xfrm>
            <a:off x="202341" y="1728108"/>
            <a:ext cx="4369659" cy="3170099"/>
          </a:xfrm>
          <a:prstGeom prst="rect">
            <a:avLst/>
          </a:prstGeom>
          <a:noFill/>
          <a:ln>
            <a:solidFill>
              <a:srgbClr val="0070C0"/>
            </a:solidFill>
          </a:ln>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中序遍历</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void </a:t>
            </a:r>
            <a:r>
              <a:rPr lang="en-US" altLang="zh-CN" sz="2000" dirty="0" err="1">
                <a:latin typeface="微软雅黑" panose="020B0503020204020204" pitchFamily="34" charset="-122"/>
                <a:ea typeface="微软雅黑" panose="020B0503020204020204" pitchFamily="34" charset="-122"/>
              </a:rPr>
              <a:t>InOrder</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InOrder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sym typeface="+mn-ea"/>
              </a:rPr>
              <a:t>            </a:t>
            </a:r>
            <a:r>
              <a:rPr lang="en-US" altLang="zh-CN" sz="2000" dirty="0" err="1">
                <a:solidFill>
                  <a:srgbClr val="FF0000"/>
                </a:solidFill>
                <a:latin typeface="微软雅黑" panose="020B0503020204020204" pitchFamily="34" charset="-122"/>
                <a:ea typeface="微软雅黑" panose="020B0503020204020204" pitchFamily="34" charset="-122"/>
              </a:rPr>
              <a:t>prinf</a:t>
            </a:r>
            <a:r>
              <a:rPr lang="en-US" altLang="zh-CN" sz="2000" dirty="0">
                <a:solidFill>
                  <a:srgbClr val="FF0000"/>
                </a:solidFill>
                <a:latin typeface="微软雅黑" panose="020B0503020204020204" pitchFamily="34" charset="-122"/>
                <a:ea typeface="微软雅黑" panose="020B0503020204020204" pitchFamily="34" charset="-122"/>
              </a:rPr>
              <a:t>(root-&gt;data);</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InOrder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RChild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4751449" y="1728107"/>
            <a:ext cx="4303704" cy="3170099"/>
          </a:xfrm>
          <a:prstGeom prst="rect">
            <a:avLst/>
          </a:prstGeom>
          <a:noFill/>
          <a:ln>
            <a:solidFill>
              <a:srgbClr val="0070C0"/>
            </a:solidFill>
          </a:ln>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后续遍历</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void </a:t>
            </a:r>
            <a:r>
              <a:rPr lang="en-US" altLang="zh-CN" sz="2000" dirty="0" err="1">
                <a:latin typeface="微软雅黑" panose="020B0503020204020204" pitchFamily="34" charset="-122"/>
                <a:ea typeface="微软雅黑" panose="020B0503020204020204" pitchFamily="34" charset="-122"/>
              </a:rPr>
              <a:t>PostOrder</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PostOrder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sym typeface="+mn-ea"/>
              </a:rPr>
              <a:t>            </a:t>
            </a:r>
            <a:r>
              <a:rPr lang="en-US" altLang="zh-CN" sz="2000" dirty="0" err="1">
                <a:latin typeface="微软雅黑" panose="020B0503020204020204" pitchFamily="34" charset="-122"/>
                <a:ea typeface="微软雅黑" panose="020B0503020204020204" pitchFamily="34" charset="-122"/>
                <a:sym typeface="+mn-ea"/>
              </a:rPr>
              <a:t>PostOrder</a:t>
            </a:r>
            <a:r>
              <a:rPr lang="en-US" altLang="zh-CN" sz="2000" dirty="0">
                <a:latin typeface="微软雅黑" panose="020B0503020204020204" pitchFamily="34" charset="-122"/>
                <a:ea typeface="微软雅黑" panose="020B0503020204020204" pitchFamily="34" charset="-122"/>
                <a:sym typeface="+mn-ea"/>
              </a:rPr>
              <a:t>(root-&gt;</a:t>
            </a:r>
            <a:r>
              <a:rPr lang="en-US" altLang="zh-CN" sz="2000" dirty="0" err="1">
                <a:latin typeface="微软雅黑" panose="020B0503020204020204" pitchFamily="34" charset="-122"/>
                <a:ea typeface="微软雅黑" panose="020B0503020204020204" pitchFamily="34" charset="-122"/>
                <a:sym typeface="+mn-ea"/>
              </a:rPr>
              <a:t>RChild</a:t>
            </a:r>
            <a:r>
              <a:rPr lang="en-US" altLang="zh-CN" sz="2000" dirty="0">
                <a:latin typeface="微软雅黑" panose="020B0503020204020204" pitchFamily="34" charset="-122"/>
                <a:ea typeface="微软雅黑" panose="020B0503020204020204" pitchFamily="34" charset="-122"/>
                <a:sym typeface="+mn-ea"/>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en-US" altLang="zh-CN" sz="2000" dirty="0" err="1">
                <a:solidFill>
                  <a:srgbClr val="FF0000"/>
                </a:solidFill>
                <a:latin typeface="微软雅黑" panose="020B0503020204020204" pitchFamily="34" charset="-122"/>
                <a:ea typeface="微软雅黑" panose="020B0503020204020204" pitchFamily="34" charset="-122"/>
              </a:rPr>
              <a:t>prinf</a:t>
            </a:r>
            <a:r>
              <a:rPr lang="en-US" altLang="zh-CN" sz="2000" dirty="0">
                <a:solidFill>
                  <a:srgbClr val="FF0000"/>
                </a:solidFill>
                <a:latin typeface="微软雅黑" panose="020B0503020204020204" pitchFamily="34" charset="-122"/>
                <a:ea typeface="微软雅黑" panose="020B0503020204020204" pitchFamily="34" charset="-122"/>
              </a:rPr>
              <a:t>(root-&gt;data);</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5" y="150770"/>
            <a:ext cx="6215281"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6.3.2 </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遍历算法的应用</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4" name="文本框 3"/>
          <p:cNvSpPr txBox="1"/>
          <p:nvPr/>
        </p:nvSpPr>
        <p:spPr>
          <a:xfrm>
            <a:off x="708549" y="1210732"/>
            <a:ext cx="7339382" cy="4436536"/>
          </a:xfrm>
          <a:prstGeom prst="rect">
            <a:avLst/>
          </a:prstGeom>
          <a:noFill/>
        </p:spPr>
        <p:txBody>
          <a:bodyPr wrap="square" rtlCol="0">
            <a:spAutoFit/>
          </a:bodyPr>
          <a:lstStyle/>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1</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、输出二叉树中的结点</a:t>
            </a:r>
            <a:endParaRPr lang="en-US" altLang="zh-CN" sz="3200" dirty="0">
              <a:latin typeface="微软雅黑" panose="020B0503020204020204" pitchFamily="34" charset="-122"/>
              <a:ea typeface="微软雅黑" panose="020B0503020204020204" pitchFamily="34" charset="-122"/>
            </a:endParaRPr>
          </a:p>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2</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、输出二叉树中的叶子节点</a:t>
            </a:r>
            <a:endPar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3、统计叶子结点数目</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4</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、建立二叉链表方式存储的二叉树</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5</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、求二叉树高度</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6</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、按树状打印的二叉树</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2118625" y="-72642"/>
            <a:ext cx="6215281" cy="743217"/>
          </a:xfrm>
          <a:prstGeom prst="rect">
            <a:avLst/>
          </a:prstGeom>
          <a:noFill/>
        </p:spPr>
        <p:txBody>
          <a:bodyPr wrap="square">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2</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、输出二叉树中的叶子节点</a:t>
            </a:r>
            <a:endPar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11" name="文本框 10"/>
          <p:cNvSpPr txBox="1"/>
          <p:nvPr/>
        </p:nvSpPr>
        <p:spPr>
          <a:xfrm>
            <a:off x="730276" y="982176"/>
            <a:ext cx="7683448" cy="4893647"/>
          </a:xfrm>
          <a:prstGeom prst="rect">
            <a:avLst/>
          </a:prstGeom>
          <a:noFill/>
          <a:ln>
            <a:solidFill>
              <a:schemeClr val="bg1"/>
            </a:solidFill>
          </a:ln>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      这是一个有条件的输出，即在遍历的过程中走到每一个结点时需进行测试，看是否满足叶子结点的条件： </a:t>
            </a:r>
            <a:endParaRPr lang="en-US" altLang="zh-CN" sz="24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先序遍历输出二叉树中叶子结点</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void </a:t>
            </a:r>
            <a:r>
              <a:rPr lang="en-US" altLang="zh-CN" sz="2000" dirty="0" err="1">
                <a:latin typeface="微软雅黑" panose="020B0503020204020204" pitchFamily="34" charset="-122"/>
                <a:ea typeface="微软雅黑" panose="020B0503020204020204" pitchFamily="34" charset="-122"/>
              </a:rPr>
              <a:t>PreOrder</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a:solidFill>
                  <a:srgbClr val="FF0000"/>
                </a:solidFill>
                <a:latin typeface="微软雅黑" panose="020B0503020204020204" pitchFamily="34" charset="-122"/>
                <a:ea typeface="微软雅黑" panose="020B0503020204020204" pitchFamily="34" charset="-122"/>
              </a:rPr>
              <a:t>if(root-&gt;</a:t>
            </a:r>
            <a:r>
              <a:rPr lang="en-US" altLang="zh-CN" sz="2000" dirty="0" err="1">
                <a:solidFill>
                  <a:srgbClr val="FF0000"/>
                </a:solidFill>
                <a:latin typeface="微软雅黑" panose="020B0503020204020204" pitchFamily="34" charset="-122"/>
                <a:ea typeface="微软雅黑" panose="020B0503020204020204" pitchFamily="34" charset="-122"/>
              </a:rPr>
              <a:t>LChild</a:t>
            </a:r>
            <a:r>
              <a:rPr lang="en-US" altLang="zh-CN" sz="2000" dirty="0">
                <a:solidFill>
                  <a:srgbClr val="FF0000"/>
                </a:solidFill>
                <a:latin typeface="微软雅黑" panose="020B0503020204020204" pitchFamily="34" charset="-122"/>
                <a:ea typeface="微软雅黑" panose="020B0503020204020204" pitchFamily="34" charset="-122"/>
              </a:rPr>
              <a:t>==NULL&amp;&amp;root-&gt;</a:t>
            </a:r>
            <a:r>
              <a:rPr lang="en-US" altLang="zh-CN" sz="2000" dirty="0" err="1">
                <a:solidFill>
                  <a:srgbClr val="FF0000"/>
                </a:solidFill>
                <a:latin typeface="微软雅黑" panose="020B0503020204020204" pitchFamily="34" charset="-122"/>
                <a:ea typeface="微软雅黑" panose="020B0503020204020204" pitchFamily="34" charset="-122"/>
              </a:rPr>
              <a:t>Rchild</a:t>
            </a:r>
            <a:r>
              <a:rPr lang="en-US" altLang="zh-CN" sz="2000" dirty="0">
                <a:solidFill>
                  <a:srgbClr val="FF0000"/>
                </a:solidFill>
                <a:latin typeface="微软雅黑" panose="020B0503020204020204" pitchFamily="34" charset="-122"/>
                <a:ea typeface="微软雅黑" panose="020B0503020204020204" pitchFamily="34" charset="-122"/>
              </a:rPr>
              <a:t>==NULL)</a:t>
            </a:r>
            <a:endParaRPr lang="en-US" altLang="zh-CN" sz="2000" dirty="0">
              <a:solidFill>
                <a:srgbClr val="FF0000"/>
              </a:solidFill>
              <a:latin typeface="微软雅黑" panose="020B0503020204020204" pitchFamily="34" charset="-122"/>
              <a:ea typeface="微软雅黑" panose="020B0503020204020204" pitchFamily="34" charset="-122"/>
            </a:endParaRPr>
          </a:p>
          <a:p>
            <a:r>
              <a:rPr lang="en-US" altLang="zh-CN" sz="2000" dirty="0">
                <a:solidFill>
                  <a:srgbClr val="FF0000"/>
                </a:solidFill>
                <a:latin typeface="微软雅黑" panose="020B0503020204020204" pitchFamily="34" charset="-122"/>
                <a:ea typeface="微软雅黑" panose="020B0503020204020204" pitchFamily="34" charset="-122"/>
              </a:rPr>
              <a:t>                 </a:t>
            </a:r>
            <a:r>
              <a:rPr lang="en-US" altLang="zh-CN" sz="2000" dirty="0" err="1">
                <a:solidFill>
                  <a:srgbClr val="FF0000"/>
                </a:solidFill>
                <a:latin typeface="微软雅黑" panose="020B0503020204020204" pitchFamily="34" charset="-122"/>
                <a:ea typeface="微软雅黑" panose="020B0503020204020204" pitchFamily="34" charset="-122"/>
              </a:rPr>
              <a:t>printf</a:t>
            </a:r>
            <a:r>
              <a:rPr lang="en-US" altLang="zh-CN" sz="2000" dirty="0">
                <a:solidFill>
                  <a:srgbClr val="FF0000"/>
                </a:solidFill>
                <a:latin typeface="微软雅黑" panose="020B0503020204020204" pitchFamily="34" charset="-122"/>
                <a:ea typeface="微软雅黑" panose="020B0503020204020204" pitchFamily="34" charset="-122"/>
              </a:rPr>
              <a:t>(root-&gt;data);</a:t>
            </a:r>
            <a:endParaRPr lang="en-US" altLang="zh-CN" sz="2000" dirty="0">
              <a:solidFill>
                <a:srgbClr val="FF0000"/>
              </a:solidFill>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InOrder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sym typeface="+mn-ea"/>
              </a:rPr>
              <a:t>        </a:t>
            </a:r>
            <a:r>
              <a:rPr lang="en-US" altLang="zh-CN" sz="2000" dirty="0">
                <a:solidFill>
                  <a:srgbClr val="FF0000"/>
                </a:solidFill>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InOrder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RChild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5" y="150770"/>
            <a:ext cx="6215281"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6.3.2 </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遍历算法的应用</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4" name="文本框 3"/>
          <p:cNvSpPr txBox="1"/>
          <p:nvPr/>
        </p:nvSpPr>
        <p:spPr>
          <a:xfrm>
            <a:off x="708549" y="1210732"/>
            <a:ext cx="8078386" cy="4436536"/>
          </a:xfrm>
          <a:prstGeom prst="rect">
            <a:avLst/>
          </a:prstGeom>
          <a:noFill/>
        </p:spPr>
        <p:txBody>
          <a:bodyPr wrap="square" rtlCol="0">
            <a:spAutoFit/>
          </a:bodyPr>
          <a:lstStyle/>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1</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、输出二叉树中的结点</a:t>
            </a:r>
            <a:endParaRPr lang="en-US" altLang="zh-CN" sz="3200" dirty="0">
              <a:latin typeface="微软雅黑" panose="020B0503020204020204" pitchFamily="34" charset="-122"/>
              <a:ea typeface="微软雅黑" panose="020B0503020204020204" pitchFamily="34" charset="-12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2</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、输出二叉树中的叶子节点</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3、统计叶子结点数目</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4</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、建立二叉链表方式存储的二叉树</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5</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、求二叉树高度</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6</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、按树状打印的二叉树</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6" name="文本框 5"/>
          <p:cNvSpPr txBox="1"/>
          <p:nvPr/>
        </p:nvSpPr>
        <p:spPr>
          <a:xfrm>
            <a:off x="287378" y="882876"/>
            <a:ext cx="8663860" cy="1689052"/>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方法一：统计二叉树中的叶子结点数目并无次序要求，因此可用三种遍历算法中的任何一种完成，只需要将访问操作变为判断是否为叶子结点及统计操作即可。</a:t>
            </a:r>
            <a:endParaRPr lang="en-US" altLang="zh-CN" sz="24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574309" y="2577685"/>
            <a:ext cx="7696461" cy="4216539"/>
          </a:xfrm>
          <a:prstGeom prst="rect">
            <a:avLst/>
          </a:prstGeom>
          <a:noFill/>
        </p:spPr>
        <p:txBody>
          <a:bodyPr wrap="squar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后序遍历统计叶子结点数目</a:t>
            </a:r>
            <a:r>
              <a:rPr lang="en-US" altLang="zh-CN" sz="2000" dirty="0">
                <a:solidFill>
                  <a:srgbClr val="FF0000"/>
                </a:solidFill>
                <a:latin typeface="微软雅黑" panose="020B0503020204020204" pitchFamily="34" charset="-122"/>
                <a:ea typeface="微软雅黑" panose="020B0503020204020204" pitchFamily="34" charset="-122"/>
              </a:rPr>
              <a:t>*/</a:t>
            </a:r>
            <a:endParaRPr lang="en-US" altLang="zh-CN" sz="2000" dirty="0">
              <a:solidFill>
                <a:srgbClr val="FF0000"/>
              </a:solidFill>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LeafCount</a:t>
            </a:r>
            <a:r>
              <a:rPr lang="zh-CN" altLang="en-US" sz="2000" dirty="0">
                <a:latin typeface="微软雅黑" panose="020B0503020204020204" pitchFamily="34" charset="-122"/>
                <a:ea typeface="微软雅黑" panose="020B0503020204020204" pitchFamily="34" charset="-122"/>
              </a:rPr>
              <a:t>设置计数器为全局变量，保存叶子结点数目，调用之前初值为0</a:t>
            </a:r>
            <a:r>
              <a:rPr lang="en-US" altLang="zh-CN" sz="28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void leaf(</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leaf(root-&gt;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leaf(root-&gt;</a:t>
            </a:r>
            <a:r>
              <a:rPr lang="en-US" altLang="zh-CN" sz="2000" dirty="0" err="1">
                <a:latin typeface="微软雅黑" panose="020B0503020204020204" pitchFamily="34" charset="-122"/>
                <a:ea typeface="微软雅黑" panose="020B0503020204020204" pitchFamily="34" charset="-122"/>
              </a:rPr>
              <a:t>RChild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==NULL&amp;&amp;root-&gt;</a:t>
            </a:r>
            <a:r>
              <a:rPr lang="en-US" altLang="zh-CN" sz="2000" dirty="0" err="1">
                <a:latin typeface="微软雅黑" panose="020B0503020204020204" pitchFamily="34" charset="-122"/>
                <a:ea typeface="微软雅黑" panose="020B0503020204020204" pitchFamily="34" charset="-122"/>
              </a:rPr>
              <a:t>RChild</a:t>
            </a:r>
            <a:r>
              <a:rPr lang="en-US" altLang="zh-CN" sz="2000" dirty="0">
                <a:latin typeface="微软雅黑" panose="020B0503020204020204" pitchFamily="34" charset="-122"/>
                <a:ea typeface="微软雅黑" panose="020B0503020204020204" pitchFamily="34" charset="-122"/>
              </a:rPr>
              <a: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LeafCount</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2333309" y="-66307"/>
            <a:ext cx="4572000" cy="743217"/>
          </a:xfrm>
          <a:prstGeom prst="rect">
            <a:avLst/>
          </a:prstGeom>
          <a:noFill/>
        </p:spPr>
        <p:txBody>
          <a:bodyPr wrap="square">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3、统计叶子结点数目</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6" name="文本框 5"/>
          <p:cNvSpPr txBox="1"/>
          <p:nvPr/>
        </p:nvSpPr>
        <p:spPr>
          <a:xfrm>
            <a:off x="240070" y="1075246"/>
            <a:ext cx="8663860" cy="1135054"/>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方法二：</a:t>
            </a:r>
            <a:r>
              <a:rPr lang="zh-CN" altLang="en-US" sz="2400" dirty="0">
                <a:latin typeface="微软雅黑" panose="020B0503020204020204" pitchFamily="34" charset="-122"/>
                <a:ea typeface="微软雅黑" panose="020B0503020204020204" pitchFamily="34" charset="-122"/>
                <a:sym typeface="+mn-ea"/>
              </a:rPr>
              <a:t>采用分治算法，如果是空树，返回</a:t>
            </a:r>
            <a:r>
              <a:rPr lang="en-US" altLang="zh-CN" sz="2400" dirty="0">
                <a:latin typeface="微软雅黑" panose="020B0503020204020204" pitchFamily="34" charset="-122"/>
                <a:ea typeface="微软雅黑" panose="020B0503020204020204" pitchFamily="34" charset="-122"/>
                <a:sym typeface="+mn-ea"/>
              </a:rPr>
              <a:t>0</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sym typeface="+mn-ea"/>
            </a:endParaRPr>
          </a:p>
          <a:p>
            <a:pPr>
              <a:lnSpc>
                <a:spcPct val="150000"/>
              </a:lnSpc>
            </a:pPr>
            <a:r>
              <a:rPr lang="zh-CN" altLang="en-US" sz="2400" dirty="0">
                <a:latin typeface="微软雅黑" panose="020B0503020204020204" pitchFamily="34" charset="-122"/>
                <a:ea typeface="微软雅黑" panose="020B0503020204020204" pitchFamily="34" charset="-122"/>
                <a:sym typeface="+mn-ea"/>
              </a:rPr>
              <a:t>如果只有一个结点，返回</a:t>
            </a:r>
            <a:r>
              <a:rPr lang="en-US" altLang="zh-CN" sz="2400" dirty="0">
                <a:latin typeface="微软雅黑" panose="020B0503020204020204" pitchFamily="34" charset="-122"/>
                <a:ea typeface="微软雅黑" panose="020B0503020204020204" pitchFamily="34" charset="-122"/>
                <a:sym typeface="+mn-ea"/>
              </a:rPr>
              <a:t>1</a:t>
            </a:r>
            <a:r>
              <a:rPr lang="zh-CN" altLang="en-US" sz="2400" dirty="0">
                <a:latin typeface="微软雅黑" panose="020B0503020204020204" pitchFamily="34" charset="-122"/>
                <a:ea typeface="微软雅黑" panose="020B0503020204020204" pitchFamily="34" charset="-122"/>
                <a:sym typeface="+mn-ea"/>
              </a:rPr>
              <a:t>；否则为左右子树的叶子结点之和</a:t>
            </a:r>
            <a:endParaRPr lang="zh-CN" altLang="en-US" sz="2400" dirty="0">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723769" y="2656360"/>
            <a:ext cx="7696461" cy="3785652"/>
          </a:xfrm>
          <a:prstGeom prst="rect">
            <a:avLst/>
          </a:prstGeom>
          <a:noFill/>
        </p:spPr>
        <p:txBody>
          <a:bodyPr wrap="squar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后序遍历统计叶子结点数目</a:t>
            </a:r>
            <a:r>
              <a:rPr lang="en-US" altLang="zh-CN" sz="2000" dirty="0">
                <a:solidFill>
                  <a:srgbClr val="FF0000"/>
                </a:solidFill>
                <a:latin typeface="微软雅黑" panose="020B0503020204020204" pitchFamily="34" charset="-122"/>
                <a:ea typeface="微软雅黑" panose="020B0503020204020204" pitchFamily="34" charset="-122"/>
              </a:rPr>
              <a:t>*/</a:t>
            </a:r>
            <a:endParaRPr lang="en-US" altLang="zh-CN" sz="2000" dirty="0">
              <a:solidFill>
                <a:srgbClr val="FF0000"/>
              </a:solidFill>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int leaf(</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int </a:t>
            </a:r>
            <a:r>
              <a:rPr lang="en-US" altLang="zh-CN" sz="2000" dirty="0" err="1">
                <a:latin typeface="微软雅黑" panose="020B0503020204020204" pitchFamily="34" charset="-122"/>
                <a:ea typeface="微软雅黑" panose="020B0503020204020204" pitchFamily="34" charset="-122"/>
              </a:rPr>
              <a:t>LeafCount</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LeafCount</a:t>
            </a:r>
            <a:r>
              <a:rPr lang="en-US" altLang="zh-CN" sz="2000" dirty="0">
                <a:latin typeface="微软雅黑" panose="020B0503020204020204" pitchFamily="34" charset="-122"/>
                <a:ea typeface="微软雅黑" panose="020B0503020204020204" pitchFamily="34" charset="-122"/>
              </a:rPr>
              <a:t> = 0;</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else if((root-&gt;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==NULL)&amp;&amp;(root-</a:t>
            </a:r>
            <a:r>
              <a:rPr lang="en-US" altLang="zh-CN" sz="2000" dirty="0" err="1">
                <a:latin typeface="微软雅黑" panose="020B0503020204020204" pitchFamily="34" charset="-122"/>
                <a:ea typeface="微软雅黑" panose="020B0503020204020204" pitchFamily="34" charset="-122"/>
              </a:rPr>
              <a:t>RChild</a:t>
            </a:r>
            <a:r>
              <a:rPr lang="en-US" altLang="zh-CN" sz="2000" dirty="0">
                <a:latin typeface="微软雅黑" panose="020B0503020204020204" pitchFamily="34" charset="-122"/>
                <a:ea typeface="微软雅黑" panose="020B0503020204020204" pitchFamily="34" charset="-122"/>
              </a:rPr>
              <a:t>==NULL))</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LeafCount</a:t>
            </a:r>
            <a:r>
              <a:rPr lang="en-US" altLang="zh-CN" sz="2000" dirty="0">
                <a:latin typeface="微软雅黑" panose="020B0503020204020204" pitchFamily="34" charset="-122"/>
                <a:ea typeface="微软雅黑" panose="020B0503020204020204" pitchFamily="34" charset="-122"/>
              </a:rPr>
              <a:t> = 1;</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else     /*</a:t>
            </a:r>
            <a:r>
              <a:rPr lang="zh-CN" altLang="en-US" sz="2000" dirty="0">
                <a:latin typeface="微软雅黑" panose="020B0503020204020204" pitchFamily="34" charset="-122"/>
                <a:ea typeface="微软雅黑" panose="020B0503020204020204" pitchFamily="34" charset="-122"/>
              </a:rPr>
              <a:t>叶子数为左右子树的叶子数目之和</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LeafCount</a:t>
            </a:r>
            <a:r>
              <a:rPr lang="en-US" altLang="zh-CN" sz="2000" dirty="0">
                <a:latin typeface="微软雅黑" panose="020B0503020204020204" pitchFamily="34" charset="-122"/>
                <a:ea typeface="微软雅黑" panose="020B0503020204020204" pitchFamily="34" charset="-122"/>
              </a:rPr>
              <a:t> = leaf(root-&gt;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)+leaf(root-&gt;</a:t>
            </a:r>
            <a:r>
              <a:rPr lang="en-US" altLang="zh-CN" sz="2000" dirty="0" err="1">
                <a:latin typeface="微软雅黑" panose="020B0503020204020204" pitchFamily="34" charset="-122"/>
                <a:ea typeface="微软雅黑" panose="020B0503020204020204" pitchFamily="34" charset="-122"/>
              </a:rPr>
              <a:t>RChild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return </a:t>
            </a:r>
            <a:r>
              <a:rPr lang="en-US" altLang="zh-CN" sz="2000" dirty="0" err="1">
                <a:latin typeface="微软雅黑" panose="020B0503020204020204" pitchFamily="34" charset="-122"/>
                <a:ea typeface="微软雅黑" panose="020B0503020204020204" pitchFamily="34" charset="-122"/>
              </a:rPr>
              <a:t>LeafCount</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2333309" y="-66307"/>
            <a:ext cx="4572000" cy="743217"/>
          </a:xfrm>
          <a:prstGeom prst="rect">
            <a:avLst/>
          </a:prstGeom>
          <a:noFill/>
        </p:spPr>
        <p:txBody>
          <a:bodyPr wrap="square">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3、统计叶子结点数目</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5" y="150770"/>
            <a:ext cx="6215281"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6.3.2 </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遍历算法的应用</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4" name="文本框 3"/>
          <p:cNvSpPr txBox="1"/>
          <p:nvPr/>
        </p:nvSpPr>
        <p:spPr>
          <a:xfrm>
            <a:off x="708549" y="1210732"/>
            <a:ext cx="8078386" cy="4436536"/>
          </a:xfrm>
          <a:prstGeom prst="rect">
            <a:avLst/>
          </a:prstGeom>
          <a:noFill/>
        </p:spPr>
        <p:txBody>
          <a:bodyPr wrap="square" rtlCol="0">
            <a:spAutoFit/>
          </a:bodyPr>
          <a:lstStyle/>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1</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、输出二叉树中的结点</a:t>
            </a:r>
            <a:endParaRPr lang="en-US" altLang="zh-CN" sz="3200" dirty="0">
              <a:latin typeface="微软雅黑" panose="020B0503020204020204" pitchFamily="34" charset="-122"/>
              <a:ea typeface="微软雅黑" panose="020B0503020204020204" pitchFamily="34" charset="-12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2</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、输出二叉树中的叶子节点</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3、统计叶子结点数目</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4</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、建立二叉链表方式存储的二叉树</a:t>
            </a:r>
            <a:endPar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5</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、求二叉树高度</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6</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、按树状打印的二叉树</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6" name="椭圆 5"/>
          <p:cNvSpPr/>
          <p:nvPr/>
        </p:nvSpPr>
        <p:spPr>
          <a:xfrm>
            <a:off x="1751184" y="3211906"/>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A</a:t>
            </a:r>
            <a:endParaRPr lang="en-US" altLang="zh-CN"/>
          </a:p>
        </p:txBody>
      </p:sp>
      <p:sp>
        <p:nvSpPr>
          <p:cNvPr id="10" name="椭圆 9"/>
          <p:cNvSpPr/>
          <p:nvPr/>
        </p:nvSpPr>
        <p:spPr>
          <a:xfrm>
            <a:off x="2541759" y="4083126"/>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C</a:t>
            </a:r>
            <a:endParaRPr lang="en-US" altLang="zh-CN"/>
          </a:p>
        </p:txBody>
      </p:sp>
      <p:sp>
        <p:nvSpPr>
          <p:cNvPr id="11" name="椭圆 10"/>
          <p:cNvSpPr/>
          <p:nvPr/>
        </p:nvSpPr>
        <p:spPr>
          <a:xfrm>
            <a:off x="1174604" y="4083126"/>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B</a:t>
            </a:r>
            <a:endParaRPr lang="en-US" altLang="zh-CN"/>
          </a:p>
        </p:txBody>
      </p:sp>
      <p:sp>
        <p:nvSpPr>
          <p:cNvPr id="12" name="椭圆 11"/>
          <p:cNvSpPr/>
          <p:nvPr/>
        </p:nvSpPr>
        <p:spPr>
          <a:xfrm>
            <a:off x="3415519" y="5073726"/>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E</a:t>
            </a:r>
            <a:endParaRPr lang="en-US" altLang="zh-CN"/>
          </a:p>
        </p:txBody>
      </p:sp>
      <p:sp>
        <p:nvSpPr>
          <p:cNvPr id="13" name="椭圆 12"/>
          <p:cNvSpPr/>
          <p:nvPr/>
        </p:nvSpPr>
        <p:spPr>
          <a:xfrm>
            <a:off x="1572114" y="5073726"/>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D</a:t>
            </a:r>
            <a:endParaRPr lang="en-US" altLang="zh-CN"/>
          </a:p>
        </p:txBody>
      </p:sp>
      <p:sp>
        <p:nvSpPr>
          <p:cNvPr id="16" name="椭圆 15"/>
          <p:cNvSpPr/>
          <p:nvPr/>
        </p:nvSpPr>
        <p:spPr>
          <a:xfrm>
            <a:off x="4296264" y="6059246"/>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H</a:t>
            </a:r>
            <a:endParaRPr lang="en-US" altLang="zh-CN"/>
          </a:p>
        </p:txBody>
      </p:sp>
      <p:sp>
        <p:nvSpPr>
          <p:cNvPr id="19" name="椭圆 18"/>
          <p:cNvSpPr/>
          <p:nvPr/>
        </p:nvSpPr>
        <p:spPr>
          <a:xfrm>
            <a:off x="651999" y="6130366"/>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F</a:t>
            </a:r>
            <a:endParaRPr lang="en-US" altLang="zh-CN"/>
          </a:p>
        </p:txBody>
      </p:sp>
      <p:sp>
        <p:nvSpPr>
          <p:cNvPr id="20" name="椭圆 19"/>
          <p:cNvSpPr/>
          <p:nvPr/>
        </p:nvSpPr>
        <p:spPr>
          <a:xfrm>
            <a:off x="2406504" y="6130366"/>
            <a:ext cx="474980" cy="4845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a:t>G</a:t>
            </a:r>
            <a:endParaRPr lang="en-US" altLang="zh-CN"/>
          </a:p>
        </p:txBody>
      </p:sp>
      <p:cxnSp>
        <p:nvCxnSpPr>
          <p:cNvPr id="21" name="直接连接符 20"/>
          <p:cNvCxnSpPr>
            <a:stCxn id="6" idx="3"/>
            <a:endCxn id="11" idx="7"/>
          </p:cNvCxnSpPr>
          <p:nvPr/>
        </p:nvCxnSpPr>
        <p:spPr>
          <a:xfrm flipH="1">
            <a:off x="1579734" y="3625291"/>
            <a:ext cx="241300" cy="528955"/>
          </a:xfrm>
          <a:prstGeom prst="line">
            <a:avLst/>
          </a:prstGeom>
        </p:spPr>
        <p:style>
          <a:lnRef idx="1">
            <a:schemeClr val="dk1"/>
          </a:lnRef>
          <a:fillRef idx="0">
            <a:schemeClr val="dk1"/>
          </a:fillRef>
          <a:effectRef idx="0">
            <a:schemeClr val="dk1"/>
          </a:effectRef>
          <a:fontRef idx="minor">
            <a:schemeClr val="tx1"/>
          </a:fontRef>
        </p:style>
      </p:cxnSp>
      <p:cxnSp>
        <p:nvCxnSpPr>
          <p:cNvPr id="22" name="直接连接符 21"/>
          <p:cNvCxnSpPr/>
          <p:nvPr/>
        </p:nvCxnSpPr>
        <p:spPr>
          <a:xfrm>
            <a:off x="2165204" y="3625291"/>
            <a:ext cx="455295" cy="528955"/>
          </a:xfrm>
          <a:prstGeom prst="line">
            <a:avLst/>
          </a:prstGeom>
        </p:spPr>
        <p:style>
          <a:lnRef idx="1">
            <a:schemeClr val="dk1"/>
          </a:lnRef>
          <a:fillRef idx="0">
            <a:schemeClr val="dk1"/>
          </a:fillRef>
          <a:effectRef idx="0">
            <a:schemeClr val="dk1"/>
          </a:effectRef>
          <a:fontRef idx="minor">
            <a:schemeClr val="tx1"/>
          </a:fontRef>
        </p:style>
      </p:cxnSp>
      <p:cxnSp>
        <p:nvCxnSpPr>
          <p:cNvPr id="23" name="直接连接符 22"/>
          <p:cNvCxnSpPr>
            <a:stCxn id="11" idx="4"/>
            <a:endCxn id="13" idx="0"/>
          </p:cNvCxnSpPr>
          <p:nvPr/>
        </p:nvCxnSpPr>
        <p:spPr>
          <a:xfrm>
            <a:off x="1412094" y="4567631"/>
            <a:ext cx="397510" cy="506095"/>
          </a:xfrm>
          <a:prstGeom prst="line">
            <a:avLst/>
          </a:prstGeom>
        </p:spPr>
        <p:style>
          <a:lnRef idx="1">
            <a:schemeClr val="dk1"/>
          </a:lnRef>
          <a:fillRef idx="0">
            <a:schemeClr val="dk1"/>
          </a:fillRef>
          <a:effectRef idx="0">
            <a:schemeClr val="dk1"/>
          </a:effectRef>
          <a:fontRef idx="minor">
            <a:schemeClr val="tx1"/>
          </a:fontRef>
        </p:style>
      </p:cxnSp>
      <p:cxnSp>
        <p:nvCxnSpPr>
          <p:cNvPr id="24" name="直接连接符 23"/>
          <p:cNvCxnSpPr>
            <a:stCxn id="13" idx="3"/>
            <a:endCxn id="19" idx="0"/>
          </p:cNvCxnSpPr>
          <p:nvPr/>
        </p:nvCxnSpPr>
        <p:spPr>
          <a:xfrm flipH="1">
            <a:off x="889489" y="5487111"/>
            <a:ext cx="752475" cy="643255"/>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p:cNvCxnSpPr>
            <a:stCxn id="13" idx="5"/>
            <a:endCxn id="20" idx="0"/>
          </p:cNvCxnSpPr>
          <p:nvPr/>
        </p:nvCxnSpPr>
        <p:spPr>
          <a:xfrm>
            <a:off x="1977244" y="5487111"/>
            <a:ext cx="666750" cy="643255"/>
          </a:xfrm>
          <a:prstGeom prst="line">
            <a:avLst/>
          </a:prstGeom>
        </p:spPr>
        <p:style>
          <a:lnRef idx="1">
            <a:schemeClr val="dk1"/>
          </a:lnRef>
          <a:fillRef idx="0">
            <a:schemeClr val="dk1"/>
          </a:fillRef>
          <a:effectRef idx="0">
            <a:schemeClr val="dk1"/>
          </a:effectRef>
          <a:fontRef idx="minor">
            <a:schemeClr val="tx1"/>
          </a:fontRef>
        </p:style>
      </p:cxnSp>
      <p:cxnSp>
        <p:nvCxnSpPr>
          <p:cNvPr id="26" name="直接连接符 25"/>
          <p:cNvCxnSpPr>
            <a:stCxn id="10" idx="5"/>
            <a:endCxn id="12" idx="1"/>
          </p:cNvCxnSpPr>
          <p:nvPr/>
        </p:nvCxnSpPr>
        <p:spPr>
          <a:xfrm>
            <a:off x="2946889" y="4496511"/>
            <a:ext cx="538480" cy="648335"/>
          </a:xfrm>
          <a:prstGeom prst="line">
            <a:avLst/>
          </a:prstGeom>
        </p:spPr>
        <p:style>
          <a:lnRef idx="1">
            <a:schemeClr val="dk1"/>
          </a:lnRef>
          <a:fillRef idx="0">
            <a:schemeClr val="dk1"/>
          </a:fillRef>
          <a:effectRef idx="0">
            <a:schemeClr val="dk1"/>
          </a:effectRef>
          <a:fontRef idx="minor">
            <a:schemeClr val="tx1"/>
          </a:fontRef>
        </p:style>
      </p:cxnSp>
      <p:cxnSp>
        <p:nvCxnSpPr>
          <p:cNvPr id="29" name="直接连接符 28"/>
          <p:cNvCxnSpPr>
            <a:stCxn id="16" idx="1"/>
            <a:endCxn id="12" idx="5"/>
          </p:cNvCxnSpPr>
          <p:nvPr/>
        </p:nvCxnSpPr>
        <p:spPr>
          <a:xfrm flipH="1" flipV="1">
            <a:off x="3820649" y="5487111"/>
            <a:ext cx="545465" cy="64325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728868" y="1032949"/>
            <a:ext cx="8088127"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通常用特定的元素表示空子树。（如用小圆点表示空子树）</a:t>
            </a:r>
            <a:endParaRPr lang="zh-CN" altLang="en-US" sz="2400" dirty="0">
              <a:latin typeface="微软雅黑" panose="020B0503020204020204" pitchFamily="34" charset="-122"/>
              <a:ea typeface="微软雅黑" panose="020B0503020204020204" pitchFamily="34" charset="-122"/>
            </a:endParaRPr>
          </a:p>
        </p:txBody>
      </p:sp>
      <p:sp>
        <p:nvSpPr>
          <p:cNvPr id="4" name="右箭头 3"/>
          <p:cNvSpPr/>
          <p:nvPr/>
        </p:nvSpPr>
        <p:spPr>
          <a:xfrm>
            <a:off x="2899612" y="1772829"/>
            <a:ext cx="979170" cy="4857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左箭头 7"/>
          <p:cNvSpPr/>
          <p:nvPr/>
        </p:nvSpPr>
        <p:spPr>
          <a:xfrm rot="10800000">
            <a:off x="5643165" y="2773680"/>
            <a:ext cx="979170" cy="48577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5948896" y="4698570"/>
            <a:ext cx="2800674" cy="523220"/>
          </a:xfrm>
          <a:prstGeom prst="rect">
            <a:avLst/>
          </a:prstGeom>
          <a:noFill/>
        </p:spPr>
        <p:txBody>
          <a:bodyPr wrap="square" rtlCol="0">
            <a:spAutoFit/>
          </a:bodyPr>
          <a:lstStyle/>
          <a:p>
            <a:r>
              <a:rPr lang="en-US" altLang="zh-CN" sz="2800" dirty="0"/>
              <a:t>AB.DF..G..C.E.H..</a:t>
            </a:r>
            <a:endParaRPr lang="en-US" altLang="zh-CN" sz="2800" dirty="0"/>
          </a:p>
        </p:txBody>
      </p:sp>
      <p:sp>
        <p:nvSpPr>
          <p:cNvPr id="28" name="文本框 27"/>
          <p:cNvSpPr txBox="1"/>
          <p:nvPr/>
        </p:nvSpPr>
        <p:spPr>
          <a:xfrm>
            <a:off x="966470" y="0"/>
            <a:ext cx="7001821" cy="743217"/>
          </a:xfrm>
          <a:prstGeom prst="rect">
            <a:avLst/>
          </a:prstGeom>
          <a:noFill/>
        </p:spPr>
        <p:txBody>
          <a:bodyPr wrap="square">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4</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、建立二叉链表方式存储的二叉树</a:t>
            </a:r>
            <a:endPar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31" name="文本框 30"/>
          <p:cNvSpPr txBox="1"/>
          <p:nvPr/>
        </p:nvSpPr>
        <p:spPr>
          <a:xfrm>
            <a:off x="922272" y="1830423"/>
            <a:ext cx="2104331"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给定一棵二叉树</a:t>
            </a:r>
            <a:r>
              <a:rPr lang="en-US" altLang="zh-CN" dirty="0">
                <a:latin typeface="微软雅黑" panose="020B0503020204020204" pitchFamily="34" charset="-122"/>
                <a:ea typeface="微软雅黑" panose="020B0503020204020204" pitchFamily="34" charset="-122"/>
              </a:rPr>
              <a:t> </a:t>
            </a:r>
            <a:endParaRPr lang="zh-CN" altLang="en-US" dirty="0"/>
          </a:p>
        </p:txBody>
      </p:sp>
      <p:sp>
        <p:nvSpPr>
          <p:cNvPr id="33" name="文本框 32"/>
          <p:cNvSpPr txBox="1"/>
          <p:nvPr/>
        </p:nvSpPr>
        <p:spPr>
          <a:xfrm>
            <a:off x="4088382" y="1859133"/>
            <a:ext cx="3109566"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得到它的扩展前序遍历序列 </a:t>
            </a:r>
            <a:endParaRPr lang="zh-CN" altLang="en-US" dirty="0">
              <a:latin typeface="微软雅黑" panose="020B0503020204020204" pitchFamily="34" charset="-122"/>
              <a:ea typeface="微软雅黑" panose="020B0503020204020204" pitchFamily="34" charset="-122"/>
            </a:endParaRPr>
          </a:p>
        </p:txBody>
      </p:sp>
      <p:sp>
        <p:nvSpPr>
          <p:cNvPr id="35" name="文本框 34"/>
          <p:cNvSpPr txBox="1"/>
          <p:nvPr/>
        </p:nvSpPr>
        <p:spPr>
          <a:xfrm>
            <a:off x="2770505" y="2803945"/>
            <a:ext cx="2800674"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给定扩展的前序遍历序列</a:t>
            </a:r>
            <a:r>
              <a:rPr lang="en-US" altLang="zh-CN" dirty="0">
                <a:latin typeface="微软雅黑" panose="020B0503020204020204" pitchFamily="34" charset="-122"/>
                <a:ea typeface="微软雅黑" panose="020B0503020204020204" pitchFamily="34" charset="-122"/>
              </a:rPr>
              <a:t> </a:t>
            </a:r>
            <a:endParaRPr lang="zh-CN" altLang="en-US" dirty="0"/>
          </a:p>
        </p:txBody>
      </p:sp>
      <p:sp>
        <p:nvSpPr>
          <p:cNvPr id="37" name="文本框 36"/>
          <p:cNvSpPr txBox="1"/>
          <p:nvPr/>
        </p:nvSpPr>
        <p:spPr>
          <a:xfrm>
            <a:off x="6767884" y="2819102"/>
            <a:ext cx="2340501"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创建相应的二叉树</a:t>
            </a:r>
            <a:endParaRPr lang="en-US" altLang="zh-CN" dirty="0">
              <a:latin typeface="微软雅黑" panose="020B0503020204020204" pitchFamily="34" charset="-122"/>
              <a:ea typeface="微软雅黑" panose="020B0503020204020204" pitchFamily="34" charset="-122"/>
            </a:endParaRPr>
          </a:p>
        </p:txBody>
      </p:sp>
      <p:sp>
        <p:nvSpPr>
          <p:cNvPr id="38" name="箭头: 左右 37"/>
          <p:cNvSpPr/>
          <p:nvPr/>
        </p:nvSpPr>
        <p:spPr>
          <a:xfrm>
            <a:off x="4701596" y="4775514"/>
            <a:ext cx="748193"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animBg="1"/>
      <p:bldP spid="10" grpId="0" animBg="1"/>
      <p:bldP spid="11" grpId="0" animBg="1"/>
      <p:bldP spid="12" grpId="0" animBg="1"/>
      <p:bldP spid="13" grpId="0" animBg="1"/>
      <p:bldP spid="16" grpId="0" animBg="1"/>
      <p:bldP spid="19" grpId="0" animBg="1"/>
      <p:bldP spid="20" grpId="0" animBg="1"/>
      <p:bldP spid="4" grpId="0" animBg="1"/>
      <p:bldP spid="8" grpId="0" animBg="1"/>
      <p:bldP spid="18" grpId="0"/>
      <p:bldP spid="33" grpId="0"/>
      <p:bldP spid="35" grpId="0"/>
      <p:bldP spid="37" grpId="0"/>
      <p:bldP spid="3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a:xfrm>
            <a:off x="6457950" y="6351906"/>
            <a:ext cx="2057400" cy="365125"/>
          </a:xfrm>
        </p:spPr>
        <p:txBody>
          <a:bodyPr/>
          <a:lstStyle/>
          <a:p>
            <a:fld id="{6DC87717-A16C-46C8-8501-38B3BAF8FB93}" type="slidenum">
              <a:rPr lang="zh-CN" altLang="en-US" smtClean="0"/>
            </a:fld>
            <a:endParaRPr lang="zh-CN" altLang="en-US"/>
          </a:p>
        </p:txBody>
      </p:sp>
      <p:sp>
        <p:nvSpPr>
          <p:cNvPr id="3" name="文本框 2"/>
          <p:cNvSpPr txBox="1"/>
          <p:nvPr/>
        </p:nvSpPr>
        <p:spPr>
          <a:xfrm>
            <a:off x="271780" y="1582737"/>
            <a:ext cx="5331460" cy="4092575"/>
          </a:xfrm>
          <a:prstGeom prst="rect">
            <a:avLst/>
          </a:prstGeom>
          <a:noFill/>
        </p:spPr>
        <p:txBody>
          <a:bodyPr wrap="square" rtlCol="0" anchor="t">
            <a:spAutoFit/>
          </a:bodyPr>
          <a:lstStyle/>
          <a:p>
            <a:r>
              <a:rPr lang="zh-CN" altLang="en-US" sz="2000" dirty="0">
                <a:latin typeface="微软雅黑" panose="020B0503020204020204" pitchFamily="34" charset="-122"/>
                <a:ea typeface="微软雅黑" panose="020B0503020204020204" pitchFamily="34" charset="-122"/>
              </a:rPr>
              <a:t>void CreateBiTree(BiTree *bt)</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char ch;</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ch=getchar();</a:t>
            </a:r>
            <a:endParaRPr lang="zh-CN" altLang="en-US"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if(ch==‘.‘)   *bt=NULL;</a:t>
            </a:r>
            <a:endParaRPr lang="zh-CN" altLang="en-US"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else</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*bt=(BiTree)malloc(sizeof(BiTNode));</a:t>
            </a:r>
            <a:endParaRPr lang="zh-CN" altLang="en-US"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(*bt)-&gt;data=ch;</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        CreateBiTree(&amp;((*bt)-&gt;LChild));</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        CreateBiTree(&amp;((</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bt)-&gt;RChild));</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graphicFrame>
        <p:nvGraphicFramePr>
          <p:cNvPr id="27" name="表格 26"/>
          <p:cNvGraphicFramePr/>
          <p:nvPr>
            <p:custDataLst>
              <p:tags r:id="rId1"/>
            </p:custDataLst>
          </p:nvPr>
        </p:nvGraphicFramePr>
        <p:xfrm>
          <a:off x="6240145" y="4021455"/>
          <a:ext cx="1078230" cy="457200"/>
        </p:xfrm>
        <a:graphic>
          <a:graphicData uri="http://schemas.openxmlformats.org/drawingml/2006/table">
            <a:tbl>
              <a:tblPr firstRow="1" bandRow="1">
                <a:tableStyleId>{5940675A-B579-460E-94D1-54222C63F5DA}</a:tableStyleId>
              </a:tblPr>
              <a:tblGrid>
                <a:gridCol w="359410"/>
                <a:gridCol w="359410"/>
                <a:gridCol w="359410"/>
              </a:tblGrid>
              <a:tr h="297180">
                <a:tc>
                  <a:txBody>
                    <a:bodyPr/>
                    <a:lstStyle/>
                    <a:p>
                      <a:pPr>
                        <a:buNone/>
                      </a:pPr>
                      <a:endParaRPr lang="zh-CN" altLang="en-US" sz="2400">
                        <a:solidFill>
                          <a:schemeClr val="tx1"/>
                        </a:solidFill>
                      </a:endParaRPr>
                    </a:p>
                  </a:txBody>
                  <a:tcPr/>
                </a:tc>
                <a:tc>
                  <a:txBody>
                    <a:bodyPr/>
                    <a:lstStyle/>
                    <a:p>
                      <a:pPr algn="ctr">
                        <a:buNone/>
                      </a:pPr>
                      <a:r>
                        <a:rPr lang="en-US" altLang="zh-CN" sz="2400" dirty="0">
                          <a:solidFill>
                            <a:schemeClr val="tx1"/>
                          </a:solidFill>
                        </a:rPr>
                        <a:t>A</a:t>
                      </a:r>
                      <a:endParaRPr lang="en-US" altLang="zh-CN" sz="2400" dirty="0">
                        <a:solidFill>
                          <a:schemeClr val="tx1"/>
                        </a:solidFill>
                      </a:endParaRPr>
                    </a:p>
                  </a:txBody>
                  <a:tcPr/>
                </a:tc>
                <a:tc>
                  <a:txBody>
                    <a:bodyPr/>
                    <a:lstStyle/>
                    <a:p>
                      <a:pPr>
                        <a:buNone/>
                      </a:pPr>
                      <a:endParaRPr lang="zh-CN" altLang="en-US" sz="2400" dirty="0">
                        <a:solidFill>
                          <a:schemeClr val="tx1"/>
                        </a:solidFill>
                      </a:endParaRPr>
                    </a:p>
                  </a:txBody>
                  <a:tcPr/>
                </a:tc>
              </a:tr>
            </a:tbl>
          </a:graphicData>
        </a:graphic>
      </p:graphicFrame>
      <p:graphicFrame>
        <p:nvGraphicFramePr>
          <p:cNvPr id="32" name="表格 31"/>
          <p:cNvGraphicFramePr/>
          <p:nvPr>
            <p:custDataLst>
              <p:tags r:id="rId2"/>
            </p:custDataLst>
          </p:nvPr>
        </p:nvGraphicFramePr>
        <p:xfrm>
          <a:off x="6240145" y="5705475"/>
          <a:ext cx="1078230" cy="457200"/>
        </p:xfrm>
        <a:graphic>
          <a:graphicData uri="http://schemas.openxmlformats.org/drawingml/2006/table">
            <a:tbl>
              <a:tblPr firstRow="1" bandRow="1">
                <a:tableStyleId>{5940675A-B579-460E-94D1-54222C63F5DA}</a:tableStyleId>
              </a:tblPr>
              <a:tblGrid>
                <a:gridCol w="359410"/>
                <a:gridCol w="359410"/>
                <a:gridCol w="359410"/>
              </a:tblGrid>
              <a:tr h="314960">
                <a:tc>
                  <a:txBody>
                    <a:bodyPr/>
                    <a:lstStyle/>
                    <a:p>
                      <a:pPr algn="ctr">
                        <a:buNone/>
                      </a:pPr>
                      <a:r>
                        <a:rPr lang="en-US" altLang="zh-CN" sz="2400">
                          <a:solidFill>
                            <a:schemeClr val="tx1"/>
                          </a:solidFill>
                        </a:rPr>
                        <a:t>^</a:t>
                      </a:r>
                      <a:endParaRPr lang="en-US" altLang="zh-CN" sz="2400">
                        <a:solidFill>
                          <a:schemeClr val="tx1"/>
                        </a:solidFill>
                      </a:endParaRPr>
                    </a:p>
                  </a:txBody>
                  <a:tcPr/>
                </a:tc>
                <a:tc>
                  <a:txBody>
                    <a:bodyPr/>
                    <a:lstStyle/>
                    <a:p>
                      <a:pPr algn="ctr">
                        <a:buNone/>
                      </a:pPr>
                      <a:r>
                        <a:rPr lang="en-US" altLang="zh-CN" sz="2400" dirty="0">
                          <a:solidFill>
                            <a:schemeClr val="tx1"/>
                          </a:solidFill>
                        </a:rPr>
                        <a:t>D</a:t>
                      </a:r>
                      <a:endParaRPr lang="en-US" altLang="zh-CN" sz="2400" dirty="0">
                        <a:solidFill>
                          <a:schemeClr val="tx1"/>
                        </a:solidFill>
                      </a:endParaRPr>
                    </a:p>
                  </a:txBody>
                  <a:tcPr/>
                </a:tc>
                <a:tc>
                  <a:txBody>
                    <a:bodyPr/>
                    <a:lstStyle/>
                    <a:p>
                      <a:pPr algn="ctr">
                        <a:buNone/>
                      </a:pPr>
                      <a:r>
                        <a:rPr lang="en-US" altLang="zh-CN" sz="2400" dirty="0">
                          <a:solidFill>
                            <a:schemeClr val="tx1"/>
                          </a:solidFill>
                        </a:rPr>
                        <a:t>^</a:t>
                      </a:r>
                      <a:endParaRPr lang="en-US" altLang="zh-CN" sz="2400" dirty="0">
                        <a:solidFill>
                          <a:schemeClr val="tx1"/>
                        </a:solidFill>
                      </a:endParaRPr>
                    </a:p>
                  </a:txBody>
                  <a:tcPr/>
                </a:tc>
              </a:tr>
            </a:tbl>
          </a:graphicData>
        </a:graphic>
      </p:graphicFrame>
      <p:graphicFrame>
        <p:nvGraphicFramePr>
          <p:cNvPr id="33" name="表格 32"/>
          <p:cNvGraphicFramePr/>
          <p:nvPr>
            <p:custDataLst>
              <p:tags r:id="rId3"/>
            </p:custDataLst>
          </p:nvPr>
        </p:nvGraphicFramePr>
        <p:xfrm>
          <a:off x="7245985" y="4827905"/>
          <a:ext cx="1078230" cy="457200"/>
        </p:xfrm>
        <a:graphic>
          <a:graphicData uri="http://schemas.openxmlformats.org/drawingml/2006/table">
            <a:tbl>
              <a:tblPr firstRow="1" bandRow="1">
                <a:tableStyleId>{5940675A-B579-460E-94D1-54222C63F5DA}</a:tableStyleId>
              </a:tblPr>
              <a:tblGrid>
                <a:gridCol w="359410"/>
                <a:gridCol w="359410"/>
                <a:gridCol w="359410"/>
              </a:tblGrid>
              <a:tr h="332740">
                <a:tc>
                  <a:txBody>
                    <a:bodyPr/>
                    <a:lstStyle/>
                    <a:p>
                      <a:pPr>
                        <a:buNone/>
                      </a:pPr>
                      <a:endParaRPr lang="zh-CN" altLang="en-US" sz="2400">
                        <a:solidFill>
                          <a:schemeClr val="tx1"/>
                        </a:solidFill>
                      </a:endParaRPr>
                    </a:p>
                  </a:txBody>
                  <a:tcPr/>
                </a:tc>
                <a:tc>
                  <a:txBody>
                    <a:bodyPr/>
                    <a:lstStyle/>
                    <a:p>
                      <a:pPr algn="ctr">
                        <a:buNone/>
                      </a:pPr>
                      <a:r>
                        <a:rPr lang="en-US" altLang="zh-CN" sz="2400" dirty="0">
                          <a:solidFill>
                            <a:schemeClr val="tx1"/>
                          </a:solidFill>
                        </a:rPr>
                        <a:t>C</a:t>
                      </a:r>
                      <a:endParaRPr lang="en-US" altLang="zh-CN" sz="2400" dirty="0">
                        <a:solidFill>
                          <a:schemeClr val="tx1"/>
                        </a:solidFill>
                      </a:endParaRPr>
                    </a:p>
                  </a:txBody>
                  <a:tcPr/>
                </a:tc>
                <a:tc>
                  <a:txBody>
                    <a:bodyPr/>
                    <a:lstStyle/>
                    <a:p>
                      <a:pPr algn="ctr">
                        <a:buNone/>
                      </a:pPr>
                      <a:r>
                        <a:rPr lang="en-US" altLang="zh-CN" sz="2400" dirty="0">
                          <a:solidFill>
                            <a:schemeClr val="tx1"/>
                          </a:solidFill>
                        </a:rPr>
                        <a:t>^</a:t>
                      </a:r>
                      <a:endParaRPr lang="en-US" altLang="zh-CN" sz="2400" dirty="0">
                        <a:solidFill>
                          <a:schemeClr val="tx1"/>
                        </a:solidFill>
                      </a:endParaRPr>
                    </a:p>
                  </a:txBody>
                  <a:tcPr/>
                </a:tc>
              </a:tr>
            </a:tbl>
          </a:graphicData>
        </a:graphic>
      </p:graphicFrame>
      <p:graphicFrame>
        <p:nvGraphicFramePr>
          <p:cNvPr id="34" name="表格 33"/>
          <p:cNvGraphicFramePr/>
          <p:nvPr>
            <p:custDataLst>
              <p:tags r:id="rId4"/>
            </p:custDataLst>
          </p:nvPr>
        </p:nvGraphicFramePr>
        <p:xfrm>
          <a:off x="5379720" y="4863465"/>
          <a:ext cx="1078230" cy="457200"/>
        </p:xfrm>
        <a:graphic>
          <a:graphicData uri="http://schemas.openxmlformats.org/drawingml/2006/table">
            <a:tbl>
              <a:tblPr firstRow="1" bandRow="1">
                <a:tableStyleId>{5940675A-B579-460E-94D1-54222C63F5DA}</a:tableStyleId>
              </a:tblPr>
              <a:tblGrid>
                <a:gridCol w="359410"/>
                <a:gridCol w="359410"/>
                <a:gridCol w="359410"/>
              </a:tblGrid>
              <a:tr h="297180">
                <a:tc>
                  <a:txBody>
                    <a:bodyPr/>
                    <a:lstStyle/>
                    <a:p>
                      <a:pPr algn="ctr">
                        <a:buNone/>
                      </a:pPr>
                      <a:r>
                        <a:rPr lang="en-US" altLang="zh-CN" sz="2400">
                          <a:solidFill>
                            <a:schemeClr val="tx1"/>
                          </a:solidFill>
                        </a:rPr>
                        <a:t>^</a:t>
                      </a:r>
                      <a:endParaRPr lang="en-US" altLang="zh-CN" sz="2400">
                        <a:solidFill>
                          <a:schemeClr val="tx1"/>
                        </a:solidFill>
                      </a:endParaRPr>
                    </a:p>
                  </a:txBody>
                  <a:tcPr/>
                </a:tc>
                <a:tc>
                  <a:txBody>
                    <a:bodyPr/>
                    <a:lstStyle/>
                    <a:p>
                      <a:pPr algn="ctr">
                        <a:buNone/>
                      </a:pPr>
                      <a:r>
                        <a:rPr lang="en-US" altLang="zh-CN" sz="2400" dirty="0">
                          <a:solidFill>
                            <a:schemeClr val="tx1"/>
                          </a:solidFill>
                        </a:rPr>
                        <a:t>B</a:t>
                      </a:r>
                      <a:endParaRPr lang="en-US" altLang="zh-CN" sz="2400" dirty="0">
                        <a:solidFill>
                          <a:schemeClr val="tx1"/>
                        </a:solidFill>
                      </a:endParaRPr>
                    </a:p>
                  </a:txBody>
                  <a:tcPr/>
                </a:tc>
                <a:tc>
                  <a:txBody>
                    <a:bodyPr/>
                    <a:lstStyle/>
                    <a:p>
                      <a:pPr algn="ctr">
                        <a:buNone/>
                      </a:pPr>
                      <a:r>
                        <a:rPr lang="en-US" altLang="zh-CN" sz="2400" dirty="0">
                          <a:solidFill>
                            <a:schemeClr val="tx1"/>
                          </a:solidFill>
                        </a:rPr>
                        <a:t>^</a:t>
                      </a:r>
                      <a:endParaRPr lang="en-US" altLang="zh-CN" sz="2400" dirty="0">
                        <a:solidFill>
                          <a:schemeClr val="tx1"/>
                        </a:solidFill>
                      </a:endParaRPr>
                    </a:p>
                  </a:txBody>
                  <a:tcPr/>
                </a:tc>
              </a:tr>
            </a:tbl>
          </a:graphicData>
        </a:graphic>
      </p:graphicFrame>
      <p:sp>
        <p:nvSpPr>
          <p:cNvPr id="35" name="文本框 34"/>
          <p:cNvSpPr txBox="1"/>
          <p:nvPr/>
        </p:nvSpPr>
        <p:spPr>
          <a:xfrm>
            <a:off x="5581503" y="2078682"/>
            <a:ext cx="1932305" cy="398780"/>
          </a:xfrm>
          <a:prstGeom prst="rect">
            <a:avLst/>
          </a:prstGeom>
          <a:noFill/>
        </p:spPr>
        <p:txBody>
          <a:bodyPr wrap="square" rtlCol="0">
            <a:spAutoFit/>
          </a:bodyPr>
          <a:lstStyle/>
          <a:p>
            <a:r>
              <a:rPr lang="en-US" altLang="zh-CN" sz="2000" b="1" dirty="0"/>
              <a:t>AB..CD..</a:t>
            </a:r>
            <a:r>
              <a:rPr lang="en-US" altLang="zh-CN" sz="2000" b="1" dirty="0">
                <a:solidFill>
                  <a:srgbClr val="FF0000"/>
                </a:solidFill>
              </a:rPr>
              <a:t>.</a:t>
            </a:r>
            <a:endParaRPr lang="en-US" altLang="zh-CN" sz="2000" b="1" dirty="0">
              <a:solidFill>
                <a:srgbClr val="FF0000"/>
              </a:solidFill>
            </a:endParaRPr>
          </a:p>
        </p:txBody>
      </p:sp>
      <p:sp>
        <p:nvSpPr>
          <p:cNvPr id="36" name="文本框 35"/>
          <p:cNvSpPr txBox="1"/>
          <p:nvPr/>
        </p:nvSpPr>
        <p:spPr>
          <a:xfrm>
            <a:off x="5262880" y="2722502"/>
            <a:ext cx="955040" cy="368300"/>
          </a:xfrm>
          <a:prstGeom prst="rect">
            <a:avLst/>
          </a:prstGeom>
          <a:noFill/>
        </p:spPr>
        <p:txBody>
          <a:bodyPr wrap="square" rtlCol="0">
            <a:spAutoFit/>
          </a:bodyPr>
          <a:lstStyle/>
          <a:p>
            <a:r>
              <a:rPr lang="en-US" altLang="zh-CN" b="1" dirty="0"/>
              <a:t>Ch=</a:t>
            </a:r>
            <a:r>
              <a:rPr lang="en-US" altLang="zh-CN" dirty="0"/>
              <a:t> </a:t>
            </a:r>
            <a:endParaRPr lang="en-US" altLang="zh-CN" dirty="0"/>
          </a:p>
        </p:txBody>
      </p:sp>
      <p:sp>
        <p:nvSpPr>
          <p:cNvPr id="38" name="文本框 37"/>
          <p:cNvSpPr txBox="1"/>
          <p:nvPr/>
        </p:nvSpPr>
        <p:spPr>
          <a:xfrm>
            <a:off x="5388927" y="3292084"/>
            <a:ext cx="494030" cy="461665"/>
          </a:xfrm>
          <a:prstGeom prst="rect">
            <a:avLst/>
          </a:prstGeom>
          <a:noFill/>
        </p:spPr>
        <p:txBody>
          <a:bodyPr wrap="square" rtlCol="0">
            <a:spAutoFit/>
          </a:bodyPr>
          <a:lstStyle/>
          <a:p>
            <a:r>
              <a:rPr lang="en-US" altLang="zh-CN" sz="2400" dirty="0" err="1">
                <a:solidFill>
                  <a:srgbClr val="FF0000"/>
                </a:solidFill>
              </a:rPr>
              <a:t>bt</a:t>
            </a:r>
            <a:endParaRPr lang="en-US" altLang="zh-CN" sz="2400" dirty="0">
              <a:solidFill>
                <a:srgbClr val="FF0000"/>
              </a:solidFill>
            </a:endParaRPr>
          </a:p>
        </p:txBody>
      </p:sp>
      <p:cxnSp>
        <p:nvCxnSpPr>
          <p:cNvPr id="39" name="直接箭头连接符 38"/>
          <p:cNvCxnSpPr/>
          <p:nvPr/>
        </p:nvCxnSpPr>
        <p:spPr>
          <a:xfrm>
            <a:off x="5787390" y="3650895"/>
            <a:ext cx="516520" cy="323199"/>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43" name="直接连接符 42"/>
          <p:cNvCxnSpPr>
            <a:endCxn id="34" idx="0"/>
          </p:cNvCxnSpPr>
          <p:nvPr/>
        </p:nvCxnSpPr>
        <p:spPr>
          <a:xfrm flipH="1">
            <a:off x="5918835" y="4241800"/>
            <a:ext cx="472440" cy="621665"/>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223830" y="967094"/>
            <a:ext cx="7223374"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利用</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扩展先序遍历序列</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创建二叉链表的算法为：</a:t>
            </a:r>
            <a:endParaRPr lang="zh-CN" altLang="en-US" sz="2400"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966470" y="0"/>
            <a:ext cx="7001821" cy="743217"/>
          </a:xfrm>
          <a:prstGeom prst="rect">
            <a:avLst/>
          </a:prstGeom>
          <a:noFill/>
        </p:spPr>
        <p:txBody>
          <a:bodyPr wrap="square">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4</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、建立二叉链表方式存储的二叉树</a:t>
            </a:r>
            <a:endPar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cxnSp>
        <p:nvCxnSpPr>
          <p:cNvPr id="28" name="直接连接符 27"/>
          <p:cNvCxnSpPr>
            <a:endCxn id="33" idx="0"/>
          </p:cNvCxnSpPr>
          <p:nvPr/>
        </p:nvCxnSpPr>
        <p:spPr>
          <a:xfrm>
            <a:off x="7109309" y="4230567"/>
            <a:ext cx="675791" cy="597338"/>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6873089" y="5023410"/>
            <a:ext cx="472440" cy="621665"/>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5" y="150770"/>
            <a:ext cx="6215281"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6.3.2 </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遍历算法的应用</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4" name="文本框 3"/>
          <p:cNvSpPr txBox="1"/>
          <p:nvPr/>
        </p:nvSpPr>
        <p:spPr>
          <a:xfrm>
            <a:off x="708549" y="1210732"/>
            <a:ext cx="8078386" cy="4436536"/>
          </a:xfrm>
          <a:prstGeom prst="rect">
            <a:avLst/>
          </a:prstGeom>
          <a:noFill/>
        </p:spPr>
        <p:txBody>
          <a:bodyPr wrap="square" rtlCol="0">
            <a:spAutoFit/>
          </a:bodyPr>
          <a:lstStyle/>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1</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、输出二叉树中的结点</a:t>
            </a:r>
            <a:endParaRPr lang="en-US" altLang="zh-CN" sz="3200" dirty="0">
              <a:latin typeface="微软雅黑" panose="020B0503020204020204" pitchFamily="34" charset="-122"/>
              <a:ea typeface="微软雅黑" panose="020B0503020204020204" pitchFamily="34" charset="-12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2</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、输出二叉树中的叶子节点</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3、统计叶子结点数目</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4</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、建立二叉链表方式存储的二叉树</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5</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、求二叉树高度</a:t>
            </a:r>
            <a:endPar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6</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、按树状打印的二叉树</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 name="文本框 1"/>
          <p:cNvSpPr txBox="1"/>
          <p:nvPr/>
        </p:nvSpPr>
        <p:spPr>
          <a:xfrm>
            <a:off x="567409" y="777582"/>
            <a:ext cx="8172956" cy="2677656"/>
          </a:xfrm>
          <a:prstGeom prst="rect">
            <a:avLst/>
          </a:prstGeom>
          <a:noFill/>
        </p:spPr>
        <p:txBody>
          <a:bodyPr wrap="square" rtlCol="0">
            <a:spAutoFit/>
          </a:bodyPr>
          <a:lstStyle/>
          <a:p>
            <a:r>
              <a:rPr lang="zh-CN" altLang="en-US" sz="2400" dirty="0"/>
              <a:t>二叉树的高度（深度）为二叉树中结点层次的最大值，也可视为其左、其右子树高度的最大值加</a:t>
            </a:r>
            <a:r>
              <a:rPr lang="en-US" altLang="zh-CN" sz="2400" dirty="0"/>
              <a:t>1</a:t>
            </a:r>
            <a:r>
              <a:rPr lang="zh-CN" altLang="en-US" sz="2400" dirty="0"/>
              <a:t>。</a:t>
            </a:r>
            <a:endParaRPr lang="en-US" altLang="zh-CN" sz="2400" dirty="0"/>
          </a:p>
          <a:p>
            <a:endParaRPr lang="en-US" altLang="zh-CN" sz="2400" dirty="0"/>
          </a:p>
          <a:p>
            <a:r>
              <a:rPr lang="zh-CN" altLang="en-US" sz="2400" dirty="0"/>
              <a:t>设函数表示二叉树</a:t>
            </a:r>
            <a:r>
              <a:rPr lang="en-US" altLang="zh-CN" sz="2400" dirty="0" err="1"/>
              <a:t>bt</a:t>
            </a:r>
            <a:r>
              <a:rPr lang="zh-CN" altLang="en-US" sz="2400" dirty="0"/>
              <a:t>的高度，则递归定义如下：</a:t>
            </a:r>
            <a:endParaRPr lang="zh-CN" altLang="en-US" sz="2400" dirty="0"/>
          </a:p>
          <a:p>
            <a:r>
              <a:rPr lang="zh-CN" altLang="en-US" sz="2400" dirty="0"/>
              <a:t>若</a:t>
            </a:r>
            <a:r>
              <a:rPr lang="en-US" altLang="zh-CN" sz="2400" dirty="0" err="1"/>
              <a:t>bt</a:t>
            </a:r>
            <a:r>
              <a:rPr lang="zh-CN" altLang="en-US" sz="2400" dirty="0"/>
              <a:t>为空，则高度为</a:t>
            </a:r>
            <a:r>
              <a:rPr lang="en-US" altLang="zh-CN" sz="2400" dirty="0"/>
              <a:t>0</a:t>
            </a:r>
            <a:endParaRPr lang="en-US" altLang="zh-CN" sz="2400" dirty="0"/>
          </a:p>
          <a:p>
            <a:r>
              <a:rPr lang="zh-CN" altLang="en-US" sz="2400" dirty="0"/>
              <a:t>若</a:t>
            </a:r>
            <a:r>
              <a:rPr lang="en-US" altLang="zh-CN" sz="2400" dirty="0" err="1"/>
              <a:t>bt</a:t>
            </a:r>
            <a:r>
              <a:rPr lang="zh-CN" altLang="en-US" sz="2400" dirty="0"/>
              <a:t>非空，其高度为其左右子树高度的最大值</a:t>
            </a:r>
            <a:r>
              <a:rPr lang="en-US" altLang="zh-CN" sz="2400" dirty="0"/>
              <a:t>+1</a:t>
            </a:r>
            <a:endParaRPr lang="en-US" altLang="zh-CN" sz="2400" dirty="0"/>
          </a:p>
          <a:p>
            <a:endParaRPr lang="en-US" altLang="zh-CN" sz="2400" dirty="0"/>
          </a:p>
        </p:txBody>
      </p:sp>
      <p:sp>
        <p:nvSpPr>
          <p:cNvPr id="4" name="椭圆 3"/>
          <p:cNvSpPr/>
          <p:nvPr/>
        </p:nvSpPr>
        <p:spPr>
          <a:xfrm>
            <a:off x="1081405" y="3306260"/>
            <a:ext cx="876935" cy="8305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3200" dirty="0" err="1"/>
              <a:t>bt</a:t>
            </a:r>
            <a:endParaRPr lang="en-US" altLang="zh-CN" sz="3200" dirty="0"/>
          </a:p>
        </p:txBody>
      </p:sp>
      <p:cxnSp>
        <p:nvCxnSpPr>
          <p:cNvPr id="5" name="直接连接符 4"/>
          <p:cNvCxnSpPr>
            <a:stCxn id="4" idx="3"/>
            <a:endCxn id="7" idx="0"/>
          </p:cNvCxnSpPr>
          <p:nvPr/>
        </p:nvCxnSpPr>
        <p:spPr>
          <a:xfrm flipH="1">
            <a:off x="761048" y="4015204"/>
            <a:ext cx="448781" cy="801271"/>
          </a:xfrm>
          <a:prstGeom prst="line">
            <a:avLst/>
          </a:prstGeom>
          <a:ln w="19050"/>
        </p:spPr>
        <p:style>
          <a:lnRef idx="1">
            <a:schemeClr val="dk1"/>
          </a:lnRef>
          <a:fillRef idx="0">
            <a:schemeClr val="dk1"/>
          </a:fillRef>
          <a:effectRef idx="0">
            <a:schemeClr val="dk1"/>
          </a:effectRef>
          <a:fontRef idx="minor">
            <a:schemeClr val="tx1"/>
          </a:fontRef>
        </p:style>
      </p:cxnSp>
      <p:cxnSp>
        <p:nvCxnSpPr>
          <p:cNvPr id="6" name="直接连接符 5"/>
          <p:cNvCxnSpPr>
            <a:stCxn id="4" idx="5"/>
            <a:endCxn id="8" idx="0"/>
          </p:cNvCxnSpPr>
          <p:nvPr/>
        </p:nvCxnSpPr>
        <p:spPr>
          <a:xfrm>
            <a:off x="1829916" y="4015204"/>
            <a:ext cx="695162" cy="789841"/>
          </a:xfrm>
          <a:prstGeom prst="line">
            <a:avLst/>
          </a:prstGeom>
          <a:ln w="19050"/>
        </p:spPr>
        <p:style>
          <a:lnRef idx="1">
            <a:schemeClr val="dk1"/>
          </a:lnRef>
          <a:fillRef idx="0">
            <a:schemeClr val="dk1"/>
          </a:fillRef>
          <a:effectRef idx="0">
            <a:schemeClr val="dk1"/>
          </a:effectRef>
          <a:fontRef idx="minor">
            <a:schemeClr val="tx1"/>
          </a:fontRef>
        </p:style>
      </p:cxnSp>
      <p:sp>
        <p:nvSpPr>
          <p:cNvPr id="7" name="矩形 6"/>
          <p:cNvSpPr/>
          <p:nvPr/>
        </p:nvSpPr>
        <p:spPr>
          <a:xfrm>
            <a:off x="433705" y="4816475"/>
            <a:ext cx="654685" cy="15201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t>左</a:t>
            </a:r>
            <a:endParaRPr lang="zh-CN" altLang="en-US" sz="2000" dirty="0"/>
          </a:p>
          <a:p>
            <a:pPr algn="ctr"/>
            <a:r>
              <a:rPr lang="zh-CN" altLang="en-US" sz="2000" dirty="0"/>
              <a:t>子</a:t>
            </a:r>
            <a:endParaRPr lang="zh-CN" altLang="en-US" sz="2000" dirty="0"/>
          </a:p>
          <a:p>
            <a:pPr algn="ctr"/>
            <a:r>
              <a:rPr lang="zh-CN" altLang="en-US" sz="2000" dirty="0"/>
              <a:t>树</a:t>
            </a:r>
            <a:endParaRPr lang="zh-CN" altLang="en-US" sz="2000" dirty="0"/>
          </a:p>
          <a:p>
            <a:pPr algn="ctr"/>
            <a:r>
              <a:rPr lang="en-US" altLang="zh-CN" sz="2000" dirty="0"/>
              <a:t>hl</a:t>
            </a:r>
            <a:endParaRPr lang="en-US" altLang="zh-CN" sz="2000" dirty="0"/>
          </a:p>
        </p:txBody>
      </p:sp>
      <p:sp>
        <p:nvSpPr>
          <p:cNvPr id="8" name="矩形 7"/>
          <p:cNvSpPr/>
          <p:nvPr/>
        </p:nvSpPr>
        <p:spPr>
          <a:xfrm>
            <a:off x="2197735" y="4805045"/>
            <a:ext cx="654685" cy="15201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t>右</a:t>
            </a:r>
            <a:endParaRPr lang="zh-CN" altLang="en-US" sz="2000" dirty="0"/>
          </a:p>
          <a:p>
            <a:pPr algn="ctr"/>
            <a:r>
              <a:rPr lang="zh-CN" altLang="en-US" sz="2000" dirty="0"/>
              <a:t>子</a:t>
            </a:r>
            <a:endParaRPr lang="zh-CN" altLang="en-US" sz="2000" dirty="0"/>
          </a:p>
          <a:p>
            <a:pPr algn="ctr"/>
            <a:r>
              <a:rPr lang="zh-CN" altLang="en-US" sz="2000" dirty="0"/>
              <a:t>树</a:t>
            </a:r>
            <a:endParaRPr lang="zh-CN" altLang="en-US" sz="2000" dirty="0"/>
          </a:p>
          <a:p>
            <a:pPr algn="ctr"/>
            <a:r>
              <a:rPr lang="en-US" altLang="zh-CN" sz="2000" dirty="0" err="1"/>
              <a:t>hr</a:t>
            </a:r>
            <a:endParaRPr lang="en-US" altLang="zh-CN" sz="2000" dirty="0"/>
          </a:p>
        </p:txBody>
      </p:sp>
      <p:sp>
        <p:nvSpPr>
          <p:cNvPr id="12" name="文本框 11"/>
          <p:cNvSpPr txBox="1"/>
          <p:nvPr/>
        </p:nvSpPr>
        <p:spPr>
          <a:xfrm>
            <a:off x="4653887" y="4231700"/>
            <a:ext cx="3966435" cy="523220"/>
          </a:xfrm>
          <a:prstGeom prst="rect">
            <a:avLst/>
          </a:prstGeom>
          <a:noFill/>
        </p:spPr>
        <p:txBody>
          <a:bodyPr wrap="square" rtlCol="0">
            <a:spAutoFit/>
          </a:bodyPr>
          <a:lstStyle/>
          <a:p>
            <a:r>
              <a:rPr lang="en-US" altLang="zh-CN" sz="2800" dirty="0"/>
              <a:t>High=max(</a:t>
            </a:r>
            <a:r>
              <a:rPr lang="en-US" altLang="zh-CN" sz="2800" dirty="0" err="1"/>
              <a:t>hl,hr</a:t>
            </a:r>
            <a:r>
              <a:rPr lang="en-US" altLang="zh-CN" sz="2800" dirty="0"/>
              <a:t>)+1</a:t>
            </a:r>
            <a:endParaRPr lang="en-US" altLang="zh-CN" sz="2800" dirty="0"/>
          </a:p>
        </p:txBody>
      </p:sp>
      <p:sp>
        <p:nvSpPr>
          <p:cNvPr id="13" name="文本框 12"/>
          <p:cNvSpPr txBox="1"/>
          <p:nvPr/>
        </p:nvSpPr>
        <p:spPr>
          <a:xfrm>
            <a:off x="4269105" y="5050790"/>
            <a:ext cx="4735999" cy="461665"/>
          </a:xfrm>
          <a:prstGeom prst="rect">
            <a:avLst/>
          </a:prstGeom>
          <a:noFill/>
        </p:spPr>
        <p:txBody>
          <a:bodyPr wrap="square" rtlCol="0">
            <a:spAutoFit/>
          </a:bodyPr>
          <a:lstStyle/>
          <a:p>
            <a:r>
              <a:rPr lang="zh-CN" altLang="en-US" sz="2400" dirty="0"/>
              <a:t>可用先序遍历及后序遍历求解</a:t>
            </a:r>
            <a:endParaRPr lang="zh-CN" altLang="en-US" sz="2400" dirty="0"/>
          </a:p>
        </p:txBody>
      </p:sp>
      <p:sp>
        <p:nvSpPr>
          <p:cNvPr id="18" name="文本框 17"/>
          <p:cNvSpPr txBox="1"/>
          <p:nvPr/>
        </p:nvSpPr>
        <p:spPr>
          <a:xfrm>
            <a:off x="2630346" y="-57417"/>
            <a:ext cx="4786132" cy="743217"/>
          </a:xfrm>
          <a:prstGeom prst="rect">
            <a:avLst/>
          </a:prstGeom>
          <a:noFill/>
        </p:spPr>
        <p:txBody>
          <a:bodyPr wrap="square">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5</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、求二叉树高度</a:t>
            </a:r>
            <a:endPar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23" name="右大括号 22"/>
          <p:cNvSpPr/>
          <p:nvPr/>
        </p:nvSpPr>
        <p:spPr>
          <a:xfrm>
            <a:off x="3694431" y="3451934"/>
            <a:ext cx="574674" cy="2613200"/>
          </a:xfrm>
          <a:prstGeom prst="rightBrace">
            <a:avLst>
              <a:gd name="adj1" fmla="val 8333"/>
              <a:gd name="adj2" fmla="val 48671"/>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p:cNvSpPr txBox="1"/>
          <p:nvPr/>
        </p:nvSpPr>
        <p:spPr>
          <a:xfrm>
            <a:off x="4269105" y="5982237"/>
            <a:ext cx="3877985" cy="461665"/>
          </a:xfrm>
          <a:prstGeom prst="rect">
            <a:avLst/>
          </a:prstGeom>
          <a:noFill/>
        </p:spPr>
        <p:txBody>
          <a:bodyPr wrap="none" rtlCol="0">
            <a:spAutoFit/>
          </a:bodyPr>
          <a:lstStyle/>
          <a:p>
            <a:r>
              <a:rPr lang="zh-CN" altLang="en-US" sz="2400" dirty="0"/>
              <a:t>中序遍历可以吗？为什么？</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2" grpId="0"/>
      <p:bldP spid="13" grpId="0"/>
      <p:bldP spid="23" grpId="0" animBg="1"/>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 name="文本框 1"/>
          <p:cNvSpPr txBox="1"/>
          <p:nvPr/>
        </p:nvSpPr>
        <p:spPr>
          <a:xfrm>
            <a:off x="631229" y="1223709"/>
            <a:ext cx="7941995" cy="4654608"/>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void </a:t>
            </a:r>
            <a:r>
              <a:rPr lang="en-US" altLang="zh-CN" sz="2000" dirty="0" err="1">
                <a:latin typeface="微软雅黑" panose="020B0503020204020204" pitchFamily="34" charset="-122"/>
                <a:ea typeface="微软雅黑" panose="020B0503020204020204" pitchFamily="34" charset="-122"/>
              </a:rPr>
              <a:t>PreTreeDepth</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bt,int</a:t>
            </a:r>
            <a:r>
              <a:rPr lang="en-US" altLang="zh-CN" sz="2000" dirty="0">
                <a:latin typeface="微软雅黑" panose="020B0503020204020204" pitchFamily="34" charset="-122"/>
                <a:ea typeface="微软雅黑" panose="020B0503020204020204" pitchFamily="34" charset="-122"/>
              </a:rPr>
              <a:t> h)</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h</a:t>
            </a:r>
            <a:r>
              <a:rPr lang="zh-CN" altLang="en-US" sz="2000" dirty="0">
                <a:latin typeface="微软雅黑" panose="020B0503020204020204" pitchFamily="34" charset="-122"/>
                <a:ea typeface="微软雅黑" panose="020B0503020204020204" pitchFamily="34" charset="-122"/>
                <a:sym typeface="+mn-ea"/>
              </a:rPr>
              <a:t>为</a:t>
            </a:r>
            <a:r>
              <a:rPr lang="en-US" altLang="zh-CN" sz="2000" dirty="0" err="1">
                <a:latin typeface="微软雅黑" panose="020B0503020204020204" pitchFamily="34" charset="-122"/>
                <a:ea typeface="微软雅黑" panose="020B0503020204020204" pitchFamily="34" charset="-122"/>
                <a:sym typeface="+mn-ea"/>
              </a:rPr>
              <a:t>bt</a:t>
            </a:r>
            <a:r>
              <a:rPr lang="zh-CN" altLang="en-US" sz="2000" dirty="0">
                <a:latin typeface="微软雅黑" panose="020B0503020204020204" pitchFamily="34" charset="-122"/>
                <a:ea typeface="微软雅黑" panose="020B0503020204020204" pitchFamily="34" charset="-122"/>
                <a:sym typeface="+mn-ea"/>
              </a:rPr>
              <a:t>指向结点所在层次，初值为</a:t>
            </a:r>
            <a:r>
              <a:rPr lang="en-US" altLang="zh-CN" sz="2000" dirty="0">
                <a:latin typeface="微软雅黑" panose="020B0503020204020204" pitchFamily="34" charset="-122"/>
                <a:ea typeface="微软雅黑" panose="020B0503020204020204" pitchFamily="34" charset="-122"/>
                <a:sym typeface="+mn-ea"/>
              </a:rPr>
              <a:t>1 </a:t>
            </a:r>
            <a:r>
              <a:rPr lang="zh-CN" altLang="en-US"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depth</a:t>
            </a:r>
            <a:r>
              <a:rPr lang="zh-CN" altLang="en-US" sz="2000" dirty="0">
                <a:latin typeface="微软雅黑" panose="020B0503020204020204" pitchFamily="34" charset="-122"/>
                <a:ea typeface="微软雅黑" panose="020B0503020204020204" pitchFamily="34" charset="-122"/>
                <a:sym typeface="+mn-ea"/>
              </a:rPr>
              <a:t>为当前求得最大层次，初值为</a:t>
            </a:r>
            <a:r>
              <a:rPr lang="en-US" altLang="zh-CN" sz="2000" dirty="0">
                <a:latin typeface="微软雅黑" panose="020B0503020204020204" pitchFamily="34" charset="-122"/>
                <a:ea typeface="微软雅黑" panose="020B0503020204020204" pitchFamily="34" charset="-122"/>
                <a:sym typeface="+mn-ea"/>
              </a:rPr>
              <a:t>0</a:t>
            </a:r>
            <a:r>
              <a:rPr lang="zh-CN" altLang="en-US"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if(</a:t>
            </a:r>
            <a:r>
              <a:rPr lang="en-US" altLang="zh-CN" sz="2000" dirty="0" err="1">
                <a:latin typeface="微软雅黑" panose="020B0503020204020204" pitchFamily="34" charset="-122"/>
                <a:ea typeface="微软雅黑" panose="020B0503020204020204" pitchFamily="34" charset="-122"/>
              </a:rPr>
              <a:t>bt</a:t>
            </a:r>
            <a:r>
              <a:rPr lang="en-US" altLang="zh-CN" sz="2000" dirty="0">
                <a:latin typeface="微软雅黑" panose="020B0503020204020204" pitchFamily="34" charset="-122"/>
                <a:ea typeface="微软雅黑" panose="020B0503020204020204" pitchFamily="34" charset="-122"/>
              </a:rPr>
              <a:t>!=NULL)</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rPr>
              <a:t>如果该结点层次值大于最深值</a:t>
            </a:r>
            <a:r>
              <a:rPr lang="en-US" altLang="zh-CN" sz="2000" dirty="0">
                <a:latin typeface="微软雅黑" panose="020B0503020204020204" pitchFamily="34" charset="-122"/>
                <a:ea typeface="微软雅黑" panose="020B0503020204020204" pitchFamily="34" charset="-122"/>
              </a:rPr>
              <a:t>depth</a:t>
            </a:r>
            <a:r>
              <a:rPr lang="zh-CN" altLang="en-US" sz="2000" dirty="0">
                <a:latin typeface="微软雅黑" panose="020B0503020204020204" pitchFamily="34" charset="-122"/>
                <a:ea typeface="微软雅黑" panose="020B0503020204020204" pitchFamily="34" charset="-122"/>
              </a:rPr>
              <a:t>，更新</a:t>
            </a:r>
            <a:r>
              <a:rPr lang="en-US" altLang="zh-CN" sz="2000" dirty="0">
                <a:latin typeface="微软雅黑" panose="020B0503020204020204" pitchFamily="34" charset="-122"/>
                <a:ea typeface="微软雅黑" panose="020B0503020204020204" pitchFamily="34" charset="-122"/>
              </a:rPr>
              <a:t>depth</a:t>
            </a:r>
            <a:r>
              <a:rPr lang="zh-CN" altLang="en-US" sz="2000" dirty="0">
                <a:latin typeface="微软雅黑" panose="020B0503020204020204" pitchFamily="34" charset="-122"/>
                <a:ea typeface="微软雅黑" panose="020B0503020204020204" pitchFamily="34" charset="-122"/>
              </a:rPr>
              <a:t>的值</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if(h&gt;depth)   depth = h;</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PreTreeDepth</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bt</a:t>
            </a:r>
            <a:r>
              <a:rPr lang="en-US" altLang="zh-CN" sz="2000" dirty="0">
                <a:latin typeface="微软雅黑" panose="020B0503020204020204" pitchFamily="34" charset="-122"/>
                <a:ea typeface="微软雅黑" panose="020B0503020204020204" pitchFamily="34" charset="-122"/>
              </a:rPr>
              <a:t>-&gt;LChild,h+1);  /*</a:t>
            </a:r>
            <a:r>
              <a:rPr lang="zh-CN" altLang="en-US" sz="2000" dirty="0">
                <a:latin typeface="微软雅黑" panose="020B0503020204020204" pitchFamily="34" charset="-122"/>
                <a:ea typeface="微软雅黑" panose="020B0503020204020204" pitchFamily="34" charset="-122"/>
              </a:rPr>
              <a:t>遍历左子树</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sym typeface="+mn-ea"/>
              </a:rPr>
              <a:t>     </a:t>
            </a:r>
            <a:r>
              <a:rPr lang="en-US" altLang="zh-CN" sz="2000" dirty="0" err="1">
                <a:latin typeface="微软雅黑" panose="020B0503020204020204" pitchFamily="34" charset="-122"/>
                <a:ea typeface="微软雅黑" panose="020B0503020204020204" pitchFamily="34" charset="-122"/>
                <a:sym typeface="+mn-ea"/>
              </a:rPr>
              <a:t>PreTreeDepth</a:t>
            </a:r>
            <a:r>
              <a:rPr lang="en-US" altLang="zh-CN" sz="2000" dirty="0">
                <a:latin typeface="微软雅黑" panose="020B0503020204020204" pitchFamily="34" charset="-122"/>
                <a:ea typeface="微软雅黑" panose="020B0503020204020204" pitchFamily="34" charset="-122"/>
                <a:sym typeface="+mn-ea"/>
              </a:rPr>
              <a:t>(</a:t>
            </a:r>
            <a:r>
              <a:rPr lang="en-US" altLang="zh-CN" sz="2000" dirty="0" err="1">
                <a:latin typeface="微软雅黑" panose="020B0503020204020204" pitchFamily="34" charset="-122"/>
                <a:ea typeface="微软雅黑" panose="020B0503020204020204" pitchFamily="34" charset="-122"/>
                <a:sym typeface="+mn-ea"/>
              </a:rPr>
              <a:t>bt</a:t>
            </a:r>
            <a:r>
              <a:rPr lang="en-US" altLang="zh-CN" sz="2000" dirty="0">
                <a:latin typeface="微软雅黑" panose="020B0503020204020204" pitchFamily="34" charset="-122"/>
                <a:ea typeface="微软雅黑" panose="020B0503020204020204" pitchFamily="34" charset="-122"/>
                <a:sym typeface="+mn-ea"/>
              </a:rPr>
              <a:t>-&gt;RChild,h+1); /*</a:t>
            </a:r>
            <a:r>
              <a:rPr lang="zh-CN" altLang="en-US" sz="2000" dirty="0">
                <a:latin typeface="微软雅黑" panose="020B0503020204020204" pitchFamily="34" charset="-122"/>
                <a:ea typeface="微软雅黑" panose="020B0503020204020204" pitchFamily="34" charset="-122"/>
                <a:sym typeface="+mn-ea"/>
              </a:rPr>
              <a:t>遍历右子树</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          </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2630346" y="-57417"/>
            <a:ext cx="4786132" cy="743217"/>
          </a:xfrm>
          <a:prstGeom prst="rect">
            <a:avLst/>
          </a:prstGeom>
          <a:noFill/>
        </p:spPr>
        <p:txBody>
          <a:bodyPr wrap="square">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5</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、求二叉树高度</a:t>
            </a:r>
            <a:endPar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10" name="文本框 9"/>
          <p:cNvSpPr txBox="1"/>
          <p:nvPr/>
        </p:nvSpPr>
        <p:spPr>
          <a:xfrm>
            <a:off x="570775" y="807863"/>
            <a:ext cx="4840389" cy="461665"/>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先序遍历求二叉树高度的递归算法</a:t>
            </a:r>
            <a:r>
              <a:rPr lang="en-US" altLang="zh-CN" sz="2400" dirty="0">
                <a:latin typeface="微软雅黑" panose="020B0503020204020204" pitchFamily="34" charset="-122"/>
                <a:ea typeface="微软雅黑" panose="020B0503020204020204" pitchFamily="34" charset="-122"/>
              </a:rPr>
              <a:t> </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2">
                                            <p:txEl>
                                              <p:pRg st="5" end="5"/>
                                            </p:txEl>
                                          </p:spTgt>
                                        </p:tgtEl>
                                        <p:attrNameLst>
                                          <p:attrName>style.color</p:attrName>
                                        </p:attrNameLst>
                                      </p:cBhvr>
                                      <p:to>
                                        <a:srgbClr val="FF0000"/>
                                      </p:to>
                                    </p:animClr>
                                    <p:animClr clrSpc="rgb" dir="cw">
                                      <p:cBhvr>
                                        <p:cTn id="7" dur="500" fill="hold"/>
                                        <p:tgtEl>
                                          <p:spTgt spid="2">
                                            <p:txEl>
                                              <p:pRg st="5" end="5"/>
                                            </p:txEl>
                                          </p:spTgt>
                                        </p:tgtEl>
                                        <p:attrNameLst>
                                          <p:attrName>fillcolor</p:attrName>
                                        </p:attrNameLst>
                                      </p:cBhvr>
                                      <p:to>
                                        <a:srgbClr val="FF0000"/>
                                      </p:to>
                                    </p:animClr>
                                    <p:set>
                                      <p:cBhvr>
                                        <p:cTn id="8" dur="500" fill="hold"/>
                                        <p:tgtEl>
                                          <p:spTgt spid="2">
                                            <p:txEl>
                                              <p:pRg st="5" end="5"/>
                                            </p:txEl>
                                          </p:spTgt>
                                        </p:tgtEl>
                                        <p:attrNameLst>
                                          <p:attrName>fill.type</p:attrName>
                                        </p:attrNameLst>
                                      </p:cBhvr>
                                      <p:to>
                                        <p:strVal val="solid"/>
                                      </p:to>
                                    </p:set>
                                    <p:set>
                                      <p:cBhvr>
                                        <p:cTn id="9" dur="500" fill="hold"/>
                                        <p:tgtEl>
                                          <p:spTgt spid="2">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 name="文本框 1"/>
          <p:cNvSpPr txBox="1"/>
          <p:nvPr/>
        </p:nvSpPr>
        <p:spPr>
          <a:xfrm>
            <a:off x="570776" y="1132551"/>
            <a:ext cx="8353305" cy="5577937"/>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int </a:t>
            </a:r>
            <a:r>
              <a:rPr lang="en-US" altLang="zh-CN" sz="2000" dirty="0" err="1">
                <a:latin typeface="微软雅黑" panose="020B0503020204020204" pitchFamily="34" charset="-122"/>
                <a:ea typeface="微软雅黑" panose="020B0503020204020204" pitchFamily="34" charset="-122"/>
              </a:rPr>
              <a:t>PostTreeDepth</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bt</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int </a:t>
            </a:r>
            <a:r>
              <a:rPr lang="en-US" altLang="zh-CN" sz="2000" dirty="0" err="1">
                <a:latin typeface="微软雅黑" panose="020B0503020204020204" pitchFamily="34" charset="-122"/>
                <a:ea typeface="微软雅黑" panose="020B0503020204020204" pitchFamily="34" charset="-122"/>
              </a:rPr>
              <a:t>hl,hr,max</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if(</a:t>
            </a:r>
            <a:r>
              <a:rPr lang="en-US" altLang="zh-CN" sz="2000" dirty="0" err="1">
                <a:latin typeface="微软雅黑" panose="020B0503020204020204" pitchFamily="34" charset="-122"/>
                <a:ea typeface="微软雅黑" panose="020B0503020204020204" pitchFamily="34" charset="-122"/>
              </a:rPr>
              <a:t>bt</a:t>
            </a:r>
            <a:r>
              <a:rPr lang="en-US" altLang="zh-CN" sz="2000" dirty="0">
                <a:latin typeface="微软雅黑" panose="020B0503020204020204" pitchFamily="34" charset="-122"/>
                <a:ea typeface="微软雅黑" panose="020B0503020204020204" pitchFamily="34" charset="-122"/>
              </a:rPr>
              <a:t>!=NULL)</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hl = </a:t>
            </a:r>
            <a:r>
              <a:rPr lang="en-US" altLang="zh-CN" sz="2000" dirty="0" err="1">
                <a:latin typeface="微软雅黑" panose="020B0503020204020204" pitchFamily="34" charset="-122"/>
                <a:ea typeface="微软雅黑" panose="020B0503020204020204" pitchFamily="34" charset="-122"/>
              </a:rPr>
              <a:t>PostTreeDepth</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bt</a:t>
            </a:r>
            <a:r>
              <a:rPr lang="en-US" altLang="zh-CN" sz="2000" dirty="0">
                <a:latin typeface="微软雅黑" panose="020B0503020204020204" pitchFamily="34" charset="-122"/>
                <a:ea typeface="微软雅黑" panose="020B0503020204020204" pitchFamily="34" charset="-122"/>
              </a:rPr>
              <a: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求左子树深度</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hr</a:t>
            </a:r>
            <a:r>
              <a:rPr lang="en-US" altLang="zh-CN" sz="2000" dirty="0">
                <a:latin typeface="微软雅黑" panose="020B0503020204020204" pitchFamily="34" charset="-122"/>
                <a:ea typeface="微软雅黑" panose="020B0503020204020204" pitchFamily="34" charset="-122"/>
                <a:sym typeface="+mn-ea"/>
              </a:rPr>
              <a:t> = </a:t>
            </a:r>
            <a:r>
              <a:rPr lang="en-US" altLang="zh-CN" sz="2000" dirty="0" err="1">
                <a:latin typeface="微软雅黑" panose="020B0503020204020204" pitchFamily="34" charset="-122"/>
                <a:ea typeface="微软雅黑" panose="020B0503020204020204" pitchFamily="34" charset="-122"/>
                <a:sym typeface="+mn-ea"/>
              </a:rPr>
              <a:t>PostTreeDepth</a:t>
            </a:r>
            <a:r>
              <a:rPr lang="en-US" altLang="zh-CN" sz="2000" dirty="0">
                <a:latin typeface="微软雅黑" panose="020B0503020204020204" pitchFamily="34" charset="-122"/>
                <a:ea typeface="微软雅黑" panose="020B0503020204020204" pitchFamily="34" charset="-122"/>
                <a:sym typeface="+mn-ea"/>
              </a:rPr>
              <a:t>(</a:t>
            </a:r>
            <a:r>
              <a:rPr lang="en-US" altLang="zh-CN" sz="2000" dirty="0" err="1">
                <a:latin typeface="微软雅黑" panose="020B0503020204020204" pitchFamily="34" charset="-122"/>
                <a:ea typeface="微软雅黑" panose="020B0503020204020204" pitchFamily="34" charset="-122"/>
                <a:sym typeface="+mn-ea"/>
              </a:rPr>
              <a:t>bt</a:t>
            </a:r>
            <a:r>
              <a:rPr lang="en-US" altLang="zh-CN" sz="2000" dirty="0">
                <a:latin typeface="微软雅黑" panose="020B0503020204020204" pitchFamily="34" charset="-122"/>
                <a:ea typeface="微软雅黑" panose="020B0503020204020204" pitchFamily="34" charset="-122"/>
                <a:sym typeface="+mn-ea"/>
              </a:rPr>
              <a:t>-&gt;</a:t>
            </a:r>
            <a:r>
              <a:rPr lang="en-US" altLang="zh-CN" sz="2000" dirty="0" err="1">
                <a:latin typeface="微软雅黑" panose="020B0503020204020204" pitchFamily="34" charset="-122"/>
                <a:ea typeface="微软雅黑" panose="020B0503020204020204" pitchFamily="34" charset="-122"/>
                <a:sym typeface="+mn-ea"/>
              </a:rPr>
              <a:t>rChild</a:t>
            </a: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求右子树深度</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max = hl&gt;</a:t>
            </a:r>
            <a:r>
              <a:rPr lang="en-US" altLang="zh-CN" sz="2000" dirty="0" err="1">
                <a:latin typeface="微软雅黑" panose="020B0503020204020204" pitchFamily="34" charset="-122"/>
                <a:ea typeface="微软雅黑" panose="020B0503020204020204" pitchFamily="34" charset="-122"/>
              </a:rPr>
              <a:t>hr?hl:hr</a:t>
            </a:r>
            <a:r>
              <a:rPr lang="en-US" altLang="zh-CN"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sym typeface="+mn-ea"/>
              </a:rPr>
              <a:t>求两子树较大的深度</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return(max+1);             </a:t>
            </a:r>
            <a:r>
              <a:rPr lang="en-US" altLang="zh-CN" sz="2000" dirty="0">
                <a:latin typeface="微软雅黑" panose="020B0503020204020204" pitchFamily="34" charset="-122"/>
                <a:ea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sym typeface="+mn-ea"/>
              </a:rPr>
              <a:t>返回树的深度</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else return 0;      </a:t>
            </a:r>
            <a:r>
              <a:rPr lang="en-US" altLang="zh-CN" sz="2000" dirty="0">
                <a:latin typeface="微软雅黑" panose="020B0503020204020204" pitchFamily="34" charset="-122"/>
                <a:ea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sym typeface="+mn-ea"/>
              </a:rPr>
              <a:t>返如果是空树，返回</a:t>
            </a:r>
            <a:r>
              <a:rPr lang="en-US" altLang="zh-CN" sz="2000" dirty="0">
                <a:latin typeface="微软雅黑" panose="020B0503020204020204" pitchFamily="34" charset="-122"/>
                <a:ea typeface="微软雅黑" panose="020B0503020204020204" pitchFamily="34" charset="-122"/>
                <a:sym typeface="+mn-ea"/>
              </a:rPr>
              <a:t>0</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2630346" y="-57417"/>
            <a:ext cx="4786132" cy="743217"/>
          </a:xfrm>
          <a:prstGeom prst="rect">
            <a:avLst/>
          </a:prstGeom>
          <a:noFill/>
        </p:spPr>
        <p:txBody>
          <a:bodyPr wrap="square">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5</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、求二叉树高度</a:t>
            </a:r>
            <a:endPar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10" name="文本框 9"/>
          <p:cNvSpPr txBox="1"/>
          <p:nvPr/>
        </p:nvSpPr>
        <p:spPr>
          <a:xfrm>
            <a:off x="570775" y="807863"/>
            <a:ext cx="4840389" cy="461665"/>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后序遍历求二叉树高度的递归算法</a:t>
            </a:r>
            <a:r>
              <a:rPr lang="en-US" altLang="zh-CN" sz="2400" dirty="0">
                <a:latin typeface="微软雅黑" panose="020B0503020204020204" pitchFamily="34" charset="-122"/>
                <a:ea typeface="微软雅黑" panose="020B0503020204020204" pitchFamily="34" charset="-122"/>
              </a:rPr>
              <a:t> </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2">
                                            <p:txEl>
                                              <p:pRg st="7" end="7"/>
                                            </p:txEl>
                                          </p:spTgt>
                                        </p:tgtEl>
                                        <p:attrNameLst>
                                          <p:attrName>style.color</p:attrName>
                                        </p:attrNameLst>
                                      </p:cBhvr>
                                      <p:to>
                                        <a:srgbClr val="FF0000"/>
                                      </p:to>
                                    </p:animClr>
                                    <p:animClr clrSpc="rgb" dir="cw">
                                      <p:cBhvr>
                                        <p:cTn id="7" dur="500" fill="hold"/>
                                        <p:tgtEl>
                                          <p:spTgt spid="2">
                                            <p:txEl>
                                              <p:pRg st="7" end="7"/>
                                            </p:txEl>
                                          </p:spTgt>
                                        </p:tgtEl>
                                        <p:attrNameLst>
                                          <p:attrName>fillcolor</p:attrName>
                                        </p:attrNameLst>
                                      </p:cBhvr>
                                      <p:to>
                                        <a:srgbClr val="FF0000"/>
                                      </p:to>
                                    </p:animClr>
                                    <p:set>
                                      <p:cBhvr>
                                        <p:cTn id="8" dur="500" fill="hold"/>
                                        <p:tgtEl>
                                          <p:spTgt spid="2">
                                            <p:txEl>
                                              <p:pRg st="7" end="7"/>
                                            </p:txEl>
                                          </p:spTgt>
                                        </p:tgtEl>
                                        <p:attrNameLst>
                                          <p:attrName>fill.type</p:attrName>
                                        </p:attrNameLst>
                                      </p:cBhvr>
                                      <p:to>
                                        <p:strVal val="solid"/>
                                      </p:to>
                                    </p:set>
                                    <p:set>
                                      <p:cBhvr>
                                        <p:cTn id="9" dur="500" fill="hold"/>
                                        <p:tgtEl>
                                          <p:spTgt spid="2">
                                            <p:txEl>
                                              <p:pRg st="7" end="7"/>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 name="文本框 1"/>
          <p:cNvSpPr txBox="1"/>
          <p:nvPr/>
        </p:nvSpPr>
        <p:spPr>
          <a:xfrm>
            <a:off x="601002" y="2285259"/>
            <a:ext cx="7941995" cy="4246245"/>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答：假定某个结点</a:t>
            </a:r>
            <a:r>
              <a:rPr lang="en-US" altLang="zh-CN" sz="2000" dirty="0">
                <a:latin typeface="微软雅黑" panose="020B0503020204020204" pitchFamily="34" charset="-122"/>
                <a:ea typeface="微软雅黑" panose="020B0503020204020204" pitchFamily="34" charset="-122"/>
              </a:rPr>
              <a:t>node,</a:t>
            </a:r>
            <a:r>
              <a:rPr lang="zh-CN" altLang="en-US" sz="2000" dirty="0">
                <a:latin typeface="微软雅黑" panose="020B0503020204020204" pitchFamily="34" charset="-122"/>
                <a:ea typeface="微软雅黑" panose="020B0503020204020204" pitchFamily="34" charset="-122"/>
              </a:rPr>
              <a:t>到它的最低叶结点的长度为</a:t>
            </a:r>
            <a:r>
              <a:rPr lang="en-US" altLang="zh-CN" sz="2000" dirty="0" err="1">
                <a:latin typeface="微软雅黑" panose="020B0503020204020204" pitchFamily="34" charset="-122"/>
                <a:ea typeface="微软雅黑" panose="020B0503020204020204" pitchFamily="34" charset="-122"/>
              </a:rPr>
              <a:t>len</a:t>
            </a:r>
            <a:r>
              <a:rPr lang="en-US" altLang="zh-CN" sz="2000" dirty="0">
                <a:latin typeface="微软雅黑" panose="020B0503020204020204" pitchFamily="34" charset="-122"/>
                <a:ea typeface="微软雅黑" panose="020B0503020204020204" pitchFamily="34" charset="-122"/>
              </a:rPr>
              <a:t>(node),</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len</a:t>
            </a:r>
            <a:r>
              <a:rPr lang="en-US" altLang="zh-CN" sz="2000" dirty="0">
                <a:latin typeface="微软雅黑" panose="020B0503020204020204" pitchFamily="34" charset="-122"/>
                <a:ea typeface="微软雅黑" panose="020B0503020204020204" pitchFamily="34" charset="-122"/>
              </a:rPr>
              <a:t>(node)=max(  </a:t>
            </a:r>
            <a:r>
              <a:rPr lang="en-US" altLang="zh-CN" sz="2000" u="sng" dirty="0" err="1">
                <a:latin typeface="微软雅黑" panose="020B0503020204020204" pitchFamily="34" charset="-122"/>
                <a:ea typeface="微软雅黑" panose="020B0503020204020204" pitchFamily="34" charset="-122"/>
              </a:rPr>
              <a:t>len</a:t>
            </a:r>
            <a:r>
              <a:rPr lang="en-US" altLang="zh-CN" sz="2000" u="sng" dirty="0">
                <a:latin typeface="微软雅黑" panose="020B0503020204020204" pitchFamily="34" charset="-122"/>
                <a:ea typeface="微软雅黑" panose="020B0503020204020204" pitchFamily="34" charset="-122"/>
              </a:rPr>
              <a:t>(node-&gt;left)</a:t>
            </a:r>
            <a:r>
              <a:rPr lang="zh-CN" altLang="en-US" sz="2000" dirty="0">
                <a:latin typeface="微软雅黑" panose="020B0503020204020204" pitchFamily="34" charset="-122"/>
                <a:ea typeface="微软雅黑" panose="020B0503020204020204" pitchFamily="34" charset="-122"/>
              </a:rPr>
              <a:t>，</a:t>
            </a:r>
            <a:r>
              <a:rPr lang="en-US" altLang="zh-CN" sz="2000" u="sng" dirty="0" err="1">
                <a:latin typeface="微软雅黑" panose="020B0503020204020204" pitchFamily="34" charset="-122"/>
                <a:ea typeface="微软雅黑" panose="020B0503020204020204" pitchFamily="34" charset="-122"/>
              </a:rPr>
              <a:t>len</a:t>
            </a:r>
            <a:r>
              <a:rPr lang="en-US" altLang="zh-CN" sz="2000" u="sng" dirty="0">
                <a:latin typeface="微软雅黑" panose="020B0503020204020204" pitchFamily="34" charset="-122"/>
                <a:ea typeface="微软雅黑" panose="020B0503020204020204" pitchFamily="34" charset="-122"/>
              </a:rPr>
              <a:t>(node-&gt;right) </a:t>
            </a:r>
            <a:r>
              <a:rPr lang="en-US" altLang="zh-CN" sz="2000" dirty="0">
                <a:latin typeface="微软雅黑" panose="020B0503020204020204" pitchFamily="34" charset="-122"/>
                <a:ea typeface="微软雅黑" panose="020B0503020204020204" pitchFamily="34" charset="-122"/>
              </a:rPr>
              <a:t>  ) +1</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题目中所求的最长路径必然经过一个最高结点 </a:t>
            </a:r>
            <a:r>
              <a:rPr lang="en-US" altLang="zh-CN" sz="2000" dirty="0" err="1">
                <a:latin typeface="微软雅黑" panose="020B0503020204020204" pitchFamily="34" charset="-122"/>
                <a:ea typeface="微软雅黑" panose="020B0503020204020204" pitchFamily="34" charset="-122"/>
              </a:rPr>
              <a:t>high_node</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 相距最远的两个结点必然是在</a:t>
            </a:r>
            <a:r>
              <a:rPr lang="en-US" altLang="zh-CN" sz="2000" dirty="0" err="1">
                <a:latin typeface="微软雅黑" panose="020B0503020204020204" pitchFamily="34" charset="-122"/>
                <a:ea typeface="微软雅黑" panose="020B0503020204020204" pitchFamily="34" charset="-122"/>
              </a:rPr>
              <a:t>high_node</a:t>
            </a:r>
            <a:r>
              <a:rPr lang="zh-CN" altLang="en-US" sz="2000" dirty="0">
                <a:latin typeface="微软雅黑" panose="020B0503020204020204" pitchFamily="34" charset="-122"/>
                <a:ea typeface="微软雅黑" panose="020B0503020204020204" pitchFamily="34" charset="-122"/>
              </a:rPr>
              <a:t>的两个子树上，</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故我们所求的路径长度为：</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sum=</a:t>
            </a:r>
            <a:r>
              <a:rPr lang="en-US" altLang="zh-CN" sz="2000" dirty="0" err="1">
                <a:latin typeface="微软雅黑" panose="020B0503020204020204" pitchFamily="34" charset="-122"/>
                <a:ea typeface="微软雅黑" panose="020B0503020204020204" pitchFamily="34" charset="-122"/>
              </a:rPr>
              <a:t>len</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high_node</a:t>
            </a:r>
            <a:r>
              <a:rPr lang="en-US" altLang="zh-CN" sz="2000" dirty="0">
                <a:latin typeface="微软雅黑" panose="020B0503020204020204" pitchFamily="34" charset="-122"/>
                <a:ea typeface="微软雅黑" panose="020B0503020204020204" pitchFamily="34" charset="-122"/>
              </a:rPr>
              <a:t>-&gt;left)+</a:t>
            </a:r>
            <a:r>
              <a:rPr lang="en-US" altLang="zh-CN" sz="2000" dirty="0" err="1">
                <a:latin typeface="微软雅黑" panose="020B0503020204020204" pitchFamily="34" charset="-122"/>
                <a:ea typeface="微软雅黑" panose="020B0503020204020204" pitchFamily="34" charset="-122"/>
              </a:rPr>
              <a:t>len</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high_node</a:t>
            </a:r>
            <a:r>
              <a:rPr lang="en-US" altLang="zh-CN" sz="2000" dirty="0">
                <a:latin typeface="微软雅黑" panose="020B0503020204020204" pitchFamily="34" charset="-122"/>
                <a:ea typeface="微软雅黑" panose="020B0503020204020204" pitchFamily="34" charset="-122"/>
              </a:rPr>
              <a:t>-&gt;right) + 2</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表示的是</a:t>
            </a:r>
            <a:r>
              <a:rPr lang="en-US" altLang="zh-CN" sz="2000" dirty="0" err="1">
                <a:latin typeface="微软雅黑" panose="020B0503020204020204" pitchFamily="34" charset="-122"/>
                <a:ea typeface="微软雅黑" panose="020B0503020204020204" pitchFamily="34" charset="-122"/>
              </a:rPr>
              <a:t>high_node</a:t>
            </a:r>
            <a:r>
              <a:rPr lang="zh-CN" altLang="en-US" sz="2000" dirty="0">
                <a:latin typeface="微软雅黑" panose="020B0503020204020204" pitchFamily="34" charset="-122"/>
                <a:ea typeface="微软雅黑" panose="020B0503020204020204" pitchFamily="34" charset="-122"/>
              </a:rPr>
              <a:t>结点到左右子树的距离之和。</a:t>
            </a:r>
            <a:endParaRPr lang="en-US" altLang="zh-CN" sz="20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2630346" y="-57417"/>
            <a:ext cx="4786132" cy="743217"/>
          </a:xfrm>
          <a:prstGeom prst="rect">
            <a:avLst/>
          </a:prstGeom>
          <a:noFill/>
        </p:spPr>
        <p:txBody>
          <a:bodyPr wrap="square">
            <a:spAutoFit/>
          </a:bodyPr>
          <a:lstStyle/>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5</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、求二叉树高度</a:t>
            </a:r>
            <a:endPar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10" name="文本框 9"/>
          <p:cNvSpPr txBox="1"/>
          <p:nvPr/>
        </p:nvSpPr>
        <p:spPr>
          <a:xfrm>
            <a:off x="570775" y="807863"/>
            <a:ext cx="7853378" cy="1200329"/>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习题：给定一个二叉树，任意两个结点之间必然有一条路径相通的，假定父结点和它的孩子结点的距离为单位</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，求二叉树中相距最远的两个结点间的路径长度。</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5" y="150770"/>
            <a:ext cx="6215281"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6.3.2 </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遍历算法的应用</a:t>
            </a:r>
            <a:endPar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dirty="0"/>
          </a:p>
        </p:txBody>
      </p:sp>
      <p:sp>
        <p:nvSpPr>
          <p:cNvPr id="4" name="文本框 3"/>
          <p:cNvSpPr txBox="1"/>
          <p:nvPr/>
        </p:nvSpPr>
        <p:spPr>
          <a:xfrm>
            <a:off x="708549" y="1210732"/>
            <a:ext cx="8078386" cy="4436536"/>
          </a:xfrm>
          <a:prstGeom prst="rect">
            <a:avLst/>
          </a:prstGeom>
          <a:noFill/>
        </p:spPr>
        <p:txBody>
          <a:bodyPr wrap="square" rtlCol="0">
            <a:spAutoFit/>
          </a:bodyPr>
          <a:lstStyle/>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1</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、输出二叉树中的结点</a:t>
            </a:r>
            <a:endParaRPr lang="en-US" altLang="zh-CN" sz="3200" dirty="0">
              <a:latin typeface="微软雅黑" panose="020B0503020204020204" pitchFamily="34" charset="-122"/>
              <a:ea typeface="微软雅黑" panose="020B0503020204020204" pitchFamily="34" charset="-12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2</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、输出二叉树中的叶子节点</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3、统计叶子结点数目</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4</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、建立二叉链表方式存储的二叉树</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5</a:t>
            </a:r>
            <a:r>
              <a:rPr lang="zh-CN" altLang="en-US" sz="3200" dirty="0">
                <a:latin typeface="微软雅黑" panose="020B0503020204020204" pitchFamily="34" charset="-122"/>
                <a:ea typeface="微软雅黑" panose="020B0503020204020204" pitchFamily="34" charset="-122"/>
                <a:sym typeface="Wingdings" panose="05000000000000000000" pitchFamily="2" charset="2"/>
              </a:rPr>
              <a:t>、求二叉树高度</a:t>
            </a:r>
            <a:endParaRPr lang="zh-CN" altLang="en-US" sz="3200" dirty="0">
              <a:latin typeface="微软雅黑" panose="020B0503020204020204" pitchFamily="34" charset="-122"/>
              <a:ea typeface="微软雅黑" panose="020B0503020204020204" pitchFamily="34" charset="-122"/>
              <a:sym typeface="Wingdings" panose="05000000000000000000" pitchFamily="2" charset="2"/>
            </a:endParaRPr>
          </a:p>
          <a:p>
            <a:pPr algn="l">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6</a:t>
            </a:r>
            <a:r>
              <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、按树状打印的二叉树</a:t>
            </a:r>
            <a:endParaRPr lang="zh-CN" altLang="en-US" sz="32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dirty="0"/>
          </a:p>
        </p:txBody>
      </p:sp>
      <p:sp>
        <p:nvSpPr>
          <p:cNvPr id="7" name="文本框 6"/>
          <p:cNvSpPr txBox="1"/>
          <p:nvPr/>
        </p:nvSpPr>
        <p:spPr>
          <a:xfrm>
            <a:off x="490220" y="-15250"/>
            <a:ext cx="8025130" cy="743986"/>
          </a:xfrm>
          <a:prstGeom prst="rect">
            <a:avLst/>
          </a:prstGeom>
          <a:noFill/>
        </p:spPr>
        <p:txBody>
          <a:bodyPr wrap="square" rtlCol="0">
            <a:spAutoFit/>
          </a:bodyPr>
          <a:lstStyle/>
          <a:p>
            <a:pPr algn="ctr">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rPr>
              <a:t> 6</a:t>
            </a:r>
            <a:r>
              <a:rPr lang="zh-CN" altLang="en-US" sz="3200" dirty="0">
                <a:solidFill>
                  <a:srgbClr val="FF0000"/>
                </a:solidFill>
                <a:latin typeface="微软雅黑" panose="020B0503020204020204" pitchFamily="34" charset="-122"/>
                <a:ea typeface="微软雅黑" panose="020B0503020204020204" pitchFamily="34" charset="-122"/>
              </a:rPr>
              <a:t>、按树状打印二叉树</a:t>
            </a:r>
            <a:r>
              <a:rPr lang="en-US" altLang="zh-CN" sz="3200" dirty="0">
                <a:solidFill>
                  <a:srgbClr val="FF0000"/>
                </a:solidFill>
                <a:latin typeface="微软雅黑" panose="020B0503020204020204" pitchFamily="34" charset="-122"/>
                <a:ea typeface="微软雅黑" panose="020B0503020204020204" pitchFamily="34" charset="-122"/>
              </a:rPr>
              <a:t>   </a:t>
            </a:r>
            <a:endParaRPr lang="en-US" altLang="zh-CN" sz="3200" dirty="0">
              <a:solidFill>
                <a:srgbClr val="FF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67385" y="1003984"/>
            <a:ext cx="7670800" cy="1135054"/>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问题∶二叉树中以二叉链表存储，每个结点所含数据元素均为单字母，要求实现如下图的打印结果。</a:t>
            </a:r>
            <a:endParaRPr lang="zh-CN" altLang="en-US" sz="2400" dirty="0">
              <a:latin typeface="微软雅黑" panose="020B0503020204020204" pitchFamily="34" charset="-122"/>
              <a:ea typeface="微软雅黑" panose="020B0503020204020204" pitchFamily="34" charset="-122"/>
            </a:endParaRPr>
          </a:p>
        </p:txBody>
      </p:sp>
      <p:cxnSp>
        <p:nvCxnSpPr>
          <p:cNvPr id="8" name="直接连接符 7"/>
          <p:cNvCxnSpPr>
            <a:stCxn id="21" idx="2"/>
            <a:endCxn id="22" idx="0"/>
          </p:cNvCxnSpPr>
          <p:nvPr/>
        </p:nvCxnSpPr>
        <p:spPr>
          <a:xfrm>
            <a:off x="899319" y="4092267"/>
            <a:ext cx="759786" cy="45609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23" idx="2"/>
            <a:endCxn id="24" idx="0"/>
          </p:cNvCxnSpPr>
          <p:nvPr/>
        </p:nvCxnSpPr>
        <p:spPr>
          <a:xfrm flipH="1">
            <a:off x="2482716" y="4025940"/>
            <a:ext cx="703474" cy="52242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24" idx="2"/>
            <a:endCxn id="25" idx="0"/>
          </p:cNvCxnSpPr>
          <p:nvPr/>
        </p:nvCxnSpPr>
        <p:spPr>
          <a:xfrm>
            <a:off x="2482716" y="5010029"/>
            <a:ext cx="604440" cy="29720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3702982" y="3767446"/>
            <a:ext cx="861739" cy="461665"/>
          </a:xfrm>
          <a:prstGeom prst="rect">
            <a:avLst/>
          </a:prstGeom>
          <a:noFill/>
        </p:spPr>
        <p:txBody>
          <a:bodyPr wrap="square" rtlCol="0">
            <a:spAutoFit/>
          </a:bodyPr>
          <a:lstStyle/>
          <a:p>
            <a:r>
              <a:rPr lang="zh-CN" altLang="en-US" sz="2400" dirty="0"/>
              <a:t>输出</a:t>
            </a:r>
            <a:endParaRPr lang="zh-CN" altLang="en-US" sz="2400" dirty="0"/>
          </a:p>
        </p:txBody>
      </p:sp>
      <p:cxnSp>
        <p:nvCxnSpPr>
          <p:cNvPr id="16" name="直接连接符 15"/>
          <p:cNvCxnSpPr>
            <a:stCxn id="20" idx="2"/>
            <a:endCxn id="21" idx="3"/>
          </p:cNvCxnSpPr>
          <p:nvPr/>
        </p:nvCxnSpPr>
        <p:spPr>
          <a:xfrm flipH="1">
            <a:off x="1214808" y="3329253"/>
            <a:ext cx="798315" cy="53218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125073" y="3363615"/>
            <a:ext cx="969042" cy="40132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697633" y="2867588"/>
            <a:ext cx="630979" cy="461665"/>
          </a:xfrm>
          <a:prstGeom prst="rect">
            <a:avLst/>
          </a:prstGeom>
          <a:noFill/>
        </p:spPr>
        <p:txBody>
          <a:bodyPr wrap="square" rtlCol="0">
            <a:spAutoFit/>
          </a:bodyPr>
          <a:lstStyle/>
          <a:p>
            <a:pPr algn="ctr"/>
            <a:r>
              <a:rPr lang="en-US" altLang="zh-CN" sz="2400" dirty="0"/>
              <a:t>A</a:t>
            </a:r>
            <a:endParaRPr lang="en-US" altLang="zh-CN" sz="2400" dirty="0"/>
          </a:p>
        </p:txBody>
      </p:sp>
      <p:sp>
        <p:nvSpPr>
          <p:cNvPr id="21" name="文本框 20"/>
          <p:cNvSpPr txBox="1"/>
          <p:nvPr/>
        </p:nvSpPr>
        <p:spPr>
          <a:xfrm>
            <a:off x="583829" y="3630602"/>
            <a:ext cx="630979" cy="461665"/>
          </a:xfrm>
          <a:prstGeom prst="rect">
            <a:avLst/>
          </a:prstGeom>
          <a:noFill/>
        </p:spPr>
        <p:txBody>
          <a:bodyPr wrap="square" rtlCol="0">
            <a:spAutoFit/>
          </a:bodyPr>
          <a:lstStyle/>
          <a:p>
            <a:pPr algn="ctr"/>
            <a:r>
              <a:rPr lang="en-US" altLang="zh-CN" sz="2400" dirty="0"/>
              <a:t>B</a:t>
            </a:r>
            <a:endParaRPr lang="en-US" altLang="zh-CN" sz="2400" dirty="0"/>
          </a:p>
        </p:txBody>
      </p:sp>
      <p:sp>
        <p:nvSpPr>
          <p:cNvPr id="22" name="文本框 21"/>
          <p:cNvSpPr txBox="1"/>
          <p:nvPr/>
        </p:nvSpPr>
        <p:spPr>
          <a:xfrm>
            <a:off x="1343615" y="4548365"/>
            <a:ext cx="630979" cy="461665"/>
          </a:xfrm>
          <a:prstGeom prst="rect">
            <a:avLst/>
          </a:prstGeom>
          <a:noFill/>
        </p:spPr>
        <p:txBody>
          <a:bodyPr wrap="square" rtlCol="0">
            <a:spAutoFit/>
          </a:bodyPr>
          <a:lstStyle/>
          <a:p>
            <a:pPr algn="ctr"/>
            <a:r>
              <a:rPr lang="en-US" altLang="zh-CN" sz="2400" dirty="0"/>
              <a:t>D</a:t>
            </a:r>
            <a:endParaRPr lang="en-US" altLang="zh-CN" sz="2400" dirty="0"/>
          </a:p>
        </p:txBody>
      </p:sp>
      <p:sp>
        <p:nvSpPr>
          <p:cNvPr id="23" name="文本框 22"/>
          <p:cNvSpPr txBox="1"/>
          <p:nvPr/>
        </p:nvSpPr>
        <p:spPr>
          <a:xfrm>
            <a:off x="2870700" y="3564275"/>
            <a:ext cx="630979" cy="461665"/>
          </a:xfrm>
          <a:prstGeom prst="rect">
            <a:avLst/>
          </a:prstGeom>
          <a:noFill/>
        </p:spPr>
        <p:txBody>
          <a:bodyPr wrap="square" rtlCol="0">
            <a:spAutoFit/>
          </a:bodyPr>
          <a:lstStyle/>
          <a:p>
            <a:pPr algn="ctr"/>
            <a:r>
              <a:rPr lang="en-US" altLang="zh-CN" sz="2400" dirty="0"/>
              <a:t>C</a:t>
            </a:r>
            <a:endParaRPr lang="en-US" altLang="zh-CN" sz="2400" dirty="0"/>
          </a:p>
        </p:txBody>
      </p:sp>
      <p:sp>
        <p:nvSpPr>
          <p:cNvPr id="24" name="文本框 23"/>
          <p:cNvSpPr txBox="1"/>
          <p:nvPr/>
        </p:nvSpPr>
        <p:spPr>
          <a:xfrm>
            <a:off x="2167226" y="4548364"/>
            <a:ext cx="630979" cy="461665"/>
          </a:xfrm>
          <a:prstGeom prst="rect">
            <a:avLst/>
          </a:prstGeom>
          <a:noFill/>
        </p:spPr>
        <p:txBody>
          <a:bodyPr wrap="square" rtlCol="0">
            <a:spAutoFit/>
          </a:bodyPr>
          <a:lstStyle/>
          <a:p>
            <a:pPr algn="ctr"/>
            <a:r>
              <a:rPr lang="en-US" altLang="zh-CN" sz="2400" dirty="0"/>
              <a:t>E</a:t>
            </a:r>
            <a:endParaRPr lang="en-US" altLang="zh-CN" sz="2400" dirty="0"/>
          </a:p>
        </p:txBody>
      </p:sp>
      <p:sp>
        <p:nvSpPr>
          <p:cNvPr id="25" name="文本框 24"/>
          <p:cNvSpPr txBox="1"/>
          <p:nvPr/>
        </p:nvSpPr>
        <p:spPr>
          <a:xfrm>
            <a:off x="2771666" y="5307235"/>
            <a:ext cx="630979" cy="461665"/>
          </a:xfrm>
          <a:prstGeom prst="rect">
            <a:avLst/>
          </a:prstGeom>
          <a:noFill/>
        </p:spPr>
        <p:txBody>
          <a:bodyPr wrap="square" rtlCol="0">
            <a:spAutoFit/>
          </a:bodyPr>
          <a:lstStyle/>
          <a:p>
            <a:pPr algn="ctr"/>
            <a:r>
              <a:rPr lang="en-US" altLang="zh-CN" sz="2400" dirty="0"/>
              <a:t>F</a:t>
            </a:r>
            <a:endParaRPr lang="en-US" altLang="zh-CN" sz="2400" dirty="0"/>
          </a:p>
        </p:txBody>
      </p:sp>
      <p:graphicFrame>
        <p:nvGraphicFramePr>
          <p:cNvPr id="36" name="表格 36"/>
          <p:cNvGraphicFramePr>
            <a:graphicFrameLocks noGrp="1"/>
          </p:cNvGraphicFramePr>
          <p:nvPr/>
        </p:nvGraphicFramePr>
        <p:xfrm>
          <a:off x="4672645" y="2804128"/>
          <a:ext cx="3239605" cy="3200400"/>
        </p:xfrm>
        <a:graphic>
          <a:graphicData uri="http://schemas.openxmlformats.org/drawingml/2006/table">
            <a:tbl>
              <a:tblPr firstRow="1" bandRow="1">
                <a:tableStyleId>{5940675A-B579-460E-94D1-54222C63F5DA}</a:tableStyleId>
              </a:tblPr>
              <a:tblGrid>
                <a:gridCol w="647921"/>
                <a:gridCol w="647921"/>
                <a:gridCol w="647921"/>
                <a:gridCol w="647921"/>
                <a:gridCol w="647921"/>
              </a:tblGrid>
              <a:tr h="370840">
                <a:tc>
                  <a:txBody>
                    <a:bodyPr/>
                    <a:lstStyle/>
                    <a:p>
                      <a:endParaRPr lang="zh-CN" altLang="en-US" sz="2400"/>
                    </a:p>
                  </a:txBody>
                  <a:tcPr/>
                </a:tc>
                <a:tc>
                  <a:txBody>
                    <a:bodyPr/>
                    <a:lstStyle/>
                    <a:p>
                      <a:r>
                        <a:rPr lang="en-US" altLang="zh-CN" sz="2400" dirty="0"/>
                        <a:t>C</a:t>
                      </a:r>
                      <a:endParaRPr lang="zh-CN" altLang="en-US" sz="2400" dirty="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r>
              <a:tr h="370840">
                <a:tc>
                  <a:txBody>
                    <a:bodyPr/>
                    <a:lstStyle/>
                    <a:p>
                      <a:endParaRPr lang="zh-CN" altLang="en-US" sz="2400"/>
                    </a:p>
                  </a:txBody>
                  <a:tcPr/>
                </a:tc>
                <a:tc>
                  <a:txBody>
                    <a:bodyPr/>
                    <a:lstStyle/>
                    <a:p>
                      <a:endParaRPr lang="zh-CN" altLang="en-US" sz="2400"/>
                    </a:p>
                  </a:txBody>
                  <a:tcPr/>
                </a:tc>
                <a:tc>
                  <a:txBody>
                    <a:bodyPr/>
                    <a:lstStyle/>
                    <a:p>
                      <a:endParaRPr lang="zh-CN" altLang="en-US" sz="2400" dirty="0"/>
                    </a:p>
                  </a:txBody>
                  <a:tcPr/>
                </a:tc>
                <a:tc>
                  <a:txBody>
                    <a:bodyPr/>
                    <a:lstStyle/>
                    <a:p>
                      <a:r>
                        <a:rPr lang="en-US" altLang="zh-CN" sz="2400" dirty="0"/>
                        <a:t>F</a:t>
                      </a:r>
                      <a:endParaRPr lang="zh-CN" altLang="en-US" sz="2400" dirty="0"/>
                    </a:p>
                  </a:txBody>
                  <a:tcPr/>
                </a:tc>
                <a:tc>
                  <a:txBody>
                    <a:bodyPr/>
                    <a:lstStyle/>
                    <a:p>
                      <a:endParaRPr lang="zh-CN" altLang="en-US" sz="2400"/>
                    </a:p>
                  </a:txBody>
                  <a:tcPr/>
                </a:tc>
              </a:tr>
              <a:tr h="370840">
                <a:tc>
                  <a:txBody>
                    <a:bodyPr/>
                    <a:lstStyle/>
                    <a:p>
                      <a:endParaRPr lang="zh-CN" altLang="en-US" sz="2400" dirty="0"/>
                    </a:p>
                  </a:txBody>
                  <a:tcPr/>
                </a:tc>
                <a:tc>
                  <a:txBody>
                    <a:bodyPr/>
                    <a:lstStyle/>
                    <a:p>
                      <a:endParaRPr lang="zh-CN" altLang="en-US" sz="2400"/>
                    </a:p>
                  </a:txBody>
                  <a:tcPr/>
                </a:tc>
                <a:tc>
                  <a:txBody>
                    <a:bodyPr/>
                    <a:lstStyle/>
                    <a:p>
                      <a:r>
                        <a:rPr lang="en-US" altLang="zh-CN" sz="2400" dirty="0"/>
                        <a:t>E</a:t>
                      </a:r>
                      <a:endParaRPr lang="zh-CN" altLang="en-US" sz="2400" dirty="0"/>
                    </a:p>
                  </a:txBody>
                  <a:tcPr/>
                </a:tc>
                <a:tc>
                  <a:txBody>
                    <a:bodyPr/>
                    <a:lstStyle/>
                    <a:p>
                      <a:endParaRPr lang="zh-CN" altLang="en-US" sz="2400"/>
                    </a:p>
                  </a:txBody>
                  <a:tcPr/>
                </a:tc>
                <a:tc>
                  <a:txBody>
                    <a:bodyPr/>
                    <a:lstStyle/>
                    <a:p>
                      <a:endParaRPr lang="zh-CN" altLang="en-US" sz="2400"/>
                    </a:p>
                  </a:txBody>
                  <a:tcPr/>
                </a:tc>
              </a:tr>
              <a:tr h="370840">
                <a:tc>
                  <a:txBody>
                    <a:bodyPr/>
                    <a:lstStyle/>
                    <a:p>
                      <a:r>
                        <a:rPr lang="en-US" altLang="zh-CN" sz="2400" dirty="0"/>
                        <a:t>A</a:t>
                      </a:r>
                      <a:endParaRPr lang="zh-CN" altLang="en-US" sz="2400" dirty="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r>
              <a:tr h="370840">
                <a:tc>
                  <a:txBody>
                    <a:bodyPr/>
                    <a:lstStyle/>
                    <a:p>
                      <a:endParaRPr lang="zh-CN" altLang="en-US" sz="2400"/>
                    </a:p>
                  </a:txBody>
                  <a:tcPr/>
                </a:tc>
                <a:tc>
                  <a:txBody>
                    <a:bodyPr/>
                    <a:lstStyle/>
                    <a:p>
                      <a:endParaRPr lang="zh-CN" altLang="en-US" sz="2400" dirty="0"/>
                    </a:p>
                  </a:txBody>
                  <a:tcPr/>
                </a:tc>
                <a:tc>
                  <a:txBody>
                    <a:bodyPr/>
                    <a:lstStyle/>
                    <a:p>
                      <a:r>
                        <a:rPr lang="en-US" altLang="zh-CN" sz="2400" dirty="0"/>
                        <a:t>D</a:t>
                      </a:r>
                      <a:endParaRPr lang="zh-CN" altLang="en-US" sz="2400" dirty="0"/>
                    </a:p>
                  </a:txBody>
                  <a:tcPr/>
                </a:tc>
                <a:tc>
                  <a:txBody>
                    <a:bodyPr/>
                    <a:lstStyle/>
                    <a:p>
                      <a:endParaRPr lang="zh-CN" altLang="en-US" sz="2400"/>
                    </a:p>
                  </a:txBody>
                  <a:tcPr/>
                </a:tc>
                <a:tc>
                  <a:txBody>
                    <a:bodyPr/>
                    <a:lstStyle/>
                    <a:p>
                      <a:endParaRPr lang="zh-CN" altLang="en-US" sz="2400"/>
                    </a:p>
                  </a:txBody>
                  <a:tcPr/>
                </a:tc>
              </a:tr>
              <a:tr h="370840">
                <a:tc>
                  <a:txBody>
                    <a:bodyPr/>
                    <a:lstStyle/>
                    <a:p>
                      <a:endParaRPr lang="zh-CN" altLang="en-US" sz="240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altLang="zh-CN" sz="2400" dirty="0"/>
                        <a:t>B</a:t>
                      </a:r>
                      <a:endParaRPr lang="zh-CN" altLang="en-US" sz="2400" dirty="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r>
              <a:tr h="370840">
                <a:tc>
                  <a:txBody>
                    <a:bodyPr/>
                    <a:lstStyle/>
                    <a:p>
                      <a:endParaRPr lang="zh-CN" altLang="en-US" sz="2400" dirty="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dirty="0"/>
                    </a:p>
                  </a:txBody>
                  <a:tcPr/>
                </a:tc>
              </a:tr>
            </a:tbl>
          </a:graphicData>
        </a:graphic>
      </p:graphicFrame>
      <p:sp>
        <p:nvSpPr>
          <p:cNvPr id="4" name="文本框 3"/>
          <p:cNvSpPr txBox="1"/>
          <p:nvPr/>
        </p:nvSpPr>
        <p:spPr>
          <a:xfrm>
            <a:off x="1459124" y="6169581"/>
            <a:ext cx="1210588" cy="400110"/>
          </a:xfrm>
          <a:prstGeom prst="rect">
            <a:avLst/>
          </a:prstGeom>
          <a:noFill/>
        </p:spPr>
        <p:txBody>
          <a:bodyPr wrap="none" rtlCol="0">
            <a:spAutoFit/>
          </a:bodyPr>
          <a:lstStyle/>
          <a:p>
            <a:r>
              <a:rPr lang="zh-CN" altLang="en-US" sz="2000" dirty="0"/>
              <a:t>竖向显示</a:t>
            </a:r>
            <a:endParaRPr lang="zh-CN" altLang="en-US" sz="2000" dirty="0"/>
          </a:p>
        </p:txBody>
      </p:sp>
      <p:sp>
        <p:nvSpPr>
          <p:cNvPr id="19" name="文本框 18"/>
          <p:cNvSpPr txBox="1"/>
          <p:nvPr/>
        </p:nvSpPr>
        <p:spPr>
          <a:xfrm>
            <a:off x="5939466" y="6169581"/>
            <a:ext cx="1210588" cy="400110"/>
          </a:xfrm>
          <a:prstGeom prst="rect">
            <a:avLst/>
          </a:prstGeom>
          <a:noFill/>
        </p:spPr>
        <p:txBody>
          <a:bodyPr wrap="none" rtlCol="0">
            <a:spAutoFit/>
          </a:bodyPr>
          <a:lstStyle/>
          <a:p>
            <a:r>
              <a:rPr lang="zh-CN" altLang="en-US" sz="2000" dirty="0"/>
              <a:t>横向显示</a:t>
            </a:r>
            <a:endParaRPr lang="zh-CN" alt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 name="文本框 1"/>
          <p:cNvSpPr txBox="1"/>
          <p:nvPr/>
        </p:nvSpPr>
        <p:spPr>
          <a:xfrm>
            <a:off x="667385" y="799637"/>
            <a:ext cx="7670800" cy="87440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问题∶二叉树中以二叉链表存储，每个结点所含数据元素均为单字母，要求实现如下图的打印结果。</a:t>
            </a:r>
            <a:endParaRPr lang="zh-CN" altLang="en-US"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490220" y="-15250"/>
            <a:ext cx="8025130" cy="743986"/>
          </a:xfrm>
          <a:prstGeom prst="rect">
            <a:avLst/>
          </a:prstGeom>
          <a:noFill/>
        </p:spPr>
        <p:txBody>
          <a:bodyPr wrap="square" rtlCol="0">
            <a:spAutoFit/>
          </a:bodyPr>
          <a:lstStyle/>
          <a:p>
            <a:pPr algn="ctr">
              <a:lnSpc>
                <a:spcPct val="150000"/>
              </a:lnSpc>
            </a:pPr>
            <a:r>
              <a:rPr lang="en-US" altLang="zh-CN" sz="3200" dirty="0">
                <a:solidFill>
                  <a:srgbClr val="FF0000"/>
                </a:solidFill>
                <a:latin typeface="微软雅黑" panose="020B0503020204020204" pitchFamily="34" charset="-122"/>
                <a:ea typeface="微软雅黑" panose="020B0503020204020204" pitchFamily="34" charset="-122"/>
              </a:rPr>
              <a:t> 6</a:t>
            </a:r>
            <a:r>
              <a:rPr lang="zh-CN" altLang="en-US" sz="3200" dirty="0">
                <a:solidFill>
                  <a:srgbClr val="FF0000"/>
                </a:solidFill>
                <a:latin typeface="微软雅黑" panose="020B0503020204020204" pitchFamily="34" charset="-122"/>
                <a:ea typeface="微软雅黑" panose="020B0503020204020204" pitchFamily="34" charset="-122"/>
              </a:rPr>
              <a:t>、按树状打印二叉树</a:t>
            </a:r>
            <a:r>
              <a:rPr lang="en-US" altLang="zh-CN" sz="3200" dirty="0">
                <a:solidFill>
                  <a:srgbClr val="FF0000"/>
                </a:solidFill>
                <a:latin typeface="微软雅黑" panose="020B0503020204020204" pitchFamily="34" charset="-122"/>
                <a:ea typeface="微软雅黑" panose="020B0503020204020204" pitchFamily="34" charset="-122"/>
              </a:rPr>
              <a:t>   </a:t>
            </a:r>
            <a:endParaRPr lang="en-US" altLang="zh-CN" sz="3200" dirty="0">
              <a:solidFill>
                <a:srgbClr val="FF0000"/>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624996" y="4261936"/>
            <a:ext cx="8228334" cy="2308324"/>
          </a:xfrm>
          <a:prstGeom prst="rect">
            <a:avLst/>
          </a:prstGeom>
          <a:noFill/>
        </p:spPr>
        <p:txBody>
          <a:bodyPr wrap="square" rtlCol="0">
            <a:spAutoFit/>
          </a:bodyPr>
          <a:lstStyle/>
          <a:p>
            <a:r>
              <a:rPr lang="zh-CN" altLang="en-US" dirty="0"/>
              <a:t>分析∶（</a:t>
            </a:r>
            <a:r>
              <a:rPr lang="en-US" altLang="zh-CN" dirty="0"/>
              <a:t>1</a:t>
            </a:r>
            <a:r>
              <a:rPr lang="zh-CN" altLang="en-US" dirty="0"/>
              <a:t>）二叉树的横向显示应该是竖向显示的</a:t>
            </a:r>
            <a:r>
              <a:rPr lang="en-US" altLang="zh-CN" dirty="0"/>
              <a:t>90</a:t>
            </a:r>
            <a:r>
              <a:rPr lang="zh-CN" altLang="en-US" dirty="0"/>
              <a:t>度旋转，从上图可以看出这种打印顺序为先打印右子树，再打印根，再打印左子树，按由上到下的顺序看，打印顺序为：  </a:t>
            </a:r>
            <a:r>
              <a:rPr lang="en-US" altLang="zh-CN" dirty="0"/>
              <a:t>CFEADB  </a:t>
            </a:r>
            <a:r>
              <a:rPr lang="zh-CN" altLang="en-US" dirty="0"/>
              <a:t>， 这恰为  逆中序顺序 （</a:t>
            </a:r>
            <a:r>
              <a:rPr lang="en-US" altLang="zh-CN" dirty="0"/>
              <a:t>RDL</a:t>
            </a:r>
            <a:r>
              <a:rPr lang="zh-CN" altLang="en-US" dirty="0"/>
              <a:t>），解决二叉树的横向显示问题转化为采用 </a:t>
            </a:r>
            <a:r>
              <a:rPr lang="zh-CN" altLang="en-US" dirty="0">
                <a:solidFill>
                  <a:srgbClr val="FF0000"/>
                </a:solidFill>
              </a:rPr>
              <a:t>“逆中序”遍历框架</a:t>
            </a:r>
            <a:r>
              <a:rPr lang="zh-CN" altLang="en-US" dirty="0"/>
              <a:t>。</a:t>
            </a:r>
            <a:endParaRPr lang="en-US" altLang="zh-CN" dirty="0"/>
          </a:p>
          <a:p>
            <a:endParaRPr lang="en-US" altLang="zh-CN" dirty="0"/>
          </a:p>
          <a:p>
            <a:r>
              <a:rPr lang="zh-CN" altLang="en-US" dirty="0"/>
              <a:t>（</a:t>
            </a:r>
            <a:r>
              <a:rPr lang="en-US" altLang="zh-CN" dirty="0"/>
              <a:t>2</a:t>
            </a:r>
            <a:r>
              <a:rPr lang="zh-CN" altLang="en-US" dirty="0"/>
              <a:t>）在这种输出格式中，结点的左右位置与结点的层深有关，故在算法中设置了一个</a:t>
            </a:r>
            <a:r>
              <a:rPr lang="zh-CN" altLang="en-US" dirty="0">
                <a:solidFill>
                  <a:srgbClr val="FF0000"/>
                </a:solidFill>
              </a:rPr>
              <a:t>表示当前根节点层深的参数</a:t>
            </a:r>
            <a:r>
              <a:rPr lang="zh-CN" altLang="en-US" dirty="0"/>
              <a:t>，以控制输出点的左右位置，每当递归进层时层深参数加</a:t>
            </a:r>
            <a:r>
              <a:rPr lang="en-US" altLang="zh-CN" dirty="0"/>
              <a:t>1</a:t>
            </a:r>
            <a:r>
              <a:rPr lang="zh-CN" altLang="en-US" dirty="0"/>
              <a:t>。</a:t>
            </a:r>
            <a:endParaRPr lang="en-US" altLang="zh-CN" dirty="0"/>
          </a:p>
        </p:txBody>
      </p:sp>
      <p:pic>
        <p:nvPicPr>
          <p:cNvPr id="6" name="图片 5"/>
          <p:cNvPicPr>
            <a:picLocks noChangeAspect="1"/>
          </p:cNvPicPr>
          <p:nvPr/>
        </p:nvPicPr>
        <p:blipFill>
          <a:blip r:embed="rId1"/>
          <a:stretch>
            <a:fillRect/>
          </a:stretch>
        </p:blipFill>
        <p:spPr>
          <a:xfrm>
            <a:off x="2176397" y="1674044"/>
            <a:ext cx="4791205" cy="25544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5" y="150770"/>
            <a:ext cx="6215281" cy="583565"/>
          </a:xfrm>
          <a:prstGeom prst="rect">
            <a:avLst/>
          </a:prstGeom>
          <a:noFill/>
        </p:spPr>
        <p:txBody>
          <a:bodyPr wrap="square">
            <a:spAutoFit/>
          </a:bodyPr>
          <a:lstStyle/>
          <a:p>
            <a:r>
              <a:rPr lang="en-US" altLang="zh-CN" sz="32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6.3.2</a:t>
            </a:r>
            <a:r>
              <a:rPr lang="zh-CN" altLang="en-US" sz="32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遍历算法的应用</a:t>
            </a:r>
            <a:endParaRPr lang="zh-CN" altLang="en-US" sz="3200" dirty="0">
              <a:solidFill>
                <a:schemeClr val="bg1"/>
              </a:solidFill>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16" name="文本框 15"/>
          <p:cNvSpPr txBox="1"/>
          <p:nvPr/>
        </p:nvSpPr>
        <p:spPr>
          <a:xfrm>
            <a:off x="883085" y="1183625"/>
            <a:ext cx="5466080" cy="829945"/>
          </a:xfrm>
          <a:prstGeom prst="rect">
            <a:avLst/>
          </a:prstGeom>
          <a:noFill/>
        </p:spPr>
        <p:txBody>
          <a:bodyPr wrap="none" rtlCol="0">
            <a:spAutoFit/>
          </a:bodyPr>
          <a:lstStyle/>
          <a:p>
            <a:pPr>
              <a:lnSpc>
                <a:spcPct val="150000"/>
              </a:lnSpc>
            </a:pPr>
            <a:r>
              <a:rPr lang="zh-CN" altLang="en-US" sz="3200" dirty="0">
                <a:latin typeface="微软雅黑" panose="020B0503020204020204" pitchFamily="34" charset="-122"/>
                <a:ea typeface="微软雅黑" panose="020B0503020204020204" pitchFamily="34" charset="-122"/>
              </a:rPr>
              <a:t>逆中序遍历实现横向树状打印</a:t>
            </a:r>
            <a:endParaRPr lang="zh-CN" altLang="en-US" sz="3200"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3932130" y="2179677"/>
            <a:ext cx="4497306" cy="369252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void Prin</a:t>
            </a:r>
            <a:r>
              <a:rPr lang="en-US" altLang="zh-CN"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Tre</a:t>
            </a:r>
            <a:r>
              <a:rPr lang="en-US" altLang="zh-CN" dirty="0">
                <a:latin typeface="微软雅黑" panose="020B0503020204020204" pitchFamily="34" charset="-122"/>
                <a:ea typeface="微软雅黑" panose="020B0503020204020204" pitchFamily="34" charset="-122"/>
              </a:rPr>
              <a:t>e</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Bi</a:t>
            </a:r>
            <a:r>
              <a:rPr lang="zh-CN" altLang="en-US" dirty="0">
                <a:latin typeface="微软雅黑" panose="020B0503020204020204" pitchFamily="34" charset="-122"/>
                <a:ea typeface="微软雅黑" panose="020B0503020204020204" pitchFamily="34" charset="-122"/>
              </a:rPr>
              <a:t>T</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ee </a:t>
            </a:r>
            <a:r>
              <a:rPr lang="en-US" altLang="zh-CN" dirty="0" err="1">
                <a:latin typeface="微软雅黑" panose="020B0503020204020204" pitchFamily="34" charset="-122"/>
                <a:ea typeface="微软雅黑" panose="020B0503020204020204" pitchFamily="34" charset="-122"/>
              </a:rPr>
              <a:t>bt</a:t>
            </a:r>
            <a:r>
              <a:rPr lang="zh-CN" altLang="en-US" dirty="0">
                <a:latin typeface="微软雅黑" panose="020B0503020204020204" pitchFamily="34" charset="-122"/>
                <a:ea typeface="微软雅黑" panose="020B0503020204020204" pitchFamily="34" charset="-122"/>
              </a:rPr>
              <a:t>, int </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Layer)</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按竖向树状打印的二叉树*/</a:t>
            </a: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if(</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t==NULL)</a:t>
            </a: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return;</a:t>
            </a:r>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PrintTree(Boot&gt;RChi</a:t>
            </a:r>
            <a:r>
              <a:rPr lang="en-US" altLang="zh-CN" dirty="0">
                <a:latin typeface="微软雅黑" panose="020B0503020204020204" pitchFamily="34" charset="-122"/>
                <a:ea typeface="微软雅黑" panose="020B0503020204020204" pitchFamily="34" charset="-122"/>
              </a:rPr>
              <a:t>l</a:t>
            </a:r>
            <a:r>
              <a:rPr lang="zh-CN" altLang="en-US" dirty="0">
                <a:latin typeface="微软雅黑" panose="020B0503020204020204" pitchFamily="34" charset="-122"/>
                <a:ea typeface="微软雅黑" panose="020B0503020204020204" pitchFamily="34" charset="-122"/>
              </a:rPr>
              <a:t>d,nLayer+1);</a:t>
            </a:r>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for( int i=0;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&lt;</a:t>
            </a:r>
            <a:r>
              <a:rPr lang="zh-CN" altLang="en-US" dirty="0">
                <a:latin typeface="微软雅黑" panose="020B0503020204020204" pitchFamily="34" charset="-122"/>
                <a:ea typeface="微软雅黑" panose="020B0503020204020204" pitchFamily="34" charset="-122"/>
              </a:rPr>
              <a:t>nLayer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i++)</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prin</a:t>
            </a:r>
            <a:r>
              <a:rPr lang="en-US" altLang="zh-CN"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f(“ ”):</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p</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t</a:t>
            </a:r>
            <a:r>
              <a:rPr lang="en-US" altLang="zh-CN" dirty="0">
                <a:latin typeface="微软雅黑" panose="020B0503020204020204" pitchFamily="34" charset="-122"/>
                <a:ea typeface="微软雅黑" panose="020B0503020204020204" pitchFamily="34" charset="-122"/>
              </a:rPr>
              <a:t>f</a:t>
            </a:r>
            <a:r>
              <a:rPr lang="zh-CN" altLang="en-US" dirty="0">
                <a:latin typeface="微软雅黑" panose="020B0503020204020204" pitchFamily="34" charset="-122"/>
                <a:ea typeface="微软雅黑" panose="020B0503020204020204" pitchFamily="34" charset="-122"/>
              </a:rPr>
              <a:t>(“%c</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n",</a:t>
            </a:r>
            <a:r>
              <a:rPr lang="en-US" altLang="zh-CN" dirty="0" err="1">
                <a:latin typeface="微软雅黑" panose="020B0503020204020204" pitchFamily="34" charset="-122"/>
                <a:ea typeface="微软雅黑" panose="020B0503020204020204" pitchFamily="34" charset="-122"/>
              </a:rPr>
              <a:t>bt</a:t>
            </a:r>
            <a:r>
              <a:rPr lang="en-US" altLang="zh-CN" dirty="0">
                <a:latin typeface="微软雅黑" panose="020B0503020204020204" pitchFamily="34" charset="-122"/>
                <a:ea typeface="微软雅黑" panose="020B0503020204020204" pitchFamily="34" charset="-122"/>
              </a:rPr>
              <a:t>-&gt;data</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PrintTree(</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oot&gt;LChi</a:t>
            </a:r>
            <a:r>
              <a:rPr lang="en-US" altLang="zh-CN" dirty="0">
                <a:latin typeface="微软雅黑" panose="020B0503020204020204" pitchFamily="34" charset="-122"/>
                <a:ea typeface="微软雅黑" panose="020B0503020204020204" pitchFamily="34" charset="-122"/>
              </a:rPr>
              <a:t>l</a:t>
            </a:r>
            <a:r>
              <a:rPr lang="zh-CN" altLang="en-US" dirty="0">
                <a:latin typeface="微软雅黑" panose="020B0503020204020204" pitchFamily="34" charset="-122"/>
                <a:ea typeface="微软雅黑" panose="020B0503020204020204" pitchFamily="34" charset="-122"/>
              </a:rPr>
              <a:t>d,nLayer+1);</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cxnSp>
        <p:nvCxnSpPr>
          <p:cNvPr id="20" name="直接连接符 19"/>
          <p:cNvCxnSpPr>
            <a:stCxn id="26" idx="2"/>
            <a:endCxn id="27" idx="0"/>
          </p:cNvCxnSpPr>
          <p:nvPr/>
        </p:nvCxnSpPr>
        <p:spPr>
          <a:xfrm>
            <a:off x="899319" y="4092267"/>
            <a:ext cx="759786" cy="45609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28" idx="2"/>
            <a:endCxn id="29" idx="0"/>
          </p:cNvCxnSpPr>
          <p:nvPr/>
        </p:nvCxnSpPr>
        <p:spPr>
          <a:xfrm flipH="1">
            <a:off x="2482716" y="4025940"/>
            <a:ext cx="703474" cy="52242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29" idx="2"/>
            <a:endCxn id="30" idx="0"/>
          </p:cNvCxnSpPr>
          <p:nvPr/>
        </p:nvCxnSpPr>
        <p:spPr>
          <a:xfrm>
            <a:off x="2482716" y="5010029"/>
            <a:ext cx="604440" cy="29720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5" idx="2"/>
            <a:endCxn id="26" idx="3"/>
          </p:cNvCxnSpPr>
          <p:nvPr/>
        </p:nvCxnSpPr>
        <p:spPr>
          <a:xfrm flipH="1">
            <a:off x="1214808" y="3329253"/>
            <a:ext cx="798315" cy="53218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2125073" y="3363615"/>
            <a:ext cx="969042" cy="40132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1697633" y="2867588"/>
            <a:ext cx="630979" cy="461665"/>
          </a:xfrm>
          <a:prstGeom prst="rect">
            <a:avLst/>
          </a:prstGeom>
          <a:noFill/>
        </p:spPr>
        <p:txBody>
          <a:bodyPr wrap="square" rtlCol="0">
            <a:spAutoFit/>
          </a:bodyPr>
          <a:lstStyle/>
          <a:p>
            <a:pPr algn="ctr"/>
            <a:r>
              <a:rPr lang="en-US" altLang="zh-CN" sz="2400" dirty="0"/>
              <a:t>A</a:t>
            </a:r>
            <a:endParaRPr lang="en-US" altLang="zh-CN" sz="2400" dirty="0"/>
          </a:p>
        </p:txBody>
      </p:sp>
      <p:sp>
        <p:nvSpPr>
          <p:cNvPr id="26" name="文本框 25"/>
          <p:cNvSpPr txBox="1"/>
          <p:nvPr/>
        </p:nvSpPr>
        <p:spPr>
          <a:xfrm>
            <a:off x="583829" y="3630602"/>
            <a:ext cx="630979" cy="461665"/>
          </a:xfrm>
          <a:prstGeom prst="rect">
            <a:avLst/>
          </a:prstGeom>
          <a:noFill/>
        </p:spPr>
        <p:txBody>
          <a:bodyPr wrap="square" rtlCol="0">
            <a:spAutoFit/>
          </a:bodyPr>
          <a:lstStyle/>
          <a:p>
            <a:pPr algn="ctr"/>
            <a:r>
              <a:rPr lang="en-US" altLang="zh-CN" sz="2400" dirty="0"/>
              <a:t>B</a:t>
            </a:r>
            <a:endParaRPr lang="en-US" altLang="zh-CN" sz="2400" dirty="0"/>
          </a:p>
        </p:txBody>
      </p:sp>
      <p:sp>
        <p:nvSpPr>
          <p:cNvPr id="27" name="文本框 26"/>
          <p:cNvSpPr txBox="1"/>
          <p:nvPr/>
        </p:nvSpPr>
        <p:spPr>
          <a:xfrm>
            <a:off x="1343615" y="4548365"/>
            <a:ext cx="630979" cy="461665"/>
          </a:xfrm>
          <a:prstGeom prst="rect">
            <a:avLst/>
          </a:prstGeom>
          <a:noFill/>
        </p:spPr>
        <p:txBody>
          <a:bodyPr wrap="square" rtlCol="0">
            <a:spAutoFit/>
          </a:bodyPr>
          <a:lstStyle/>
          <a:p>
            <a:pPr algn="ctr"/>
            <a:r>
              <a:rPr lang="en-US" altLang="zh-CN" sz="2400" dirty="0"/>
              <a:t>D</a:t>
            </a:r>
            <a:endParaRPr lang="en-US" altLang="zh-CN" sz="2400" dirty="0"/>
          </a:p>
        </p:txBody>
      </p:sp>
      <p:sp>
        <p:nvSpPr>
          <p:cNvPr id="28" name="文本框 27"/>
          <p:cNvSpPr txBox="1"/>
          <p:nvPr/>
        </p:nvSpPr>
        <p:spPr>
          <a:xfrm>
            <a:off x="2870700" y="3564275"/>
            <a:ext cx="630979" cy="461665"/>
          </a:xfrm>
          <a:prstGeom prst="rect">
            <a:avLst/>
          </a:prstGeom>
          <a:noFill/>
        </p:spPr>
        <p:txBody>
          <a:bodyPr wrap="square" rtlCol="0">
            <a:spAutoFit/>
          </a:bodyPr>
          <a:lstStyle/>
          <a:p>
            <a:pPr algn="ctr"/>
            <a:r>
              <a:rPr lang="en-US" altLang="zh-CN" sz="2400" dirty="0"/>
              <a:t>C</a:t>
            </a:r>
            <a:endParaRPr lang="en-US" altLang="zh-CN" sz="2400" dirty="0"/>
          </a:p>
        </p:txBody>
      </p:sp>
      <p:sp>
        <p:nvSpPr>
          <p:cNvPr id="29" name="文本框 28"/>
          <p:cNvSpPr txBox="1"/>
          <p:nvPr/>
        </p:nvSpPr>
        <p:spPr>
          <a:xfrm>
            <a:off x="2167226" y="4548364"/>
            <a:ext cx="630979" cy="461665"/>
          </a:xfrm>
          <a:prstGeom prst="rect">
            <a:avLst/>
          </a:prstGeom>
          <a:noFill/>
        </p:spPr>
        <p:txBody>
          <a:bodyPr wrap="square" rtlCol="0">
            <a:spAutoFit/>
          </a:bodyPr>
          <a:lstStyle/>
          <a:p>
            <a:pPr algn="ctr"/>
            <a:r>
              <a:rPr lang="en-US" altLang="zh-CN" sz="2400" dirty="0"/>
              <a:t>E</a:t>
            </a:r>
            <a:endParaRPr lang="en-US" altLang="zh-CN" sz="2400" dirty="0"/>
          </a:p>
        </p:txBody>
      </p:sp>
      <p:sp>
        <p:nvSpPr>
          <p:cNvPr id="30" name="文本框 29"/>
          <p:cNvSpPr txBox="1"/>
          <p:nvPr/>
        </p:nvSpPr>
        <p:spPr>
          <a:xfrm>
            <a:off x="2771666" y="5307235"/>
            <a:ext cx="630979" cy="461665"/>
          </a:xfrm>
          <a:prstGeom prst="rect">
            <a:avLst/>
          </a:prstGeom>
          <a:noFill/>
        </p:spPr>
        <p:txBody>
          <a:bodyPr wrap="square" rtlCol="0">
            <a:spAutoFit/>
          </a:bodyPr>
          <a:lstStyle/>
          <a:p>
            <a:pPr algn="ctr"/>
            <a:r>
              <a:rPr lang="en-US" altLang="zh-CN" sz="2400" dirty="0"/>
              <a:t>F</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1500" fill="hold"/>
                                        <p:tgtEl>
                                          <p:spTgt spid="18">
                                            <p:txEl>
                                              <p:pRg st="7" end="7"/>
                                            </p:txEl>
                                          </p:spTgt>
                                        </p:tgtEl>
                                        <p:attrNameLst>
                                          <p:attrName>style.color</p:attrName>
                                        </p:attrNameLst>
                                      </p:cBhvr>
                                      <p:to>
                                        <a:srgbClr val="FF0000"/>
                                      </p:to>
                                    </p:animClr>
                                    <p:animClr clrSpc="rgb" dir="cw">
                                      <p:cBhvr>
                                        <p:cTn id="7" dur="1500" fill="hold"/>
                                        <p:tgtEl>
                                          <p:spTgt spid="18">
                                            <p:txEl>
                                              <p:pRg st="7" end="7"/>
                                            </p:txEl>
                                          </p:spTgt>
                                        </p:tgtEl>
                                        <p:attrNameLst>
                                          <p:attrName>fillcolor</p:attrName>
                                        </p:attrNameLst>
                                      </p:cBhvr>
                                      <p:to>
                                        <a:srgbClr val="FF0000"/>
                                      </p:to>
                                    </p:animClr>
                                    <p:set>
                                      <p:cBhvr>
                                        <p:cTn id="8" dur="1500" fill="hold"/>
                                        <p:tgtEl>
                                          <p:spTgt spid="18">
                                            <p:txEl>
                                              <p:pRg st="7" end="7"/>
                                            </p:txEl>
                                          </p:spTgt>
                                        </p:tgtEl>
                                        <p:attrNameLst>
                                          <p:attrName>fill.type</p:attrName>
                                        </p:attrNameLst>
                                      </p:cBhvr>
                                      <p:to>
                                        <p:strVal val="solid"/>
                                      </p:to>
                                    </p:set>
                                    <p:set>
                                      <p:cBhvr>
                                        <p:cTn id="9" dur="1500" fill="hold"/>
                                        <p:tgtEl>
                                          <p:spTgt spid="18">
                                            <p:txEl>
                                              <p:pRg st="7" end="7"/>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1500" fill="hold"/>
                                        <p:tgtEl>
                                          <p:spTgt spid="18">
                                            <p:txEl>
                                              <p:pRg st="8" end="8"/>
                                            </p:txEl>
                                          </p:spTgt>
                                        </p:tgtEl>
                                        <p:attrNameLst>
                                          <p:attrName>style.color</p:attrName>
                                        </p:attrNameLst>
                                      </p:cBhvr>
                                      <p:to>
                                        <a:srgbClr val="FF0000"/>
                                      </p:to>
                                    </p:animClr>
                                    <p:animClr clrSpc="rgb" dir="cw">
                                      <p:cBhvr>
                                        <p:cTn id="12" dur="1500" fill="hold"/>
                                        <p:tgtEl>
                                          <p:spTgt spid="18">
                                            <p:txEl>
                                              <p:pRg st="8" end="8"/>
                                            </p:txEl>
                                          </p:spTgt>
                                        </p:tgtEl>
                                        <p:attrNameLst>
                                          <p:attrName>fillcolor</p:attrName>
                                        </p:attrNameLst>
                                      </p:cBhvr>
                                      <p:to>
                                        <a:srgbClr val="FF0000"/>
                                      </p:to>
                                    </p:animClr>
                                    <p:set>
                                      <p:cBhvr>
                                        <p:cTn id="13" dur="1500" fill="hold"/>
                                        <p:tgtEl>
                                          <p:spTgt spid="18">
                                            <p:txEl>
                                              <p:pRg st="8" end="8"/>
                                            </p:txEl>
                                          </p:spTgt>
                                        </p:tgtEl>
                                        <p:attrNameLst>
                                          <p:attrName>fill.type</p:attrName>
                                        </p:attrNameLst>
                                      </p:cBhvr>
                                      <p:to>
                                        <p:strVal val="solid"/>
                                      </p:to>
                                    </p:set>
                                    <p:set>
                                      <p:cBhvr>
                                        <p:cTn id="14" dur="1500" fill="hold"/>
                                        <p:tgtEl>
                                          <p:spTgt spid="18">
                                            <p:txEl>
                                              <p:pRg st="8" end="8"/>
                                            </p:txEl>
                                          </p:spTgt>
                                        </p:tgtEl>
                                        <p:attrNameLst>
                                          <p:attrName>fill.on</p:attrName>
                                        </p:attrNameLst>
                                      </p:cBhvr>
                                      <p:to>
                                        <p:strVal val="true"/>
                                      </p:to>
                                    </p:set>
                                  </p:childTnLst>
                                </p:cTn>
                              </p:par>
                              <p:par>
                                <p:cTn id="15" presetID="19" presetClass="emph" presetSubtype="0" fill="hold" nodeType="withEffect">
                                  <p:stCondLst>
                                    <p:cond delay="0"/>
                                  </p:stCondLst>
                                  <p:childTnLst>
                                    <p:animClr clrSpc="rgb" dir="cw">
                                      <p:cBhvr override="childStyle">
                                        <p:cTn id="16" dur="1500" fill="hold"/>
                                        <p:tgtEl>
                                          <p:spTgt spid="18">
                                            <p:txEl>
                                              <p:pRg st="9" end="9"/>
                                            </p:txEl>
                                          </p:spTgt>
                                        </p:tgtEl>
                                        <p:attrNameLst>
                                          <p:attrName>style.color</p:attrName>
                                        </p:attrNameLst>
                                      </p:cBhvr>
                                      <p:to>
                                        <a:srgbClr val="FF0000"/>
                                      </p:to>
                                    </p:animClr>
                                    <p:animClr clrSpc="rgb" dir="cw">
                                      <p:cBhvr>
                                        <p:cTn id="17" dur="1500" fill="hold"/>
                                        <p:tgtEl>
                                          <p:spTgt spid="18">
                                            <p:txEl>
                                              <p:pRg st="9" end="9"/>
                                            </p:txEl>
                                          </p:spTgt>
                                        </p:tgtEl>
                                        <p:attrNameLst>
                                          <p:attrName>fillcolor</p:attrName>
                                        </p:attrNameLst>
                                      </p:cBhvr>
                                      <p:to>
                                        <a:srgbClr val="FF0000"/>
                                      </p:to>
                                    </p:animClr>
                                    <p:set>
                                      <p:cBhvr>
                                        <p:cTn id="18" dur="1500" fill="hold"/>
                                        <p:tgtEl>
                                          <p:spTgt spid="18">
                                            <p:txEl>
                                              <p:pRg st="9" end="9"/>
                                            </p:txEl>
                                          </p:spTgt>
                                        </p:tgtEl>
                                        <p:attrNameLst>
                                          <p:attrName>fill.type</p:attrName>
                                        </p:attrNameLst>
                                      </p:cBhvr>
                                      <p:to>
                                        <p:strVal val="solid"/>
                                      </p:to>
                                    </p:set>
                                    <p:set>
                                      <p:cBhvr>
                                        <p:cTn id="19" dur="1500" fill="hold"/>
                                        <p:tgtEl>
                                          <p:spTgt spid="18">
                                            <p:txEl>
                                              <p:pRg st="9" end="9"/>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5" y="150770"/>
            <a:ext cx="6215281"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6.3.2</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遍历算法的应用</a:t>
            </a:r>
            <a:endParaRPr lang="zh-CN" altLang="en-US" sz="3200" dirty="0">
              <a:solidFill>
                <a:schemeClr val="bg1"/>
              </a:solidFill>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dirty="0"/>
          </a:p>
        </p:txBody>
      </p:sp>
      <p:sp>
        <p:nvSpPr>
          <p:cNvPr id="6" name="文本框 5"/>
          <p:cNvSpPr txBox="1"/>
          <p:nvPr/>
        </p:nvSpPr>
        <p:spPr>
          <a:xfrm>
            <a:off x="448571" y="1255671"/>
            <a:ext cx="8126615" cy="1494576"/>
          </a:xfrm>
          <a:prstGeom prst="rect">
            <a:avLst/>
          </a:prstGeom>
          <a:noFill/>
        </p:spPr>
        <p:txBody>
          <a:bodyPr wrap="square" rtlCol="0">
            <a:spAutoFit/>
          </a:bodyPr>
          <a:lstStyle/>
          <a:p>
            <a:pPr>
              <a:lnSpc>
                <a:spcPct val="150000"/>
              </a:lnSpc>
            </a:pPr>
            <a:r>
              <a:rPr lang="zh-CN" altLang="en-US" sz="3200" dirty="0"/>
              <a:t>问题思考∶</a:t>
            </a:r>
            <a:endParaRPr lang="zh-CN" altLang="en-US" sz="3200" dirty="0"/>
          </a:p>
          <a:p>
            <a:pPr>
              <a:lnSpc>
                <a:spcPct val="150000"/>
              </a:lnSpc>
            </a:pPr>
            <a:r>
              <a:rPr lang="zh-CN" altLang="en-US" sz="3200" dirty="0"/>
              <a:t>可用何种遍历实现对二叉树的左右子树交换。</a:t>
            </a:r>
            <a:endParaRPr lang="zh-CN" altLang="en-US" sz="3200" dirty="0"/>
          </a:p>
        </p:txBody>
      </p:sp>
      <p:cxnSp>
        <p:nvCxnSpPr>
          <p:cNvPr id="7" name="直接连接符 6"/>
          <p:cNvCxnSpPr>
            <a:stCxn id="14" idx="2"/>
            <a:endCxn id="16" idx="0"/>
          </p:cNvCxnSpPr>
          <p:nvPr/>
        </p:nvCxnSpPr>
        <p:spPr>
          <a:xfrm>
            <a:off x="899319" y="4092267"/>
            <a:ext cx="759786" cy="4560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18" idx="2"/>
            <a:endCxn id="19" idx="0"/>
          </p:cNvCxnSpPr>
          <p:nvPr/>
        </p:nvCxnSpPr>
        <p:spPr>
          <a:xfrm flipH="1">
            <a:off x="2482716" y="4025940"/>
            <a:ext cx="703474" cy="522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19" idx="2"/>
            <a:endCxn id="20" idx="0"/>
          </p:cNvCxnSpPr>
          <p:nvPr/>
        </p:nvCxnSpPr>
        <p:spPr>
          <a:xfrm>
            <a:off x="2482716" y="5010029"/>
            <a:ext cx="604440" cy="2972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13" idx="2"/>
            <a:endCxn id="14" idx="3"/>
          </p:cNvCxnSpPr>
          <p:nvPr/>
        </p:nvCxnSpPr>
        <p:spPr>
          <a:xfrm flipH="1">
            <a:off x="1214808" y="3329253"/>
            <a:ext cx="798315" cy="5321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125073" y="3363615"/>
            <a:ext cx="969042" cy="4013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697633" y="2867588"/>
            <a:ext cx="630979" cy="461665"/>
          </a:xfrm>
          <a:prstGeom prst="rect">
            <a:avLst/>
          </a:prstGeom>
          <a:noFill/>
        </p:spPr>
        <p:txBody>
          <a:bodyPr wrap="square" rtlCol="0">
            <a:spAutoFit/>
          </a:bodyPr>
          <a:lstStyle/>
          <a:p>
            <a:pPr algn="ctr"/>
            <a:r>
              <a:rPr lang="en-US" altLang="zh-CN" sz="2400" dirty="0"/>
              <a:t>A</a:t>
            </a:r>
            <a:endParaRPr lang="en-US" altLang="zh-CN" sz="2400" dirty="0"/>
          </a:p>
        </p:txBody>
      </p:sp>
      <p:sp>
        <p:nvSpPr>
          <p:cNvPr id="14" name="文本框 13"/>
          <p:cNvSpPr txBox="1"/>
          <p:nvPr/>
        </p:nvSpPr>
        <p:spPr>
          <a:xfrm>
            <a:off x="583829" y="3630602"/>
            <a:ext cx="630979" cy="461665"/>
          </a:xfrm>
          <a:prstGeom prst="rect">
            <a:avLst/>
          </a:prstGeom>
          <a:noFill/>
        </p:spPr>
        <p:txBody>
          <a:bodyPr wrap="square" rtlCol="0">
            <a:spAutoFit/>
          </a:bodyPr>
          <a:lstStyle/>
          <a:p>
            <a:pPr algn="ctr"/>
            <a:r>
              <a:rPr lang="en-US" altLang="zh-CN" sz="2400" dirty="0"/>
              <a:t>B</a:t>
            </a:r>
            <a:endParaRPr lang="en-US" altLang="zh-CN" sz="2400" dirty="0"/>
          </a:p>
        </p:txBody>
      </p:sp>
      <p:sp>
        <p:nvSpPr>
          <p:cNvPr id="16" name="文本框 15"/>
          <p:cNvSpPr txBox="1"/>
          <p:nvPr/>
        </p:nvSpPr>
        <p:spPr>
          <a:xfrm>
            <a:off x="1343615" y="4548365"/>
            <a:ext cx="630979" cy="461665"/>
          </a:xfrm>
          <a:prstGeom prst="rect">
            <a:avLst/>
          </a:prstGeom>
          <a:noFill/>
        </p:spPr>
        <p:txBody>
          <a:bodyPr wrap="square" rtlCol="0">
            <a:spAutoFit/>
          </a:bodyPr>
          <a:lstStyle/>
          <a:p>
            <a:pPr algn="ctr"/>
            <a:r>
              <a:rPr lang="en-US" altLang="zh-CN" sz="2400" dirty="0"/>
              <a:t>D</a:t>
            </a:r>
            <a:endParaRPr lang="en-US" altLang="zh-CN" sz="2400" dirty="0"/>
          </a:p>
        </p:txBody>
      </p:sp>
      <p:sp>
        <p:nvSpPr>
          <p:cNvPr id="18" name="文本框 17"/>
          <p:cNvSpPr txBox="1"/>
          <p:nvPr/>
        </p:nvSpPr>
        <p:spPr>
          <a:xfrm>
            <a:off x="2870700" y="3564275"/>
            <a:ext cx="630979" cy="461665"/>
          </a:xfrm>
          <a:prstGeom prst="rect">
            <a:avLst/>
          </a:prstGeom>
          <a:noFill/>
        </p:spPr>
        <p:txBody>
          <a:bodyPr wrap="square" rtlCol="0">
            <a:spAutoFit/>
          </a:bodyPr>
          <a:lstStyle/>
          <a:p>
            <a:pPr algn="ctr"/>
            <a:r>
              <a:rPr lang="en-US" altLang="zh-CN" sz="2400" dirty="0"/>
              <a:t>C</a:t>
            </a:r>
            <a:endParaRPr lang="en-US" altLang="zh-CN" sz="2400" dirty="0"/>
          </a:p>
        </p:txBody>
      </p:sp>
      <p:sp>
        <p:nvSpPr>
          <p:cNvPr id="19" name="文本框 18"/>
          <p:cNvSpPr txBox="1"/>
          <p:nvPr/>
        </p:nvSpPr>
        <p:spPr>
          <a:xfrm>
            <a:off x="2167226" y="4548364"/>
            <a:ext cx="630979" cy="461665"/>
          </a:xfrm>
          <a:prstGeom prst="rect">
            <a:avLst/>
          </a:prstGeom>
          <a:noFill/>
        </p:spPr>
        <p:txBody>
          <a:bodyPr wrap="square" rtlCol="0">
            <a:spAutoFit/>
          </a:bodyPr>
          <a:lstStyle/>
          <a:p>
            <a:pPr algn="ctr"/>
            <a:r>
              <a:rPr lang="en-US" altLang="zh-CN" sz="2400" dirty="0"/>
              <a:t>E</a:t>
            </a:r>
            <a:endParaRPr lang="en-US" altLang="zh-CN" sz="2400" dirty="0"/>
          </a:p>
        </p:txBody>
      </p:sp>
      <p:sp>
        <p:nvSpPr>
          <p:cNvPr id="20" name="文本框 19"/>
          <p:cNvSpPr txBox="1"/>
          <p:nvPr/>
        </p:nvSpPr>
        <p:spPr>
          <a:xfrm>
            <a:off x="2771666" y="5307235"/>
            <a:ext cx="630979" cy="461665"/>
          </a:xfrm>
          <a:prstGeom prst="rect">
            <a:avLst/>
          </a:prstGeom>
          <a:noFill/>
        </p:spPr>
        <p:txBody>
          <a:bodyPr wrap="square" rtlCol="0">
            <a:spAutoFit/>
          </a:bodyPr>
          <a:lstStyle/>
          <a:p>
            <a:pPr algn="ctr"/>
            <a:r>
              <a:rPr lang="en-US" altLang="zh-CN" sz="2400" dirty="0"/>
              <a:t>F</a:t>
            </a:r>
            <a:endParaRPr lang="en-US" altLang="zh-CN" sz="2400" dirty="0"/>
          </a:p>
        </p:txBody>
      </p:sp>
      <p:cxnSp>
        <p:nvCxnSpPr>
          <p:cNvPr id="21" name="直接连接符 20"/>
          <p:cNvCxnSpPr>
            <a:stCxn id="27" idx="2"/>
            <a:endCxn id="28" idx="0"/>
          </p:cNvCxnSpPr>
          <p:nvPr/>
        </p:nvCxnSpPr>
        <p:spPr>
          <a:xfrm>
            <a:off x="5829004" y="4092267"/>
            <a:ext cx="759786" cy="4560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29" idx="2"/>
            <a:endCxn id="30" idx="0"/>
          </p:cNvCxnSpPr>
          <p:nvPr/>
        </p:nvCxnSpPr>
        <p:spPr>
          <a:xfrm flipH="1">
            <a:off x="7412401" y="4025940"/>
            <a:ext cx="703474" cy="5224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8" idx="2"/>
            <a:endCxn id="31" idx="0"/>
          </p:cNvCxnSpPr>
          <p:nvPr/>
        </p:nvCxnSpPr>
        <p:spPr>
          <a:xfrm flipH="1">
            <a:off x="6084979" y="5010030"/>
            <a:ext cx="503811" cy="3691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26" idx="2"/>
            <a:endCxn id="27" idx="3"/>
          </p:cNvCxnSpPr>
          <p:nvPr/>
        </p:nvCxnSpPr>
        <p:spPr>
          <a:xfrm flipH="1">
            <a:off x="6144493" y="3329253"/>
            <a:ext cx="798315" cy="5321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054758" y="3363615"/>
            <a:ext cx="969042" cy="4013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627318" y="2867588"/>
            <a:ext cx="630979" cy="461665"/>
          </a:xfrm>
          <a:prstGeom prst="rect">
            <a:avLst/>
          </a:prstGeom>
          <a:noFill/>
        </p:spPr>
        <p:txBody>
          <a:bodyPr wrap="square" rtlCol="0">
            <a:spAutoFit/>
          </a:bodyPr>
          <a:lstStyle/>
          <a:p>
            <a:pPr algn="ctr"/>
            <a:r>
              <a:rPr lang="en-US" altLang="zh-CN" sz="2400" dirty="0"/>
              <a:t>A</a:t>
            </a:r>
            <a:endParaRPr lang="en-US" altLang="zh-CN" sz="2400" dirty="0"/>
          </a:p>
        </p:txBody>
      </p:sp>
      <p:sp>
        <p:nvSpPr>
          <p:cNvPr id="27" name="文本框 26"/>
          <p:cNvSpPr txBox="1"/>
          <p:nvPr/>
        </p:nvSpPr>
        <p:spPr>
          <a:xfrm>
            <a:off x="5513514" y="3630602"/>
            <a:ext cx="630979" cy="461665"/>
          </a:xfrm>
          <a:prstGeom prst="rect">
            <a:avLst/>
          </a:prstGeom>
          <a:noFill/>
        </p:spPr>
        <p:txBody>
          <a:bodyPr wrap="square" rtlCol="0">
            <a:spAutoFit/>
          </a:bodyPr>
          <a:lstStyle/>
          <a:p>
            <a:pPr algn="ctr"/>
            <a:r>
              <a:rPr lang="en-US" altLang="zh-CN" sz="2400" dirty="0"/>
              <a:t>C</a:t>
            </a:r>
            <a:endParaRPr lang="en-US" altLang="zh-CN" sz="2400" dirty="0"/>
          </a:p>
        </p:txBody>
      </p:sp>
      <p:sp>
        <p:nvSpPr>
          <p:cNvPr id="28" name="文本框 27"/>
          <p:cNvSpPr txBox="1"/>
          <p:nvPr/>
        </p:nvSpPr>
        <p:spPr>
          <a:xfrm>
            <a:off x="6273300" y="4548365"/>
            <a:ext cx="630979" cy="461665"/>
          </a:xfrm>
          <a:prstGeom prst="rect">
            <a:avLst/>
          </a:prstGeom>
          <a:noFill/>
        </p:spPr>
        <p:txBody>
          <a:bodyPr wrap="square" rtlCol="0">
            <a:spAutoFit/>
          </a:bodyPr>
          <a:lstStyle/>
          <a:p>
            <a:pPr algn="ctr"/>
            <a:r>
              <a:rPr lang="en-US" altLang="zh-CN" sz="2400" dirty="0"/>
              <a:t>E</a:t>
            </a:r>
            <a:endParaRPr lang="en-US" altLang="zh-CN" sz="2400" dirty="0"/>
          </a:p>
        </p:txBody>
      </p:sp>
      <p:sp>
        <p:nvSpPr>
          <p:cNvPr id="29" name="文本框 28"/>
          <p:cNvSpPr txBox="1"/>
          <p:nvPr/>
        </p:nvSpPr>
        <p:spPr>
          <a:xfrm>
            <a:off x="7800385" y="3564275"/>
            <a:ext cx="630979" cy="461665"/>
          </a:xfrm>
          <a:prstGeom prst="rect">
            <a:avLst/>
          </a:prstGeom>
          <a:noFill/>
        </p:spPr>
        <p:txBody>
          <a:bodyPr wrap="square" rtlCol="0">
            <a:spAutoFit/>
          </a:bodyPr>
          <a:lstStyle/>
          <a:p>
            <a:pPr algn="ctr"/>
            <a:r>
              <a:rPr lang="en-US" altLang="zh-CN" sz="2400" dirty="0"/>
              <a:t>B</a:t>
            </a:r>
            <a:endParaRPr lang="en-US" altLang="zh-CN" sz="2400" dirty="0"/>
          </a:p>
        </p:txBody>
      </p:sp>
      <p:sp>
        <p:nvSpPr>
          <p:cNvPr id="30" name="文本框 29"/>
          <p:cNvSpPr txBox="1"/>
          <p:nvPr/>
        </p:nvSpPr>
        <p:spPr>
          <a:xfrm>
            <a:off x="7096911" y="4548364"/>
            <a:ext cx="630979" cy="461665"/>
          </a:xfrm>
          <a:prstGeom prst="rect">
            <a:avLst/>
          </a:prstGeom>
          <a:noFill/>
        </p:spPr>
        <p:txBody>
          <a:bodyPr wrap="square" rtlCol="0">
            <a:spAutoFit/>
          </a:bodyPr>
          <a:lstStyle/>
          <a:p>
            <a:pPr algn="ctr"/>
            <a:r>
              <a:rPr lang="en-US" altLang="zh-CN" sz="2400" dirty="0"/>
              <a:t>D</a:t>
            </a:r>
            <a:endParaRPr lang="en-US" altLang="zh-CN" sz="2400" dirty="0"/>
          </a:p>
        </p:txBody>
      </p:sp>
      <p:sp>
        <p:nvSpPr>
          <p:cNvPr id="31" name="文本框 30"/>
          <p:cNvSpPr txBox="1"/>
          <p:nvPr/>
        </p:nvSpPr>
        <p:spPr>
          <a:xfrm>
            <a:off x="5769489" y="5379185"/>
            <a:ext cx="630979" cy="461665"/>
          </a:xfrm>
          <a:prstGeom prst="rect">
            <a:avLst/>
          </a:prstGeom>
          <a:noFill/>
        </p:spPr>
        <p:txBody>
          <a:bodyPr wrap="square" rtlCol="0">
            <a:spAutoFit/>
          </a:bodyPr>
          <a:lstStyle/>
          <a:p>
            <a:pPr algn="ctr"/>
            <a:r>
              <a:rPr lang="en-US" altLang="zh-CN" sz="2400" dirty="0"/>
              <a:t>F</a:t>
            </a:r>
            <a:endParaRPr lang="en-US" altLang="zh-CN" sz="2400" dirty="0"/>
          </a:p>
        </p:txBody>
      </p:sp>
      <p:sp>
        <p:nvSpPr>
          <p:cNvPr id="34" name="箭头: 右 33"/>
          <p:cNvSpPr/>
          <p:nvPr/>
        </p:nvSpPr>
        <p:spPr>
          <a:xfrm>
            <a:off x="4081494" y="3861435"/>
            <a:ext cx="1116531" cy="6869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4"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dirty="0"/>
          </a:p>
        </p:txBody>
      </p:sp>
      <p:sp>
        <p:nvSpPr>
          <p:cNvPr id="6" name="文本框 5"/>
          <p:cNvSpPr txBox="1"/>
          <p:nvPr/>
        </p:nvSpPr>
        <p:spPr>
          <a:xfrm>
            <a:off x="304749" y="106022"/>
            <a:ext cx="8126615" cy="1494576"/>
          </a:xfrm>
          <a:prstGeom prst="rect">
            <a:avLst/>
          </a:prstGeom>
          <a:noFill/>
        </p:spPr>
        <p:txBody>
          <a:bodyPr wrap="square" rtlCol="0">
            <a:spAutoFit/>
          </a:bodyPr>
          <a:lstStyle/>
          <a:p>
            <a:pPr>
              <a:lnSpc>
                <a:spcPct val="150000"/>
              </a:lnSpc>
            </a:pPr>
            <a:r>
              <a:rPr lang="zh-CN" altLang="en-US" sz="3200" dirty="0"/>
              <a:t>问题思考∶</a:t>
            </a:r>
            <a:endParaRPr lang="zh-CN" altLang="en-US" sz="3200" dirty="0"/>
          </a:p>
          <a:p>
            <a:pPr>
              <a:lnSpc>
                <a:spcPct val="150000"/>
              </a:lnSpc>
            </a:pPr>
            <a:r>
              <a:rPr lang="zh-CN" altLang="en-US" sz="3200" dirty="0"/>
              <a:t>可用何种遍历实现对二叉树的左右子树交换。</a:t>
            </a:r>
            <a:endParaRPr lang="zh-CN" altLang="en-US" sz="3200" dirty="0"/>
          </a:p>
        </p:txBody>
      </p:sp>
      <p:sp>
        <p:nvSpPr>
          <p:cNvPr id="32" name="文本框 31"/>
          <p:cNvSpPr txBox="1"/>
          <p:nvPr/>
        </p:nvSpPr>
        <p:spPr>
          <a:xfrm>
            <a:off x="88943" y="1649214"/>
            <a:ext cx="4333864" cy="3416320"/>
          </a:xfrm>
          <a:prstGeom prst="rect">
            <a:avLst/>
          </a:prstGeom>
          <a:noFill/>
          <a:ln>
            <a:solidFill>
              <a:schemeClr val="tx1"/>
            </a:solidFill>
          </a:ln>
        </p:spPr>
        <p:txBody>
          <a:bodyPr wrap="square">
            <a:spAutoFit/>
          </a:bodyPr>
          <a:lstStyle/>
          <a:p>
            <a:r>
              <a:rPr lang="zh-CN" altLang="en-US" dirty="0">
                <a:latin typeface="微软雅黑" panose="020B0503020204020204" pitchFamily="34" charset="-122"/>
                <a:ea typeface="微软雅黑" panose="020B0503020204020204" pitchFamily="34" charset="-122"/>
              </a:rPr>
              <a:t>先序</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void </a:t>
            </a:r>
            <a:r>
              <a:rPr lang="en-US" altLang="zh-CN" sz="1800" dirty="0" err="1">
                <a:latin typeface="微软雅黑" panose="020B0503020204020204" pitchFamily="34" charset="-122"/>
                <a:ea typeface="微软雅黑" panose="020B0503020204020204" pitchFamily="34" charset="-122"/>
              </a:rPr>
              <a:t>PreExchange</a:t>
            </a:r>
            <a:r>
              <a:rPr lang="en-US" altLang="zh-CN" sz="1800" dirty="0">
                <a:latin typeface="微软雅黑" panose="020B0503020204020204" pitchFamily="34" charset="-122"/>
                <a:ea typeface="微软雅黑" panose="020B0503020204020204" pitchFamily="34" charset="-122"/>
              </a:rPr>
              <a:t>(</a:t>
            </a:r>
            <a:r>
              <a:rPr lang="en-US" altLang="zh-CN" sz="1800" dirty="0" err="1">
                <a:latin typeface="微软雅黑" panose="020B0503020204020204" pitchFamily="34" charset="-122"/>
                <a:ea typeface="微软雅黑" panose="020B0503020204020204" pitchFamily="34" charset="-122"/>
              </a:rPr>
              <a:t>BiTree</a:t>
            </a:r>
            <a:r>
              <a:rPr lang="en-US" altLang="zh-CN" sz="1800" dirty="0">
                <a:latin typeface="微软雅黑" panose="020B0503020204020204" pitchFamily="34" charset="-122"/>
                <a:ea typeface="微软雅黑" panose="020B0503020204020204" pitchFamily="34" charset="-122"/>
              </a:rPr>
              <a:t> root)</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if(root!=NULL)</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temp =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LChild</a:t>
            </a:r>
            <a:r>
              <a:rPr lang="en-US" altLang="zh-CN" dirty="0">
                <a:latin typeface="微软雅黑" panose="020B0503020204020204" pitchFamily="34" charset="-122"/>
                <a:ea typeface="微软雅黑" panose="020B0503020204020204" pitchFamily="34" charset="-122"/>
              </a:rPr>
              <a:t>;</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LChild</a:t>
            </a:r>
            <a:r>
              <a:rPr lang="en-US" altLang="zh-CN" dirty="0">
                <a:latin typeface="微软雅黑" panose="020B0503020204020204" pitchFamily="34" charset="-122"/>
                <a:ea typeface="微软雅黑" panose="020B0503020204020204" pitchFamily="34" charset="-122"/>
              </a:rPr>
              <a:t> =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RChild</a:t>
            </a:r>
            <a:r>
              <a:rPr lang="en-US" altLang="zh-CN" dirty="0">
                <a:latin typeface="微软雅黑" panose="020B0503020204020204" pitchFamily="34" charset="-122"/>
                <a:ea typeface="微软雅黑" panose="020B0503020204020204" pitchFamily="34" charset="-122"/>
              </a:rPr>
              <a:t>;</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RChild</a:t>
            </a:r>
            <a:r>
              <a:rPr lang="en-US" altLang="zh-CN" dirty="0">
                <a:latin typeface="微软雅黑" panose="020B0503020204020204" pitchFamily="34" charset="-122"/>
                <a:ea typeface="微软雅黑" panose="020B0503020204020204" pitchFamily="34" charset="-122"/>
              </a:rPr>
              <a:t> = temp;</a:t>
            </a:r>
            <a:endParaRPr lang="en-US" altLang="zh-CN"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PreExchange</a:t>
            </a:r>
            <a:r>
              <a:rPr lang="en-US" altLang="zh-CN" sz="1800" dirty="0">
                <a:latin typeface="微软雅黑" panose="020B0503020204020204" pitchFamily="34" charset="-122"/>
                <a:ea typeface="微软雅黑" panose="020B0503020204020204" pitchFamily="34" charset="-122"/>
              </a:rPr>
              <a:t>(root-&gt;</a:t>
            </a:r>
            <a:r>
              <a:rPr lang="en-US" altLang="zh-CN" sz="1800" dirty="0" err="1">
                <a:latin typeface="微软雅黑" panose="020B0503020204020204" pitchFamily="34" charset="-122"/>
                <a:ea typeface="微软雅黑" panose="020B0503020204020204" pitchFamily="34" charset="-122"/>
              </a:rPr>
              <a:t>LChild</a:t>
            </a:r>
            <a:r>
              <a:rPr lang="en-US" altLang="zh-CN"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sym typeface="+mn-ea"/>
              </a:rPr>
              <a:t>        </a:t>
            </a:r>
            <a:r>
              <a:rPr lang="en-US" altLang="zh-CN" sz="1800" dirty="0">
                <a:solidFill>
                  <a:srgbClr val="FF0000"/>
                </a:solidFill>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PreExchange</a:t>
            </a:r>
            <a:r>
              <a:rPr lang="en-US" altLang="zh-CN" sz="1800" dirty="0">
                <a:latin typeface="微软雅黑" panose="020B0503020204020204" pitchFamily="34" charset="-122"/>
                <a:ea typeface="微软雅黑" panose="020B0503020204020204" pitchFamily="34" charset="-122"/>
              </a:rPr>
              <a:t>(root-&gt;</a:t>
            </a:r>
            <a:r>
              <a:rPr lang="en-US" altLang="zh-CN" sz="1800" dirty="0" err="1">
                <a:latin typeface="微软雅黑" panose="020B0503020204020204" pitchFamily="34" charset="-122"/>
                <a:ea typeface="微软雅黑" panose="020B0503020204020204" pitchFamily="34" charset="-122"/>
              </a:rPr>
              <a:t>RChild</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a:t>
            </a:r>
            <a:endParaRPr lang="zh-CN" altLang="en-US" dirty="0"/>
          </a:p>
        </p:txBody>
      </p:sp>
      <p:sp>
        <p:nvSpPr>
          <p:cNvPr id="33" name="文本框 32"/>
          <p:cNvSpPr txBox="1"/>
          <p:nvPr/>
        </p:nvSpPr>
        <p:spPr>
          <a:xfrm>
            <a:off x="4674640" y="1649214"/>
            <a:ext cx="4380417" cy="3416320"/>
          </a:xfrm>
          <a:prstGeom prst="rect">
            <a:avLst/>
          </a:prstGeom>
          <a:noFill/>
          <a:ln>
            <a:solidFill>
              <a:schemeClr val="tx1"/>
            </a:solidFill>
          </a:ln>
        </p:spPr>
        <p:txBody>
          <a:bodyPr wrap="square">
            <a:spAutoFit/>
          </a:bodyPr>
          <a:lstStyle/>
          <a:p>
            <a:r>
              <a:rPr lang="zh-CN" altLang="en-US" sz="1800" dirty="0">
                <a:latin typeface="微软雅黑" panose="020B0503020204020204" pitchFamily="34" charset="-122"/>
                <a:ea typeface="微软雅黑" panose="020B0503020204020204" pitchFamily="34" charset="-122"/>
              </a:rPr>
              <a:t>后序</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void </a:t>
            </a:r>
            <a:r>
              <a:rPr lang="en-US" altLang="zh-CN" sz="1800" dirty="0" err="1">
                <a:latin typeface="微软雅黑" panose="020B0503020204020204" pitchFamily="34" charset="-122"/>
                <a:ea typeface="微软雅黑" panose="020B0503020204020204" pitchFamily="34" charset="-122"/>
              </a:rPr>
              <a:t>PostExchange</a:t>
            </a:r>
            <a:r>
              <a:rPr lang="en-US" altLang="zh-CN" sz="1800" dirty="0">
                <a:latin typeface="微软雅黑" panose="020B0503020204020204" pitchFamily="34" charset="-122"/>
                <a:ea typeface="微软雅黑" panose="020B0503020204020204" pitchFamily="34" charset="-122"/>
              </a:rPr>
              <a:t>(</a:t>
            </a:r>
            <a:r>
              <a:rPr lang="en-US" altLang="zh-CN" sz="1800" dirty="0" err="1">
                <a:latin typeface="微软雅黑" panose="020B0503020204020204" pitchFamily="34" charset="-122"/>
                <a:ea typeface="微软雅黑" panose="020B0503020204020204" pitchFamily="34" charset="-122"/>
              </a:rPr>
              <a:t>BiTree</a:t>
            </a:r>
            <a:r>
              <a:rPr lang="en-US" altLang="zh-CN" sz="1800" dirty="0">
                <a:latin typeface="微软雅黑" panose="020B0503020204020204" pitchFamily="34" charset="-122"/>
                <a:ea typeface="微软雅黑" panose="020B0503020204020204" pitchFamily="34" charset="-122"/>
              </a:rPr>
              <a:t> root)</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if(root!=NULL)</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PostExchange</a:t>
            </a:r>
            <a:r>
              <a:rPr lang="en-US" altLang="zh-CN" sz="1800" dirty="0">
                <a:latin typeface="微软雅黑" panose="020B0503020204020204" pitchFamily="34" charset="-122"/>
                <a:ea typeface="微软雅黑" panose="020B0503020204020204" pitchFamily="34" charset="-122"/>
              </a:rPr>
              <a:t>(root-&gt;</a:t>
            </a:r>
            <a:r>
              <a:rPr lang="en-US" altLang="zh-CN" sz="1800" dirty="0" err="1">
                <a:latin typeface="微软雅黑" panose="020B0503020204020204" pitchFamily="34" charset="-122"/>
                <a:ea typeface="微软雅黑" panose="020B0503020204020204" pitchFamily="34" charset="-122"/>
              </a:rPr>
              <a:t>LChild</a:t>
            </a:r>
            <a:r>
              <a:rPr lang="en-US" altLang="zh-CN"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sym typeface="+mn-ea"/>
              </a:rPr>
              <a:t>        </a:t>
            </a:r>
            <a:r>
              <a:rPr lang="en-US" altLang="zh-CN" sz="1800" dirty="0">
                <a:solidFill>
                  <a:srgbClr val="FF0000"/>
                </a:solidFill>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PostExchange</a:t>
            </a:r>
            <a:r>
              <a:rPr lang="en-US" altLang="zh-CN" sz="1800" dirty="0">
                <a:latin typeface="微软雅黑" panose="020B0503020204020204" pitchFamily="34" charset="-122"/>
                <a:ea typeface="微软雅黑" panose="020B0503020204020204" pitchFamily="34" charset="-122"/>
              </a:rPr>
              <a:t>(root-&gt;</a:t>
            </a:r>
            <a:r>
              <a:rPr lang="en-US" altLang="zh-CN" sz="1800" dirty="0" err="1">
                <a:latin typeface="微软雅黑" panose="020B0503020204020204" pitchFamily="34" charset="-122"/>
                <a:ea typeface="微软雅黑" panose="020B0503020204020204" pitchFamily="34" charset="-122"/>
              </a:rPr>
              <a:t>RChild</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temp =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LChild</a:t>
            </a:r>
            <a:r>
              <a:rPr lang="en-US" altLang="zh-CN" dirty="0">
                <a:latin typeface="微软雅黑" panose="020B0503020204020204" pitchFamily="34" charset="-122"/>
                <a:ea typeface="微软雅黑" panose="020B0503020204020204" pitchFamily="34" charset="-122"/>
              </a:rPr>
              <a:t>;</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LChild</a:t>
            </a:r>
            <a:r>
              <a:rPr lang="en-US" altLang="zh-CN" dirty="0">
                <a:latin typeface="微软雅黑" panose="020B0503020204020204" pitchFamily="34" charset="-122"/>
                <a:ea typeface="微软雅黑" panose="020B0503020204020204" pitchFamily="34" charset="-122"/>
              </a:rPr>
              <a:t> =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RChild</a:t>
            </a:r>
            <a:r>
              <a:rPr lang="en-US" altLang="zh-CN" dirty="0">
                <a:latin typeface="微软雅黑" panose="020B0503020204020204" pitchFamily="34" charset="-122"/>
                <a:ea typeface="微软雅黑" panose="020B0503020204020204" pitchFamily="34" charset="-122"/>
              </a:rPr>
              <a:t>;</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RChild</a:t>
            </a:r>
            <a:r>
              <a:rPr lang="en-US" altLang="zh-CN" dirty="0">
                <a:latin typeface="微软雅黑" panose="020B0503020204020204" pitchFamily="34" charset="-122"/>
                <a:ea typeface="微软雅黑" panose="020B0503020204020204" pitchFamily="34" charset="-122"/>
              </a:rPr>
              <a:t> = temp;</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a:t>
            </a:r>
            <a:endParaRPr lang="zh-CN" altLang="en-US" dirty="0"/>
          </a:p>
        </p:txBody>
      </p:sp>
      <p:sp>
        <p:nvSpPr>
          <p:cNvPr id="35" name="文本框 34"/>
          <p:cNvSpPr txBox="1"/>
          <p:nvPr/>
        </p:nvSpPr>
        <p:spPr>
          <a:xfrm>
            <a:off x="2649337" y="5262373"/>
            <a:ext cx="4587140" cy="707886"/>
          </a:xfrm>
          <a:prstGeom prst="rect">
            <a:avLst/>
          </a:prstGeom>
          <a:noFill/>
        </p:spPr>
        <p:txBody>
          <a:bodyPr wrap="square">
            <a:spAutoFit/>
          </a:bodyPr>
          <a:lstStyle/>
          <a:p>
            <a:r>
              <a:rPr lang="zh-CN" altLang="en-US" sz="2800" dirty="0"/>
              <a:t>先序 后序可以  </a:t>
            </a:r>
            <a:r>
              <a:rPr lang="zh-CN" altLang="en-US" sz="4000" dirty="0">
                <a:solidFill>
                  <a:srgbClr val="FF0000"/>
                </a:solidFill>
                <a:sym typeface="Wingdings" panose="05000000000000000000" pitchFamily="2" charset="2"/>
              </a:rPr>
              <a:t> </a:t>
            </a:r>
            <a:r>
              <a:rPr lang="zh-CN" altLang="en-US" sz="4000" dirty="0">
                <a:solidFill>
                  <a:srgbClr val="FF0000"/>
                </a:solidFill>
              </a:rPr>
              <a:t> </a:t>
            </a:r>
            <a:endParaRPr lang="zh-CN" altLang="en-US" sz="4000" dirty="0">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dirty="0"/>
          </a:p>
        </p:txBody>
      </p:sp>
      <p:sp>
        <p:nvSpPr>
          <p:cNvPr id="6" name="文本框 5"/>
          <p:cNvSpPr txBox="1"/>
          <p:nvPr/>
        </p:nvSpPr>
        <p:spPr>
          <a:xfrm>
            <a:off x="304749" y="106022"/>
            <a:ext cx="8126615" cy="1494576"/>
          </a:xfrm>
          <a:prstGeom prst="rect">
            <a:avLst/>
          </a:prstGeom>
          <a:noFill/>
        </p:spPr>
        <p:txBody>
          <a:bodyPr wrap="square" rtlCol="0">
            <a:spAutoFit/>
          </a:bodyPr>
          <a:lstStyle/>
          <a:p>
            <a:pPr>
              <a:lnSpc>
                <a:spcPct val="150000"/>
              </a:lnSpc>
            </a:pPr>
            <a:r>
              <a:rPr lang="zh-CN" altLang="en-US" sz="3200" dirty="0"/>
              <a:t>问题思考∶</a:t>
            </a:r>
            <a:endParaRPr lang="zh-CN" altLang="en-US" sz="3200" dirty="0"/>
          </a:p>
          <a:p>
            <a:pPr>
              <a:lnSpc>
                <a:spcPct val="150000"/>
              </a:lnSpc>
            </a:pPr>
            <a:r>
              <a:rPr lang="zh-CN" altLang="en-US" sz="3200" dirty="0"/>
              <a:t>可用何种遍历实现对二叉树的左右子树交换。</a:t>
            </a:r>
            <a:endParaRPr lang="zh-CN" altLang="en-US" sz="3200" dirty="0"/>
          </a:p>
        </p:txBody>
      </p:sp>
      <p:sp>
        <p:nvSpPr>
          <p:cNvPr id="33" name="文本框 32"/>
          <p:cNvSpPr txBox="1"/>
          <p:nvPr/>
        </p:nvSpPr>
        <p:spPr>
          <a:xfrm>
            <a:off x="2597559" y="1836939"/>
            <a:ext cx="4380417" cy="3416320"/>
          </a:xfrm>
          <a:prstGeom prst="rect">
            <a:avLst/>
          </a:prstGeom>
          <a:noFill/>
          <a:ln>
            <a:solidFill>
              <a:schemeClr val="tx1"/>
            </a:solidFill>
          </a:ln>
        </p:spPr>
        <p:txBody>
          <a:bodyPr wrap="square">
            <a:spAutoFit/>
          </a:bodyPr>
          <a:lstStyle/>
          <a:p>
            <a:r>
              <a:rPr lang="zh-CN" altLang="en-US" dirty="0">
                <a:latin typeface="微软雅黑" panose="020B0503020204020204" pitchFamily="34" charset="-122"/>
                <a:ea typeface="微软雅黑" panose="020B0503020204020204" pitchFamily="34" charset="-122"/>
              </a:rPr>
              <a:t>中</a:t>
            </a:r>
            <a:r>
              <a:rPr lang="zh-CN" altLang="en-US" sz="1800" dirty="0">
                <a:latin typeface="微软雅黑" panose="020B0503020204020204" pitchFamily="34" charset="-122"/>
                <a:ea typeface="微软雅黑" panose="020B0503020204020204" pitchFamily="34" charset="-122"/>
              </a:rPr>
              <a:t>序</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void </a:t>
            </a:r>
            <a:r>
              <a:rPr lang="en-US" altLang="zh-CN" dirty="0" err="1">
                <a:latin typeface="微软雅黑" panose="020B0503020204020204" pitchFamily="34" charset="-122"/>
                <a:ea typeface="微软雅黑" panose="020B0503020204020204" pitchFamily="34" charset="-122"/>
              </a:rPr>
              <a:t>In</a:t>
            </a:r>
            <a:r>
              <a:rPr lang="en-US" altLang="zh-CN" sz="1800" dirty="0" err="1">
                <a:latin typeface="微软雅黑" panose="020B0503020204020204" pitchFamily="34" charset="-122"/>
                <a:ea typeface="微软雅黑" panose="020B0503020204020204" pitchFamily="34" charset="-122"/>
              </a:rPr>
              <a:t>Exchange</a:t>
            </a:r>
            <a:r>
              <a:rPr lang="en-US" altLang="zh-CN" sz="1800" dirty="0">
                <a:latin typeface="微软雅黑" panose="020B0503020204020204" pitchFamily="34" charset="-122"/>
                <a:ea typeface="微软雅黑" panose="020B0503020204020204" pitchFamily="34" charset="-122"/>
              </a:rPr>
              <a:t>(</a:t>
            </a:r>
            <a:r>
              <a:rPr lang="en-US" altLang="zh-CN" sz="1800" dirty="0" err="1">
                <a:latin typeface="微软雅黑" panose="020B0503020204020204" pitchFamily="34" charset="-122"/>
                <a:ea typeface="微软雅黑" panose="020B0503020204020204" pitchFamily="34" charset="-122"/>
              </a:rPr>
              <a:t>BiTree</a:t>
            </a:r>
            <a:r>
              <a:rPr lang="en-US" altLang="zh-CN" sz="1800" dirty="0">
                <a:latin typeface="微软雅黑" panose="020B0503020204020204" pitchFamily="34" charset="-122"/>
                <a:ea typeface="微软雅黑" panose="020B0503020204020204" pitchFamily="34" charset="-122"/>
              </a:rPr>
              <a:t> root)</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if(root!=NULL)</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In</a:t>
            </a:r>
            <a:r>
              <a:rPr lang="en-US" altLang="zh-CN" sz="1800" dirty="0" err="1">
                <a:latin typeface="微软雅黑" panose="020B0503020204020204" pitchFamily="34" charset="-122"/>
                <a:ea typeface="微软雅黑" panose="020B0503020204020204" pitchFamily="34" charset="-122"/>
              </a:rPr>
              <a:t>Exchange</a:t>
            </a:r>
            <a:r>
              <a:rPr lang="en-US" altLang="zh-CN" sz="1800" dirty="0">
                <a:latin typeface="微软雅黑" panose="020B0503020204020204" pitchFamily="34" charset="-122"/>
                <a:ea typeface="微软雅黑" panose="020B0503020204020204" pitchFamily="34" charset="-122"/>
              </a:rPr>
              <a:t>(root-&gt;</a:t>
            </a:r>
            <a:r>
              <a:rPr lang="en-US" altLang="zh-CN" sz="1800" dirty="0" err="1">
                <a:latin typeface="微软雅黑" panose="020B0503020204020204" pitchFamily="34" charset="-122"/>
                <a:ea typeface="微软雅黑" panose="020B0503020204020204" pitchFamily="34" charset="-122"/>
              </a:rPr>
              <a:t>LChild</a:t>
            </a:r>
            <a:r>
              <a:rPr lang="en-US" altLang="zh-CN"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sym typeface="+mn-ea"/>
              </a:rPr>
              <a:t>        </a:t>
            </a:r>
            <a:r>
              <a:rPr lang="en-US" altLang="zh-CN" sz="1800" dirty="0">
                <a:solidFill>
                  <a:srgbClr val="FF0000"/>
                </a:solidFill>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temp =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LChild</a:t>
            </a:r>
            <a:r>
              <a:rPr lang="en-US" altLang="zh-CN" dirty="0">
                <a:latin typeface="微软雅黑" panose="020B0503020204020204" pitchFamily="34" charset="-122"/>
                <a:ea typeface="微软雅黑" panose="020B0503020204020204" pitchFamily="34" charset="-122"/>
              </a:rPr>
              <a:t>;</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LChild</a:t>
            </a:r>
            <a:r>
              <a:rPr lang="en-US" altLang="zh-CN" dirty="0">
                <a:latin typeface="微软雅黑" panose="020B0503020204020204" pitchFamily="34" charset="-122"/>
                <a:ea typeface="微软雅黑" panose="020B0503020204020204" pitchFamily="34" charset="-122"/>
              </a:rPr>
              <a:t> =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RChild</a:t>
            </a:r>
            <a:r>
              <a:rPr lang="en-US" altLang="zh-CN" dirty="0">
                <a:latin typeface="微软雅黑" panose="020B0503020204020204" pitchFamily="34" charset="-122"/>
                <a:ea typeface="微软雅黑" panose="020B0503020204020204" pitchFamily="34" charset="-122"/>
              </a:rPr>
              <a:t>;</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             root-&gt;</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RChild</a:t>
            </a:r>
            <a:r>
              <a:rPr lang="en-US" altLang="zh-CN" dirty="0">
                <a:latin typeface="微软雅黑" panose="020B0503020204020204" pitchFamily="34" charset="-122"/>
                <a:ea typeface="微软雅黑" panose="020B0503020204020204" pitchFamily="34" charset="-122"/>
              </a:rPr>
              <a:t> = temp;</a:t>
            </a:r>
            <a:endParaRPr lang="en-US" altLang="zh-CN"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In</a:t>
            </a:r>
            <a:r>
              <a:rPr lang="en-US" altLang="zh-CN" sz="1800" dirty="0" err="1">
                <a:latin typeface="微软雅黑" panose="020B0503020204020204" pitchFamily="34" charset="-122"/>
                <a:ea typeface="微软雅黑" panose="020B0503020204020204" pitchFamily="34" charset="-122"/>
              </a:rPr>
              <a:t>Exchange</a:t>
            </a:r>
            <a:r>
              <a:rPr lang="en-US" altLang="zh-CN" sz="1800" dirty="0">
                <a:latin typeface="微软雅黑" panose="020B0503020204020204" pitchFamily="34" charset="-122"/>
                <a:ea typeface="微软雅黑" panose="020B0503020204020204" pitchFamily="34" charset="-122"/>
              </a:rPr>
              <a:t>(root-&gt;</a:t>
            </a:r>
            <a:r>
              <a:rPr lang="en-US" altLang="zh-CN" sz="1800" dirty="0" err="1">
                <a:latin typeface="微软雅黑" panose="020B0503020204020204" pitchFamily="34" charset="-122"/>
                <a:ea typeface="微软雅黑" panose="020B0503020204020204" pitchFamily="34" charset="-122"/>
              </a:rPr>
              <a:t>RChild</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a:t>
            </a:r>
            <a:endParaRPr lang="zh-CN" altLang="en-US" dirty="0"/>
          </a:p>
        </p:txBody>
      </p:sp>
      <p:sp>
        <p:nvSpPr>
          <p:cNvPr id="7" name="文本框 6"/>
          <p:cNvSpPr txBox="1"/>
          <p:nvPr/>
        </p:nvSpPr>
        <p:spPr>
          <a:xfrm>
            <a:off x="2649337" y="5262373"/>
            <a:ext cx="2661450" cy="769441"/>
          </a:xfrm>
          <a:prstGeom prst="rect">
            <a:avLst/>
          </a:prstGeom>
          <a:noFill/>
        </p:spPr>
        <p:txBody>
          <a:bodyPr wrap="square">
            <a:spAutoFit/>
          </a:bodyPr>
          <a:lstStyle/>
          <a:p>
            <a:r>
              <a:rPr lang="zh-CN" altLang="en-US" sz="2800" dirty="0"/>
              <a:t>中序不可以  </a:t>
            </a:r>
            <a:r>
              <a:rPr lang="zh-CN" altLang="en-US" sz="4400" dirty="0">
                <a:solidFill>
                  <a:srgbClr val="FF0000"/>
                </a:solidFill>
                <a:sym typeface="Wingdings" panose="05000000000000000000" pitchFamily="2" charset="2"/>
              </a:rPr>
              <a:t></a:t>
            </a:r>
            <a:r>
              <a:rPr lang="zh-CN" altLang="en-US" sz="4400" dirty="0">
                <a:solidFill>
                  <a:srgbClr val="FF0000"/>
                </a:solidFill>
              </a:rPr>
              <a:t> </a:t>
            </a:r>
            <a:endParaRPr lang="zh-CN" altLang="en-US" sz="4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3">
                                            <p:txEl>
                                              <p:pRg st="6" end="6"/>
                                            </p:txEl>
                                          </p:spTgt>
                                        </p:tgtEl>
                                        <p:attrNameLst>
                                          <p:attrName>style.color</p:attrName>
                                        </p:attrNameLst>
                                      </p:cBhvr>
                                      <p:to>
                                        <a:srgbClr val="FF0000"/>
                                      </p:to>
                                    </p:animClr>
                                    <p:animClr clrSpc="rgb" dir="cw">
                                      <p:cBhvr>
                                        <p:cTn id="7" dur="500" fill="hold"/>
                                        <p:tgtEl>
                                          <p:spTgt spid="33">
                                            <p:txEl>
                                              <p:pRg st="6" end="6"/>
                                            </p:txEl>
                                          </p:spTgt>
                                        </p:tgtEl>
                                        <p:attrNameLst>
                                          <p:attrName>fillcolor</p:attrName>
                                        </p:attrNameLst>
                                      </p:cBhvr>
                                      <p:to>
                                        <a:srgbClr val="FF0000"/>
                                      </p:to>
                                    </p:animClr>
                                    <p:set>
                                      <p:cBhvr>
                                        <p:cTn id="8" dur="500" fill="hold"/>
                                        <p:tgtEl>
                                          <p:spTgt spid="33">
                                            <p:txEl>
                                              <p:pRg st="6" end="6"/>
                                            </p:txEl>
                                          </p:spTgt>
                                        </p:tgtEl>
                                        <p:attrNameLst>
                                          <p:attrName>fill.type</p:attrName>
                                        </p:attrNameLst>
                                      </p:cBhvr>
                                      <p:to>
                                        <p:strVal val="solid"/>
                                      </p:to>
                                    </p:set>
                                    <p:set>
                                      <p:cBhvr>
                                        <p:cTn id="9" dur="500" fill="hold"/>
                                        <p:tgtEl>
                                          <p:spTgt spid="33">
                                            <p:txEl>
                                              <p:pRg st="6" end="6"/>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5" y="150770"/>
            <a:ext cx="6215281" cy="583565"/>
          </a:xfrm>
          <a:prstGeom prst="rect">
            <a:avLst/>
          </a:prstGeom>
          <a:noFill/>
        </p:spPr>
        <p:txBody>
          <a:bodyPr wrap="square">
            <a:spAutoFit/>
          </a:bodyPr>
          <a:lstStyle/>
          <a:p>
            <a:r>
              <a:rPr lang="en-US" altLang="zh-CN"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6.3.2</a:t>
            </a:r>
            <a:r>
              <a:rPr lang="zh-CN" altLang="en-US" sz="3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遍历算法的应用</a:t>
            </a:r>
            <a:endParaRPr lang="zh-CN" altLang="en-US" sz="3200" dirty="0">
              <a:solidFill>
                <a:schemeClr val="bg1"/>
              </a:solidFill>
            </a:endParaRPr>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6" name="文本框 5"/>
          <p:cNvSpPr txBox="1"/>
          <p:nvPr/>
        </p:nvSpPr>
        <p:spPr>
          <a:xfrm>
            <a:off x="784225" y="1146810"/>
            <a:ext cx="8035290" cy="4431030"/>
          </a:xfrm>
          <a:prstGeom prst="rect">
            <a:avLst/>
          </a:prstGeom>
          <a:noFill/>
        </p:spPr>
        <p:txBody>
          <a:bodyPr wrap="square" rtlCol="0">
            <a:spAutoFit/>
          </a:bodyPr>
          <a:lstStyle/>
          <a:p>
            <a:pPr>
              <a:lnSpc>
                <a:spcPct val="150000"/>
              </a:lnSpc>
            </a:pPr>
            <a:r>
              <a:rPr lang="zh-CN" altLang="en-US" sz="2800" dirty="0">
                <a:latin typeface="微软雅黑" panose="020B0503020204020204" pitchFamily="34" charset="-122"/>
                <a:ea typeface="微软雅黑" panose="020B0503020204020204" pitchFamily="34" charset="-122"/>
              </a:rPr>
              <a:t>练习</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对二叉树从</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开始编号，要求每个结点的编号大于其</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左右孩子的编号，同一个结点的左右孩子中，其左孩子的编号小于右孩子的编号，则可采用何种遍历方式实现编号？</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 A</a:t>
            </a:r>
            <a:r>
              <a:rPr lang="zh-CN" altLang="en-US" sz="2800" dirty="0">
                <a:latin typeface="微软雅黑" panose="020B0503020204020204" pitchFamily="34" charset="-122"/>
                <a:ea typeface="微软雅黑" panose="020B0503020204020204" pitchFamily="34" charset="-122"/>
              </a:rPr>
              <a:t>）先序遍历</a:t>
            </a:r>
            <a:r>
              <a:rPr lang="en-US" altLang="zh-CN" sz="2800" dirty="0">
                <a:latin typeface="微软雅黑" panose="020B0503020204020204" pitchFamily="34" charset="-122"/>
                <a:ea typeface="微软雅黑" panose="020B0503020204020204" pitchFamily="34" charset="-122"/>
              </a:rPr>
              <a:t>         B</a:t>
            </a:r>
            <a:r>
              <a:rPr lang="zh-CN" altLang="en-US" sz="2800" dirty="0">
                <a:latin typeface="微软雅黑" panose="020B0503020204020204" pitchFamily="34" charset="-122"/>
                <a:ea typeface="微软雅黑" panose="020B0503020204020204" pitchFamily="34" charset="-122"/>
              </a:rPr>
              <a:t>）中序遍历</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        C</a:t>
            </a:r>
            <a:r>
              <a:rPr lang="zh-CN" altLang="en-US" sz="2800" dirty="0">
                <a:latin typeface="微软雅黑" panose="020B0503020204020204" pitchFamily="34" charset="-122"/>
                <a:ea typeface="微软雅黑" panose="020B0503020204020204" pitchFamily="34" charset="-122"/>
              </a:rPr>
              <a:t>）后序遍历</a:t>
            </a:r>
            <a:r>
              <a:rPr lang="en-US" altLang="zh-CN" sz="2800" dirty="0">
                <a:latin typeface="微软雅黑" panose="020B0503020204020204" pitchFamily="34" charset="-122"/>
                <a:ea typeface="微软雅黑" panose="020B0503020204020204" pitchFamily="34" charset="-122"/>
              </a:rPr>
              <a:t>         D</a:t>
            </a:r>
            <a:r>
              <a:rPr lang="zh-CN" altLang="en-US" sz="2800" dirty="0">
                <a:latin typeface="微软雅黑" panose="020B0503020204020204" pitchFamily="34" charset="-122"/>
                <a:ea typeface="微软雅黑" panose="020B0503020204020204" pitchFamily="34" charset="-122"/>
              </a:rPr>
              <a:t>）从根开始层次遍历</a:t>
            </a:r>
            <a:endParaRPr lang="en-US" altLang="zh-CN" sz="2800" dirty="0">
              <a:latin typeface="微软雅黑" panose="020B0503020204020204" pitchFamily="34" charset="-122"/>
              <a:ea typeface="微软雅黑" panose="020B0503020204020204" pitchFamily="34" charset="-122"/>
            </a:endParaRPr>
          </a:p>
          <a:p>
            <a:pPr>
              <a:lnSpc>
                <a:spcPct val="150000"/>
              </a:lnSpc>
            </a:pPr>
            <a:endParaRPr lang="en-US" altLang="zh-CN" sz="2800" dirty="0">
              <a:solidFill>
                <a:srgbClr val="0070C0"/>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701632" y="4862670"/>
            <a:ext cx="2240583" cy="0"/>
          </a:xfrm>
          <a:prstGeom prst="line">
            <a:avLst/>
          </a:prstGeom>
          <a:ln w="38100"/>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30" name="文本框 29"/>
          <p:cNvSpPr txBox="1"/>
          <p:nvPr/>
        </p:nvSpPr>
        <p:spPr>
          <a:xfrm>
            <a:off x="331926" y="2387324"/>
            <a:ext cx="902811" cy="523220"/>
          </a:xfrm>
          <a:prstGeom prst="rect">
            <a:avLst/>
          </a:prstGeom>
          <a:noFill/>
        </p:spPr>
        <p:txBody>
          <a:bodyPr wrap="none" rtlCol="0">
            <a:spAutoFit/>
          </a:bodyPr>
          <a:lstStyle/>
          <a:p>
            <a:r>
              <a:rPr lang="zh-CN" altLang="en-US" sz="2800" dirty="0">
                <a:solidFill>
                  <a:schemeClr val="bg1"/>
                </a:solidFill>
              </a:rPr>
              <a:t>电梯</a:t>
            </a:r>
            <a:endParaRPr lang="zh-CN" altLang="en-US" sz="2800" dirty="0">
              <a:solidFill>
                <a:schemeClr val="bg1"/>
              </a:solidFill>
            </a:endParaRPr>
          </a:p>
        </p:txBody>
      </p:sp>
      <p:sp>
        <p:nvSpPr>
          <p:cNvPr id="32" name="文本框 31"/>
          <p:cNvSpPr txBox="1"/>
          <p:nvPr/>
        </p:nvSpPr>
        <p:spPr>
          <a:xfrm>
            <a:off x="4460905" y="2026250"/>
            <a:ext cx="678007" cy="1384995"/>
          </a:xfrm>
          <a:prstGeom prst="rect">
            <a:avLst/>
          </a:prstGeom>
          <a:noFill/>
        </p:spPr>
        <p:txBody>
          <a:bodyPr wrap="square" rtlCol="0">
            <a:spAutoFit/>
          </a:bodyPr>
          <a:lstStyle/>
          <a:p>
            <a:r>
              <a:rPr lang="zh-CN" altLang="en-US" sz="2800" dirty="0">
                <a:solidFill>
                  <a:schemeClr val="bg1"/>
                </a:solidFill>
              </a:rPr>
              <a:t>浏览器</a:t>
            </a:r>
            <a:endParaRPr lang="zh-CN" altLang="en-US" sz="2800" dirty="0">
              <a:solidFill>
                <a:schemeClr val="bg1"/>
              </a:solidFill>
            </a:endParaRPr>
          </a:p>
        </p:txBody>
      </p:sp>
      <p:sp>
        <p:nvSpPr>
          <p:cNvPr id="38" name="文本框 37"/>
          <p:cNvSpPr txBox="1"/>
          <p:nvPr/>
        </p:nvSpPr>
        <p:spPr>
          <a:xfrm>
            <a:off x="4412241" y="4252281"/>
            <a:ext cx="1049767" cy="1384995"/>
          </a:xfrm>
          <a:prstGeom prst="rect">
            <a:avLst/>
          </a:prstGeom>
          <a:noFill/>
        </p:spPr>
        <p:txBody>
          <a:bodyPr wrap="square" rtlCol="0">
            <a:spAutoFit/>
          </a:bodyPr>
          <a:lstStyle/>
          <a:p>
            <a:r>
              <a:rPr lang="zh-CN" altLang="en-US" sz="2800" dirty="0">
                <a:solidFill>
                  <a:schemeClr val="bg1"/>
                </a:solidFill>
              </a:rPr>
              <a:t>手机通话记录</a:t>
            </a:r>
            <a:endParaRPr lang="zh-CN" altLang="en-US" sz="2800" dirty="0">
              <a:solidFill>
                <a:schemeClr val="bg1"/>
              </a:solidFill>
            </a:endParaRPr>
          </a:p>
        </p:txBody>
      </p:sp>
      <p:sp>
        <p:nvSpPr>
          <p:cNvPr id="2" name="文本框 1"/>
          <p:cNvSpPr txBox="1"/>
          <p:nvPr/>
        </p:nvSpPr>
        <p:spPr>
          <a:xfrm>
            <a:off x="580016" y="255972"/>
            <a:ext cx="4060190" cy="5016758"/>
          </a:xfrm>
          <a:prstGeom prst="rect">
            <a:avLst/>
          </a:prstGeom>
          <a:noFill/>
        </p:spPr>
        <p:txBody>
          <a:bodyPr wrap="square" rtlCol="0">
            <a:spAutoFit/>
          </a:bodyPr>
          <a:lstStyle/>
          <a:p>
            <a:r>
              <a:rPr lang="zh-CN" altLang="en-US" sz="3200" dirty="0">
                <a:latin typeface="微软雅黑" panose="020B0503020204020204" pitchFamily="34" charset="-122"/>
                <a:ea typeface="微软雅黑" panose="020B0503020204020204" pitchFamily="34" charset="-122"/>
              </a:rPr>
              <a:t>后序遍历的递归过程：</a:t>
            </a:r>
            <a:endParaRPr lang="zh-CN" altLang="en-US" sz="32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若二叉树为空，则空操作</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否则依次执行如下操作：</a:t>
            </a:r>
            <a:endParaRPr lang="zh-CN" altLang="en-US" sz="2400" dirty="0">
              <a:latin typeface="微软雅黑" panose="020B0503020204020204" pitchFamily="34" charset="-122"/>
              <a:ea typeface="微软雅黑" panose="020B0503020204020204" pitchFamily="34" charset="-122"/>
            </a:endParaRPr>
          </a:p>
          <a:p>
            <a:pPr>
              <a:lnSpc>
                <a:spcPct val="150000"/>
              </a:lnSpc>
            </a:pP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）按后序遍历左子树；</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sym typeface="+mn-ea"/>
              </a:rPr>
              <a:t>按后序遍历右子树；</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sym typeface="+mn-ea"/>
              </a:rPr>
              <a:t>3</a:t>
            </a:r>
            <a:r>
              <a:rPr lang="zh-CN" altLang="en-US" sz="2400" dirty="0">
                <a:latin typeface="微软雅黑" panose="020B0503020204020204" pitchFamily="34" charset="-122"/>
                <a:ea typeface="微软雅黑" panose="020B0503020204020204" pitchFamily="34" charset="-122"/>
                <a:sym typeface="+mn-ea"/>
              </a:rPr>
              <a:t>）访问根节点；</a:t>
            </a:r>
            <a:endParaRPr lang="zh-CN" altLang="en-US"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412241" y="1336195"/>
            <a:ext cx="4607560" cy="4192943"/>
          </a:xfrm>
          <a:prstGeom prst="rect">
            <a:avLst/>
          </a:prstGeom>
          <a:noFill/>
          <a:ln>
            <a:solidFill>
              <a:schemeClr val="tx1"/>
            </a:solidFill>
          </a:ln>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void </a:t>
            </a:r>
            <a:r>
              <a:rPr lang="en-US" altLang="zh-CN" sz="2000" dirty="0" err="1">
                <a:latin typeface="微软雅黑" panose="020B0503020204020204" pitchFamily="34" charset="-122"/>
                <a:ea typeface="微软雅黑" panose="020B0503020204020204" pitchFamily="34" charset="-122"/>
              </a:rPr>
              <a:t>PostOrder</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BiTree</a:t>
            </a:r>
            <a:r>
              <a:rPr lang="en-US" altLang="zh-CN" sz="2000" dirty="0">
                <a:latin typeface="微软雅黑" panose="020B0503020204020204" pitchFamily="34" charset="-122"/>
                <a:ea typeface="微软雅黑" panose="020B0503020204020204" pitchFamily="34" charset="-122"/>
              </a:rPr>
              <a:t> root)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if(root!=NULL)</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PostOrder</a:t>
            </a:r>
            <a:r>
              <a:rPr lang="en-US" altLang="zh-CN" sz="2000" dirty="0">
                <a:latin typeface="微软雅黑" panose="020B0503020204020204" pitchFamily="34" charset="-122"/>
                <a:ea typeface="微软雅黑" panose="020B0503020204020204" pitchFamily="34" charset="-122"/>
              </a:rPr>
              <a:t>(root-&gt;</a:t>
            </a:r>
            <a:r>
              <a:rPr lang="en-US" altLang="zh-CN" sz="2000" dirty="0" err="1">
                <a:latin typeface="微软雅黑" panose="020B0503020204020204" pitchFamily="34" charset="-122"/>
                <a:ea typeface="微软雅黑" panose="020B0503020204020204" pitchFamily="34" charset="-122"/>
              </a:rPr>
              <a:t>Lchild</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sym typeface="+mn-ea"/>
              </a:rPr>
              <a:t>            </a:t>
            </a:r>
            <a:r>
              <a:rPr lang="en-US" altLang="zh-CN" sz="2000" dirty="0" err="1">
                <a:latin typeface="微软雅黑" panose="020B0503020204020204" pitchFamily="34" charset="-122"/>
                <a:ea typeface="微软雅黑" panose="020B0503020204020204" pitchFamily="34" charset="-122"/>
                <a:sym typeface="+mn-ea"/>
              </a:rPr>
              <a:t>PostOrder</a:t>
            </a:r>
            <a:r>
              <a:rPr lang="en-US" altLang="zh-CN" sz="2000" dirty="0">
                <a:latin typeface="微软雅黑" panose="020B0503020204020204" pitchFamily="34" charset="-122"/>
                <a:ea typeface="微软雅黑" panose="020B0503020204020204" pitchFamily="34" charset="-122"/>
                <a:sym typeface="+mn-ea"/>
              </a:rPr>
              <a:t>(root-&gt;</a:t>
            </a:r>
            <a:r>
              <a:rPr lang="en-US" altLang="zh-CN" sz="2000" dirty="0" err="1">
                <a:latin typeface="微软雅黑" panose="020B0503020204020204" pitchFamily="34" charset="-122"/>
                <a:ea typeface="微软雅黑" panose="020B0503020204020204" pitchFamily="34" charset="-122"/>
                <a:sym typeface="+mn-ea"/>
              </a:rPr>
              <a:t>Rchild</a:t>
            </a:r>
            <a:r>
              <a:rPr lang="en-US" altLang="zh-CN" sz="2000" dirty="0">
                <a:latin typeface="微软雅黑" panose="020B0503020204020204" pitchFamily="34" charset="-122"/>
                <a:ea typeface="微软雅黑" panose="020B0503020204020204" pitchFamily="34" charset="-122"/>
                <a:sym typeface="+mn-ea"/>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FF0000"/>
                </a:solidFill>
                <a:latin typeface="微软雅黑" panose="020B0503020204020204" pitchFamily="34" charset="-122"/>
                <a:ea typeface="微软雅黑" panose="020B0503020204020204" pitchFamily="34" charset="-122"/>
                <a:sym typeface="+mn-ea"/>
              </a:rPr>
              <a:t>            Visit(root-&gt;data);</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28869" y="6441793"/>
            <a:ext cx="253596" cy="461665"/>
          </a:xfrm>
          <a:prstGeom prst="rect">
            <a:avLst/>
          </a:prstGeom>
          <a:noFill/>
        </p:spPr>
        <p:txBody>
          <a:bodyPr wrap="none" rtlCol="0">
            <a:spAutoFit/>
          </a:bodyPr>
          <a:lstStyle/>
          <a:p>
            <a:r>
              <a:rPr lang="zh-CN" altLang="en-US" sz="2400" dirty="0"/>
              <a:t> </a:t>
            </a:r>
            <a:endParaRPr lang="zh-CN" altLang="en-US" sz="2400" dirty="0"/>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30" name="文本框 29"/>
          <p:cNvSpPr txBox="1"/>
          <p:nvPr/>
        </p:nvSpPr>
        <p:spPr>
          <a:xfrm>
            <a:off x="331926" y="2387324"/>
            <a:ext cx="902811" cy="523220"/>
          </a:xfrm>
          <a:prstGeom prst="rect">
            <a:avLst/>
          </a:prstGeom>
          <a:noFill/>
        </p:spPr>
        <p:txBody>
          <a:bodyPr wrap="none" rtlCol="0">
            <a:spAutoFit/>
          </a:bodyPr>
          <a:lstStyle/>
          <a:p>
            <a:r>
              <a:rPr lang="zh-CN" altLang="en-US" sz="2800" dirty="0">
                <a:solidFill>
                  <a:schemeClr val="bg1"/>
                </a:solidFill>
              </a:rPr>
              <a:t>电梯</a:t>
            </a:r>
            <a:endParaRPr lang="zh-CN" altLang="en-US" sz="2800" dirty="0">
              <a:solidFill>
                <a:schemeClr val="bg1"/>
              </a:solidFill>
            </a:endParaRPr>
          </a:p>
        </p:txBody>
      </p:sp>
      <p:sp>
        <p:nvSpPr>
          <p:cNvPr id="32" name="文本框 31"/>
          <p:cNvSpPr txBox="1"/>
          <p:nvPr/>
        </p:nvSpPr>
        <p:spPr>
          <a:xfrm>
            <a:off x="4460905" y="2026250"/>
            <a:ext cx="678007" cy="1384995"/>
          </a:xfrm>
          <a:prstGeom prst="rect">
            <a:avLst/>
          </a:prstGeom>
          <a:noFill/>
        </p:spPr>
        <p:txBody>
          <a:bodyPr wrap="square" rtlCol="0">
            <a:spAutoFit/>
          </a:bodyPr>
          <a:lstStyle/>
          <a:p>
            <a:r>
              <a:rPr lang="zh-CN" altLang="en-US" sz="2800" dirty="0">
                <a:solidFill>
                  <a:schemeClr val="bg1"/>
                </a:solidFill>
              </a:rPr>
              <a:t>浏览器</a:t>
            </a:r>
            <a:endParaRPr lang="zh-CN" altLang="en-US" sz="2800" dirty="0">
              <a:solidFill>
                <a:schemeClr val="bg1"/>
              </a:solidFill>
            </a:endParaRPr>
          </a:p>
        </p:txBody>
      </p:sp>
      <p:sp>
        <p:nvSpPr>
          <p:cNvPr id="11" name="文本框 10"/>
          <p:cNvSpPr txBox="1"/>
          <p:nvPr/>
        </p:nvSpPr>
        <p:spPr>
          <a:xfrm>
            <a:off x="331926" y="1280377"/>
            <a:ext cx="8281073" cy="2221314"/>
          </a:xfrm>
          <a:prstGeom prst="rect">
            <a:avLst/>
          </a:prstGeom>
          <a:noFill/>
        </p:spPr>
        <p:txBody>
          <a:bodyPr wrap="square">
            <a:spAutoFit/>
          </a:bodyPr>
          <a:lstStyle/>
          <a:p>
            <a:pPr algn="l">
              <a:lnSpc>
                <a:spcPct val="150000"/>
              </a:lnSpc>
            </a:pPr>
            <a:r>
              <a:rPr lang="zh-CN" altLang="en-US" sz="3200" dirty="0">
                <a:latin typeface="微软雅黑" panose="020B0503020204020204" pitchFamily="34" charset="-122"/>
                <a:ea typeface="微软雅黑" panose="020B0503020204020204" pitchFamily="34" charset="-122"/>
              </a:rPr>
              <a:t>注意：</a:t>
            </a:r>
            <a:endParaRPr lang="en-US" altLang="zh-CN" sz="3200" dirty="0">
              <a:latin typeface="微软雅黑" panose="020B0503020204020204" pitchFamily="34" charset="-122"/>
              <a:ea typeface="微软雅黑" panose="020B0503020204020204" pitchFamily="34" charset="-122"/>
            </a:endParaRPr>
          </a:p>
          <a:p>
            <a:pPr algn="l">
              <a:lnSpc>
                <a:spcPct val="150000"/>
              </a:lnSpc>
            </a:pPr>
            <a:r>
              <a:rPr lang="en-US" altLang="zh-CN" sz="3200" dirty="0">
                <a:latin typeface="微软雅黑" panose="020B0503020204020204" pitchFamily="34" charset="-122"/>
                <a:ea typeface="微软雅黑" panose="020B0503020204020204" pitchFamily="34" charset="-122"/>
              </a:rPr>
              <a:t>          </a:t>
            </a:r>
            <a:r>
              <a:rPr lang="zh-CN" altLang="en-US" sz="3200" dirty="0">
                <a:latin typeface="微软雅黑" panose="020B0503020204020204" pitchFamily="34" charset="-122"/>
                <a:ea typeface="微软雅黑" panose="020B0503020204020204" pitchFamily="34" charset="-122"/>
              </a:rPr>
              <a:t>一是重点理解访问根结点操作的含义</a:t>
            </a:r>
            <a:endParaRPr lang="zh-CN" altLang="en-US" sz="3200" dirty="0">
              <a:latin typeface="微软雅黑" panose="020B0503020204020204" pitchFamily="34" charset="-122"/>
              <a:ea typeface="微软雅黑" panose="020B0503020204020204" pitchFamily="34" charset="-122"/>
            </a:endParaRPr>
          </a:p>
          <a:p>
            <a:pPr algn="l">
              <a:lnSpc>
                <a:spcPct val="150000"/>
              </a:lnSpc>
            </a:pPr>
            <a:r>
              <a:rPr lang="zh-CN" altLang="en-US" sz="3200" dirty="0">
                <a:latin typeface="微软雅黑" panose="020B0503020204020204" pitchFamily="34" charset="-122"/>
                <a:ea typeface="微软雅黑" panose="020B0503020204020204" pitchFamily="34" charset="-122"/>
              </a:rPr>
              <a:t> </a:t>
            </a:r>
            <a:r>
              <a:rPr lang="en-US" altLang="zh-CN" sz="3200" dirty="0">
                <a:latin typeface="微软雅黑" panose="020B0503020204020204" pitchFamily="34" charset="-122"/>
                <a:ea typeface="微软雅黑" panose="020B0503020204020204" pitchFamily="34" charset="-122"/>
              </a:rPr>
              <a:t>         </a:t>
            </a:r>
            <a:r>
              <a:rPr lang="zh-CN" altLang="en-US" sz="3200" dirty="0">
                <a:latin typeface="微软雅黑" panose="020B0503020204020204" pitchFamily="34" charset="-122"/>
                <a:ea typeface="微软雅黑" panose="020B0503020204020204" pitchFamily="34" charset="-122"/>
              </a:rPr>
              <a:t>二是对具体问题需要考虑遍历的层次</a:t>
            </a:r>
            <a:endParaRPr lang="en-US" altLang="zh-CN" sz="32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863600" y="3744595"/>
            <a:ext cx="7218045" cy="2976880"/>
          </a:xfrm>
          <a:prstGeom prst="rect">
            <a:avLst/>
          </a:prstGeom>
          <a:noFill/>
        </p:spPr>
        <p:txBody>
          <a:bodyPr wrap="square" rtlCol="0" anchor="t">
            <a:spAutoFit/>
          </a:bodyPr>
          <a:p>
            <a:pPr indent="0" fontAlgn="auto">
              <a:lnSpc>
                <a:spcPts val="2500"/>
              </a:lnSpc>
            </a:pPr>
            <a:r>
              <a:rPr lang="en-US" altLang="zh-CN" dirty="0">
                <a:solidFill>
                  <a:srgbClr val="636363"/>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rgbClr val="636363"/>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访问根结点时可以进行查询、插入、删除等操作，</a:t>
            </a:r>
            <a:r>
              <a:rPr lang="zh-CN" altLang="en-US" dirty="0">
                <a:solidFill>
                  <a:srgbClr val="37415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访问根节点的具体操作根据具体的应用场景而异。</a:t>
            </a:r>
            <a:endParaRPr lang="zh-CN" altLang="en-US" dirty="0">
              <a:solidFill>
                <a:srgbClr val="37415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ts val="2500"/>
              </a:lnSpc>
            </a:pPr>
            <a:endParaRPr lang="en-US" altLang="zh-CN" b="0" i="0" dirty="0">
              <a:solidFill>
                <a:srgbClr val="37415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500"/>
              </a:lnSpc>
            </a:pPr>
            <a:r>
              <a:rPr lang="zh-CN" altLang="en-US" dirty="0">
                <a:solidFill>
                  <a:srgbClr val="37415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比如，对于求二叉树的深度，可以在访问根节点时将根节点的深度作为参数传递给下一级子树；</a:t>
            </a:r>
            <a:endParaRPr lang="zh-CN" altLang="en-US" dirty="0">
              <a:solidFill>
                <a:srgbClr val="37415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ts val="2500"/>
              </a:lnSpc>
            </a:pPr>
            <a:endParaRPr lang="en-US" altLang="zh-CN" b="0" i="0" dirty="0">
              <a:solidFill>
                <a:srgbClr val="37415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500"/>
              </a:lnSpc>
            </a:pPr>
            <a:r>
              <a:rPr lang="zh-CN" altLang="en-US" dirty="0">
                <a:solidFill>
                  <a:srgbClr val="37415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对于遍历二叉树，可以在访问根节点时将节点的值输出或者存储到一个数据结构中等等。因此，“访问根节点”是二叉树遍历的一个关键步骤，决定了如何对每个节点进行处理。</a:t>
            </a:r>
            <a:endParaRPr lang="zh-CN" altLang="en-US" dirty="0">
              <a:solidFill>
                <a:srgbClr val="37415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p:nvPr/>
        </p:nvSpPr>
        <p:spPr>
          <a:xfrm>
            <a:off x="690563" y="3622675"/>
            <a:ext cx="8178800" cy="836613"/>
          </a:xfrm>
          <a:prstGeom prst="rect">
            <a:avLst/>
          </a:prstGeom>
        </p:spPr>
        <p:txBody>
          <a:bodyPr lIns="68580" tIns="34290" rIns="68580" bIns="34290" anchor="b">
            <a:normAutofit/>
          </a:bodyPr>
          <a:lstStyle/>
          <a:p>
            <a:pPr algn="ctr" fontAlgn="auto">
              <a:lnSpc>
                <a:spcPct val="90000"/>
              </a:lnSpc>
              <a:spcAft>
                <a:spcPts val="450"/>
              </a:spcAft>
            </a:pPr>
            <a:r>
              <a:rPr lang="zh-CN" altLang="en-US" sz="3600" b="1" noProof="1">
                <a:effectLst>
                  <a:outerShdw blurRad="38100" dist="19050" dir="2700000" algn="tl" rotWithShape="0">
                    <a:schemeClr val="dk1">
                      <a:alpha val="40000"/>
                    </a:schemeClr>
                  </a:outerShdw>
                </a:effectLst>
                <a:latin typeface="+mj-lt"/>
                <a:ea typeface="+mj-ea"/>
                <a:cs typeface="+mj-cs"/>
              </a:rPr>
              <a:t>谢谢大家！</a:t>
            </a:r>
            <a:endParaRPr lang="en-US" altLang="zh-CN" sz="3600" b="1" noProof="1">
              <a:effectLst>
                <a:outerShdw blurRad="38100" dist="19050" dir="2700000" algn="tl" rotWithShape="0">
                  <a:schemeClr val="dk1">
                    <a:alpha val="40000"/>
                  </a:schemeClr>
                </a:outerShdw>
              </a:effectLst>
              <a:latin typeface="+mj-lt"/>
              <a:ea typeface="+mj-ea"/>
              <a:cs typeface="+mj-cs"/>
            </a:endParaRPr>
          </a:p>
        </p:txBody>
      </p:sp>
      <p:sp>
        <p:nvSpPr>
          <p:cNvPr id="10" name="矩形: 圆角 9"/>
          <p:cNvSpPr/>
          <p:nvPr/>
        </p:nvSpPr>
        <p:spPr>
          <a:xfrm>
            <a:off x="0" y="1357313"/>
            <a:ext cx="9144000" cy="69850"/>
          </a:xfrm>
          <a:prstGeom prst="roundRect">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1" name="减号 10"/>
          <p:cNvSpPr/>
          <p:nvPr/>
        </p:nvSpPr>
        <p:spPr>
          <a:xfrm rot="5400000">
            <a:off x="1849438" y="1338263"/>
            <a:ext cx="341312" cy="449262"/>
          </a:xfrm>
          <a:prstGeom prst="mathMinus">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2" name="减号 11"/>
          <p:cNvSpPr/>
          <p:nvPr/>
        </p:nvSpPr>
        <p:spPr>
          <a:xfrm rot="5400000">
            <a:off x="7387431" y="1332707"/>
            <a:ext cx="352425" cy="449262"/>
          </a:xfrm>
          <a:prstGeom prst="mathMinus">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208901" name="图片 1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1125" y="1638300"/>
            <a:ext cx="3568700" cy="206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902" name="图片 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4163" y="1674813"/>
            <a:ext cx="3621087" cy="206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903"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4725" y="55563"/>
            <a:ext cx="4741863"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04" name="灯片编号占位符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8FE6614-9872-477D-A0CD-06DEF0F9A1D6}" type="slidenum">
              <a:rPr lang="zh-CN" altLang="en-US"/>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rot="10800000"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bg1"/>
                </a:solidFill>
              </a:rPr>
              <a:t>第六章   树和二叉树</a:t>
            </a:r>
            <a:endParaRPr lang="zh-CN" altLang="en-US" sz="4000" b="1" dirty="0">
              <a:solidFill>
                <a:schemeClr val="bg1"/>
              </a:solidFill>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0" name="矩形 5"/>
          <p:cNvSpPr/>
          <p:nvPr/>
        </p:nvSpPr>
        <p:spPr>
          <a:xfrm>
            <a:off x="494030" y="1130300"/>
            <a:ext cx="7377430" cy="6647180"/>
          </a:xfrm>
          <a:prstGeom prst="rect">
            <a:avLst/>
          </a:prstGeom>
          <a:noFill/>
          <a:ln w="9525">
            <a:noFill/>
          </a:ln>
        </p:spPr>
        <p:txBody>
          <a:bodyPr wrap="square" anchor="t">
            <a:spAutoFit/>
          </a:bodyPr>
          <a:lstStyle/>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.3.1</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 二叉树的遍历</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3600" dirty="0">
                <a:latin typeface="微软雅黑" panose="020B0503020204020204" pitchFamily="34" charset="-122"/>
                <a:ea typeface="微软雅黑" panose="020B0503020204020204" pitchFamily="34" charset="-122"/>
                <a:sym typeface="Arial" panose="020B0604020202020204" pitchFamily="34" charset="0"/>
              </a:rPr>
              <a:t> </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一、遍历的概念</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二、遍历规律与递归算法</a:t>
            </a:r>
            <a:endParaRPr lang="en-US" altLang="zh-CN"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.3.2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遍历算法应用</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.3.3 </a:t>
            </a:r>
            <a:r>
              <a:rPr lang="zh-CN" altLang="en-US"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基于栈的递归消除</a:t>
            </a:r>
            <a:endParaRPr lang="en-US" altLang="zh-CN"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3600" dirty="0">
                <a:latin typeface="微软雅黑" panose="020B0503020204020204" pitchFamily="34" charset="-122"/>
                <a:ea typeface="微软雅黑" panose="020B0503020204020204" pitchFamily="34" charset="-122"/>
                <a:sym typeface="Wingdings" panose="05000000000000000000" pitchFamily="2" charset="2"/>
              </a:rPr>
              <a:t> 6</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3.4</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 线索二叉树</a:t>
            </a:r>
            <a:endParaRPr lang="zh-CN" altLang="en-US" sz="32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3600" dirty="0">
                <a:latin typeface="微软雅黑" panose="020B0503020204020204" pitchFamily="34" charset="-122"/>
                <a:ea typeface="微软雅黑" panose="020B0503020204020204" pitchFamily="34" charset="-122"/>
                <a:sym typeface="Wingdings" panose="05000000000000000000" pitchFamily="2" charset="2"/>
              </a:rPr>
              <a:t>6</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3.5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由遍历序列确定二叉树</a:t>
            </a:r>
            <a:endParaRPr lang="zh-CN" altLang="en-US" sz="32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200" b="1" dirty="0">
                <a:latin typeface="微软雅黑" panose="020B0503020204020204" pitchFamily="34" charset="-122"/>
                <a:ea typeface="微软雅黑" panose="020B0503020204020204" pitchFamily="34" charset="-122"/>
                <a:sym typeface="Arial" panose="020B0604020202020204" pitchFamily="34" charset="0"/>
              </a:rPr>
              <a:t> </a:t>
            </a:r>
            <a:endParaRPr lang="zh-CN" altLang="en-US" sz="3200" b="1"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TABLE_ENDDRAG_ORIGIN_RECT" val="369*30"/>
  <p:tag name="TABLE_ENDDRAG_RECT" val="343*383*369*30"/>
</p:tagLst>
</file>

<file path=ppt/tags/tag2.xml><?xml version="1.0" encoding="utf-8"?>
<p:tagLst xmlns:p="http://schemas.openxmlformats.org/presentationml/2006/main">
  <p:tag name="TABLE_ENDDRAG_ORIGIN_RECT" val="84*9"/>
  <p:tag name="TABLE_ENDDRAG_RECT" val="513*312*84*9"/>
</p:tagLst>
</file>

<file path=ppt/tags/tag3.xml><?xml version="1.0" encoding="utf-8"?>
<p:tagLst xmlns:p="http://schemas.openxmlformats.org/presentationml/2006/main">
  <p:tag name="TABLE_ENDDRAG_ORIGIN_RECT" val="84*9"/>
  <p:tag name="TABLE_ENDDRAG_RECT" val="513*312*84*9"/>
</p:tagLst>
</file>

<file path=ppt/tags/tag4.xml><?xml version="1.0" encoding="utf-8"?>
<p:tagLst xmlns:p="http://schemas.openxmlformats.org/presentationml/2006/main">
  <p:tag name="TABLE_ENDDRAG_ORIGIN_RECT" val="84*9"/>
  <p:tag name="TABLE_ENDDRAG_RECT" val="513*312*84*9"/>
</p:tagLst>
</file>

<file path=ppt/tags/tag5.xml><?xml version="1.0" encoding="utf-8"?>
<p:tagLst xmlns:p="http://schemas.openxmlformats.org/presentationml/2006/main">
  <p:tag name="TABLE_ENDDRAG_ORIGIN_RECT" val="84*9"/>
  <p:tag name="TABLE_ENDDRAG_RECT" val="513*312*84*9"/>
</p:tagLst>
</file>

<file path=ppt/tags/tag6.xml><?xml version="1.0" encoding="utf-8"?>
<p:tagLst xmlns:p="http://schemas.openxmlformats.org/presentationml/2006/main">
  <p:tag name="KSO_WPP_MARK_KEY" val="be3afda5-f056-4703-a34e-876a0663a04b"/>
  <p:tag name="COMMONDATA" val="eyJoZGlkIjoiYTc2ZGZiNzZiNDVlOGViOWVmM2JhOTY0NGJkNjUyYz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10967</Words>
  <Application>WPS 演示</Application>
  <PresentationFormat>全屏显示(4:3)</PresentationFormat>
  <Paragraphs>1249</Paragraphs>
  <Slides>55</Slides>
  <Notes>45</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55</vt:i4>
      </vt:variant>
    </vt:vector>
  </HeadingPairs>
  <TitlesOfParts>
    <vt:vector size="72" baseType="lpstr">
      <vt:lpstr>Arial</vt:lpstr>
      <vt:lpstr>宋体</vt:lpstr>
      <vt:lpstr>Wingdings</vt:lpstr>
      <vt:lpstr>微软雅黑</vt:lpstr>
      <vt:lpstr>Times New Roman</vt:lpstr>
      <vt:lpstr>NimbusRomNo9L-Regu</vt:lpstr>
      <vt:lpstr>Segoe Print</vt:lpstr>
      <vt:lpstr>Calibri</vt:lpstr>
      <vt:lpstr>Lucida Sans Unicode</vt:lpstr>
      <vt:lpstr>Cambria Math</vt:lpstr>
      <vt:lpstr>Wingdings</vt:lpstr>
      <vt:lpstr>等线</vt:lpstr>
      <vt:lpstr>Arial Unicode MS</vt:lpstr>
      <vt:lpstr>等线 Light</vt:lpstr>
      <vt:lpstr>新宋体</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 bingshu</dc:creator>
  <cp:lastModifiedBy>BookPlus</cp:lastModifiedBy>
  <cp:revision>3683</cp:revision>
  <dcterms:created xsi:type="dcterms:W3CDTF">2021-09-11T01:34:00Z</dcterms:created>
  <dcterms:modified xsi:type="dcterms:W3CDTF">2026-04-09T09:28:18Z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55A31EF8775D4DD289A87A57E280B2DF</vt:lpwstr>
  </property>
  <property fmtid="{D5CDD505-2E9C-101B-9397-08002B2CF9AE}" pid="3" name="KSOProductBuildVer">
    <vt:lpwstr>2052-12.1.0.25225</vt:lpwstr>
  </property>
</Properties>
</file>