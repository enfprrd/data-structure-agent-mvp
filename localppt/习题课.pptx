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81" r:id="rId9"/>
    <p:sldId id="282" r:id="rId10"/>
    <p:sldId id="273" r:id="rId11"/>
    <p:sldId id="276" r:id="rId12"/>
    <p:sldId id="279" r:id="rId13"/>
    <p:sldId id="280" r:id="rId14"/>
    <p:sldId id="275" r:id="rId15"/>
    <p:sldId id="263" r:id="rId16"/>
    <p:sldId id="272"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bingshu" initials="w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6.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https://blog.csdn.net/qq_22771739/article/details/88077977</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https://blog.csdn.net/qq_22771739/article/details/88077977</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08363" y="849313"/>
            <a:ext cx="3057525" cy="2293937"/>
          </a:xfrm>
        </p:spPr>
      </p:sp>
      <p:sp>
        <p:nvSpPr>
          <p:cNvPr id="3" name="Notes Placeholder 2"/>
          <p:cNvSpPr>
            <a:spLocks noGrp="1"/>
          </p:cNvSpPr>
          <p:nvPr>
            <p:ph type="body" idx="1"/>
          </p:nvPr>
        </p:nvSpPr>
        <p:spPr/>
        <p:txBody>
          <a:bodyPr/>
          <a:lstStyle/>
          <a:p>
            <a:pPr algn="ctr">
              <a:lnSpc>
                <a:spcPct val="150000"/>
              </a:lnSpc>
            </a:pPr>
            <a:r>
              <a:rPr lang="zh-CN" altLang="en-US" sz="1200" b="0" i="0" dirty="0">
                <a:solidFill>
                  <a:srgbClr val="262626"/>
                </a:solidFill>
                <a:effectLst/>
                <a:latin typeface="system-ui"/>
              </a:rPr>
              <a:t>专业知识</a:t>
            </a:r>
            <a:endParaRPr lang="en-US" altLang="zh-CN" sz="1200" b="0" i="0" dirty="0">
              <a:solidFill>
                <a:srgbClr val="262626"/>
              </a:solidFill>
              <a:effectLst/>
              <a:latin typeface="system-ui"/>
            </a:endParaRPr>
          </a:p>
          <a:p>
            <a:pPr algn="ctr">
              <a:lnSpc>
                <a:spcPct val="150000"/>
              </a:lnSpc>
            </a:pPr>
            <a:r>
              <a:rPr lang="zh-CN" altLang="en-US" sz="1200" dirty="0">
                <a:solidFill>
                  <a:srgbClr val="262626"/>
                </a:solidFill>
                <a:latin typeface="system-ui"/>
              </a:rPr>
              <a:t>综合素质</a:t>
            </a:r>
            <a:endParaRPr lang="en-US" altLang="zh-CN" sz="1200" dirty="0">
              <a:solidFill>
                <a:srgbClr val="262626"/>
              </a:solidFill>
              <a:latin typeface="system-ui"/>
            </a:endParaRPr>
          </a:p>
          <a:p>
            <a:pPr algn="ctr">
              <a:lnSpc>
                <a:spcPct val="150000"/>
              </a:lnSpc>
            </a:pPr>
            <a:r>
              <a:rPr lang="zh-CN" altLang="en-US" sz="1200" dirty="0">
                <a:solidFill>
                  <a:srgbClr val="262626"/>
                </a:solidFill>
                <a:latin typeface="system-ui"/>
              </a:rPr>
              <a:t>国际视野</a:t>
            </a:r>
            <a:endParaRPr lang="en-US" altLang="zh-CN" sz="1200" dirty="0">
              <a:solidFill>
                <a:srgbClr val="262626"/>
              </a:solidFill>
              <a:latin typeface="system-ui"/>
            </a:endParaRPr>
          </a:p>
          <a:p>
            <a:pPr algn="ctr">
              <a:lnSpc>
                <a:spcPct val="150000"/>
              </a:lnSpc>
            </a:pPr>
            <a:r>
              <a:rPr lang="zh-CN" altLang="en-US" sz="1200" dirty="0">
                <a:solidFill>
                  <a:srgbClr val="262626"/>
                </a:solidFill>
                <a:latin typeface="system-ui"/>
              </a:rPr>
              <a:t>社会责任</a:t>
            </a:r>
            <a:endParaRPr lang="en-US" altLang="zh-CN" sz="1200" dirty="0">
              <a:solidFill>
                <a:srgbClr val="262626"/>
              </a:solidFill>
              <a:latin typeface="system-ui"/>
            </a:endParaRPr>
          </a:p>
          <a:p>
            <a:pPr algn="just"/>
            <a:r>
              <a:rPr lang="zh-CN" altLang="en-US" sz="1050" b="0" i="0" dirty="0">
                <a:solidFill>
                  <a:srgbClr val="262626"/>
                </a:solidFill>
                <a:effectLst/>
                <a:latin typeface="system-ui"/>
              </a:rPr>
              <a:t> </a:t>
            </a:r>
            <a:endParaRPr lang="zh-CN" altLang="en-US" sz="1050" b="0" i="0" dirty="0">
              <a:solidFill>
                <a:srgbClr val="262626"/>
              </a:solidFill>
              <a:effectLst/>
              <a:latin typeface="system-ui"/>
            </a:endParaRPr>
          </a:p>
          <a:p>
            <a:endParaRPr lang="zh-CN" altLang="en-US" sz="1050" dirty="0"/>
          </a:p>
        </p:txBody>
      </p:sp>
      <p:sp>
        <p:nvSpPr>
          <p:cNvPr id="4" name="Slide Number Placeholder 3"/>
          <p:cNvSpPr>
            <a:spLocks noGrp="1"/>
          </p:cNvSpPr>
          <p:nvPr>
            <p:ph type="sldNum" sz="quarter" idx="10"/>
          </p:nvPr>
        </p:nvSpPr>
        <p:spPr/>
        <p:txBody>
          <a:bodyPr/>
          <a:lstStyle/>
          <a:p>
            <a:fld id="{CAEE754D-AB13-4A80-B6E4-342A5DABBA1F}"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08363" y="849313"/>
            <a:ext cx="3057525" cy="2293937"/>
          </a:xfrm>
        </p:spPr>
      </p:sp>
      <p:sp>
        <p:nvSpPr>
          <p:cNvPr id="3" name="Notes Placeholder 2"/>
          <p:cNvSpPr>
            <a:spLocks noGrp="1"/>
          </p:cNvSpPr>
          <p:nvPr>
            <p:ph type="body" idx="1"/>
          </p:nvPr>
        </p:nvSpPr>
        <p:spPr/>
        <p:txBody>
          <a:bodyPr/>
          <a:lstStyle/>
          <a:p>
            <a:r>
              <a:rPr lang="en-US" altLang="zh-CN" dirty="0"/>
              <a:t>Thanks for your attentions. </a:t>
            </a:r>
            <a:endParaRPr lang="en-US" dirty="0"/>
          </a:p>
        </p:txBody>
      </p:sp>
      <p:sp>
        <p:nvSpPr>
          <p:cNvPr id="4" name="Slide Number Placeholder 3"/>
          <p:cNvSpPr>
            <a:spLocks noGrp="1"/>
          </p:cNvSpPr>
          <p:nvPr>
            <p:ph type="sldNum" sz="quarter" idx="10"/>
          </p:nvPr>
        </p:nvSpPr>
        <p:spPr/>
        <p:txBody>
          <a:bodyPr/>
          <a:lstStyle/>
          <a:p>
            <a:fld id="{CAEE754D-AB13-4A80-B6E4-342A5DABBA1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hyperlink" Target="https://so.csdn.net/so/search?q=%E8%BF%90%E7%AE%97%E7%AC%A6&amp;spm=1001.2101.3001.7020"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1183005" y="789940"/>
            <a:ext cx="9079865" cy="2676525"/>
          </a:xfrm>
          <a:prstGeom prst="rect">
            <a:avLst/>
          </a:prstGeom>
          <a:noFill/>
        </p:spPr>
        <p:txBody>
          <a:bodyPr wrap="square" rtlCol="0">
            <a:spAutoFit/>
          </a:bodyPr>
          <a:lstStyle/>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习题讲解</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针对二元算术表达式，</a:t>
            </a:r>
            <a:r>
              <a:rPr lang="en-US" altLang="zh-CN" sz="2800" dirty="0" err="1">
                <a:latin typeface="微软雅黑" panose="020B0503020204020204" charset="-122"/>
                <a:ea typeface="微软雅黑" panose="020B0503020204020204" charset="-122"/>
                <a:sym typeface="Wingdings 2" panose="05020102010507070707" pitchFamily="18" charset="2"/>
              </a:rPr>
              <a:t>a+b</a:t>
            </a: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(c-d)-e/f</a:t>
            </a:r>
            <a:r>
              <a:rPr lang="zh-CN" altLang="en-US" sz="2800" dirty="0">
                <a:latin typeface="微软雅黑" panose="020B0503020204020204" charset="-122"/>
                <a:ea typeface="微软雅黑" panose="020B0503020204020204" charset="-122"/>
                <a:sym typeface="Wingdings 2" panose="05020102010507070707" pitchFamily="18" charset="2"/>
              </a:rPr>
              <a:t>，请完成以下要求，</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）给出这个表达式的后缀形式和前缀形式；</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2</a:t>
            </a:r>
            <a:r>
              <a:rPr lang="zh-CN" altLang="en-US" sz="2800" dirty="0">
                <a:latin typeface="微软雅黑" panose="020B0503020204020204" charset="-122"/>
                <a:ea typeface="微软雅黑" panose="020B0503020204020204" charset="-122"/>
                <a:sym typeface="Wingdings 2" panose="05020102010507070707" pitchFamily="18" charset="2"/>
              </a:rPr>
              <a:t>）画出这个算术表达式对应的二叉树。</a:t>
            </a:r>
            <a:endParaRPr lang="zh-CN" altLang="en-US" sz="2800" dirty="0">
              <a:latin typeface="微软雅黑" panose="020B0503020204020204" charset="-122"/>
              <a:ea typeface="微软雅黑" panose="020B0503020204020204" charset="-122"/>
              <a:sym typeface="Wingdings 2" panose="05020102010507070707" pitchFamily="18" charset="2"/>
            </a:endParaRPr>
          </a:p>
        </p:txBody>
      </p:sp>
      <p:sp>
        <p:nvSpPr>
          <p:cNvPr id="6" name="文本框 5"/>
          <p:cNvSpPr txBox="1"/>
          <p:nvPr/>
        </p:nvSpPr>
        <p:spPr>
          <a:xfrm>
            <a:off x="1336675" y="3766820"/>
            <a:ext cx="9831705" cy="2306955"/>
          </a:xfrm>
          <a:prstGeom prst="rect">
            <a:avLst/>
          </a:prstGeom>
          <a:noFill/>
        </p:spPr>
        <p:txBody>
          <a:bodyPr wrap="square">
            <a:spAutoFit/>
          </a:bodyPr>
          <a:lstStyle/>
          <a:p>
            <a:r>
              <a:rPr lang="zh-CN" altLang="en-US" dirty="0">
                <a:latin typeface="微软雅黑" panose="020B0503020204020204" charset="-122"/>
                <a:ea typeface="微软雅黑" panose="020B0503020204020204" charset="-122"/>
                <a:cs typeface="微软雅黑" panose="020B0503020204020204" charset="-122"/>
              </a:rPr>
              <a:t>前缀表达式</a:t>
            </a:r>
            <a:r>
              <a:rPr lang="en-US" altLang="zh-CN" dirty="0">
                <a:latin typeface="微软雅黑" panose="020B0503020204020204" charset="-122"/>
                <a:ea typeface="微软雅黑" panose="020B0503020204020204" charset="-122"/>
                <a:cs typeface="微软雅黑" panose="020B0503020204020204" charset="-122"/>
              </a:rPr>
              <a:t>(Prefix Notation)</a:t>
            </a:r>
            <a:r>
              <a:rPr lang="zh-CN" altLang="en-US" dirty="0">
                <a:latin typeface="微软雅黑" panose="020B0503020204020204" charset="-122"/>
                <a:ea typeface="微软雅黑" panose="020B0503020204020204" charset="-122"/>
                <a:cs typeface="微软雅黑" panose="020B0503020204020204" charset="-122"/>
              </a:rPr>
              <a:t>是指将运算符写在前面操作数写在后面的不包含括号的表达式，而且为了纪念其发明者波兰数学家</a:t>
            </a:r>
            <a:r>
              <a:rPr lang="en-US" altLang="zh-CN" dirty="0" err="1">
                <a:latin typeface="微软雅黑" panose="020B0503020204020204" charset="-122"/>
                <a:ea typeface="微软雅黑" panose="020B0503020204020204" charset="-122"/>
                <a:cs typeface="微软雅黑" panose="020B0503020204020204" charset="-122"/>
              </a:rPr>
              <a:t>JanLukasiewicz</a:t>
            </a:r>
            <a:r>
              <a:rPr lang="zh-CN" altLang="en-US" dirty="0">
                <a:latin typeface="微软雅黑" panose="020B0503020204020204" charset="-122"/>
                <a:ea typeface="微软雅黑" panose="020B0503020204020204" charset="-122"/>
                <a:cs typeface="微软雅黑" panose="020B0503020204020204" charset="-122"/>
              </a:rPr>
              <a:t>，所以前缀表达式也叫做“波兰表达式”</a:t>
            </a:r>
            <a:endParaRPr lang="en-US" altLang="zh-CN" dirty="0">
              <a:latin typeface="微软雅黑" panose="020B0503020204020204" charset="-122"/>
              <a:ea typeface="微软雅黑" panose="020B0503020204020204" charset="-122"/>
              <a:cs typeface="微软雅黑" panose="020B0503020204020204" charset="-122"/>
            </a:endParaRPr>
          </a:p>
          <a:p>
            <a:endParaRPr lang="en-US" altLang="zh-CN" dirty="0">
              <a:latin typeface="微软雅黑" panose="020B0503020204020204" charset="-122"/>
              <a:ea typeface="微软雅黑" panose="020B0503020204020204" charset="-122"/>
              <a:cs typeface="微软雅黑" panose="020B0503020204020204" charset="-122"/>
            </a:endParaRPr>
          </a:p>
          <a:p>
            <a:r>
              <a:rPr lang="zh-CN" altLang="en-US" dirty="0">
                <a:latin typeface="微软雅黑" panose="020B0503020204020204" charset="-122"/>
                <a:ea typeface="微软雅黑" panose="020B0503020204020204" charset="-122"/>
                <a:cs typeface="微软雅黑" panose="020B0503020204020204" charset="-122"/>
              </a:rPr>
              <a:t>后缀表达式</a:t>
            </a:r>
            <a:r>
              <a:rPr lang="en-US" altLang="zh-CN" dirty="0">
                <a:latin typeface="微软雅黑" panose="020B0503020204020204" charset="-122"/>
                <a:ea typeface="微软雅黑" panose="020B0503020204020204" charset="-122"/>
                <a:cs typeface="微软雅黑" panose="020B0503020204020204" charset="-122"/>
              </a:rPr>
              <a:t>(Postfix Notation)</a:t>
            </a:r>
            <a:r>
              <a:rPr lang="zh-CN" altLang="en-US" dirty="0">
                <a:latin typeface="微软雅黑" panose="020B0503020204020204" charset="-122"/>
                <a:ea typeface="微软雅黑" panose="020B0503020204020204" charset="-122"/>
                <a:cs typeface="微软雅黑" panose="020B0503020204020204" charset="-122"/>
              </a:rPr>
              <a:t>与之相反，是指运算符写在操作数后面的不包含括号的算术表达式，也叫做逆波兰表达式</a:t>
            </a:r>
            <a:endParaRPr lang="en-US" altLang="zh-CN" dirty="0">
              <a:latin typeface="微软雅黑" panose="020B0503020204020204" charset="-122"/>
              <a:ea typeface="微软雅黑" panose="020B0503020204020204" charset="-122"/>
              <a:cs typeface="微软雅黑" panose="020B0503020204020204" charset="-122"/>
            </a:endParaRPr>
          </a:p>
          <a:p>
            <a:endParaRPr lang="en-US" altLang="zh-CN" dirty="0">
              <a:latin typeface="微软雅黑" panose="020B0503020204020204" charset="-122"/>
              <a:ea typeface="微软雅黑" panose="020B0503020204020204" charset="-122"/>
              <a:cs typeface="微软雅黑" panose="020B0503020204020204" charset="-122"/>
            </a:endParaRPr>
          </a:p>
          <a:p>
            <a:r>
              <a:rPr lang="zh-CN" altLang="en-US" dirty="0">
                <a:latin typeface="微软雅黑" panose="020B0503020204020204" charset="-122"/>
                <a:ea typeface="微软雅黑" panose="020B0503020204020204" charset="-122"/>
                <a:cs typeface="微软雅黑" panose="020B0503020204020204" charset="-122"/>
              </a:rPr>
              <a:t>中缀表达式</a:t>
            </a:r>
            <a:r>
              <a:rPr lang="en-US" altLang="zh-CN" dirty="0">
                <a:latin typeface="微软雅黑" panose="020B0503020204020204" charset="-122"/>
                <a:ea typeface="微软雅黑" panose="020B0503020204020204" charset="-122"/>
                <a:cs typeface="微软雅黑" panose="020B0503020204020204" charset="-122"/>
              </a:rPr>
              <a:t>(</a:t>
            </a:r>
            <a:r>
              <a:rPr lang="en-US" altLang="zh-CN" dirty="0" err="1">
                <a:latin typeface="微软雅黑" panose="020B0503020204020204" charset="-122"/>
                <a:ea typeface="微软雅黑" panose="020B0503020204020204" charset="-122"/>
                <a:cs typeface="微软雅黑" panose="020B0503020204020204" charset="-122"/>
              </a:rPr>
              <a:t>InfixNotation</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就是常用的将操作符放在操作数中间的算术表达式。前缀表达式和后缀表达式相对于中缀表达式最大的不同就是去掉了表示运算符优先级的括号</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3844925" y="268605"/>
            <a:ext cx="5100320" cy="583565"/>
          </a:xfrm>
          <a:prstGeom prst="rect">
            <a:avLst/>
          </a:prstGeom>
          <a:noFill/>
        </p:spPr>
        <p:txBody>
          <a:bodyPr wrap="square" rtlCol="0">
            <a:spAutoFit/>
          </a:bodyPr>
          <a:p>
            <a:r>
              <a:rPr lang="zh-CN" altLang="en-US" sz="3200"/>
              <a:t>提供部分例题供学习参考</a:t>
            </a:r>
            <a:endParaRPr lang="zh-CN"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6" name="文本框 5"/>
          <p:cNvSpPr txBox="1"/>
          <p:nvPr/>
        </p:nvSpPr>
        <p:spPr>
          <a:xfrm>
            <a:off x="1328420" y="3676650"/>
            <a:ext cx="9404985" cy="2861310"/>
          </a:xfrm>
          <a:prstGeom prst="rect">
            <a:avLst/>
          </a:prstGeom>
          <a:noFill/>
        </p:spPr>
        <p:txBody>
          <a:bodyPr wrap="square">
            <a:spAutoFit/>
          </a:bodyPr>
          <a:lstStyle/>
          <a:p>
            <a:pPr algn="l"/>
            <a:r>
              <a:rPr lang="zh-CN" altLang="en-US" b="0" i="0" dirty="0">
                <a:effectLst/>
                <a:latin typeface="-apple-system"/>
              </a:rPr>
              <a:t>提示：</a:t>
            </a:r>
            <a:endParaRPr lang="en-US" altLang="zh-CN" b="0" i="0" dirty="0">
              <a:effectLst/>
              <a:latin typeface="-apple-system"/>
            </a:endParaRPr>
          </a:p>
          <a:p>
            <a:pPr algn="l"/>
            <a:r>
              <a:rPr lang="zh-CN" altLang="en-US" b="0" i="0" dirty="0">
                <a:effectLst/>
                <a:latin typeface="-apple-system"/>
              </a:rPr>
              <a:t>前缀表达式对应于二叉树的前序遍历</a:t>
            </a:r>
            <a:endParaRPr lang="en-US" altLang="zh-CN" b="0" i="0" dirty="0">
              <a:effectLst/>
              <a:latin typeface="-apple-system"/>
            </a:endParaRPr>
          </a:p>
          <a:p>
            <a:r>
              <a:rPr lang="zh-CN" altLang="en-US" b="0" i="0" dirty="0">
                <a:effectLst/>
                <a:latin typeface="-apple-system"/>
              </a:rPr>
              <a:t>中缀表达式对应于二叉树的中序遍历</a:t>
            </a:r>
            <a:endParaRPr lang="zh-CN" altLang="en-US" b="0" i="0" dirty="0">
              <a:effectLst/>
              <a:latin typeface="-apple-system"/>
            </a:endParaRPr>
          </a:p>
          <a:p>
            <a:r>
              <a:rPr lang="zh-CN" altLang="en-US" b="0" i="0" dirty="0">
                <a:effectLst/>
                <a:latin typeface="-apple-system"/>
              </a:rPr>
              <a:t>后缀表达式对应于二叉树的后序遍历</a:t>
            </a:r>
            <a:endParaRPr lang="en-US" altLang="zh-CN" b="0" i="0" dirty="0">
              <a:effectLst/>
              <a:latin typeface="-apple-system"/>
            </a:endParaRPr>
          </a:p>
          <a:p>
            <a:r>
              <a:rPr lang="zh-CN" altLang="en-US" dirty="0">
                <a:latin typeface="-apple-system"/>
              </a:rPr>
              <a:t>表达式转二叉树，树的树叶是操作数（常数或变量），而其他节点为操作符。</a:t>
            </a:r>
            <a:endParaRPr lang="en-US" altLang="zh-CN" b="0" i="0" dirty="0">
              <a:effectLst/>
              <a:latin typeface="-apple-system"/>
            </a:endParaRPr>
          </a:p>
          <a:p>
            <a:endParaRPr lang="en-US" altLang="zh-CN" dirty="0">
              <a:latin typeface="-apple-system"/>
            </a:endParaRPr>
          </a:p>
          <a:p>
            <a:r>
              <a:rPr lang="zh-CN" altLang="en-US" b="0" i="0" dirty="0">
                <a:effectLst/>
                <a:latin typeface="-apple-system"/>
              </a:rPr>
              <a:t>中缀转后缀</a:t>
            </a:r>
            <a:r>
              <a:rPr lang="zh-CN" altLang="en-US" dirty="0">
                <a:latin typeface="-apple-system"/>
                <a:sym typeface="Wingdings" panose="05000000000000000000" pitchFamily="2" charset="2"/>
              </a:rPr>
              <a:t>：</a:t>
            </a:r>
            <a:endParaRPr lang="en-US" altLang="zh-CN" dirty="0">
              <a:latin typeface="-apple-system"/>
              <a:sym typeface="Wingdings" panose="05000000000000000000" pitchFamily="2" charset="2"/>
            </a:endParaRPr>
          </a:p>
          <a:p>
            <a:r>
              <a:rPr lang="en-US" altLang="zh-CN" dirty="0">
                <a:latin typeface="-apple-system"/>
                <a:sym typeface="Wingdings" panose="05000000000000000000" pitchFamily="2" charset="2"/>
              </a:rPr>
              <a:t>1.</a:t>
            </a:r>
            <a:r>
              <a:rPr lang="zh-CN" altLang="en-US" dirty="0"/>
              <a:t>首先将这个中缀表达式的所有运算加括号 </a:t>
            </a:r>
            <a:r>
              <a:rPr lang="en-US" altLang="zh-CN" dirty="0"/>
              <a:t>((</a:t>
            </a:r>
            <a:r>
              <a:rPr lang="en-US" altLang="zh-CN" dirty="0">
                <a:latin typeface="微软雅黑" panose="020B0503020204020204" charset="-122"/>
                <a:ea typeface="微软雅黑" panose="020B0503020204020204" charset="-122"/>
                <a:sym typeface="Wingdings 2" panose="05020102010507070707" pitchFamily="18" charset="2"/>
              </a:rPr>
              <a:t>a+(b</a:t>
            </a:r>
            <a:r>
              <a:rPr lang="zh-CN" altLang="en-US" dirty="0">
                <a:latin typeface="微软雅黑" panose="020B0503020204020204" charset="-122"/>
                <a:ea typeface="微软雅黑" panose="020B0503020204020204" charset="-122"/>
                <a:sym typeface="Wingdings 2" panose="05020102010507070707" pitchFamily="18" charset="2"/>
              </a:rPr>
              <a:t>*</a:t>
            </a:r>
            <a:r>
              <a:rPr lang="en-US" altLang="zh-CN" dirty="0">
                <a:latin typeface="微软雅黑" panose="020B0503020204020204" charset="-122"/>
                <a:ea typeface="微软雅黑" panose="020B0503020204020204" charset="-122"/>
                <a:sym typeface="Wingdings 2" panose="05020102010507070707" pitchFamily="18" charset="2"/>
              </a:rPr>
              <a:t>(c-d)))-(e/f))  </a:t>
            </a:r>
            <a:r>
              <a:rPr lang="en-US" altLang="zh-CN" dirty="0"/>
              <a:t> </a:t>
            </a:r>
            <a:endParaRPr lang="en-US" altLang="zh-CN" dirty="0"/>
          </a:p>
          <a:p>
            <a:r>
              <a:rPr lang="en-US" altLang="zh-CN" b="0" i="0" dirty="0">
                <a:effectLst/>
                <a:latin typeface="-apple-system"/>
              </a:rPr>
              <a:t>2.</a:t>
            </a:r>
            <a:r>
              <a:rPr lang="zh-CN" altLang="en-US" dirty="0">
                <a:latin typeface="-apple-system"/>
              </a:rPr>
              <a:t>然后将所有运算符放到括号后面，这样就变成了 </a:t>
            </a:r>
            <a:r>
              <a:rPr lang="en-US" altLang="zh-CN" dirty="0"/>
              <a:t>((</a:t>
            </a:r>
            <a:r>
              <a:rPr lang="en-US" altLang="zh-CN" dirty="0">
                <a:latin typeface="微软雅黑" panose="020B0503020204020204" charset="-122"/>
                <a:ea typeface="微软雅黑" panose="020B0503020204020204" charset="-122"/>
                <a:sym typeface="Wingdings 2" panose="05020102010507070707" pitchFamily="18" charset="2"/>
              </a:rPr>
              <a:t>a(b(cd)-)*)+(</a:t>
            </a:r>
            <a:r>
              <a:rPr lang="en-US" altLang="zh-CN" dirty="0" err="1">
                <a:latin typeface="微软雅黑" panose="020B0503020204020204" charset="-122"/>
                <a:ea typeface="微软雅黑" panose="020B0503020204020204" charset="-122"/>
                <a:sym typeface="Wingdings 2" panose="05020102010507070707" pitchFamily="18" charset="2"/>
              </a:rPr>
              <a:t>ef</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p>
          <a:p>
            <a:r>
              <a:rPr lang="en-US" altLang="zh-CN" b="0" i="0" dirty="0">
                <a:effectLst/>
                <a:latin typeface="-apple-system"/>
              </a:rPr>
              <a:t>3.</a:t>
            </a:r>
            <a:r>
              <a:rPr lang="zh-CN" altLang="en-US" dirty="0"/>
              <a:t>把所有括号去掉 </a:t>
            </a:r>
            <a:r>
              <a:rPr lang="en-US" altLang="zh-CN" b="1" dirty="0" err="1"/>
              <a:t>abcd</a:t>
            </a:r>
            <a:r>
              <a:rPr lang="en-US" altLang="zh-CN" b="1" dirty="0"/>
              <a:t>-</a:t>
            </a:r>
            <a:r>
              <a:rPr lang="zh-CN" altLang="en-US" b="1" dirty="0"/>
              <a:t>*</a:t>
            </a:r>
            <a:r>
              <a:rPr lang="en-US" altLang="zh-CN" b="1" dirty="0"/>
              <a:t>+</a:t>
            </a:r>
            <a:r>
              <a:rPr lang="en-US" altLang="zh-CN" b="1" dirty="0" err="1"/>
              <a:t>ef</a:t>
            </a:r>
            <a:r>
              <a:rPr lang="en-US" altLang="zh-CN" b="1" dirty="0"/>
              <a:t>/-, </a:t>
            </a:r>
            <a:r>
              <a:rPr lang="zh-CN" altLang="en-US" dirty="0"/>
              <a:t>这样就得到了后缀形式</a:t>
            </a:r>
            <a:endParaRPr lang="zh-CN" altLang="en-US" b="0" i="0" dirty="0">
              <a:effectLst/>
              <a:latin typeface="-apple-system"/>
            </a:endParaRPr>
          </a:p>
        </p:txBody>
      </p:sp>
      <p:sp>
        <p:nvSpPr>
          <p:cNvPr id="7" name="文本框 6"/>
          <p:cNvSpPr txBox="1"/>
          <p:nvPr>
            <p:custDataLst>
              <p:tags r:id="rId1"/>
            </p:custDataLst>
          </p:nvPr>
        </p:nvSpPr>
        <p:spPr>
          <a:xfrm>
            <a:off x="1183005" y="789940"/>
            <a:ext cx="9079865" cy="2676525"/>
          </a:xfrm>
          <a:prstGeom prst="rect">
            <a:avLst/>
          </a:prstGeom>
          <a:noFill/>
        </p:spPr>
        <p:txBody>
          <a:bodyPr wrap="square" rtlCol="0">
            <a:spAutoFit/>
          </a:bodyPr>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习题讲解</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针对二元算术表达式，</a:t>
            </a:r>
            <a:r>
              <a:rPr lang="en-US" altLang="zh-CN" sz="2800" dirty="0" err="1">
                <a:latin typeface="微软雅黑" panose="020B0503020204020204" charset="-122"/>
                <a:ea typeface="微软雅黑" panose="020B0503020204020204" charset="-122"/>
                <a:sym typeface="Wingdings 2" panose="05020102010507070707" pitchFamily="18" charset="2"/>
              </a:rPr>
              <a:t>a+b</a:t>
            </a: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(c-d)-e/f</a:t>
            </a:r>
            <a:r>
              <a:rPr lang="zh-CN" altLang="en-US" sz="2800" dirty="0">
                <a:latin typeface="微软雅黑" panose="020B0503020204020204" charset="-122"/>
                <a:ea typeface="微软雅黑" panose="020B0503020204020204" charset="-122"/>
                <a:sym typeface="Wingdings 2" panose="05020102010507070707" pitchFamily="18" charset="2"/>
              </a:rPr>
              <a:t>，请完成以下要求，</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）给出这个表达式的后缀形式和前缀形式；</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2</a:t>
            </a:r>
            <a:r>
              <a:rPr lang="zh-CN" altLang="en-US" sz="2800" dirty="0">
                <a:latin typeface="微软雅黑" panose="020B0503020204020204" charset="-122"/>
                <a:ea typeface="微软雅黑" panose="020B0503020204020204" charset="-122"/>
                <a:sym typeface="Wingdings 2" panose="05020102010507070707" pitchFamily="18" charset="2"/>
              </a:rPr>
              <a:t>）画出这个算术表达式对应的二叉树。</a:t>
            </a:r>
            <a:endParaRPr lang="zh-CN" altLang="en-US" sz="2800" dirty="0">
              <a:latin typeface="微软雅黑" panose="020B0503020204020204" charset="-122"/>
              <a:ea typeface="微软雅黑" panose="020B0503020204020204" charset="-122"/>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6634223" y="3886292"/>
            <a:ext cx="2613708" cy="2899292"/>
          </a:xfrm>
          <a:prstGeom prst="rect">
            <a:avLst/>
          </a:prstGeom>
        </p:spPr>
      </p:pic>
      <p:sp>
        <p:nvSpPr>
          <p:cNvPr id="2" name="文本框 1"/>
          <p:cNvSpPr txBox="1"/>
          <p:nvPr>
            <p:custDataLst>
              <p:tags r:id="rId2"/>
            </p:custDataLst>
          </p:nvPr>
        </p:nvSpPr>
        <p:spPr>
          <a:xfrm>
            <a:off x="1252220" y="805815"/>
            <a:ext cx="9079865" cy="2676525"/>
          </a:xfrm>
          <a:prstGeom prst="rect">
            <a:avLst/>
          </a:prstGeom>
          <a:noFill/>
        </p:spPr>
        <p:txBody>
          <a:bodyPr wrap="square" rtlCol="0">
            <a:spAutoFit/>
          </a:bodyPr>
          <a:lstStyle/>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习题讲解</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针对二元算术表达式，</a:t>
            </a:r>
            <a:r>
              <a:rPr lang="en-US" altLang="zh-CN" sz="2800" dirty="0" err="1">
                <a:latin typeface="微软雅黑" panose="020B0503020204020204" charset="-122"/>
                <a:ea typeface="微软雅黑" panose="020B0503020204020204" charset="-122"/>
                <a:sym typeface="Wingdings 2" panose="05020102010507070707" pitchFamily="18" charset="2"/>
              </a:rPr>
              <a:t>a+b</a:t>
            </a: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(c-d)-e/f</a:t>
            </a:r>
            <a:r>
              <a:rPr lang="zh-CN" altLang="en-US" sz="2800" dirty="0">
                <a:latin typeface="微软雅黑" panose="020B0503020204020204" charset="-122"/>
                <a:ea typeface="微软雅黑" panose="020B0503020204020204" charset="-122"/>
                <a:sym typeface="Wingdings 2" panose="05020102010507070707" pitchFamily="18" charset="2"/>
              </a:rPr>
              <a:t>，请完成以下要求，</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1</a:t>
            </a:r>
            <a:r>
              <a:rPr lang="zh-CN" altLang="en-US" sz="2800" dirty="0">
                <a:latin typeface="微软雅黑" panose="020B0503020204020204" charset="-122"/>
                <a:ea typeface="微软雅黑" panose="020B0503020204020204" charset="-122"/>
                <a:sym typeface="Wingdings 2" panose="05020102010507070707" pitchFamily="18" charset="2"/>
              </a:rPr>
              <a:t>）给出这个表达式的后缀形式和前缀形式；</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a:t>
            </a:r>
            <a:r>
              <a:rPr lang="en-US" altLang="zh-CN" sz="2800" dirty="0">
                <a:latin typeface="微软雅黑" panose="020B0503020204020204" charset="-122"/>
                <a:ea typeface="微软雅黑" panose="020B0503020204020204" charset="-122"/>
                <a:sym typeface="Wingdings 2" panose="05020102010507070707" pitchFamily="18" charset="2"/>
              </a:rPr>
              <a:t>2</a:t>
            </a:r>
            <a:r>
              <a:rPr lang="zh-CN" altLang="en-US" sz="2800" dirty="0">
                <a:latin typeface="微软雅黑" panose="020B0503020204020204" charset="-122"/>
                <a:ea typeface="微软雅黑" panose="020B0503020204020204" charset="-122"/>
                <a:sym typeface="Wingdings 2" panose="05020102010507070707" pitchFamily="18" charset="2"/>
              </a:rPr>
              <a:t>）画出这个算术表达式对应的二叉树。</a:t>
            </a:r>
            <a:endParaRPr lang="zh-CN" altLang="en-US" sz="2800" dirty="0">
              <a:latin typeface="微软雅黑" panose="020B0503020204020204" charset="-122"/>
              <a:ea typeface="微软雅黑" panose="020B0503020204020204" charset="-122"/>
              <a:sym typeface="Wingdings 2" panose="05020102010507070707" pitchFamily="18" charset="2"/>
            </a:endParaRPr>
          </a:p>
        </p:txBody>
      </p:sp>
      <p:sp>
        <p:nvSpPr>
          <p:cNvPr id="5" name="文本框 4"/>
          <p:cNvSpPr txBox="1"/>
          <p:nvPr/>
        </p:nvSpPr>
        <p:spPr>
          <a:xfrm>
            <a:off x="1420495" y="3936365"/>
            <a:ext cx="6096000" cy="983615"/>
          </a:xfrm>
          <a:prstGeom prst="rect">
            <a:avLst/>
          </a:prstGeom>
          <a:noFill/>
        </p:spPr>
        <p:txBody>
          <a:bodyPr wrap="square" rtlCol="0" anchor="t">
            <a:spAutoFit/>
          </a:bodyPr>
          <a:p>
            <a:r>
              <a:rPr lang="zh-CN" altLang="en-US" sz="3000" dirty="0">
                <a:latin typeface="微软雅黑" panose="020B0503020204020204" charset="-122"/>
                <a:ea typeface="微软雅黑" panose="020B0503020204020204" charset="-122"/>
                <a:sym typeface="Wingdings 2" panose="05020102010507070707" pitchFamily="18" charset="2"/>
              </a:rPr>
              <a:t>解：</a:t>
            </a:r>
            <a:r>
              <a:rPr lang="zh-CN" altLang="en-US" sz="2800" dirty="0">
                <a:effectLst/>
                <a:latin typeface="等线" panose="02010600030101010101" charset="-122"/>
                <a:ea typeface="等线" panose="02010600030101010101" charset="-122"/>
                <a:sym typeface="+mn-ea"/>
              </a:rPr>
              <a:t>后缀：</a:t>
            </a:r>
            <a:r>
              <a:rPr lang="en-US" altLang="zh-CN" sz="2800" dirty="0" err="1">
                <a:effectLst/>
                <a:latin typeface="等线" panose="02010600030101010101" charset="-122"/>
                <a:ea typeface="等线" panose="02010600030101010101" charset="-122"/>
                <a:sym typeface="+mn-ea"/>
              </a:rPr>
              <a:t>abcd</a:t>
            </a:r>
            <a:r>
              <a:rPr lang="en-US" altLang="zh-CN" sz="2800" dirty="0">
                <a:effectLst/>
                <a:latin typeface="等线" panose="02010600030101010101" charset="-122"/>
                <a:ea typeface="等线" panose="02010600030101010101" charset="-122"/>
                <a:sym typeface="+mn-ea"/>
              </a:rPr>
              <a:t>-*+</a:t>
            </a:r>
            <a:r>
              <a:rPr lang="en-US" altLang="zh-CN" sz="2800" dirty="0" err="1">
                <a:effectLst/>
                <a:latin typeface="等线" panose="02010600030101010101" charset="-122"/>
                <a:ea typeface="等线" panose="02010600030101010101" charset="-122"/>
                <a:sym typeface="+mn-ea"/>
              </a:rPr>
              <a:t>ef</a:t>
            </a:r>
            <a:r>
              <a:rPr lang="en-US" altLang="zh-CN" sz="2800" dirty="0">
                <a:effectLst/>
                <a:latin typeface="等线" panose="02010600030101010101" charset="-122"/>
                <a:ea typeface="等线" panose="02010600030101010101" charset="-122"/>
                <a:sym typeface="+mn-ea"/>
              </a:rPr>
              <a:t>/-     </a:t>
            </a:r>
            <a:endParaRPr lang="en-US" altLang="zh-CN" sz="2800" dirty="0">
              <a:effectLst/>
              <a:latin typeface="等线" panose="02010600030101010101" charset="-122"/>
              <a:ea typeface="等线" panose="02010600030101010101" charset="-122"/>
            </a:endParaRPr>
          </a:p>
          <a:p>
            <a:r>
              <a:rPr lang="en-US" altLang="zh-CN" sz="2800" dirty="0">
                <a:latin typeface="等线" panose="02010600030101010101" charset="-122"/>
                <a:ea typeface="等线" panose="02010600030101010101" charset="-122"/>
                <a:sym typeface="+mn-ea"/>
              </a:rPr>
              <a:t>      </a:t>
            </a:r>
            <a:r>
              <a:rPr lang="en-US" altLang="zh-CN" sz="2800" dirty="0">
                <a:effectLst/>
                <a:latin typeface="等线" panose="02010600030101010101" charset="-122"/>
                <a:ea typeface="等线" panose="02010600030101010101" charset="-122"/>
                <a:sym typeface="+mn-ea"/>
              </a:rPr>
              <a:t>  </a:t>
            </a:r>
            <a:r>
              <a:rPr lang="zh-CN" altLang="en-US" sz="2800" dirty="0">
                <a:effectLst/>
                <a:latin typeface="等线" panose="02010600030101010101" charset="-122"/>
                <a:ea typeface="等线" panose="02010600030101010101" charset="-122"/>
                <a:sym typeface="+mn-ea"/>
              </a:rPr>
              <a:t>前缀：</a:t>
            </a:r>
            <a:r>
              <a:rPr lang="en-US" altLang="zh-CN" sz="2800" dirty="0">
                <a:effectLst/>
                <a:latin typeface="等线" panose="02010600030101010101" charset="-122"/>
                <a:ea typeface="等线" panose="02010600030101010101" charset="-122"/>
                <a:sym typeface="+mn-ea"/>
              </a:rPr>
              <a:t>-+a*b-cd/</a:t>
            </a:r>
            <a:r>
              <a:rPr lang="en-US" altLang="zh-CN" sz="2800" dirty="0" err="1">
                <a:effectLst/>
                <a:latin typeface="等线" panose="02010600030101010101" charset="-122"/>
                <a:ea typeface="等线" panose="02010600030101010101" charset="-122"/>
                <a:sym typeface="+mn-ea"/>
              </a:rPr>
              <a:t>ef</a:t>
            </a:r>
            <a:r>
              <a:rPr lang="en-US" altLang="zh-CN" sz="2800" dirty="0">
                <a:effectLst/>
                <a:latin typeface="等线" panose="02010600030101010101" charset="-122"/>
                <a:ea typeface="等线" panose="02010600030101010101" charset="-122"/>
                <a:sym typeface="+mn-ea"/>
              </a:rPr>
              <a:t> </a:t>
            </a:r>
            <a:endParaRPr lang="en-US" altLang="zh-CN" sz="2800" dirty="0">
              <a:effectLst/>
              <a:latin typeface="等线" panose="02010600030101010101" charset="-122"/>
              <a:ea typeface="等线" panose="0201060003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dirty="0"/>
          </a:p>
        </p:txBody>
      </p:sp>
      <p:sp>
        <p:nvSpPr>
          <p:cNvPr id="7" name="文本框 6"/>
          <p:cNvSpPr txBox="1"/>
          <p:nvPr/>
        </p:nvSpPr>
        <p:spPr>
          <a:xfrm>
            <a:off x="1938548" y="293315"/>
            <a:ext cx="8314904" cy="2061210"/>
          </a:xfrm>
          <a:prstGeom prst="rect">
            <a:avLst/>
          </a:prstGeom>
          <a:noFill/>
        </p:spPr>
        <p:txBody>
          <a:bodyPr wrap="square" rtlCol="0">
            <a:spAutoFit/>
          </a:bodyPr>
          <a:lstStyle/>
          <a:p>
            <a:r>
              <a:rPr lang="zh-CN" altLang="en-US" sz="2400" b="1" dirty="0"/>
              <a:t>后缀表达式计算机求值</a:t>
            </a:r>
            <a:endParaRPr lang="en-US" altLang="zh-CN" sz="2400" b="1" dirty="0"/>
          </a:p>
          <a:p>
            <a:r>
              <a:rPr lang="zh-CN" altLang="en-US" sz="2000" dirty="0"/>
              <a:t>从左至右扫描表达式，遇到数字时，将数字压入堆栈，遇到</a:t>
            </a:r>
            <a:r>
              <a:rPr lang="zh-CN" altLang="en-US" sz="2000" dirty="0">
                <a:hlinkClick r:id="rId1"/>
              </a:rPr>
              <a:t>运算符</a:t>
            </a:r>
            <a:r>
              <a:rPr lang="zh-CN" altLang="en-US" sz="2000" dirty="0"/>
              <a:t>时，弹出栈顶的两个数，用运算符对它们做相应的计算（次顶元素 </a:t>
            </a:r>
            <a:r>
              <a:rPr lang="en-US" altLang="zh-CN" sz="2000" dirty="0"/>
              <a:t>op </a:t>
            </a:r>
            <a:r>
              <a:rPr lang="zh-CN" altLang="en-US" sz="2000" dirty="0"/>
              <a:t>栈顶元素），并将结果入栈；重复上述过程直到表达式最右端，最后运算得出的值即为表达式的结果</a:t>
            </a:r>
            <a:endParaRPr lang="en-US" altLang="zh-CN" sz="2000" dirty="0"/>
          </a:p>
          <a:p>
            <a:r>
              <a:rPr lang="zh-CN" altLang="en-US" sz="2400" dirty="0">
                <a:solidFill>
                  <a:srgbClr val="FF0000"/>
                </a:solidFill>
                <a:latin typeface="等线" panose="02010600030101010101" charset="-122"/>
              </a:rPr>
              <a:t>例：后缀 </a:t>
            </a:r>
            <a:r>
              <a:rPr lang="en-US" altLang="zh-CN" sz="2400" dirty="0" err="1">
                <a:solidFill>
                  <a:srgbClr val="FF0000"/>
                </a:solidFill>
                <a:latin typeface="等线" panose="02010600030101010101" charset="-122"/>
              </a:rPr>
              <a:t>abcd</a:t>
            </a:r>
            <a:r>
              <a:rPr lang="en-US" altLang="zh-CN" sz="2400" dirty="0">
                <a:solidFill>
                  <a:srgbClr val="FF0000"/>
                </a:solidFill>
                <a:latin typeface="等线" panose="02010600030101010101" charset="-122"/>
              </a:rPr>
              <a:t>-*+</a:t>
            </a:r>
            <a:r>
              <a:rPr lang="en-US" altLang="zh-CN" sz="2400" dirty="0" err="1">
                <a:solidFill>
                  <a:srgbClr val="FF0000"/>
                </a:solidFill>
                <a:latin typeface="等线" panose="02010600030101010101" charset="-122"/>
              </a:rPr>
              <a:t>ef</a:t>
            </a:r>
            <a:r>
              <a:rPr lang="en-US" altLang="zh-CN" sz="2400" dirty="0">
                <a:solidFill>
                  <a:srgbClr val="FF0000"/>
                </a:solidFill>
                <a:latin typeface="等线" panose="02010600030101010101" charset="-122"/>
              </a:rPr>
              <a:t>/-      </a:t>
            </a:r>
            <a:r>
              <a:rPr lang="zh-CN" altLang="en-US" sz="2400" dirty="0">
                <a:solidFill>
                  <a:srgbClr val="FF0000"/>
                </a:solidFill>
                <a:latin typeface="等线" panose="02010600030101010101" charset="-122"/>
              </a:rPr>
              <a:t>当</a:t>
            </a:r>
            <a:r>
              <a:rPr lang="en-US" altLang="zh-CN" sz="2400" dirty="0">
                <a:solidFill>
                  <a:srgbClr val="FF0000"/>
                </a:solidFill>
                <a:latin typeface="等线" panose="02010600030101010101" charset="-122"/>
              </a:rPr>
              <a:t>a=3, b=4</a:t>
            </a:r>
            <a:r>
              <a:rPr lang="zh-CN" altLang="en-US" sz="2400" dirty="0">
                <a:solidFill>
                  <a:srgbClr val="FF0000"/>
                </a:solidFill>
                <a:latin typeface="等线" panose="02010600030101010101" charset="-122"/>
              </a:rPr>
              <a:t>， </a:t>
            </a:r>
            <a:r>
              <a:rPr lang="en-US" altLang="zh-CN" sz="2400" dirty="0">
                <a:solidFill>
                  <a:srgbClr val="FF0000"/>
                </a:solidFill>
                <a:latin typeface="等线" panose="02010600030101010101" charset="-122"/>
              </a:rPr>
              <a:t>c=5, d=2</a:t>
            </a:r>
            <a:r>
              <a:rPr lang="zh-CN" altLang="en-US" sz="2400" dirty="0">
                <a:solidFill>
                  <a:srgbClr val="FF0000"/>
                </a:solidFill>
                <a:latin typeface="等线" panose="02010600030101010101" charset="-122"/>
              </a:rPr>
              <a:t>， </a:t>
            </a:r>
            <a:r>
              <a:rPr lang="en-US" altLang="zh-CN" sz="2400" dirty="0">
                <a:solidFill>
                  <a:srgbClr val="FF0000"/>
                </a:solidFill>
                <a:latin typeface="等线" panose="02010600030101010101" charset="-122"/>
              </a:rPr>
              <a:t>e=6, f=3</a:t>
            </a:r>
            <a:r>
              <a:rPr lang="zh-CN" altLang="en-US" sz="2400" dirty="0">
                <a:solidFill>
                  <a:srgbClr val="FF0000"/>
                </a:solidFill>
                <a:latin typeface="等线" panose="02010600030101010101" charset="-122"/>
              </a:rPr>
              <a:t>，</a:t>
            </a:r>
            <a:endParaRPr lang="en-US" altLang="zh-CN" sz="2400" dirty="0">
              <a:solidFill>
                <a:srgbClr val="FF0000"/>
              </a:solidFill>
              <a:latin typeface="等线" panose="02010600030101010101" charset="-122"/>
            </a:endParaRPr>
          </a:p>
        </p:txBody>
      </p:sp>
      <p:sp>
        <p:nvSpPr>
          <p:cNvPr id="5" name="文本框 4"/>
          <p:cNvSpPr txBox="1"/>
          <p:nvPr/>
        </p:nvSpPr>
        <p:spPr>
          <a:xfrm>
            <a:off x="1986986" y="5234966"/>
            <a:ext cx="8052364" cy="368300"/>
          </a:xfrm>
          <a:prstGeom prst="rect">
            <a:avLst/>
          </a:prstGeom>
          <a:noFill/>
        </p:spPr>
        <p:txBody>
          <a:bodyPr wrap="square">
            <a:spAutoFit/>
          </a:bodyPr>
          <a:lstStyle/>
          <a:p>
            <a:r>
              <a:rPr lang="zh-CN" altLang="en-US" sz="1800" dirty="0">
                <a:solidFill>
                  <a:srgbClr val="0070C0"/>
                </a:solidFill>
                <a:latin typeface="等线" panose="02010600030101010101" charset="-122"/>
                <a:sym typeface="Wingdings" panose="05000000000000000000" pitchFamily="2" charset="2"/>
              </a:rPr>
              <a:t></a:t>
            </a:r>
            <a:r>
              <a:rPr lang="zh-CN" altLang="en-US" sz="1800" dirty="0">
                <a:solidFill>
                  <a:srgbClr val="0070C0"/>
                </a:solidFill>
                <a:latin typeface="等线" panose="02010600030101010101" charset="-122"/>
                <a:sym typeface="Wingdings 2" panose="05020102010507070707" pitchFamily="18" charset="2"/>
              </a:rPr>
              <a:t>参照 </a:t>
            </a:r>
            <a:r>
              <a:rPr lang="en-US" altLang="zh-CN" sz="1800" dirty="0" err="1">
                <a:solidFill>
                  <a:srgbClr val="0070C0"/>
                </a:solidFill>
                <a:latin typeface="等线" panose="02010600030101010101" charset="-122"/>
                <a:sym typeface="Wingdings 2" panose="05020102010507070707" pitchFamily="18" charset="2"/>
              </a:rPr>
              <a:t>a+b</a:t>
            </a:r>
            <a:r>
              <a:rPr lang="zh-CN" altLang="en-US" sz="1800" dirty="0">
                <a:solidFill>
                  <a:srgbClr val="0070C0"/>
                </a:solidFill>
                <a:latin typeface="等线" panose="02010600030101010101" charset="-122"/>
                <a:sym typeface="Wingdings 2" panose="05020102010507070707" pitchFamily="18" charset="2"/>
              </a:rPr>
              <a:t>*</a:t>
            </a:r>
            <a:r>
              <a:rPr lang="en-US" altLang="zh-CN" sz="1800" dirty="0">
                <a:solidFill>
                  <a:srgbClr val="0070C0"/>
                </a:solidFill>
                <a:latin typeface="等线" panose="02010600030101010101" charset="-122"/>
                <a:sym typeface="Wingdings 2" panose="05020102010507070707" pitchFamily="18" charset="2"/>
              </a:rPr>
              <a:t>(c-d)-e/f</a:t>
            </a:r>
            <a:r>
              <a:rPr lang="zh-CN" altLang="en-US" sz="1800" dirty="0">
                <a:solidFill>
                  <a:srgbClr val="0070C0"/>
                </a:solidFill>
                <a:latin typeface="等线" panose="02010600030101010101" charset="-122"/>
                <a:sym typeface="Wingdings 2" panose="05020102010507070707" pitchFamily="18" charset="2"/>
              </a:rPr>
              <a:t>计算得到 </a:t>
            </a:r>
            <a:r>
              <a:rPr lang="en-US" altLang="zh-CN" sz="1800" dirty="0">
                <a:solidFill>
                  <a:srgbClr val="0070C0"/>
                </a:solidFill>
                <a:latin typeface="等线" panose="02010600030101010101" charset="-122"/>
                <a:sym typeface="Wingdings 2" panose="05020102010507070707" pitchFamily="18" charset="2"/>
              </a:rPr>
              <a:t>3+4</a:t>
            </a:r>
            <a:r>
              <a:rPr lang="zh-CN" altLang="en-US" sz="1800" dirty="0">
                <a:solidFill>
                  <a:srgbClr val="0070C0"/>
                </a:solidFill>
                <a:latin typeface="等线" panose="02010600030101010101" charset="-122"/>
                <a:sym typeface="Wingdings 2" panose="05020102010507070707" pitchFamily="18" charset="2"/>
              </a:rPr>
              <a:t>*</a:t>
            </a:r>
            <a:r>
              <a:rPr lang="en-US" altLang="zh-CN" sz="1800" dirty="0">
                <a:solidFill>
                  <a:srgbClr val="0070C0"/>
                </a:solidFill>
                <a:latin typeface="等线" panose="02010600030101010101" charset="-122"/>
                <a:sym typeface="Wingdings 2" panose="05020102010507070707" pitchFamily="18" charset="2"/>
              </a:rPr>
              <a:t>(5-2)-6/3 = 3+4*3-2=3+12-2=13</a:t>
            </a:r>
            <a:endParaRPr lang="en-US" altLang="zh-CN" sz="1800" dirty="0">
              <a:solidFill>
                <a:srgbClr val="0070C0"/>
              </a:solidFill>
              <a:latin typeface="等线" panose="02010600030101010101" charset="-122"/>
              <a:sym typeface="Wingdings 2" panose="05020102010507070707" pitchFamily="18" charset="2"/>
            </a:endParaRPr>
          </a:p>
        </p:txBody>
      </p:sp>
      <p:graphicFrame>
        <p:nvGraphicFramePr>
          <p:cNvPr id="6" name="表格 7"/>
          <p:cNvGraphicFramePr>
            <a:graphicFrameLocks noGrp="1"/>
          </p:cNvGraphicFramePr>
          <p:nvPr/>
        </p:nvGraphicFramePr>
        <p:xfrm>
          <a:off x="2960949" y="2355418"/>
          <a:ext cx="6096000" cy="457200"/>
        </p:xfrm>
        <a:graphic>
          <a:graphicData uri="http://schemas.openxmlformats.org/drawingml/2006/table">
            <a:tbl>
              <a:tblPr firstRow="1" bandRow="1">
                <a:tableStyleId>{5C22544A-7EE6-4342-B048-85BDC9FD1C3A}</a:tableStyleId>
              </a:tblPr>
              <a:tblGrid>
                <a:gridCol w="554355"/>
                <a:gridCol w="553720"/>
                <a:gridCol w="554355"/>
                <a:gridCol w="554355"/>
                <a:gridCol w="554355"/>
                <a:gridCol w="553720"/>
                <a:gridCol w="554355"/>
                <a:gridCol w="401955"/>
                <a:gridCol w="706755"/>
                <a:gridCol w="553720"/>
                <a:gridCol w="554355"/>
              </a:tblGrid>
              <a:tr h="370840">
                <a:tc>
                  <a:txBody>
                    <a:bodyPr/>
                    <a:lstStyle/>
                    <a:p>
                      <a:r>
                        <a:rPr lang="en-US" altLang="zh-CN" sz="2400" dirty="0"/>
                        <a:t>3</a:t>
                      </a:r>
                      <a:endParaRPr lang="zh-CN" altLang="en-US" sz="2400" dirty="0"/>
                    </a:p>
                  </a:txBody>
                  <a:tcPr/>
                </a:tc>
                <a:tc>
                  <a:txBody>
                    <a:bodyPr/>
                    <a:lstStyle/>
                    <a:p>
                      <a:r>
                        <a:rPr lang="en-US" altLang="zh-CN" sz="2400" dirty="0"/>
                        <a:t>4</a:t>
                      </a:r>
                      <a:endParaRPr lang="zh-CN" altLang="en-US" sz="2400" dirty="0"/>
                    </a:p>
                  </a:txBody>
                  <a:tcPr/>
                </a:tc>
                <a:tc>
                  <a:txBody>
                    <a:bodyPr/>
                    <a:lstStyle/>
                    <a:p>
                      <a:r>
                        <a:rPr lang="en-US" altLang="zh-CN" sz="2400" dirty="0"/>
                        <a:t>5</a:t>
                      </a:r>
                      <a:endParaRPr lang="zh-CN" altLang="en-US" sz="2400" dirty="0"/>
                    </a:p>
                  </a:txBody>
                  <a:tcPr/>
                </a:tc>
                <a:tc>
                  <a:txBody>
                    <a:bodyPr/>
                    <a:lstStyle/>
                    <a:p>
                      <a:r>
                        <a:rPr lang="en-US" altLang="zh-CN" sz="2400" dirty="0"/>
                        <a:t>2</a:t>
                      </a:r>
                      <a:endParaRPr lang="zh-CN" altLang="en-US" sz="2400" dirty="0"/>
                    </a:p>
                  </a:txBody>
                  <a:tcPr/>
                </a:tc>
                <a:tc>
                  <a:txBody>
                    <a:bodyPr/>
                    <a:lstStyle/>
                    <a:p>
                      <a:r>
                        <a:rPr lang="en-US" altLang="zh-CN" sz="2400" dirty="0"/>
                        <a:t>-</a:t>
                      </a:r>
                      <a:endParaRPr lang="zh-CN" altLang="en-US" sz="2400" dirty="0"/>
                    </a:p>
                  </a:txBody>
                  <a:tcPr/>
                </a:tc>
                <a:tc>
                  <a:txBody>
                    <a:bodyPr/>
                    <a:lstStyle/>
                    <a:p>
                      <a:r>
                        <a:rPr lang="en-US" altLang="zh-CN" sz="2400" dirty="0"/>
                        <a:t>*</a:t>
                      </a:r>
                      <a:endParaRPr lang="zh-CN" altLang="en-US" sz="2400" dirty="0"/>
                    </a:p>
                  </a:txBody>
                  <a:tcPr/>
                </a:tc>
                <a:tc>
                  <a:txBody>
                    <a:bodyPr/>
                    <a:lstStyle/>
                    <a:p>
                      <a:r>
                        <a:rPr lang="en-US" altLang="zh-CN" sz="2400" dirty="0"/>
                        <a:t>+</a:t>
                      </a:r>
                      <a:endParaRPr lang="zh-CN" altLang="en-US" sz="2400" dirty="0"/>
                    </a:p>
                  </a:txBody>
                  <a:tcPr/>
                </a:tc>
                <a:tc>
                  <a:txBody>
                    <a:bodyPr/>
                    <a:lstStyle/>
                    <a:p>
                      <a:r>
                        <a:rPr lang="en-US" altLang="zh-CN" sz="2400" dirty="0"/>
                        <a:t>6</a:t>
                      </a:r>
                      <a:endParaRPr lang="zh-CN" altLang="en-US" sz="2400" dirty="0"/>
                    </a:p>
                  </a:txBody>
                  <a:tcPr/>
                </a:tc>
                <a:tc>
                  <a:txBody>
                    <a:bodyPr/>
                    <a:lstStyle/>
                    <a:p>
                      <a:r>
                        <a:rPr lang="en-US" altLang="zh-CN" sz="2400" dirty="0"/>
                        <a:t>3</a:t>
                      </a:r>
                      <a:endParaRPr lang="zh-CN" altLang="en-US" sz="2400" dirty="0"/>
                    </a:p>
                  </a:txBody>
                  <a:tcPr/>
                </a:tc>
                <a:tc>
                  <a:txBody>
                    <a:bodyPr/>
                    <a:lstStyle/>
                    <a:p>
                      <a:r>
                        <a:rPr lang="en-US" altLang="zh-CN" sz="2400" dirty="0"/>
                        <a:t>/</a:t>
                      </a:r>
                      <a:endParaRPr lang="zh-CN" altLang="en-US" sz="2400" dirty="0"/>
                    </a:p>
                  </a:txBody>
                  <a:tcPr/>
                </a:tc>
                <a:tc>
                  <a:txBody>
                    <a:bodyPr/>
                    <a:lstStyle/>
                    <a:p>
                      <a:r>
                        <a:rPr lang="en-US" altLang="zh-CN" sz="2400" dirty="0"/>
                        <a:t>-</a:t>
                      </a:r>
                      <a:endParaRPr lang="zh-CN" altLang="en-US" sz="2400" dirty="0"/>
                    </a:p>
                  </a:txBody>
                  <a:tcPr/>
                </a:tc>
              </a:tr>
            </a:tbl>
          </a:graphicData>
        </a:graphic>
      </p:graphicFrame>
      <p:sp>
        <p:nvSpPr>
          <p:cNvPr id="9" name="文本框 8"/>
          <p:cNvSpPr txBox="1"/>
          <p:nvPr/>
        </p:nvSpPr>
        <p:spPr>
          <a:xfrm>
            <a:off x="1986986" y="2956622"/>
            <a:ext cx="8403222" cy="2306955"/>
          </a:xfrm>
          <a:prstGeom prst="rect">
            <a:avLst/>
          </a:prstGeom>
          <a:noFill/>
        </p:spPr>
        <p:txBody>
          <a:bodyPr wrap="square">
            <a:spAutoFit/>
          </a:bodyPr>
          <a:lstStyle/>
          <a:p>
            <a:r>
              <a:rPr lang="en-US" altLang="zh-CN" dirty="0">
                <a:latin typeface="等线" panose="02010600030101010101" charset="-122"/>
              </a:rPr>
              <a:t>1.</a:t>
            </a:r>
            <a:r>
              <a:rPr lang="zh-CN" altLang="en-US" dirty="0">
                <a:latin typeface="等线" panose="02010600030101010101" charset="-122"/>
              </a:rPr>
              <a:t>从左到右扫描</a:t>
            </a:r>
            <a:r>
              <a:rPr lang="en-US" altLang="zh-CN" dirty="0">
                <a:latin typeface="等线" panose="02010600030101010101" charset="-122"/>
              </a:rPr>
              <a:t>,</a:t>
            </a:r>
            <a:r>
              <a:rPr lang="zh-CN" altLang="en-US" dirty="0">
                <a:latin typeface="等线" panose="02010600030101010101" charset="-122"/>
              </a:rPr>
              <a:t>将</a:t>
            </a:r>
            <a:r>
              <a:rPr lang="en-US" altLang="zh-CN" dirty="0">
                <a:latin typeface="等线" panose="02010600030101010101" charset="-122"/>
              </a:rPr>
              <a:t>3</a:t>
            </a:r>
            <a:r>
              <a:rPr lang="zh-CN" altLang="en-US" dirty="0">
                <a:latin typeface="等线" panose="02010600030101010101" charset="-122"/>
              </a:rPr>
              <a:t>、</a:t>
            </a:r>
            <a:r>
              <a:rPr lang="en-US" altLang="zh-CN" dirty="0">
                <a:latin typeface="等线" panose="02010600030101010101" charset="-122"/>
              </a:rPr>
              <a:t>4</a:t>
            </a:r>
            <a:r>
              <a:rPr lang="zh-CN" altLang="en-US" dirty="0">
                <a:latin typeface="等线" panose="02010600030101010101" charset="-122"/>
              </a:rPr>
              <a:t>、</a:t>
            </a:r>
            <a:r>
              <a:rPr lang="en-US" altLang="zh-CN" dirty="0">
                <a:latin typeface="等线" panose="02010600030101010101" charset="-122"/>
              </a:rPr>
              <a:t>5</a:t>
            </a:r>
            <a:r>
              <a:rPr lang="zh-CN" altLang="en-US" dirty="0">
                <a:latin typeface="等线" panose="02010600030101010101" charset="-122"/>
              </a:rPr>
              <a:t>、</a:t>
            </a:r>
            <a:r>
              <a:rPr lang="en-US" altLang="zh-CN" dirty="0">
                <a:latin typeface="等线" panose="02010600030101010101" charset="-122"/>
              </a:rPr>
              <a:t>2</a:t>
            </a:r>
            <a:r>
              <a:rPr lang="zh-CN" altLang="en-US" dirty="0">
                <a:latin typeface="等线" panose="02010600030101010101" charset="-122"/>
              </a:rPr>
              <a:t>压入栈；</a:t>
            </a:r>
            <a:endParaRPr lang="en-US" altLang="zh-CN" dirty="0">
              <a:latin typeface="等线" panose="02010600030101010101" charset="-122"/>
            </a:endParaRPr>
          </a:p>
          <a:p>
            <a:r>
              <a:rPr lang="en-US" altLang="zh-CN" dirty="0">
                <a:latin typeface="等线" panose="02010600030101010101" charset="-122"/>
              </a:rPr>
              <a:t>2.</a:t>
            </a:r>
            <a:r>
              <a:rPr lang="zh-CN" altLang="en-US" dirty="0">
                <a:latin typeface="等线" panose="02010600030101010101" charset="-122"/>
              </a:rPr>
              <a:t>遇到</a:t>
            </a:r>
            <a:r>
              <a:rPr lang="en-US" altLang="zh-CN" dirty="0">
                <a:latin typeface="等线" panose="02010600030101010101" charset="-122"/>
              </a:rPr>
              <a:t>-</a:t>
            </a:r>
            <a:r>
              <a:rPr lang="zh-CN" altLang="en-US" dirty="0">
                <a:latin typeface="等线" panose="02010600030101010101" charset="-122"/>
              </a:rPr>
              <a:t>运算符，因此弹出</a:t>
            </a:r>
            <a:r>
              <a:rPr lang="en-US" altLang="zh-CN" dirty="0">
                <a:latin typeface="等线" panose="02010600030101010101" charset="-122"/>
              </a:rPr>
              <a:t>5</a:t>
            </a:r>
            <a:r>
              <a:rPr lang="zh-CN" altLang="en-US" dirty="0">
                <a:latin typeface="等线" panose="02010600030101010101" charset="-122"/>
              </a:rPr>
              <a:t>和</a:t>
            </a:r>
            <a:r>
              <a:rPr lang="en-US" altLang="zh-CN" dirty="0">
                <a:latin typeface="等线" panose="02010600030101010101" charset="-122"/>
              </a:rPr>
              <a:t>2</a:t>
            </a:r>
            <a:r>
              <a:rPr lang="zh-CN" altLang="en-US" dirty="0">
                <a:latin typeface="等线" panose="02010600030101010101" charset="-122"/>
              </a:rPr>
              <a:t>（栈顶元素），计算</a:t>
            </a:r>
            <a:r>
              <a:rPr lang="en-US" altLang="zh-CN" dirty="0">
                <a:latin typeface="等线" panose="02010600030101010101" charset="-122"/>
              </a:rPr>
              <a:t>5-2</a:t>
            </a:r>
            <a:r>
              <a:rPr lang="zh-CN" altLang="en-US" dirty="0">
                <a:latin typeface="等线" panose="02010600030101010101" charset="-122"/>
              </a:rPr>
              <a:t>的值</a:t>
            </a:r>
            <a:r>
              <a:rPr lang="en-US" altLang="zh-CN" dirty="0">
                <a:latin typeface="等线" panose="02010600030101010101" charset="-122"/>
              </a:rPr>
              <a:t>3</a:t>
            </a:r>
            <a:r>
              <a:rPr lang="zh-CN" altLang="en-US" dirty="0">
                <a:latin typeface="等线" panose="02010600030101010101" charset="-122"/>
              </a:rPr>
              <a:t>，并压入栈；</a:t>
            </a:r>
            <a:endParaRPr lang="en-US" altLang="zh-CN" dirty="0">
              <a:latin typeface="等线" panose="02010600030101010101" charset="-122"/>
            </a:endParaRPr>
          </a:p>
          <a:p>
            <a:r>
              <a:rPr lang="en-US" altLang="zh-CN" dirty="0">
                <a:latin typeface="等线" panose="02010600030101010101" charset="-122"/>
              </a:rPr>
              <a:t>3</a:t>
            </a:r>
            <a:r>
              <a:rPr lang="zh-CN" altLang="en-US" dirty="0">
                <a:latin typeface="等线" panose="02010600030101010101" charset="-122"/>
              </a:rPr>
              <a:t>、遇到*运算符，弹出</a:t>
            </a:r>
            <a:r>
              <a:rPr lang="en-US" altLang="zh-CN" dirty="0">
                <a:latin typeface="等线" panose="02010600030101010101" charset="-122"/>
              </a:rPr>
              <a:t>4</a:t>
            </a:r>
            <a:r>
              <a:rPr lang="zh-CN" altLang="en-US" dirty="0">
                <a:latin typeface="等线" panose="02010600030101010101" charset="-122"/>
              </a:rPr>
              <a:t>和</a:t>
            </a:r>
            <a:r>
              <a:rPr lang="en-US" altLang="zh-CN" dirty="0">
                <a:latin typeface="等线" panose="02010600030101010101" charset="-122"/>
              </a:rPr>
              <a:t>3</a:t>
            </a:r>
            <a:r>
              <a:rPr lang="zh-CN" altLang="en-US" dirty="0">
                <a:latin typeface="等线" panose="02010600030101010101" charset="-122"/>
              </a:rPr>
              <a:t>（栈顶元素） ，计算</a:t>
            </a:r>
            <a:r>
              <a:rPr lang="en-US" altLang="zh-CN" dirty="0">
                <a:latin typeface="等线" panose="02010600030101010101" charset="-122"/>
              </a:rPr>
              <a:t>4</a:t>
            </a:r>
            <a:r>
              <a:rPr lang="zh-CN" altLang="en-US" dirty="0">
                <a:latin typeface="等线" panose="02010600030101010101" charset="-122"/>
              </a:rPr>
              <a:t>*</a:t>
            </a:r>
            <a:r>
              <a:rPr lang="en-US" altLang="zh-CN" dirty="0">
                <a:latin typeface="等线" panose="02010600030101010101" charset="-122"/>
              </a:rPr>
              <a:t>3=12</a:t>
            </a:r>
            <a:r>
              <a:rPr lang="zh-CN" altLang="en-US" dirty="0">
                <a:latin typeface="等线" panose="02010600030101010101" charset="-122"/>
              </a:rPr>
              <a:t>，压入栈；</a:t>
            </a:r>
            <a:endParaRPr lang="en-US" altLang="zh-CN" dirty="0">
              <a:latin typeface="等线" panose="02010600030101010101" charset="-122"/>
            </a:endParaRPr>
          </a:p>
          <a:p>
            <a:r>
              <a:rPr lang="en-US" altLang="zh-CN" dirty="0">
                <a:latin typeface="等线" panose="02010600030101010101" charset="-122"/>
              </a:rPr>
              <a:t>4</a:t>
            </a:r>
            <a:r>
              <a:rPr lang="zh-CN" altLang="en-US" dirty="0">
                <a:latin typeface="等线" panose="02010600030101010101" charset="-122"/>
              </a:rPr>
              <a:t>、遇到</a:t>
            </a:r>
            <a:r>
              <a:rPr lang="en-US" altLang="zh-CN" dirty="0">
                <a:latin typeface="等线" panose="02010600030101010101" charset="-122"/>
              </a:rPr>
              <a:t>+</a:t>
            </a:r>
            <a:r>
              <a:rPr lang="zh-CN" altLang="en-US" dirty="0">
                <a:latin typeface="等线" panose="02010600030101010101" charset="-122"/>
              </a:rPr>
              <a:t>运算符，弹出</a:t>
            </a:r>
            <a:r>
              <a:rPr lang="en-US" altLang="zh-CN" dirty="0">
                <a:latin typeface="等线" panose="02010600030101010101" charset="-122"/>
              </a:rPr>
              <a:t>3</a:t>
            </a:r>
            <a:r>
              <a:rPr lang="zh-CN" altLang="en-US" dirty="0">
                <a:latin typeface="等线" panose="02010600030101010101" charset="-122"/>
              </a:rPr>
              <a:t>和</a:t>
            </a:r>
            <a:r>
              <a:rPr lang="en-US" altLang="zh-CN" dirty="0">
                <a:latin typeface="等线" panose="02010600030101010101" charset="-122"/>
              </a:rPr>
              <a:t>12</a:t>
            </a:r>
            <a:r>
              <a:rPr lang="zh-CN" altLang="en-US" dirty="0">
                <a:latin typeface="等线" panose="02010600030101010101" charset="-122"/>
              </a:rPr>
              <a:t>（栈顶元素），计算</a:t>
            </a:r>
            <a:r>
              <a:rPr lang="en-US" altLang="zh-CN" dirty="0">
                <a:latin typeface="等线" panose="02010600030101010101" charset="-122"/>
              </a:rPr>
              <a:t>3+12=15</a:t>
            </a:r>
            <a:r>
              <a:rPr lang="zh-CN" altLang="en-US" dirty="0">
                <a:latin typeface="等线" panose="02010600030101010101" charset="-122"/>
              </a:rPr>
              <a:t>，压入栈；</a:t>
            </a:r>
            <a:endParaRPr lang="en-US" altLang="zh-CN" dirty="0">
              <a:latin typeface="等线" panose="02010600030101010101" charset="-122"/>
            </a:endParaRPr>
          </a:p>
          <a:p>
            <a:r>
              <a:rPr lang="en-US" altLang="zh-CN" dirty="0">
                <a:latin typeface="等线" panose="02010600030101010101" charset="-122"/>
              </a:rPr>
              <a:t>5</a:t>
            </a:r>
            <a:r>
              <a:rPr lang="zh-CN" altLang="en-US" dirty="0">
                <a:latin typeface="等线" panose="02010600030101010101" charset="-122"/>
              </a:rPr>
              <a:t>、扫描</a:t>
            </a:r>
            <a:r>
              <a:rPr lang="en-US" altLang="zh-CN" dirty="0">
                <a:latin typeface="等线" panose="02010600030101010101" charset="-122"/>
              </a:rPr>
              <a:t>6</a:t>
            </a:r>
            <a:r>
              <a:rPr lang="zh-CN" altLang="en-US" dirty="0">
                <a:latin typeface="等线" panose="02010600030101010101" charset="-122"/>
              </a:rPr>
              <a:t>和</a:t>
            </a:r>
            <a:r>
              <a:rPr lang="en-US" altLang="zh-CN" dirty="0">
                <a:latin typeface="等线" panose="02010600030101010101" charset="-122"/>
              </a:rPr>
              <a:t>3</a:t>
            </a:r>
            <a:r>
              <a:rPr lang="zh-CN" altLang="en-US" dirty="0">
                <a:latin typeface="等线" panose="02010600030101010101" charset="-122"/>
              </a:rPr>
              <a:t>，压入栈；</a:t>
            </a:r>
            <a:endParaRPr lang="en-US" altLang="zh-CN" dirty="0">
              <a:latin typeface="等线" panose="02010600030101010101" charset="-122"/>
            </a:endParaRPr>
          </a:p>
          <a:p>
            <a:r>
              <a:rPr lang="en-US" altLang="zh-CN" dirty="0">
                <a:latin typeface="等线" panose="02010600030101010101" charset="-122"/>
              </a:rPr>
              <a:t>6</a:t>
            </a:r>
            <a:r>
              <a:rPr lang="zh-CN" altLang="en-US" dirty="0">
                <a:latin typeface="等线" panose="02010600030101010101" charset="-122"/>
              </a:rPr>
              <a:t>、遇到</a:t>
            </a:r>
            <a:r>
              <a:rPr lang="en-US" altLang="zh-CN" dirty="0">
                <a:latin typeface="等线" panose="02010600030101010101" charset="-122"/>
              </a:rPr>
              <a:t>/</a:t>
            </a:r>
            <a:r>
              <a:rPr lang="zh-CN" altLang="en-US" dirty="0">
                <a:latin typeface="等线" panose="02010600030101010101" charset="-122"/>
              </a:rPr>
              <a:t>，弹出</a:t>
            </a:r>
            <a:r>
              <a:rPr lang="en-US" altLang="zh-CN" dirty="0">
                <a:latin typeface="等线" panose="02010600030101010101" charset="-122"/>
              </a:rPr>
              <a:t>6</a:t>
            </a:r>
            <a:r>
              <a:rPr lang="zh-CN" altLang="en-US" dirty="0">
                <a:latin typeface="等线" panose="02010600030101010101" charset="-122"/>
              </a:rPr>
              <a:t>和</a:t>
            </a:r>
            <a:r>
              <a:rPr lang="en-US" altLang="zh-CN" dirty="0">
                <a:latin typeface="等线" panose="02010600030101010101" charset="-122"/>
              </a:rPr>
              <a:t>3</a:t>
            </a:r>
            <a:r>
              <a:rPr lang="zh-CN" altLang="en-US" dirty="0">
                <a:latin typeface="等线" panose="02010600030101010101" charset="-122"/>
              </a:rPr>
              <a:t>（栈顶元素），计算</a:t>
            </a:r>
            <a:r>
              <a:rPr lang="en-US" altLang="zh-CN" dirty="0">
                <a:latin typeface="等线" panose="02010600030101010101" charset="-122"/>
              </a:rPr>
              <a:t>6/3=2</a:t>
            </a:r>
            <a:r>
              <a:rPr lang="zh-CN" altLang="en-US" dirty="0">
                <a:latin typeface="等线" panose="02010600030101010101" charset="-122"/>
              </a:rPr>
              <a:t>，并压入栈；</a:t>
            </a:r>
            <a:endParaRPr lang="en-US" altLang="zh-CN" dirty="0">
              <a:latin typeface="等线" panose="02010600030101010101" charset="-122"/>
            </a:endParaRPr>
          </a:p>
          <a:p>
            <a:r>
              <a:rPr lang="en-US" altLang="zh-CN" dirty="0">
                <a:latin typeface="等线" panose="02010600030101010101" charset="-122"/>
              </a:rPr>
              <a:t>7</a:t>
            </a:r>
            <a:r>
              <a:rPr lang="zh-CN" altLang="en-US" dirty="0">
                <a:latin typeface="等线" panose="02010600030101010101" charset="-122"/>
              </a:rPr>
              <a:t>、遇到</a:t>
            </a:r>
            <a:r>
              <a:rPr lang="en-US" altLang="zh-CN" dirty="0">
                <a:latin typeface="等线" panose="02010600030101010101" charset="-122"/>
              </a:rPr>
              <a:t>-</a:t>
            </a:r>
            <a:r>
              <a:rPr lang="zh-CN" altLang="en-US" dirty="0">
                <a:latin typeface="等线" panose="02010600030101010101" charset="-122"/>
              </a:rPr>
              <a:t>，弹出</a:t>
            </a:r>
            <a:r>
              <a:rPr lang="en-US" altLang="zh-CN" dirty="0">
                <a:latin typeface="等线" panose="02010600030101010101" charset="-122"/>
              </a:rPr>
              <a:t>15</a:t>
            </a:r>
            <a:r>
              <a:rPr lang="zh-CN" altLang="en-US" dirty="0">
                <a:latin typeface="等线" panose="02010600030101010101" charset="-122"/>
              </a:rPr>
              <a:t>和</a:t>
            </a:r>
            <a:r>
              <a:rPr lang="en-US" altLang="zh-CN" dirty="0">
                <a:latin typeface="等线" panose="02010600030101010101" charset="-122"/>
              </a:rPr>
              <a:t>2</a:t>
            </a:r>
            <a:r>
              <a:rPr lang="zh-CN" altLang="en-US" dirty="0">
                <a:latin typeface="等线" panose="02010600030101010101" charset="-122"/>
              </a:rPr>
              <a:t>（栈顶元素），计算</a:t>
            </a:r>
            <a:r>
              <a:rPr lang="en-US" altLang="zh-CN" dirty="0">
                <a:latin typeface="等线" panose="02010600030101010101" charset="-122"/>
              </a:rPr>
              <a:t>15-2=13</a:t>
            </a:r>
            <a:r>
              <a:rPr lang="zh-CN" altLang="en-US" dirty="0">
                <a:latin typeface="等线" panose="02010600030101010101" charset="-122"/>
              </a:rPr>
              <a:t>， 入栈；</a:t>
            </a:r>
            <a:endParaRPr lang="en-US" altLang="zh-CN" dirty="0">
              <a:latin typeface="等线" panose="02010600030101010101" charset="-122"/>
            </a:endParaRPr>
          </a:p>
          <a:p>
            <a:r>
              <a:rPr lang="en-US" altLang="zh-CN" dirty="0">
                <a:latin typeface="等线" panose="02010600030101010101" charset="-122"/>
              </a:rPr>
              <a:t>8</a:t>
            </a:r>
            <a:r>
              <a:rPr lang="zh-CN" altLang="en-US" dirty="0">
                <a:latin typeface="等线" panose="02010600030101010101" charset="-122"/>
              </a:rPr>
              <a:t>、继续扫描，结束，栈顶元素值即为表达式的值。</a:t>
            </a:r>
            <a:endParaRPr lang="en-US" altLang="zh-CN" dirty="0">
              <a:latin typeface="等线" panose="02010600030101010101" charset="-122"/>
            </a:endParaRPr>
          </a:p>
        </p:txBody>
      </p:sp>
      <p:sp>
        <p:nvSpPr>
          <p:cNvPr id="11" name="文本框 10"/>
          <p:cNvSpPr txBox="1"/>
          <p:nvPr/>
        </p:nvSpPr>
        <p:spPr>
          <a:xfrm>
            <a:off x="1968179" y="5640576"/>
            <a:ext cx="7042471" cy="368300"/>
          </a:xfrm>
          <a:prstGeom prst="rect">
            <a:avLst/>
          </a:prstGeom>
          <a:noFill/>
        </p:spPr>
        <p:txBody>
          <a:bodyPr wrap="square">
            <a:spAutoFit/>
          </a:bodyPr>
          <a:lstStyle/>
          <a:p>
            <a:r>
              <a:rPr lang="zh-CN" altLang="en-US" i="0" dirty="0">
                <a:solidFill>
                  <a:srgbClr val="0070C0"/>
                </a:solidFill>
                <a:effectLst/>
                <a:latin typeface="-apple-system"/>
                <a:sym typeface="Wingdings" panose="05000000000000000000" pitchFamily="2" charset="2"/>
              </a:rPr>
              <a:t> </a:t>
            </a:r>
            <a:r>
              <a:rPr lang="zh-CN" altLang="en-US" i="0" dirty="0">
                <a:solidFill>
                  <a:srgbClr val="0070C0"/>
                </a:solidFill>
                <a:effectLst/>
                <a:latin typeface="-apple-system"/>
              </a:rPr>
              <a:t>为什么要设计后缀表达式，有什么好处？</a:t>
            </a:r>
            <a:endParaRPr lang="zh-CN" altLang="en-US" dirty="0">
              <a:solidFill>
                <a:srgbClr val="0070C0"/>
              </a:solidFill>
            </a:endParaRPr>
          </a:p>
        </p:txBody>
      </p:sp>
      <p:sp>
        <p:nvSpPr>
          <p:cNvPr id="13" name="文本框 12"/>
          <p:cNvSpPr txBox="1"/>
          <p:nvPr/>
        </p:nvSpPr>
        <p:spPr>
          <a:xfrm>
            <a:off x="1986985" y="6063930"/>
            <a:ext cx="7124219" cy="368300"/>
          </a:xfrm>
          <a:prstGeom prst="rect">
            <a:avLst/>
          </a:prstGeom>
          <a:noFill/>
        </p:spPr>
        <p:txBody>
          <a:bodyPr wrap="square">
            <a:spAutoFit/>
          </a:bodyPr>
          <a:lstStyle/>
          <a:p>
            <a:r>
              <a:rPr lang="zh-CN" altLang="en-US" b="0" i="0" dirty="0">
                <a:solidFill>
                  <a:srgbClr val="FF0000"/>
                </a:solidFill>
                <a:effectLst/>
                <a:latin typeface="-apple-system"/>
              </a:rPr>
              <a:t>便于用栈实现计算，而且不需要表示运算符优先级的括号。</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2017432" y="183402"/>
            <a:ext cx="8314904" cy="2999740"/>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2</a:t>
            </a:r>
            <a:r>
              <a:rPr lang="zh-CN" altLang="en-US" sz="3000" dirty="0">
                <a:latin typeface="微软雅黑" panose="020B0503020204020204" charset="-122"/>
                <a:ea typeface="微软雅黑" panose="020B0503020204020204" charset="-122"/>
                <a:sym typeface="Wingdings 2" panose="05020102010507070707" pitchFamily="18" charset="2"/>
              </a:rPr>
              <a:t>：</a:t>
            </a:r>
            <a:endParaRPr lang="en-US" alt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sz="2400" dirty="0">
                <a:latin typeface="微软雅黑" panose="020B0503020204020204" charset="-122"/>
                <a:ea typeface="微软雅黑" panose="020B0503020204020204" charset="-122"/>
                <a:sym typeface="Wingdings 2" panose="05020102010507070707" pitchFamily="18" charset="2"/>
              </a:rPr>
              <a:t> </a:t>
            </a:r>
            <a:r>
              <a:rPr lang="zh-CN" altLang="en-US" sz="2400" dirty="0">
                <a:latin typeface="微软雅黑" panose="020B0503020204020204" charset="-122"/>
                <a:ea typeface="微软雅黑" panose="020B0503020204020204" charset="-122"/>
                <a:sym typeface="Wingdings 2" panose="05020102010507070707" pitchFamily="18" charset="2"/>
              </a:rPr>
              <a:t>假设用于通信的电文由字符集</a:t>
            </a:r>
            <a:r>
              <a:rPr lang="en-US" altLang="zh-CN" sz="2400" dirty="0">
                <a:latin typeface="微软雅黑" panose="020B0503020204020204" charset="-122"/>
                <a:ea typeface="微软雅黑" panose="020B0503020204020204" charset="-122"/>
                <a:sym typeface="Wingdings 2" panose="05020102010507070707" pitchFamily="18" charset="2"/>
              </a:rPr>
              <a:t>{</a:t>
            </a:r>
            <a:r>
              <a:rPr lang="en-US" altLang="zh-CN" sz="2400" dirty="0" err="1">
                <a:latin typeface="微软雅黑" panose="020B0503020204020204" charset="-122"/>
                <a:ea typeface="微软雅黑" panose="020B0503020204020204" charset="-122"/>
                <a:sym typeface="Wingdings 2" panose="05020102010507070707" pitchFamily="18" charset="2"/>
              </a:rPr>
              <a:t>a,b,c,d,e,f,g,h</a:t>
            </a:r>
            <a:r>
              <a:rPr lang="en-US" altLang="zh-CN" sz="2400" dirty="0">
                <a:latin typeface="微软雅黑" panose="020B0503020204020204" charset="-122"/>
                <a:ea typeface="微软雅黑" panose="020B0503020204020204" charset="-122"/>
                <a:sym typeface="Wingdings 2" panose="05020102010507070707" pitchFamily="18" charset="2"/>
              </a:rPr>
              <a:t>}</a:t>
            </a:r>
            <a:r>
              <a:rPr lang="zh-CN" altLang="en-US" sz="2400" dirty="0">
                <a:latin typeface="微软雅黑" panose="020B0503020204020204" charset="-122"/>
                <a:ea typeface="微软雅黑" panose="020B0503020204020204" charset="-122"/>
                <a:sym typeface="Wingdings 2" panose="05020102010507070707" pitchFamily="18" charset="2"/>
              </a:rPr>
              <a:t>中的字母构成，这</a:t>
            </a:r>
            <a:r>
              <a:rPr lang="en-US" altLang="zh-CN" sz="2400" dirty="0">
                <a:latin typeface="微软雅黑" panose="020B0503020204020204" charset="-122"/>
                <a:ea typeface="微软雅黑" panose="020B0503020204020204" charset="-122"/>
                <a:sym typeface="Wingdings 2" panose="05020102010507070707" pitchFamily="18" charset="2"/>
              </a:rPr>
              <a:t>8</a:t>
            </a:r>
            <a:r>
              <a:rPr lang="zh-CN" altLang="en-US" sz="2400" dirty="0">
                <a:latin typeface="微软雅黑" panose="020B0503020204020204" charset="-122"/>
                <a:ea typeface="微软雅黑" panose="020B0503020204020204" charset="-122"/>
                <a:sym typeface="Wingdings 2" panose="05020102010507070707" pitchFamily="18" charset="2"/>
              </a:rPr>
              <a:t>个字母在电文中出现的概率分别为</a:t>
            </a:r>
            <a:r>
              <a:rPr lang="en-US" altLang="zh-CN" sz="2400" dirty="0">
                <a:latin typeface="微软雅黑" panose="020B0503020204020204" charset="-122"/>
                <a:ea typeface="微软雅黑" panose="020B0503020204020204" charset="-122"/>
                <a:sym typeface="Wingdings 2" panose="05020102010507070707" pitchFamily="18" charset="2"/>
              </a:rPr>
              <a:t>{0.09,0.15,0.02,0.06,0.30,0.03,0.24,0.11}</a:t>
            </a:r>
            <a:r>
              <a:rPr lang="zh-CN" altLang="en-US" sz="2400" dirty="0">
                <a:latin typeface="微软雅黑" panose="020B0503020204020204" charset="-122"/>
                <a:ea typeface="微软雅黑" panose="020B0503020204020204" charset="-122"/>
                <a:sym typeface="Wingdings 2" panose="05020102010507070707" pitchFamily="18" charset="2"/>
              </a:rPr>
              <a:t>，请为这</a:t>
            </a:r>
            <a:r>
              <a:rPr lang="en-US" altLang="zh-CN" sz="2400" dirty="0">
                <a:latin typeface="微软雅黑" panose="020B0503020204020204" charset="-122"/>
                <a:ea typeface="微软雅黑" panose="020B0503020204020204" charset="-122"/>
                <a:sym typeface="Wingdings 2" panose="05020102010507070707" pitchFamily="18" charset="2"/>
              </a:rPr>
              <a:t>8</a:t>
            </a:r>
            <a:r>
              <a:rPr lang="zh-CN" altLang="en-US" sz="2400" dirty="0">
                <a:latin typeface="微软雅黑" panose="020B0503020204020204" charset="-122"/>
                <a:ea typeface="微软雅黑" panose="020B0503020204020204" charset="-122"/>
                <a:sym typeface="Wingdings 2" panose="05020102010507070707" pitchFamily="18" charset="2"/>
              </a:rPr>
              <a:t>个字母设计哈夫曼编码（要求画出哈夫曼树）</a:t>
            </a: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pic>
        <p:nvPicPr>
          <p:cNvPr id="4" name="图片 3"/>
          <p:cNvPicPr>
            <a:picLocks noChangeAspect="1"/>
          </p:cNvPicPr>
          <p:nvPr/>
        </p:nvPicPr>
        <p:blipFill>
          <a:blip r:embed="rId1"/>
          <a:stretch>
            <a:fillRect/>
          </a:stretch>
        </p:blipFill>
        <p:spPr>
          <a:xfrm>
            <a:off x="6761544" y="3118949"/>
            <a:ext cx="2953172" cy="3542627"/>
          </a:xfrm>
          <a:prstGeom prst="rect">
            <a:avLst/>
          </a:prstGeom>
        </p:spPr>
      </p:pic>
      <p:sp>
        <p:nvSpPr>
          <p:cNvPr id="8" name="文本框 7"/>
          <p:cNvSpPr txBox="1"/>
          <p:nvPr/>
        </p:nvSpPr>
        <p:spPr>
          <a:xfrm>
            <a:off x="2189544" y="3244334"/>
            <a:ext cx="4572000" cy="2584450"/>
          </a:xfrm>
          <a:prstGeom prst="rect">
            <a:avLst/>
          </a:prstGeom>
          <a:noFill/>
        </p:spPr>
        <p:txBody>
          <a:bodyPr wrap="square">
            <a:spAutoFit/>
          </a:bodyPr>
          <a:lstStyle/>
          <a:p>
            <a:r>
              <a:rPr lang="zh-CN" altLang="en-US" sz="1800" dirty="0">
                <a:solidFill>
                  <a:srgbClr val="000000"/>
                </a:solidFill>
                <a:effectLst/>
                <a:latin typeface="等线" panose="02010600030101010101" charset="-122"/>
                <a:ea typeface="等线" panose="02010600030101010101" charset="-122"/>
              </a:rPr>
              <a:t>解答：</a:t>
            </a:r>
            <a:endParaRPr lang="en-US" altLang="zh-CN" sz="1800" dirty="0">
              <a:solidFill>
                <a:srgbClr val="000000"/>
              </a:solidFill>
              <a:effectLst/>
              <a:latin typeface="等线" panose="02010600030101010101" charset="-122"/>
              <a:ea typeface="等线" panose="02010600030101010101" charset="-122"/>
            </a:endParaRPr>
          </a:p>
          <a:p>
            <a:endParaRPr lang="en-US" altLang="zh-CN" dirty="0">
              <a:solidFill>
                <a:srgbClr val="000000"/>
              </a:solidFill>
              <a:latin typeface="等线" panose="02010600030101010101" charset="-122"/>
              <a:ea typeface="等线" panose="02010600030101010101" charset="-122"/>
            </a:endParaRPr>
          </a:p>
          <a:p>
            <a:r>
              <a:rPr lang="zh-CN" altLang="en-US" sz="1800" dirty="0">
                <a:solidFill>
                  <a:srgbClr val="000000"/>
                </a:solidFill>
                <a:effectLst/>
                <a:latin typeface="等线" panose="02010600030101010101" charset="-122"/>
                <a:ea typeface="等线" panose="02010600030101010101" charset="-122"/>
              </a:rPr>
              <a:t>不严格限制左右</a:t>
            </a:r>
            <a:endParaRPr lang="en-US" altLang="zh-CN" sz="1800" dirty="0">
              <a:solidFill>
                <a:srgbClr val="000000"/>
              </a:solidFill>
              <a:effectLst/>
              <a:latin typeface="等线" panose="02010600030101010101" charset="-122"/>
              <a:ea typeface="等线" panose="02010600030101010101" charset="-122"/>
            </a:endParaRPr>
          </a:p>
          <a:p>
            <a:endParaRPr lang="en-US" altLang="zh-CN" sz="1800" dirty="0">
              <a:solidFill>
                <a:srgbClr val="000000"/>
              </a:solidFill>
              <a:effectLst/>
              <a:latin typeface="等线" panose="02010600030101010101" charset="-122"/>
              <a:ea typeface="等线" panose="02010600030101010101" charset="-122"/>
            </a:endParaRPr>
          </a:p>
          <a:p>
            <a:r>
              <a:rPr lang="pt-BR" altLang="zh-CN" sz="1800" b="1" dirty="0">
                <a:solidFill>
                  <a:srgbClr val="000000"/>
                </a:solidFill>
                <a:effectLst/>
                <a:latin typeface="Times New Roman" panose="02020603050405020304" charset="0"/>
                <a:cs typeface="Times New Roman" panose="02020603050405020304" charset="0"/>
              </a:rPr>
              <a:t>a: 000, b: 101, c: 10000, d: 1001, e: 11, f:10001, g: 01, h: 001</a:t>
            </a:r>
            <a:endParaRPr lang="pt-BR" altLang="zh-CN" sz="1800" b="1" dirty="0">
              <a:solidFill>
                <a:srgbClr val="000000"/>
              </a:solidFill>
              <a:effectLst/>
              <a:latin typeface="Times New Roman" panose="02020603050405020304" charset="0"/>
              <a:cs typeface="Times New Roman" panose="02020603050405020304" charset="0"/>
            </a:endParaRPr>
          </a:p>
          <a:p>
            <a:endParaRPr lang="en-US" altLang="zh-CN" b="1" dirty="0">
              <a:solidFill>
                <a:srgbClr val="000000"/>
              </a:solidFill>
              <a:latin typeface="等线" panose="02010600030101010101" charset="-122"/>
              <a:ea typeface="等线" panose="02010600030101010101" charset="-122"/>
            </a:endParaRPr>
          </a:p>
          <a:p>
            <a:r>
              <a:rPr lang="en-US" altLang="zh-CN" sz="1800" dirty="0">
                <a:solidFill>
                  <a:srgbClr val="000000"/>
                </a:solidFill>
                <a:effectLst/>
                <a:latin typeface="等线" panose="02010600030101010101" charset="-122"/>
                <a:ea typeface="等线" panose="02010600030101010101" charset="-122"/>
              </a:rPr>
              <a:t>01 </a:t>
            </a:r>
            <a:r>
              <a:rPr lang="zh-CN" altLang="en-US" sz="1800" dirty="0">
                <a:solidFill>
                  <a:srgbClr val="000000"/>
                </a:solidFill>
                <a:effectLst/>
                <a:latin typeface="等线" panose="02010600030101010101" charset="-122"/>
                <a:ea typeface="等线" panose="02010600030101010101" charset="-122"/>
              </a:rPr>
              <a:t>序列可不同，但码长不对则一 </a:t>
            </a:r>
            <a:endParaRPr lang="zh-CN" altLang="en-US" dirty="0"/>
          </a:p>
          <a:p>
            <a:r>
              <a:rPr lang="zh-CN" altLang="en-US" sz="1800" dirty="0">
                <a:solidFill>
                  <a:srgbClr val="000000"/>
                </a:solidFill>
                <a:effectLst/>
                <a:latin typeface="等线" panose="02010600030101010101" charset="-122"/>
                <a:ea typeface="等线" panose="02010600030101010101" charset="-122"/>
              </a:rPr>
              <a:t>定错误。  </a:t>
            </a:r>
            <a:endParaRPr lang="zh-CN" altLang="en-US" dirty="0"/>
          </a:p>
        </p:txBody>
      </p:sp>
      <p:sp>
        <p:nvSpPr>
          <p:cNvPr id="2" name="文本框 1"/>
          <p:cNvSpPr txBox="1"/>
          <p:nvPr/>
        </p:nvSpPr>
        <p:spPr>
          <a:xfrm>
            <a:off x="9095105" y="5885815"/>
            <a:ext cx="4064000" cy="645160"/>
          </a:xfrm>
          <a:prstGeom prst="rect">
            <a:avLst/>
          </a:prstGeom>
          <a:noFill/>
        </p:spPr>
        <p:txBody>
          <a:bodyPr wrap="square" rtlCol="0">
            <a:spAutoFit/>
          </a:bodyPr>
          <a:p>
            <a:r>
              <a:rPr lang="zh-CN" altLang="en-US"/>
              <a:t>注意：这里要声明是</a:t>
            </a:r>
            <a:endParaRPr lang="zh-CN" altLang="en-US"/>
          </a:p>
          <a:p>
            <a:r>
              <a:rPr lang="zh-CN" altLang="en-US"/>
              <a:t>概率乘以</a:t>
            </a:r>
            <a:r>
              <a:rPr lang="en-US" altLang="zh-CN"/>
              <a:t>100</a:t>
            </a:r>
            <a:r>
              <a:rPr lang="zh-CN" altLang="en-US"/>
              <a:t>后描述。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622935" y="114300"/>
            <a:ext cx="11103610" cy="147637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2</a:t>
            </a:r>
            <a:r>
              <a:rPr lang="zh-CN" altLang="en-US" sz="3000" dirty="0">
                <a:latin typeface="微软雅黑" panose="020B0503020204020204" charset="-122"/>
                <a:ea typeface="微软雅黑" panose="020B0503020204020204" charset="-122"/>
                <a:sym typeface="Wingdings 2" panose="05020102010507070707" pitchFamily="18" charset="2"/>
              </a:rPr>
              <a:t>：</a:t>
            </a:r>
            <a:r>
              <a:rPr lang="en-US" altLang="zh-CN" sz="3000" dirty="0">
                <a:latin typeface="微软雅黑" panose="020B0503020204020204" charset="-122"/>
                <a:ea typeface="微软雅黑" panose="020B0503020204020204" charset="-122"/>
                <a:sym typeface="Wingdings 2" panose="05020102010507070707" pitchFamily="18" charset="2"/>
              </a:rPr>
              <a:t>8</a:t>
            </a:r>
            <a:r>
              <a:rPr lang="zh-CN" altLang="en-US" sz="3000" dirty="0">
                <a:latin typeface="微软雅黑" panose="020B0503020204020204" charset="-122"/>
                <a:ea typeface="微软雅黑" panose="020B0503020204020204" charset="-122"/>
                <a:sym typeface="Wingdings 2" panose="05020102010507070707" pitchFamily="18" charset="2"/>
              </a:rPr>
              <a:t>个叶子结点，权重为</a:t>
            </a:r>
            <a:r>
              <a:rPr lang="en-US" altLang="zh-CN" sz="3000" dirty="0">
                <a:latin typeface="微软雅黑" panose="020B0503020204020204" charset="-122"/>
                <a:ea typeface="微软雅黑" panose="020B0503020204020204" charset="-122"/>
                <a:sym typeface="Wingdings 2" panose="05020102010507070707" pitchFamily="18" charset="2"/>
              </a:rPr>
              <a:t>W={ 0.05, 0.26, 0.03, 0.10, 0.16,0.14, 0.19, 0.07 },</a:t>
            </a:r>
            <a:r>
              <a:rPr lang="zh-CN" altLang="en-US" sz="3000" dirty="0">
                <a:latin typeface="微软雅黑" panose="020B0503020204020204" charset="-122"/>
                <a:ea typeface="微软雅黑" panose="020B0503020204020204" charset="-122"/>
                <a:sym typeface="Wingdings 2" panose="05020102010507070707" pitchFamily="18" charset="2"/>
              </a:rPr>
              <a:t>请绘制一个哈夫曼树，并设计哈夫曼编码</a:t>
            </a: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pic>
        <p:nvPicPr>
          <p:cNvPr id="6" name="图片 5"/>
          <p:cNvPicPr>
            <a:picLocks noChangeAspect="1"/>
          </p:cNvPicPr>
          <p:nvPr/>
        </p:nvPicPr>
        <p:blipFill>
          <a:blip r:embed="rId1"/>
          <a:stretch>
            <a:fillRect/>
          </a:stretch>
        </p:blipFill>
        <p:spPr>
          <a:xfrm>
            <a:off x="864870" y="1778000"/>
            <a:ext cx="3848100" cy="1009650"/>
          </a:xfrm>
          <a:prstGeom prst="rect">
            <a:avLst/>
          </a:prstGeom>
        </p:spPr>
      </p:pic>
      <p:pic>
        <p:nvPicPr>
          <p:cNvPr id="9" name="图片 8"/>
          <p:cNvPicPr>
            <a:picLocks noChangeAspect="1"/>
          </p:cNvPicPr>
          <p:nvPr/>
        </p:nvPicPr>
        <p:blipFill>
          <a:blip r:embed="rId2"/>
          <a:stretch>
            <a:fillRect/>
          </a:stretch>
        </p:blipFill>
        <p:spPr>
          <a:xfrm>
            <a:off x="788670" y="3098800"/>
            <a:ext cx="3467100" cy="1695450"/>
          </a:xfrm>
          <a:prstGeom prst="rect">
            <a:avLst/>
          </a:prstGeom>
        </p:spPr>
      </p:pic>
      <p:pic>
        <p:nvPicPr>
          <p:cNvPr id="10" name="图片 9"/>
          <p:cNvPicPr>
            <a:picLocks noChangeAspect="1"/>
          </p:cNvPicPr>
          <p:nvPr/>
        </p:nvPicPr>
        <p:blipFill>
          <a:blip r:embed="rId3"/>
          <a:stretch>
            <a:fillRect/>
          </a:stretch>
        </p:blipFill>
        <p:spPr>
          <a:xfrm>
            <a:off x="660400" y="5105400"/>
            <a:ext cx="3876675" cy="1752600"/>
          </a:xfrm>
          <a:prstGeom prst="rect">
            <a:avLst/>
          </a:prstGeom>
        </p:spPr>
      </p:pic>
      <p:sp>
        <p:nvSpPr>
          <p:cNvPr id="11" name="圆角矩形 10"/>
          <p:cNvSpPr/>
          <p:nvPr/>
        </p:nvSpPr>
        <p:spPr>
          <a:xfrm>
            <a:off x="697230" y="1657350"/>
            <a:ext cx="4149090" cy="1235710"/>
          </a:xfrm>
          <a:prstGeom prst="roundRect">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圆角矩形 11"/>
          <p:cNvSpPr/>
          <p:nvPr/>
        </p:nvSpPr>
        <p:spPr>
          <a:xfrm>
            <a:off x="660400" y="3098800"/>
            <a:ext cx="4149090" cy="1696720"/>
          </a:xfrm>
          <a:prstGeom prst="roundRect">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圆角矩形 12"/>
          <p:cNvSpPr/>
          <p:nvPr/>
        </p:nvSpPr>
        <p:spPr>
          <a:xfrm>
            <a:off x="660400" y="5034915"/>
            <a:ext cx="4149090" cy="1800225"/>
          </a:xfrm>
          <a:prstGeom prst="roundRect">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4" name="图片 13"/>
          <p:cNvPicPr>
            <a:picLocks noChangeAspect="1"/>
          </p:cNvPicPr>
          <p:nvPr/>
        </p:nvPicPr>
        <p:blipFill>
          <a:blip r:embed="rId4"/>
          <a:stretch>
            <a:fillRect/>
          </a:stretch>
        </p:blipFill>
        <p:spPr>
          <a:xfrm>
            <a:off x="7060565" y="1715135"/>
            <a:ext cx="3524250" cy="2324100"/>
          </a:xfrm>
          <a:prstGeom prst="rect">
            <a:avLst/>
          </a:prstGeom>
        </p:spPr>
      </p:pic>
      <p:sp>
        <p:nvSpPr>
          <p:cNvPr id="15" name="圆角矩形 14"/>
          <p:cNvSpPr/>
          <p:nvPr/>
        </p:nvSpPr>
        <p:spPr>
          <a:xfrm>
            <a:off x="6540500" y="1657350"/>
            <a:ext cx="4149090" cy="2436495"/>
          </a:xfrm>
          <a:prstGeom prst="roundRect">
            <a:avLst>
              <a:gd name="adj" fmla="val 12144"/>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6" name="图片 15"/>
          <p:cNvPicPr>
            <a:picLocks noChangeAspect="1"/>
          </p:cNvPicPr>
          <p:nvPr/>
        </p:nvPicPr>
        <p:blipFill>
          <a:blip r:embed="rId5"/>
          <a:stretch>
            <a:fillRect/>
          </a:stretch>
        </p:blipFill>
        <p:spPr>
          <a:xfrm>
            <a:off x="6901815" y="4216400"/>
            <a:ext cx="3276600" cy="2505075"/>
          </a:xfrm>
          <a:prstGeom prst="rect">
            <a:avLst/>
          </a:prstGeom>
        </p:spPr>
      </p:pic>
      <p:sp>
        <p:nvSpPr>
          <p:cNvPr id="17" name="圆角矩形 16"/>
          <p:cNvSpPr/>
          <p:nvPr/>
        </p:nvSpPr>
        <p:spPr>
          <a:xfrm>
            <a:off x="6540500" y="4220845"/>
            <a:ext cx="4149090" cy="2560955"/>
          </a:xfrm>
          <a:prstGeom prst="roundRect">
            <a:avLst>
              <a:gd name="adj" fmla="val 12144"/>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nvSpPr>
        <p:spPr>
          <a:xfrm>
            <a:off x="436245" y="2044700"/>
            <a:ext cx="487680" cy="460375"/>
          </a:xfrm>
          <a:prstGeom prst="rect">
            <a:avLst/>
          </a:prstGeom>
          <a:noFill/>
        </p:spPr>
        <p:txBody>
          <a:bodyPr wrap="none" rtlCol="0" anchor="t">
            <a:spAutoFit/>
          </a:bodyPr>
          <a:p>
            <a:r>
              <a:rPr lang="zh-CN" altLang="en-US" sz="2400">
                <a:solidFill>
                  <a:srgbClr val="FF0000"/>
                </a:solidFill>
                <a:latin typeface="Calibri" panose="020F0502020204030204" charset="0"/>
              </a:rPr>
              <a:t>①</a:t>
            </a:r>
            <a:endParaRPr lang="zh-CN" altLang="en-US" sz="2400">
              <a:solidFill>
                <a:srgbClr val="FF0000"/>
              </a:solidFill>
              <a:latin typeface="Calibri" panose="020F0502020204030204" charset="0"/>
            </a:endParaRPr>
          </a:p>
        </p:txBody>
      </p:sp>
      <p:sp>
        <p:nvSpPr>
          <p:cNvPr id="19" name="文本框 18"/>
          <p:cNvSpPr txBox="1"/>
          <p:nvPr/>
        </p:nvSpPr>
        <p:spPr>
          <a:xfrm>
            <a:off x="351790" y="3695065"/>
            <a:ext cx="487680" cy="460375"/>
          </a:xfrm>
          <a:prstGeom prst="rect">
            <a:avLst/>
          </a:prstGeom>
          <a:noFill/>
        </p:spPr>
        <p:txBody>
          <a:bodyPr wrap="none" rtlCol="0" anchor="t">
            <a:spAutoFit/>
          </a:bodyPr>
          <a:p>
            <a:r>
              <a:rPr lang="zh-CN" altLang="en-US" sz="2400">
                <a:solidFill>
                  <a:srgbClr val="FF0000"/>
                </a:solidFill>
                <a:latin typeface="微软雅黑" panose="020B0503020204020204" charset="-122"/>
                <a:ea typeface="微软雅黑" panose="020B0503020204020204" charset="-122"/>
              </a:rPr>
              <a:t>②</a:t>
            </a:r>
            <a:endParaRPr lang="zh-CN" altLang="en-US" sz="2400">
              <a:solidFill>
                <a:srgbClr val="FF0000"/>
              </a:solidFill>
              <a:latin typeface="微软雅黑" panose="020B0503020204020204" charset="-122"/>
              <a:ea typeface="微软雅黑" panose="020B0503020204020204" charset="-122"/>
            </a:endParaRPr>
          </a:p>
        </p:txBody>
      </p:sp>
      <p:sp>
        <p:nvSpPr>
          <p:cNvPr id="21" name="文本框 20"/>
          <p:cNvSpPr txBox="1"/>
          <p:nvPr/>
        </p:nvSpPr>
        <p:spPr>
          <a:xfrm>
            <a:off x="436245" y="5434965"/>
            <a:ext cx="1008380" cy="460375"/>
          </a:xfrm>
          <a:prstGeom prst="rect">
            <a:avLst/>
          </a:prstGeom>
          <a:noFill/>
        </p:spPr>
        <p:txBody>
          <a:bodyPr wrap="square" rtlCol="0" anchor="t">
            <a:spAutoFit/>
          </a:bodyPr>
          <a:p>
            <a:r>
              <a:rPr lang="zh-CN" altLang="en-US" sz="2400">
                <a:solidFill>
                  <a:srgbClr val="FF0000"/>
                </a:solidFill>
                <a:latin typeface="微软雅黑" panose="020B0503020204020204" charset="-122"/>
                <a:ea typeface="微软雅黑" panose="020B0503020204020204" charset="-122"/>
                <a:sym typeface="+mn-ea"/>
              </a:rPr>
              <a:t>③</a:t>
            </a:r>
            <a:endParaRPr lang="zh-CN" altLang="en-US" sz="2400">
              <a:solidFill>
                <a:srgbClr val="FF0000"/>
              </a:solidFill>
              <a:latin typeface="微软雅黑" panose="020B0503020204020204" charset="-122"/>
              <a:ea typeface="微软雅黑" panose="020B0503020204020204" charset="-122"/>
              <a:sym typeface="+mn-ea"/>
            </a:endParaRPr>
          </a:p>
        </p:txBody>
      </p:sp>
      <p:sp>
        <p:nvSpPr>
          <p:cNvPr id="22" name="文本框 21"/>
          <p:cNvSpPr txBox="1"/>
          <p:nvPr/>
        </p:nvSpPr>
        <p:spPr>
          <a:xfrm>
            <a:off x="6320155" y="2432685"/>
            <a:ext cx="1298575" cy="460375"/>
          </a:xfrm>
          <a:prstGeom prst="rect">
            <a:avLst/>
          </a:prstGeom>
          <a:noFill/>
        </p:spPr>
        <p:txBody>
          <a:bodyPr wrap="square" rtlCol="0" anchor="t">
            <a:spAutoFit/>
          </a:bodyPr>
          <a:p>
            <a:r>
              <a:rPr lang="zh-CN" altLang="en-US" sz="2400">
                <a:solidFill>
                  <a:srgbClr val="FF0000"/>
                </a:solidFill>
                <a:latin typeface="微软雅黑" panose="020B0503020204020204" charset="-122"/>
                <a:ea typeface="微软雅黑" panose="020B0503020204020204" charset="-122"/>
                <a:sym typeface="+mn-ea"/>
              </a:rPr>
              <a:t>④</a:t>
            </a:r>
            <a:endParaRPr lang="zh-CN" altLang="en-US" sz="2400">
              <a:solidFill>
                <a:srgbClr val="FF0000"/>
              </a:solidFill>
              <a:latin typeface="微软雅黑" panose="020B0503020204020204" charset="-122"/>
              <a:ea typeface="微软雅黑" panose="020B0503020204020204" charset="-122"/>
              <a:sym typeface="+mn-ea"/>
            </a:endParaRPr>
          </a:p>
        </p:txBody>
      </p:sp>
      <p:sp>
        <p:nvSpPr>
          <p:cNvPr id="23" name="文本框 22"/>
          <p:cNvSpPr txBox="1"/>
          <p:nvPr/>
        </p:nvSpPr>
        <p:spPr>
          <a:xfrm>
            <a:off x="6320155" y="5186680"/>
            <a:ext cx="1387475" cy="460375"/>
          </a:xfrm>
          <a:prstGeom prst="rect">
            <a:avLst/>
          </a:prstGeom>
          <a:noFill/>
        </p:spPr>
        <p:txBody>
          <a:bodyPr wrap="square" rtlCol="0" anchor="t">
            <a:spAutoFit/>
          </a:bodyPr>
          <a:p>
            <a:r>
              <a:rPr lang="zh-CN" altLang="en-US" sz="2400">
                <a:solidFill>
                  <a:srgbClr val="FF0000"/>
                </a:solidFill>
                <a:latin typeface="微软雅黑" panose="020B0503020204020204" charset="-122"/>
                <a:ea typeface="微软雅黑" panose="020B0503020204020204" charset="-122"/>
                <a:sym typeface="+mn-ea"/>
              </a:rPr>
              <a:t>⑤</a:t>
            </a:r>
            <a:endParaRPr lang="zh-CN" altLang="en-US" sz="2400">
              <a:solidFill>
                <a:srgbClr val="FF0000"/>
              </a:solidFill>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1" grpId="0" animBg="1"/>
      <p:bldP spid="18" grpId="1"/>
      <p:bldP spid="11" grpId="1" animBg="1"/>
      <p:bldP spid="19" grpId="0"/>
      <p:bldP spid="12" grpId="0" animBg="1"/>
      <p:bldP spid="19" grpId="1"/>
      <p:bldP spid="12" grpId="1" animBg="1"/>
      <p:bldP spid="21" grpId="0"/>
      <p:bldP spid="13" grpId="0" animBg="1"/>
      <p:bldP spid="21" grpId="1"/>
      <p:bldP spid="13" grpId="1" animBg="1"/>
      <p:bldP spid="22" grpId="0"/>
      <p:bldP spid="15" grpId="0" animBg="1"/>
      <p:bldP spid="22" grpId="1"/>
      <p:bldP spid="15" grpId="1" animBg="1"/>
      <p:bldP spid="23" grpId="0"/>
      <p:bldP spid="17" grpId="0" animBg="1"/>
      <p:bldP spid="23" grpId="1"/>
      <p:bldP spid="1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622935" y="114300"/>
            <a:ext cx="11103610" cy="147637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2</a:t>
            </a:r>
            <a:r>
              <a:rPr lang="zh-CN" altLang="en-US" sz="3000" dirty="0">
                <a:latin typeface="微软雅黑" panose="020B0503020204020204" charset="-122"/>
                <a:ea typeface="微软雅黑" panose="020B0503020204020204" charset="-122"/>
                <a:sym typeface="Wingdings 2" panose="05020102010507070707" pitchFamily="18" charset="2"/>
              </a:rPr>
              <a:t>：</a:t>
            </a:r>
            <a:r>
              <a:rPr lang="en-US" altLang="zh-CN" sz="3000" dirty="0">
                <a:latin typeface="微软雅黑" panose="020B0503020204020204" charset="-122"/>
                <a:ea typeface="微软雅黑" panose="020B0503020204020204" charset="-122"/>
                <a:sym typeface="Wingdings 2" panose="05020102010507070707" pitchFamily="18" charset="2"/>
              </a:rPr>
              <a:t>8</a:t>
            </a:r>
            <a:r>
              <a:rPr lang="zh-CN" altLang="en-US" sz="3000" dirty="0">
                <a:latin typeface="微软雅黑" panose="020B0503020204020204" charset="-122"/>
                <a:ea typeface="微软雅黑" panose="020B0503020204020204" charset="-122"/>
                <a:sym typeface="Wingdings 2" panose="05020102010507070707" pitchFamily="18" charset="2"/>
              </a:rPr>
              <a:t>个叶子结点，权重为</a:t>
            </a:r>
            <a:r>
              <a:rPr lang="en-US" altLang="zh-CN" sz="3000" dirty="0">
                <a:latin typeface="微软雅黑" panose="020B0503020204020204" charset="-122"/>
                <a:ea typeface="微软雅黑" panose="020B0503020204020204" charset="-122"/>
                <a:sym typeface="Wingdings 2" panose="05020102010507070707" pitchFamily="18" charset="2"/>
              </a:rPr>
              <a:t>W={ 0.05, 0.26, 0.03, 0.10, 0.16,0.14, 0.19, 0.07 },</a:t>
            </a:r>
            <a:r>
              <a:rPr lang="zh-CN" altLang="en-US" sz="3000" dirty="0">
                <a:latin typeface="微软雅黑" panose="020B0503020204020204" charset="-122"/>
                <a:ea typeface="微软雅黑" panose="020B0503020204020204" charset="-122"/>
                <a:sym typeface="Wingdings 2" panose="05020102010507070707" pitchFamily="18" charset="2"/>
              </a:rPr>
              <a:t>请绘制一个哈夫曼树，并设计哈夫曼编码</a:t>
            </a: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sp>
        <p:nvSpPr>
          <p:cNvPr id="11" name="圆角矩形 10"/>
          <p:cNvSpPr/>
          <p:nvPr/>
        </p:nvSpPr>
        <p:spPr>
          <a:xfrm>
            <a:off x="697230" y="1657350"/>
            <a:ext cx="4149090" cy="4093845"/>
          </a:xfrm>
          <a:prstGeom prst="roundRect">
            <a:avLst>
              <a:gd name="adj" fmla="val 9244"/>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圆角矩形 14"/>
          <p:cNvSpPr/>
          <p:nvPr/>
        </p:nvSpPr>
        <p:spPr>
          <a:xfrm>
            <a:off x="6540500" y="1657350"/>
            <a:ext cx="4149090" cy="4093845"/>
          </a:xfrm>
          <a:prstGeom prst="roundRect">
            <a:avLst>
              <a:gd name="adj" fmla="val 12144"/>
            </a:avLst>
          </a:prstGeom>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6320155" y="3287395"/>
            <a:ext cx="1298575" cy="460375"/>
          </a:xfrm>
          <a:prstGeom prst="rect">
            <a:avLst/>
          </a:prstGeom>
          <a:noFill/>
        </p:spPr>
        <p:txBody>
          <a:bodyPr wrap="square" rtlCol="0" anchor="t">
            <a:spAutoFit/>
          </a:bodyPr>
          <a:p>
            <a:r>
              <a:rPr lang="zh-CN" altLang="en-US" sz="2400">
                <a:solidFill>
                  <a:srgbClr val="FF0000"/>
                </a:solidFill>
                <a:latin typeface="微软雅黑" panose="020B0503020204020204" charset="-122"/>
                <a:ea typeface="微软雅黑" panose="020B0503020204020204" charset="-122"/>
                <a:sym typeface="+mn-ea"/>
              </a:rPr>
              <a:t>⑦</a:t>
            </a:r>
            <a:endParaRPr lang="zh-CN" altLang="en-US" sz="2400">
              <a:solidFill>
                <a:srgbClr val="FF0000"/>
              </a:solidFill>
              <a:latin typeface="微软雅黑" panose="020B0503020204020204" charset="-122"/>
              <a:ea typeface="微软雅黑" panose="020B0503020204020204" charset="-122"/>
              <a:sym typeface="+mn-ea"/>
            </a:endParaRPr>
          </a:p>
        </p:txBody>
      </p:sp>
      <p:sp>
        <p:nvSpPr>
          <p:cNvPr id="2" name="文本框 1"/>
          <p:cNvSpPr txBox="1"/>
          <p:nvPr/>
        </p:nvSpPr>
        <p:spPr>
          <a:xfrm>
            <a:off x="444500" y="3287395"/>
            <a:ext cx="628650" cy="460375"/>
          </a:xfrm>
          <a:prstGeom prst="rect">
            <a:avLst/>
          </a:prstGeom>
          <a:noFill/>
        </p:spPr>
        <p:txBody>
          <a:bodyPr wrap="square" rtlCol="0" anchor="t">
            <a:spAutoFit/>
          </a:bodyPr>
          <a:p>
            <a:r>
              <a:rPr lang="zh-CN" altLang="en-US" sz="2400">
                <a:solidFill>
                  <a:srgbClr val="FF0000"/>
                </a:solidFill>
                <a:latin typeface="微软雅黑" panose="020B0503020204020204" charset="-122"/>
                <a:ea typeface="微软雅黑" panose="020B0503020204020204" charset="-122"/>
                <a:sym typeface="+mn-ea"/>
              </a:rPr>
              <a:t>⑥</a:t>
            </a:r>
            <a:endParaRPr lang="zh-CN" altLang="en-US" sz="2400">
              <a:solidFill>
                <a:srgbClr val="FF0000"/>
              </a:solidFill>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1228725" y="2270760"/>
            <a:ext cx="3286125" cy="3053080"/>
          </a:xfrm>
          <a:prstGeom prst="rect">
            <a:avLst/>
          </a:prstGeom>
        </p:spPr>
      </p:pic>
      <p:pic>
        <p:nvPicPr>
          <p:cNvPr id="5" name="图片 4"/>
          <p:cNvPicPr>
            <a:picLocks noChangeAspect="1"/>
          </p:cNvPicPr>
          <p:nvPr/>
        </p:nvPicPr>
        <p:blipFill>
          <a:blip r:embed="rId2"/>
          <a:stretch>
            <a:fillRect/>
          </a:stretch>
        </p:blipFill>
        <p:spPr>
          <a:xfrm>
            <a:off x="7113905" y="1688465"/>
            <a:ext cx="3197860" cy="40125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2" grpId="1"/>
      <p:bldP spid="11" grpId="1" animBg="1"/>
      <p:bldP spid="22" grpId="0"/>
      <p:bldP spid="15" grpId="0" animBg="1"/>
      <p:bldP spid="22" grpId="1"/>
      <p:bldP spid="1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2017432" y="183402"/>
            <a:ext cx="8314904" cy="133794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3</a:t>
            </a:r>
            <a:r>
              <a:rPr lang="zh-CN" altLang="en-US" sz="3000" dirty="0">
                <a:latin typeface="微软雅黑" panose="020B0503020204020204" charset="-122"/>
                <a:ea typeface="微软雅黑" panose="020B0503020204020204" charset="-122"/>
                <a:sym typeface="Wingdings 2" panose="05020102010507070707" pitchFamily="18" charset="2"/>
              </a:rPr>
              <a:t>：</a:t>
            </a:r>
            <a:endParaRPr lang="en-US" alt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pic>
        <p:nvPicPr>
          <p:cNvPr id="11" name="图片 2"/>
          <p:cNvPicPr>
            <a:picLocks noChangeAspect="1"/>
          </p:cNvPicPr>
          <p:nvPr>
            <p:custDataLst>
              <p:tags r:id="rId1"/>
            </p:custDataLst>
          </p:nvPr>
        </p:nvPicPr>
        <p:blipFill>
          <a:blip r:embed="rId2"/>
          <a:stretch>
            <a:fillRect/>
          </a:stretch>
        </p:blipFill>
        <p:spPr>
          <a:xfrm>
            <a:off x="1139825" y="1292860"/>
            <a:ext cx="3629025" cy="3155315"/>
          </a:xfrm>
          <a:prstGeom prst="rect">
            <a:avLst/>
          </a:prstGeom>
          <a:noFill/>
          <a:ln>
            <a:noFill/>
          </a:ln>
        </p:spPr>
      </p:pic>
      <p:sp>
        <p:nvSpPr>
          <p:cNvPr id="100" name="文本框 99"/>
          <p:cNvSpPr txBox="1"/>
          <p:nvPr/>
        </p:nvSpPr>
        <p:spPr>
          <a:xfrm>
            <a:off x="5067935" y="2028190"/>
            <a:ext cx="6803390" cy="3046095"/>
          </a:xfrm>
          <a:prstGeom prst="rect">
            <a:avLst/>
          </a:prstGeom>
          <a:noFill/>
          <a:ln w="9525">
            <a:noFill/>
          </a:ln>
        </p:spPr>
        <p:txBody>
          <a:bodyPr wrap="square">
            <a:spAutoFit/>
          </a:bodyPr>
          <a:p>
            <a:pPr indent="0"/>
            <a:r>
              <a:rPr lang="zh-CN" sz="3200" b="0">
                <a:ea typeface="宋体" panose="02010600030101010101" pitchFamily="2" charset="-122"/>
              </a:rPr>
              <a:t>先序遍历序列为：</a:t>
            </a:r>
            <a:endParaRPr lang="zh-CN" sz="3200" b="0">
              <a:ea typeface="宋体" panose="02010600030101010101" pitchFamily="2" charset="-122"/>
            </a:endParaRPr>
          </a:p>
          <a:p>
            <a:pPr indent="0"/>
            <a:r>
              <a:rPr lang="en-US" altLang="zh-CN" sz="3200" b="0">
                <a:ea typeface="宋体" panose="02010600030101010101" pitchFamily="2" charset="-122"/>
              </a:rPr>
              <a:t>{A</a:t>
            </a:r>
            <a:r>
              <a:rPr lang="zh-CN" altLang="en-US" sz="3200" b="0">
                <a:ea typeface="宋体" panose="02010600030101010101" pitchFamily="2" charset="-122"/>
              </a:rPr>
              <a:t>，</a:t>
            </a:r>
            <a:r>
              <a:rPr lang="en-US" altLang="zh-CN" sz="3200" b="0">
                <a:ea typeface="宋体" panose="02010600030101010101" pitchFamily="2" charset="-122"/>
              </a:rPr>
              <a:t>B</a:t>
            </a:r>
            <a:r>
              <a:rPr lang="zh-CN" altLang="en-US" sz="3200" b="0">
                <a:ea typeface="宋体" panose="02010600030101010101" pitchFamily="2" charset="-122"/>
              </a:rPr>
              <a:t>，</a:t>
            </a:r>
            <a:r>
              <a:rPr lang="en-US" altLang="zh-CN" sz="3200" b="0">
                <a:ea typeface="宋体" panose="02010600030101010101" pitchFamily="2" charset="-122"/>
              </a:rPr>
              <a:t>C</a:t>
            </a:r>
            <a:r>
              <a:rPr lang="zh-CN" altLang="en-US" sz="3200" b="0">
                <a:ea typeface="宋体" panose="02010600030101010101" pitchFamily="2" charset="-122"/>
              </a:rPr>
              <a:t>，</a:t>
            </a:r>
            <a:r>
              <a:rPr lang="en-US" altLang="zh-CN" sz="3200" b="0">
                <a:ea typeface="宋体" panose="02010600030101010101" pitchFamily="2" charset="-122"/>
              </a:rPr>
              <a:t>D</a:t>
            </a:r>
            <a:r>
              <a:rPr lang="zh-CN" altLang="en-US" sz="3200" b="0">
                <a:ea typeface="宋体" panose="02010600030101010101" pitchFamily="2" charset="-122"/>
              </a:rPr>
              <a:t>，</a:t>
            </a:r>
            <a:r>
              <a:rPr lang="en-US" altLang="zh-CN" sz="3200" b="0">
                <a:ea typeface="宋体" panose="02010600030101010101" pitchFamily="2" charset="-122"/>
              </a:rPr>
              <a:t>E</a:t>
            </a:r>
            <a:r>
              <a:rPr lang="zh-CN" altLang="en-US" sz="3200" b="0">
                <a:ea typeface="宋体" panose="02010600030101010101" pitchFamily="2" charset="-122"/>
              </a:rPr>
              <a:t>，</a:t>
            </a:r>
            <a:r>
              <a:rPr lang="en-US" altLang="zh-CN" sz="3200" b="0">
                <a:ea typeface="宋体" panose="02010600030101010101" pitchFamily="2" charset="-122"/>
              </a:rPr>
              <a:t>F</a:t>
            </a:r>
            <a:r>
              <a:rPr lang="zh-CN" altLang="en-US" sz="3200" b="0">
                <a:ea typeface="宋体" panose="02010600030101010101" pitchFamily="2" charset="-122"/>
              </a:rPr>
              <a:t>，</a:t>
            </a:r>
            <a:r>
              <a:rPr lang="en-US" altLang="zh-CN" sz="3200" b="0">
                <a:ea typeface="宋体" panose="02010600030101010101" pitchFamily="2" charset="-122"/>
              </a:rPr>
              <a:t>G</a:t>
            </a:r>
            <a:r>
              <a:rPr lang="zh-CN" altLang="en-US" sz="3200" b="0">
                <a:ea typeface="宋体" panose="02010600030101010101" pitchFamily="2" charset="-122"/>
              </a:rPr>
              <a:t>，</a:t>
            </a:r>
            <a:r>
              <a:rPr lang="en-US" altLang="zh-CN" sz="3200" b="0">
                <a:ea typeface="宋体" panose="02010600030101010101" pitchFamily="2" charset="-122"/>
              </a:rPr>
              <a:t>H</a:t>
            </a:r>
            <a:r>
              <a:rPr lang="zh-CN" altLang="en-US" sz="3200" b="0">
                <a:ea typeface="宋体" panose="02010600030101010101" pitchFamily="2" charset="-122"/>
              </a:rPr>
              <a:t>，</a:t>
            </a:r>
            <a:r>
              <a:rPr lang="en-US" altLang="zh-CN" sz="3200" b="0">
                <a:ea typeface="宋体" panose="02010600030101010101" pitchFamily="2" charset="-122"/>
              </a:rPr>
              <a:t>I</a:t>
            </a:r>
            <a:r>
              <a:rPr lang="zh-CN" altLang="en-US" sz="3200" b="0">
                <a:ea typeface="宋体" panose="02010600030101010101" pitchFamily="2" charset="-122"/>
              </a:rPr>
              <a:t>，</a:t>
            </a:r>
            <a:r>
              <a:rPr lang="en-US" altLang="zh-CN" sz="3200" b="0">
                <a:ea typeface="宋体" panose="02010600030101010101" pitchFamily="2" charset="-122"/>
              </a:rPr>
              <a:t>J</a:t>
            </a:r>
            <a:r>
              <a:rPr lang="zh-CN" altLang="en-US" sz="3200" b="0">
                <a:ea typeface="宋体" panose="02010600030101010101" pitchFamily="2" charset="-122"/>
              </a:rPr>
              <a:t>，</a:t>
            </a:r>
            <a:r>
              <a:rPr lang="en-US" altLang="zh-CN" sz="3200" b="0">
                <a:ea typeface="宋体" panose="02010600030101010101" pitchFamily="2" charset="-122"/>
              </a:rPr>
              <a:t>K}</a:t>
            </a:r>
            <a:endParaRPr lang="zh-CN" sz="3200" b="0">
              <a:ea typeface="宋体" panose="02010600030101010101" pitchFamily="2" charset="-122"/>
            </a:endParaRPr>
          </a:p>
          <a:p>
            <a:pPr indent="0"/>
            <a:r>
              <a:rPr lang="zh-CN" sz="3200" b="0">
                <a:ea typeface="宋体" panose="02010600030101010101" pitchFamily="2" charset="-122"/>
              </a:rPr>
              <a:t>中序遍历序列为</a:t>
            </a:r>
            <a:r>
              <a:rPr lang="zh-CN" altLang="en-US" sz="3200" b="0">
                <a:ea typeface="宋体" panose="02010600030101010101" pitchFamily="2" charset="-122"/>
              </a:rPr>
              <a:t>：</a:t>
            </a:r>
            <a:endParaRPr lang="zh-CN" sz="3200" b="0">
              <a:ea typeface="宋体" panose="02010600030101010101" pitchFamily="2" charset="-122"/>
            </a:endParaRPr>
          </a:p>
          <a:p>
            <a:pPr indent="0"/>
            <a:r>
              <a:rPr lang="zh-CN" altLang="en-US" sz="3200">
                <a:ea typeface="宋体" panose="02010600030101010101" pitchFamily="2" charset="-122"/>
                <a:sym typeface="+mn-ea"/>
              </a:rPr>
              <a:t>{C，B，E，D，F，A，I，H，J，G，K}</a:t>
            </a:r>
            <a:endParaRPr lang="zh-CN" altLang="en-US" sz="3200" b="0">
              <a:ea typeface="宋体" panose="02010600030101010101" pitchFamily="2" charset="-122"/>
            </a:endParaRPr>
          </a:p>
          <a:p>
            <a:pPr indent="0"/>
            <a:r>
              <a:rPr lang="zh-CN" altLang="en-US" sz="3200" b="0">
                <a:ea typeface="宋体" panose="02010600030101010101" pitchFamily="2" charset="-122"/>
              </a:rPr>
              <a:t>后序遍历序列为：</a:t>
            </a:r>
            <a:endParaRPr lang="zh-CN" altLang="en-US" sz="3200" b="0">
              <a:ea typeface="宋体" panose="02010600030101010101" pitchFamily="2" charset="-122"/>
            </a:endParaRPr>
          </a:p>
          <a:p>
            <a:pPr indent="0"/>
            <a:r>
              <a:rPr lang="en-US" altLang="zh-CN" sz="3200" b="0">
                <a:ea typeface="宋体" panose="02010600030101010101" pitchFamily="2" charset="-122"/>
              </a:rPr>
              <a:t>{C</a:t>
            </a:r>
            <a:r>
              <a:rPr lang="zh-CN" altLang="en-US" sz="3200" b="0">
                <a:ea typeface="宋体" panose="02010600030101010101" pitchFamily="2" charset="-122"/>
              </a:rPr>
              <a:t>，</a:t>
            </a:r>
            <a:r>
              <a:rPr lang="en-US" altLang="zh-CN" sz="3200" b="0">
                <a:ea typeface="宋体" panose="02010600030101010101" pitchFamily="2" charset="-122"/>
              </a:rPr>
              <a:t>E</a:t>
            </a:r>
            <a:r>
              <a:rPr lang="zh-CN" altLang="en-US" sz="3200" b="0">
                <a:ea typeface="宋体" panose="02010600030101010101" pitchFamily="2" charset="-122"/>
              </a:rPr>
              <a:t>，</a:t>
            </a:r>
            <a:r>
              <a:rPr lang="en-US" altLang="zh-CN" sz="3200" b="0">
                <a:ea typeface="宋体" panose="02010600030101010101" pitchFamily="2" charset="-122"/>
              </a:rPr>
              <a:t>F</a:t>
            </a:r>
            <a:r>
              <a:rPr lang="zh-CN" altLang="en-US" sz="3200" b="0">
                <a:ea typeface="宋体" panose="02010600030101010101" pitchFamily="2" charset="-122"/>
              </a:rPr>
              <a:t>，</a:t>
            </a:r>
            <a:r>
              <a:rPr lang="en-US" altLang="zh-CN" sz="3200" b="0">
                <a:ea typeface="宋体" panose="02010600030101010101" pitchFamily="2" charset="-122"/>
              </a:rPr>
              <a:t>D</a:t>
            </a:r>
            <a:r>
              <a:rPr lang="zh-CN" altLang="en-US" sz="3200" b="0">
                <a:ea typeface="宋体" panose="02010600030101010101" pitchFamily="2" charset="-122"/>
              </a:rPr>
              <a:t>，</a:t>
            </a:r>
            <a:r>
              <a:rPr lang="en-US" altLang="zh-CN" sz="3200" b="0">
                <a:ea typeface="宋体" panose="02010600030101010101" pitchFamily="2" charset="-122"/>
              </a:rPr>
              <a:t>B</a:t>
            </a:r>
            <a:r>
              <a:rPr lang="zh-CN" altLang="en-US" sz="3200" b="0">
                <a:ea typeface="宋体" panose="02010600030101010101" pitchFamily="2" charset="-122"/>
              </a:rPr>
              <a:t>，</a:t>
            </a:r>
            <a:r>
              <a:rPr lang="en-US" altLang="zh-CN" sz="3200" b="0">
                <a:ea typeface="宋体" panose="02010600030101010101" pitchFamily="2" charset="-122"/>
              </a:rPr>
              <a:t>I</a:t>
            </a:r>
            <a:r>
              <a:rPr lang="zh-CN" altLang="en-US" sz="3200" b="0">
                <a:ea typeface="宋体" panose="02010600030101010101" pitchFamily="2" charset="-122"/>
              </a:rPr>
              <a:t>，</a:t>
            </a:r>
            <a:r>
              <a:rPr lang="en-US" altLang="zh-CN" sz="3200" b="0">
                <a:ea typeface="宋体" panose="02010600030101010101" pitchFamily="2" charset="-122"/>
              </a:rPr>
              <a:t>J</a:t>
            </a:r>
            <a:r>
              <a:rPr lang="zh-CN" altLang="en-US" sz="3200" b="0">
                <a:ea typeface="宋体" panose="02010600030101010101" pitchFamily="2" charset="-122"/>
              </a:rPr>
              <a:t>，</a:t>
            </a:r>
            <a:r>
              <a:rPr lang="en-US" altLang="zh-CN" sz="3200" b="0">
                <a:ea typeface="宋体" panose="02010600030101010101" pitchFamily="2" charset="-122"/>
              </a:rPr>
              <a:t>H</a:t>
            </a:r>
            <a:r>
              <a:rPr lang="zh-CN" altLang="en-US" sz="3200" b="0">
                <a:ea typeface="宋体" panose="02010600030101010101" pitchFamily="2" charset="-122"/>
              </a:rPr>
              <a:t>，</a:t>
            </a:r>
            <a:r>
              <a:rPr lang="en-US" altLang="zh-CN" sz="3200" b="0">
                <a:ea typeface="宋体" panose="02010600030101010101" pitchFamily="2" charset="-122"/>
              </a:rPr>
              <a:t>K</a:t>
            </a:r>
            <a:r>
              <a:rPr lang="zh-CN" altLang="en-US" sz="3200" b="0">
                <a:ea typeface="宋体" panose="02010600030101010101" pitchFamily="2" charset="-122"/>
              </a:rPr>
              <a:t>，</a:t>
            </a:r>
            <a:r>
              <a:rPr lang="en-US" altLang="zh-CN" sz="3200" b="0">
                <a:ea typeface="宋体" panose="02010600030101010101" pitchFamily="2" charset="-122"/>
              </a:rPr>
              <a:t>G</a:t>
            </a:r>
            <a:r>
              <a:rPr lang="zh-CN" altLang="en-US" sz="3200" b="0">
                <a:ea typeface="宋体" panose="02010600030101010101" pitchFamily="2" charset="-122"/>
              </a:rPr>
              <a:t>，</a:t>
            </a:r>
            <a:r>
              <a:rPr lang="en-US" altLang="zh-CN" sz="3200" b="0">
                <a:ea typeface="宋体" panose="02010600030101010101" pitchFamily="2" charset="-122"/>
              </a:rPr>
              <a:t>A}</a:t>
            </a:r>
            <a:endParaRPr lang="en-US" altLang="zh-CN" sz="3200" b="0">
              <a:ea typeface="宋体" panose="02010600030101010101" pitchFamily="2" charset="-122"/>
            </a:endParaRPr>
          </a:p>
        </p:txBody>
      </p:sp>
      <p:sp>
        <p:nvSpPr>
          <p:cNvPr id="2" name="文本框 1"/>
          <p:cNvSpPr txBox="1"/>
          <p:nvPr/>
        </p:nvSpPr>
        <p:spPr>
          <a:xfrm>
            <a:off x="5067935" y="5622925"/>
            <a:ext cx="6337935" cy="829945"/>
          </a:xfrm>
          <a:prstGeom prst="rect">
            <a:avLst/>
          </a:prstGeom>
          <a:noFill/>
        </p:spPr>
        <p:txBody>
          <a:bodyPr wrap="square" rtlCol="0">
            <a:spAutoFit/>
          </a:bodyPr>
          <a:p>
            <a:r>
              <a:rPr lang="zh-CN" altLang="en-US" sz="2400"/>
              <a:t>二叉树的高度为？</a:t>
            </a:r>
            <a:endParaRPr lang="zh-CN" altLang="en-US" sz="2400"/>
          </a:p>
          <a:p>
            <a:r>
              <a:rPr lang="zh-CN" altLang="en-US" sz="2400">
                <a:sym typeface="+mn-ea"/>
              </a:rPr>
              <a:t>空二叉树高度为</a:t>
            </a:r>
            <a:r>
              <a:rPr lang="en-US" altLang="zh-CN" sz="2400">
                <a:sym typeface="+mn-ea"/>
              </a:rPr>
              <a:t>0</a:t>
            </a:r>
            <a:r>
              <a:rPr lang="zh-CN" altLang="en-US" sz="2400">
                <a:sym typeface="+mn-ea"/>
              </a:rPr>
              <a:t>，左侧二叉树高度为</a:t>
            </a:r>
            <a:r>
              <a:rPr lang="en-US" altLang="zh-CN" sz="2400">
                <a:sym typeface="+mn-ea"/>
              </a:rPr>
              <a:t>4</a:t>
            </a:r>
            <a:r>
              <a:rPr lang="zh-CN" altLang="en-US" sz="2400">
                <a:sym typeface="+mn-ea"/>
              </a:rPr>
              <a:t>。</a:t>
            </a:r>
            <a:endParaRPr lang="zh-CN" altLang="en-US" sz="2400"/>
          </a:p>
        </p:txBody>
      </p:sp>
      <p:sp>
        <p:nvSpPr>
          <p:cNvPr id="4" name="文本框 3"/>
          <p:cNvSpPr txBox="1"/>
          <p:nvPr/>
        </p:nvSpPr>
        <p:spPr>
          <a:xfrm>
            <a:off x="4307205" y="415925"/>
            <a:ext cx="7491730" cy="521970"/>
          </a:xfrm>
          <a:prstGeom prst="rect">
            <a:avLst/>
          </a:prstGeom>
          <a:noFill/>
        </p:spPr>
        <p:txBody>
          <a:bodyPr wrap="square" rtlCol="0">
            <a:spAutoFit/>
          </a:bodyPr>
          <a:p>
            <a:r>
              <a:rPr lang="zh-CN" altLang="en-US" sz="2800"/>
              <a:t>给出以下二叉树的先序、中序和后序遍历序列</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1274445" y="220345"/>
            <a:ext cx="9643745" cy="147637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4</a:t>
            </a:r>
            <a:r>
              <a:rPr lang="zh-CN" altLang="en-US" sz="3000" dirty="0">
                <a:latin typeface="微软雅黑" panose="020B0503020204020204" charset="-122"/>
                <a:ea typeface="微软雅黑" panose="020B0503020204020204" charset="-122"/>
                <a:sym typeface="Wingdings 2" panose="05020102010507070707" pitchFamily="18" charset="2"/>
              </a:rPr>
              <a:t>：</a:t>
            </a:r>
            <a:r>
              <a:rPr lang="en-US" altLang="zh-CN" sz="3000" dirty="0">
                <a:latin typeface="微软雅黑" panose="020B0503020204020204" charset="-122"/>
                <a:ea typeface="微软雅黑" panose="020B0503020204020204" charset="-122"/>
                <a:sym typeface="Wingdings 2" panose="05020102010507070707" pitchFamily="18" charset="2"/>
              </a:rPr>
              <a:t> </a:t>
            </a:r>
            <a:r>
              <a:rPr lang="zh-CN" altLang="en-US" sz="3000" dirty="0">
                <a:latin typeface="微软雅黑" panose="020B0503020204020204" charset="-122"/>
                <a:ea typeface="微软雅黑" panose="020B0503020204020204" charset="-122"/>
                <a:sym typeface="Wingdings 2" panose="05020102010507070707" pitchFamily="18" charset="2"/>
              </a:rPr>
              <a:t>对广义表</a:t>
            </a:r>
            <a:r>
              <a:rPr lang="en-US" altLang="zh-CN" sz="3000" dirty="0">
                <a:latin typeface="微软雅黑" panose="020B0503020204020204" charset="-122"/>
                <a:ea typeface="微软雅黑" panose="020B0503020204020204" charset="-122"/>
                <a:sym typeface="Wingdings 2" panose="05020102010507070707" pitchFamily="18" charset="2"/>
              </a:rPr>
              <a:t>GL</a:t>
            </a:r>
            <a:r>
              <a:rPr lang="en-US" altLang="zh-CN" sz="3000" dirty="0">
                <a:latin typeface="微软雅黑" panose="020B0503020204020204" charset="-122"/>
                <a:ea typeface="微软雅黑" panose="020B0503020204020204" charset="-122"/>
                <a:sym typeface="Wingdings 2" panose="05020102010507070707" pitchFamily="18" charset="2"/>
              </a:rPr>
              <a:t>=</a:t>
            </a:r>
            <a:r>
              <a:rPr lang="zh-CN" altLang="en-US" sz="3000" dirty="0">
                <a:latin typeface="微软雅黑" panose="020B0503020204020204" charset="-122"/>
                <a:ea typeface="微软雅黑" panose="020B0503020204020204" charset="-122"/>
                <a:sym typeface="Wingdings 2" panose="05020102010507070707" pitchFamily="18" charset="2"/>
              </a:rPr>
              <a:t>（</a:t>
            </a:r>
            <a:r>
              <a:rPr lang="en-US" altLang="zh-CN" sz="3000" dirty="0">
                <a:latin typeface="微软雅黑" panose="020B0503020204020204" charset="-122"/>
                <a:ea typeface="微软雅黑" panose="020B0503020204020204" charset="-122"/>
                <a:sym typeface="Wingdings 2" panose="05020102010507070707" pitchFamily="18" charset="2"/>
              </a:rPr>
              <a:t>a,(b,c,d)</a:t>
            </a:r>
            <a:r>
              <a:rPr lang="zh-CN" altLang="en-US" sz="3000" dirty="0">
                <a:latin typeface="微软雅黑" panose="020B0503020204020204" charset="-122"/>
                <a:ea typeface="微软雅黑" panose="020B0503020204020204" charset="-122"/>
                <a:sym typeface="Wingdings 2" panose="05020102010507070707" pitchFamily="18" charset="2"/>
              </a:rPr>
              <a:t>）说明表头和表尾，绘制其</a:t>
            </a:r>
            <a:r>
              <a:rPr lang="zh-CN" altLang="en-US" sz="3000" dirty="0">
                <a:latin typeface="微软雅黑" panose="020B0503020204020204" charset="-122"/>
                <a:ea typeface="微软雅黑" panose="020B0503020204020204" charset="-122"/>
                <a:sym typeface="+mn-ea"/>
              </a:rPr>
              <a:t>头尾链表存储结构</a:t>
            </a:r>
            <a:endParaRPr lang="zh-CN" altLang="en-US" sz="3000" dirty="0">
              <a:latin typeface="微软雅黑" panose="020B0503020204020204" charset="-122"/>
              <a:ea typeface="微软雅黑" panose="020B0503020204020204" charset="-122"/>
              <a:sym typeface="Wingdings 2" panose="05020102010507070707" pitchFamily="18" charset="2"/>
            </a:endParaRPr>
          </a:p>
        </p:txBody>
      </p:sp>
      <p:sp>
        <p:nvSpPr>
          <p:cNvPr id="5" name="文本框 4"/>
          <p:cNvSpPr txBox="1"/>
          <p:nvPr/>
        </p:nvSpPr>
        <p:spPr>
          <a:xfrm>
            <a:off x="1392555" y="1920875"/>
            <a:ext cx="6374130" cy="521970"/>
          </a:xfrm>
          <a:prstGeom prst="rect">
            <a:avLst/>
          </a:prstGeom>
          <a:noFill/>
        </p:spPr>
        <p:txBody>
          <a:bodyPr wrap="square" rtlCol="0">
            <a:spAutoFit/>
          </a:bodyPr>
          <a:p>
            <a:r>
              <a:rPr lang="zh-CN" altLang="en-US" sz="2800"/>
              <a:t>答：</a:t>
            </a:r>
            <a:r>
              <a:rPr lang="en-US" altLang="zh-CN" sz="2800"/>
              <a:t>  </a:t>
            </a:r>
            <a:r>
              <a:rPr lang="zh-CN" altLang="en-US" sz="2800"/>
              <a:t>表头：</a:t>
            </a:r>
            <a:r>
              <a:rPr lang="en-US" altLang="zh-CN" sz="2800"/>
              <a:t>a   </a:t>
            </a:r>
            <a:r>
              <a:rPr lang="zh-CN" altLang="en-US" sz="2800"/>
              <a:t>表尾：（（</a:t>
            </a:r>
            <a:r>
              <a:rPr lang="en-US" altLang="zh-CN" sz="2800"/>
              <a:t>b,c,d</a:t>
            </a:r>
            <a:r>
              <a:rPr lang="zh-CN" altLang="en-US" sz="2800"/>
              <a:t>））</a:t>
            </a:r>
            <a:endParaRPr lang="zh-CN" altLang="en-US" sz="2800"/>
          </a:p>
        </p:txBody>
      </p:sp>
      <p:graphicFrame>
        <p:nvGraphicFramePr>
          <p:cNvPr id="8" name="表格 5"/>
          <p:cNvGraphicFramePr>
            <a:graphicFrameLocks noGrp="1"/>
          </p:cNvGraphicFramePr>
          <p:nvPr/>
        </p:nvGraphicFramePr>
        <p:xfrm>
          <a:off x="2407059" y="3821311"/>
          <a:ext cx="1337486" cy="406139"/>
        </p:xfrm>
        <a:graphic>
          <a:graphicData uri="http://schemas.openxmlformats.org/drawingml/2006/table">
            <a:tbl>
              <a:tblPr firstRow="1" bandRow="1">
                <a:tableStyleId>{5940675A-B579-460E-94D1-54222C63F5DA}</a:tableStyleId>
              </a:tblPr>
              <a:tblGrid>
                <a:gridCol w="668743"/>
                <a:gridCol w="668743"/>
              </a:tblGrid>
              <a:tr h="406139">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0</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a</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mc:AlternateContent xmlns:mc="http://schemas.openxmlformats.org/markup-compatibility/2006" xmlns:a14="http://schemas.microsoft.com/office/drawing/2010/main">
        <mc:Choice Requires="a14">
          <p:graphicFrame>
            <p:nvGraphicFramePr>
              <p:cNvPr id="14" name="表格 6"/>
              <p:cNvGraphicFramePr>
                <a:graphicFrameLocks noGrp="1"/>
              </p:cNvGraphicFramePr>
              <p:nvPr/>
            </p:nvGraphicFramePr>
            <p:xfrm>
              <a:off x="4600745" y="4603795"/>
              <a:ext cx="1951260" cy="432541"/>
            </p:xfrm>
            <a:graphic>
              <a:graphicData uri="http://schemas.openxmlformats.org/drawingml/2006/table">
                <a:tbl>
                  <a:tblPr firstRow="1" bandRow="1">
                    <a:tableStyleId>{5940675A-B579-460E-94D1-54222C63F5DA}</a:tableStyleId>
                  </a:tblPr>
                  <a:tblGrid>
                    <a:gridCol w="650420"/>
                    <a:gridCol w="650420"/>
                    <a:gridCol w="650420"/>
                  </a:tblGrid>
                  <a:tr h="432541">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m:rPr>
                                    <m:sty m:val="p"/>
                                  </m:rPr>
                                  <a:rPr lang="el-GR" altLang="zh-CN" sz="1800" kern="1200" smtClean="0">
                                    <a:solidFill>
                                      <a:schemeClr val="tx1"/>
                                    </a:solidFill>
                                    <a:latin typeface="Cambria Math" panose="02040503050406030204" pitchFamily="18" charset="0"/>
                                    <a:ea typeface="微软雅黑" panose="020B0503020204020204" charset="-122"/>
                                    <a:cs typeface="+mn-cs"/>
                                  </a:rPr>
                                  <m:t>Λ</m:t>
                                </m:r>
                              </m:oMath>
                            </m:oMathPara>
                          </a14:m>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mc:Choice>
        <mc:Fallback xmlns="">
          <p:graphicFrame>
            <p:nvGraphicFramePr>
              <p:cNvPr id="14" name="表格 6"/>
              <p:cNvGraphicFramePr>
                <a:graphicFrameLocks noGrp="1"/>
              </p:cNvGraphicFramePr>
              <p:nvPr/>
            </p:nvGraphicFramePr>
            <p:xfrm>
              <a:off x="4600745" y="4603795"/>
              <a:ext cx="1951260" cy="432541"/>
            </p:xfrm>
            <a:graphic>
              <a:graphicData uri="http://schemas.openxmlformats.org/drawingml/2006/table">
                <a:tbl>
                  <a:tblPr firstRow="1" bandRow="1">
                    <a:tableStyleId>{5940675A-B579-460E-94D1-54222C63F5DA}</a:tableStyleId>
                  </a:tblPr>
                  <a:tblGrid>
                    <a:gridCol w="650420"/>
                    <a:gridCol w="650420"/>
                    <a:gridCol w="650420"/>
                  </a:tblGrid>
                  <a:tr h="432435">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endParaRPr lang="zh-CN"/>
                        </a:p>
                      </a:txBody>
                      <a:tcPr>
                        <a:blipFill>
                          <a:blip r:embed="rId1"/>
                        </a:blipFill>
                      </a:tcPr>
                    </a:tc>
                  </a:tr>
                </a:tbl>
              </a:graphicData>
            </a:graphic>
          </p:graphicFrame>
        </mc:Fallback>
      </mc:AlternateContent>
      <p:graphicFrame>
        <p:nvGraphicFramePr>
          <p:cNvPr id="18" name="表格 6"/>
          <p:cNvGraphicFramePr>
            <a:graphicFrameLocks noGrp="1"/>
          </p:cNvGraphicFramePr>
          <p:nvPr/>
        </p:nvGraphicFramePr>
        <p:xfrm>
          <a:off x="1793285" y="4603795"/>
          <a:ext cx="1951260" cy="432541"/>
        </p:xfrm>
        <a:graphic>
          <a:graphicData uri="http://schemas.openxmlformats.org/drawingml/2006/table">
            <a:tbl>
              <a:tblPr firstRow="1" bandRow="1">
                <a:tableStyleId>{5940675A-B579-460E-94D1-54222C63F5DA}</a:tableStyleId>
              </a:tblPr>
              <a:tblGrid>
                <a:gridCol w="650420"/>
                <a:gridCol w="650420"/>
                <a:gridCol w="650420"/>
              </a:tblGrid>
              <a:tr h="432541">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p:graphicFrame>
        <p:nvGraphicFramePr>
          <p:cNvPr id="19" name="表格 6"/>
          <p:cNvGraphicFramePr>
            <a:graphicFrameLocks noGrp="1"/>
          </p:cNvGraphicFramePr>
          <p:nvPr/>
        </p:nvGraphicFramePr>
        <p:xfrm>
          <a:off x="4600745" y="3790643"/>
          <a:ext cx="1951260" cy="432541"/>
        </p:xfrm>
        <a:graphic>
          <a:graphicData uri="http://schemas.openxmlformats.org/drawingml/2006/table">
            <a:tbl>
              <a:tblPr firstRow="1" bandRow="1">
                <a:tableStyleId>{5940675A-B579-460E-94D1-54222C63F5DA}</a:tableStyleId>
              </a:tblPr>
              <a:tblGrid>
                <a:gridCol w="650420"/>
                <a:gridCol w="650420"/>
                <a:gridCol w="650420"/>
              </a:tblGrid>
              <a:tr h="432541">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p:graphicFrame>
        <p:nvGraphicFramePr>
          <p:cNvPr id="20" name="表格 6"/>
          <p:cNvGraphicFramePr>
            <a:graphicFrameLocks noGrp="1"/>
          </p:cNvGraphicFramePr>
          <p:nvPr/>
        </p:nvGraphicFramePr>
        <p:xfrm>
          <a:off x="7157945" y="3790643"/>
          <a:ext cx="1951260" cy="432541"/>
        </p:xfrm>
        <a:graphic>
          <a:graphicData uri="http://schemas.openxmlformats.org/drawingml/2006/table">
            <a:tbl>
              <a:tblPr firstRow="1" bandRow="1">
                <a:tableStyleId>{5940675A-B579-460E-94D1-54222C63F5DA}</a:tableStyleId>
              </a:tblPr>
              <a:tblGrid>
                <a:gridCol w="650420"/>
                <a:gridCol w="650420"/>
                <a:gridCol w="650420"/>
              </a:tblGrid>
              <a:tr h="432541">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p:graphicFrame>
        <p:nvGraphicFramePr>
          <p:cNvPr id="21" name="表格 5"/>
          <p:cNvGraphicFramePr>
            <a:graphicFrameLocks noGrp="1"/>
          </p:cNvGraphicFramePr>
          <p:nvPr/>
        </p:nvGraphicFramePr>
        <p:xfrm>
          <a:off x="5214519" y="3006055"/>
          <a:ext cx="1337486" cy="406139"/>
        </p:xfrm>
        <a:graphic>
          <a:graphicData uri="http://schemas.openxmlformats.org/drawingml/2006/table">
            <a:tbl>
              <a:tblPr firstRow="1" bandRow="1">
                <a:tableStyleId>{5940675A-B579-460E-94D1-54222C63F5DA}</a:tableStyleId>
              </a:tblPr>
              <a:tblGrid>
                <a:gridCol w="668743"/>
                <a:gridCol w="668743"/>
              </a:tblGrid>
              <a:tr h="406139">
                <a:tc>
                  <a:txBody>
                    <a:bodyPr/>
                    <a:lstStyle/>
                    <a:p>
                      <a:pPr algn="ctr"/>
                      <a:r>
                        <a:rPr lang="en-US" altLang="zh-CN" sz="1800" dirty="0">
                          <a:latin typeface="微软雅黑" panose="020B0503020204020204" charset="-122"/>
                          <a:ea typeface="微软雅黑" panose="020B0503020204020204" charset="-122"/>
                        </a:rPr>
                        <a:t>0</a:t>
                      </a:r>
                      <a:endParaRPr lang="zh-CN" altLang="en-US" sz="1800" dirty="0">
                        <a:latin typeface="微软雅黑" panose="020B0503020204020204" charset="-122"/>
                        <a:ea typeface="微软雅黑" panose="020B0503020204020204" charset="-122"/>
                      </a:endParaRPr>
                    </a:p>
                  </a:txBody>
                  <a:tcPr/>
                </a:tc>
                <a:tc>
                  <a:txBody>
                    <a:bodyPr/>
                    <a:lstStyle/>
                    <a:p>
                      <a:pPr algn="ctr"/>
                      <a:r>
                        <a:rPr lang="en-US" altLang="zh-CN" sz="1800" dirty="0">
                          <a:latin typeface="微软雅黑" panose="020B0503020204020204" charset="-122"/>
                          <a:ea typeface="微软雅黑" panose="020B0503020204020204" charset="-122"/>
                        </a:rPr>
                        <a:t>b</a:t>
                      </a:r>
                      <a:endParaRPr lang="zh-CN" altLang="en-US" sz="1800" dirty="0">
                        <a:latin typeface="微软雅黑" panose="020B0503020204020204" charset="-122"/>
                        <a:ea typeface="微软雅黑" panose="020B0503020204020204" charset="-122"/>
                      </a:endParaRPr>
                    </a:p>
                  </a:txBody>
                  <a:tcPr/>
                </a:tc>
              </a:tr>
            </a:tbl>
          </a:graphicData>
        </a:graphic>
      </p:graphicFrame>
      <p:graphicFrame>
        <p:nvGraphicFramePr>
          <p:cNvPr id="22" name="表格 5"/>
          <p:cNvGraphicFramePr>
            <a:graphicFrameLocks noGrp="1"/>
          </p:cNvGraphicFramePr>
          <p:nvPr/>
        </p:nvGraphicFramePr>
        <p:xfrm>
          <a:off x="7771719" y="3006055"/>
          <a:ext cx="1337486" cy="406139"/>
        </p:xfrm>
        <a:graphic>
          <a:graphicData uri="http://schemas.openxmlformats.org/drawingml/2006/table">
            <a:tbl>
              <a:tblPr firstRow="1" bandRow="1">
                <a:tableStyleId>{5940675A-B579-460E-94D1-54222C63F5DA}</a:tableStyleId>
              </a:tblPr>
              <a:tblGrid>
                <a:gridCol w="668743"/>
                <a:gridCol w="668743"/>
              </a:tblGrid>
              <a:tr h="406139">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0</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c</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p:sp>
        <p:nvSpPr>
          <p:cNvPr id="24" name="文本框 23"/>
          <p:cNvSpPr txBox="1"/>
          <p:nvPr/>
        </p:nvSpPr>
        <p:spPr>
          <a:xfrm>
            <a:off x="641350" y="4585365"/>
            <a:ext cx="629285" cy="521970"/>
          </a:xfrm>
          <a:prstGeom prst="rect">
            <a:avLst/>
          </a:prstGeom>
          <a:noFill/>
        </p:spPr>
        <p:txBody>
          <a:bodyPr wrap="none" rtlCol="0">
            <a:spAutoFit/>
          </a:bodyPr>
          <a:lstStyle/>
          <a:p>
            <a:r>
              <a:rPr lang="en-US" altLang="zh-CN" sz="2800" dirty="0">
                <a:latin typeface="微软雅黑" panose="020B0503020204020204" charset="-122"/>
                <a:ea typeface="微软雅黑" panose="020B0503020204020204" charset="-122"/>
              </a:rPr>
              <a:t>GL</a:t>
            </a:r>
            <a:endParaRPr lang="zh-CN" altLang="en-US" sz="2800" dirty="0">
              <a:latin typeface="微软雅黑" panose="020B0503020204020204" charset="-122"/>
              <a:ea typeface="微软雅黑" panose="020B0503020204020204" charset="-122"/>
            </a:endParaRPr>
          </a:p>
        </p:txBody>
      </p:sp>
      <p:cxnSp>
        <p:nvCxnSpPr>
          <p:cNvPr id="9" name="直接箭头连接符 8"/>
          <p:cNvCxnSpPr/>
          <p:nvPr/>
        </p:nvCxnSpPr>
        <p:spPr>
          <a:xfrm>
            <a:off x="1167443" y="4653899"/>
            <a:ext cx="5135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V="1">
            <a:off x="5576375" y="3414291"/>
            <a:ext cx="0" cy="5355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8133575" y="3414291"/>
            <a:ext cx="0" cy="5355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2751984" y="4223184"/>
            <a:ext cx="0" cy="5355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5576375" y="4226786"/>
            <a:ext cx="0" cy="5355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endCxn id="14" idx="1"/>
          </p:cNvCxnSpPr>
          <p:nvPr/>
        </p:nvCxnSpPr>
        <p:spPr>
          <a:xfrm flipV="1">
            <a:off x="3552479" y="4820065"/>
            <a:ext cx="1048266" cy="109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V="1">
            <a:off x="6340691" y="4004373"/>
            <a:ext cx="790575" cy="25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0" name="表格 6"/>
              <p:cNvGraphicFramePr>
                <a:graphicFrameLocks noGrp="1"/>
              </p:cNvGraphicFramePr>
              <p:nvPr/>
            </p:nvGraphicFramePr>
            <p:xfrm>
              <a:off x="9539830" y="3792548"/>
              <a:ext cx="1951260" cy="432541"/>
            </p:xfrm>
            <a:graphic>
              <a:graphicData uri="http://schemas.openxmlformats.org/drawingml/2006/table">
                <a:tbl>
                  <a:tblPr firstRow="1" bandRow="1">
                    <a:tableStyleId>{5940675A-B579-460E-94D1-54222C63F5DA}</a:tableStyleId>
                  </a:tblPr>
                  <a:tblGrid>
                    <a:gridCol w="650420"/>
                    <a:gridCol w="650420"/>
                    <a:gridCol w="650420"/>
                  </a:tblGrid>
                  <a:tr h="432541">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m:rPr>
                                    <m:sty m:val="p"/>
                                  </m:rPr>
                                  <a:rPr lang="el-GR" altLang="zh-CN" sz="1800" kern="1200" smtClean="0">
                                    <a:solidFill>
                                      <a:schemeClr val="tx1"/>
                                    </a:solidFill>
                                    <a:latin typeface="Cambria Math" panose="02040503050406030204" pitchFamily="18" charset="0"/>
                                    <a:ea typeface="微软雅黑" panose="020B0503020204020204" charset="-122"/>
                                    <a:cs typeface="+mn-cs"/>
                                  </a:rPr>
                                  <m:t>Λ</m:t>
                                </m:r>
                              </m:oMath>
                            </m:oMathPara>
                          </a14:m>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mc:Choice>
        <mc:Fallback xmlns="">
          <p:graphicFrame>
            <p:nvGraphicFramePr>
              <p:cNvPr id="10" name="表格 6"/>
              <p:cNvGraphicFramePr>
                <a:graphicFrameLocks noGrp="1"/>
              </p:cNvGraphicFramePr>
              <p:nvPr/>
            </p:nvGraphicFramePr>
            <p:xfrm>
              <a:off x="9539830" y="3792548"/>
              <a:ext cx="1951260" cy="432541"/>
            </p:xfrm>
            <a:graphic>
              <a:graphicData uri="http://schemas.openxmlformats.org/drawingml/2006/table">
                <a:tbl>
                  <a:tblPr firstRow="1" bandRow="1">
                    <a:tableStyleId>{5940675A-B579-460E-94D1-54222C63F5DA}</a:tableStyleId>
                  </a:tblPr>
                  <a:tblGrid>
                    <a:gridCol w="650420"/>
                    <a:gridCol w="650420"/>
                    <a:gridCol w="650420"/>
                  </a:tblGrid>
                  <a:tr h="432435">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1</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endParaRPr lang="zh-CN"/>
                        </a:p>
                      </a:txBody>
                      <a:tcPr>
                        <a:blipFill>
                          <a:blip r:embed="rId1"/>
                        </a:blipFill>
                      </a:tcPr>
                    </a:tc>
                  </a:tr>
                </a:tbl>
              </a:graphicData>
            </a:graphic>
          </p:graphicFrame>
        </mc:Fallback>
      </mc:AlternateContent>
      <p:graphicFrame>
        <p:nvGraphicFramePr>
          <p:cNvPr id="11" name="表格 5"/>
          <p:cNvGraphicFramePr>
            <a:graphicFrameLocks noGrp="1"/>
          </p:cNvGraphicFramePr>
          <p:nvPr/>
        </p:nvGraphicFramePr>
        <p:xfrm>
          <a:off x="10153604" y="3007960"/>
          <a:ext cx="1337486" cy="406139"/>
        </p:xfrm>
        <a:graphic>
          <a:graphicData uri="http://schemas.openxmlformats.org/drawingml/2006/table">
            <a:tbl>
              <a:tblPr firstRow="1" bandRow="1">
                <a:tableStyleId>{5940675A-B579-460E-94D1-54222C63F5DA}</a:tableStyleId>
              </a:tblPr>
              <a:tblGrid>
                <a:gridCol w="668743"/>
                <a:gridCol w="668743"/>
              </a:tblGrid>
              <a:tr h="406139">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0</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c>
                  <a:txBody>
                    <a:bodyPr/>
                    <a:lstStyle/>
                    <a:p>
                      <a:pPr marL="0" algn="ctr" defTabSz="685800" rtl="0" eaLnBrk="1" latinLnBrk="0" hangingPunct="1"/>
                      <a:r>
                        <a:rPr lang="en-US" altLang="zh-CN" sz="1800" kern="1200" dirty="0">
                          <a:solidFill>
                            <a:schemeClr val="tx1"/>
                          </a:solidFill>
                          <a:latin typeface="微软雅黑" panose="020B0503020204020204" charset="-122"/>
                          <a:ea typeface="微软雅黑" panose="020B0503020204020204" charset="-122"/>
                          <a:cs typeface="+mn-cs"/>
                        </a:rPr>
                        <a:t>d</a:t>
                      </a:r>
                      <a:endParaRPr lang="zh-CN" altLang="en-US" sz="1800" kern="1200" dirty="0">
                        <a:solidFill>
                          <a:schemeClr val="tx1"/>
                        </a:solidFill>
                        <a:latin typeface="微软雅黑" panose="020B0503020204020204" charset="-122"/>
                        <a:ea typeface="微软雅黑" panose="020B0503020204020204" charset="-122"/>
                        <a:cs typeface="+mn-cs"/>
                      </a:endParaRPr>
                    </a:p>
                  </a:txBody>
                  <a:tcPr/>
                </a:tc>
              </a:tr>
            </a:tbl>
          </a:graphicData>
        </a:graphic>
      </p:graphicFrame>
      <p:cxnSp>
        <p:nvCxnSpPr>
          <p:cNvPr id="12" name="直接箭头连接符 11"/>
          <p:cNvCxnSpPr/>
          <p:nvPr/>
        </p:nvCxnSpPr>
        <p:spPr>
          <a:xfrm flipV="1">
            <a:off x="10515460" y="3416196"/>
            <a:ext cx="0" cy="5355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8714956" y="4006913"/>
            <a:ext cx="753745" cy="44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2017432" y="183402"/>
            <a:ext cx="8314904" cy="244538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5</a:t>
            </a:r>
            <a:r>
              <a:rPr lang="zh-CN" altLang="en-US" sz="3000" dirty="0">
                <a:latin typeface="微软雅黑" panose="020B0503020204020204" charset="-122"/>
                <a:ea typeface="微软雅黑" panose="020B0503020204020204" charset="-122"/>
                <a:sym typeface="Wingdings 2" panose="05020102010507070707" pitchFamily="18" charset="2"/>
              </a:rPr>
              <a:t>：</a:t>
            </a:r>
            <a:endParaRPr lang="en-US" alt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dirty="0">
                <a:latin typeface="微软雅黑" panose="020B0503020204020204" charset="-122"/>
                <a:ea typeface="微软雅黑" panose="020B0503020204020204" charset="-122"/>
                <a:sym typeface="Wingdings 2" panose="05020102010507070707" pitchFamily="18" charset="2"/>
              </a:rPr>
              <a:t>已知两个带表头结点的单链表</a:t>
            </a:r>
            <a:r>
              <a:rPr lang="en-US" altLang="zh-CN" dirty="0">
                <a:latin typeface="微软雅黑" panose="020B0503020204020204" charset="-122"/>
                <a:ea typeface="微软雅黑" panose="020B0503020204020204" charset="-122"/>
                <a:sym typeface="Wingdings 2" panose="05020102010507070707" pitchFamily="18" charset="2"/>
              </a:rPr>
              <a:t>A</a:t>
            </a:r>
            <a:r>
              <a:rPr lang="zh-CN" altLang="en-US" dirty="0">
                <a:latin typeface="微软雅黑" panose="020B0503020204020204" charset="-122"/>
                <a:ea typeface="微软雅黑" panose="020B0503020204020204" charset="-122"/>
                <a:sym typeface="Wingdings 2" panose="05020102010507070707" pitchFamily="18" charset="2"/>
              </a:rPr>
              <a:t>和</a:t>
            </a:r>
            <a:r>
              <a:rPr lang="en-US" altLang="zh-CN" dirty="0">
                <a:latin typeface="微软雅黑" panose="020B0503020204020204" charset="-122"/>
                <a:ea typeface="微软雅黑" panose="020B0503020204020204" charset="-122"/>
                <a:sym typeface="Wingdings 2" panose="05020102010507070707" pitchFamily="18" charset="2"/>
              </a:rPr>
              <a:t>B</a:t>
            </a:r>
            <a:r>
              <a:rPr lang="zh-CN" altLang="en-US" dirty="0">
                <a:latin typeface="微软雅黑" panose="020B0503020204020204" charset="-122"/>
                <a:ea typeface="微软雅黑" panose="020B0503020204020204" charset="-122"/>
                <a:sym typeface="Wingdings 2" panose="05020102010507070707" pitchFamily="18" charset="2"/>
              </a:rPr>
              <a:t>，其</a:t>
            </a:r>
            <a:r>
              <a:rPr lang="zh-CN" altLang="en-US" dirty="0">
                <a:solidFill>
                  <a:srgbClr val="FF0000"/>
                </a:solidFill>
                <a:latin typeface="微软雅黑" panose="020B0503020204020204" charset="-122"/>
                <a:ea typeface="微软雅黑" panose="020B0503020204020204" charset="-122"/>
                <a:sym typeface="Wingdings 2" panose="05020102010507070707" pitchFamily="18" charset="2"/>
              </a:rPr>
              <a:t>元素值递增排列</a:t>
            </a:r>
            <a:r>
              <a:rPr lang="zh-CN" altLang="en-US" dirty="0">
                <a:latin typeface="微软雅黑" panose="020B0503020204020204" charset="-122"/>
                <a:ea typeface="微软雅黑" panose="020B0503020204020204" charset="-122"/>
                <a:sym typeface="Wingdings 2" panose="05020102010507070707" pitchFamily="18" charset="2"/>
              </a:rPr>
              <a:t>，设计一个算法，将</a:t>
            </a:r>
            <a:r>
              <a:rPr lang="en-US" altLang="zh-CN" dirty="0">
                <a:latin typeface="微软雅黑" panose="020B0503020204020204" charset="-122"/>
                <a:ea typeface="微软雅黑" panose="020B0503020204020204" charset="-122"/>
                <a:sym typeface="Wingdings 2" panose="05020102010507070707" pitchFamily="18" charset="2"/>
              </a:rPr>
              <a:t>A</a:t>
            </a:r>
            <a:r>
              <a:rPr lang="zh-CN" altLang="en-US" dirty="0">
                <a:latin typeface="微软雅黑" panose="020B0503020204020204" charset="-122"/>
                <a:ea typeface="微软雅黑" panose="020B0503020204020204" charset="-122"/>
                <a:sym typeface="Wingdings 2" panose="05020102010507070707" pitchFamily="18" charset="2"/>
              </a:rPr>
              <a:t>和</a:t>
            </a:r>
            <a:r>
              <a:rPr lang="en-US" altLang="zh-CN" dirty="0">
                <a:latin typeface="微软雅黑" panose="020B0503020204020204" charset="-122"/>
                <a:ea typeface="微软雅黑" panose="020B0503020204020204" charset="-122"/>
                <a:sym typeface="Wingdings 2" panose="05020102010507070707" pitchFamily="18" charset="2"/>
              </a:rPr>
              <a:t>B</a:t>
            </a:r>
            <a:r>
              <a:rPr lang="zh-CN" altLang="en-US" dirty="0">
                <a:latin typeface="微软雅黑" panose="020B0503020204020204" charset="-122"/>
                <a:ea typeface="微软雅黑" panose="020B0503020204020204" charset="-122"/>
                <a:sym typeface="Wingdings 2" panose="05020102010507070707" pitchFamily="18" charset="2"/>
              </a:rPr>
              <a:t>合并成一个</a:t>
            </a:r>
            <a:r>
              <a:rPr lang="zh-CN" altLang="en-US" dirty="0">
                <a:solidFill>
                  <a:srgbClr val="FF0000"/>
                </a:solidFill>
                <a:latin typeface="微软雅黑" panose="020B0503020204020204" charset="-122"/>
                <a:ea typeface="微软雅黑" panose="020B0503020204020204" charset="-122"/>
                <a:sym typeface="Wingdings 2" panose="05020102010507070707" pitchFamily="18" charset="2"/>
              </a:rPr>
              <a:t>递减有序</a:t>
            </a:r>
            <a:r>
              <a:rPr lang="zh-CN" altLang="en-US" dirty="0">
                <a:latin typeface="微软雅黑" panose="020B0503020204020204" charset="-122"/>
                <a:ea typeface="微软雅黑" panose="020B0503020204020204" charset="-122"/>
                <a:sym typeface="Wingdings 2" panose="05020102010507070707" pitchFamily="18" charset="2"/>
              </a:rPr>
              <a:t>（相同值只保留一个）的链表</a:t>
            </a:r>
            <a:r>
              <a:rPr lang="en-US" altLang="zh-CN" dirty="0">
                <a:latin typeface="微软雅黑" panose="020B0503020204020204" charset="-122"/>
                <a:ea typeface="微软雅黑" panose="020B0503020204020204" charset="-122"/>
                <a:sym typeface="Wingdings 2" panose="05020102010507070707" pitchFamily="18" charset="2"/>
              </a:rPr>
              <a:t>C</a:t>
            </a:r>
            <a:r>
              <a:rPr lang="zh-CN" altLang="en-US" dirty="0">
                <a:latin typeface="微软雅黑" panose="020B0503020204020204" charset="-122"/>
                <a:ea typeface="微软雅黑" panose="020B0503020204020204" charset="-122"/>
                <a:sym typeface="Wingdings 2" panose="05020102010507070707" pitchFamily="18" charset="2"/>
              </a:rPr>
              <a:t>，并要求利用原表结点，要求给出问题求解的算法描述，并分析其时间复杂度。</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dirty="0">
                <a:latin typeface="微软雅黑" panose="020B0503020204020204" charset="-122"/>
                <a:ea typeface="微软雅黑" panose="020B0503020204020204" charset="-122"/>
                <a:sym typeface="Wingdings 2" panose="05020102010507070707" pitchFamily="18" charset="2"/>
              </a:rPr>
              <a:t>链表的定义如下：</a:t>
            </a:r>
            <a:endParaRPr lang="en-US" altLang="zh-CN" dirty="0">
              <a:latin typeface="微软雅黑" panose="020B0503020204020204" charset="-122"/>
              <a:ea typeface="微软雅黑" panose="020B0503020204020204" charset="-122"/>
              <a:sym typeface="Wingdings 2" panose="05020102010507070707" pitchFamily="18" charset="2"/>
            </a:endParaRPr>
          </a:p>
        </p:txBody>
      </p:sp>
      <p:sp>
        <p:nvSpPr>
          <p:cNvPr id="8" name="文本框 7"/>
          <p:cNvSpPr txBox="1"/>
          <p:nvPr/>
        </p:nvSpPr>
        <p:spPr>
          <a:xfrm>
            <a:off x="1859664" y="4300848"/>
            <a:ext cx="7849806" cy="2584450"/>
          </a:xfrm>
          <a:prstGeom prst="rect">
            <a:avLst/>
          </a:prstGeom>
          <a:noFill/>
        </p:spPr>
        <p:txBody>
          <a:bodyPr wrap="square">
            <a:spAutoFit/>
          </a:bodyPr>
          <a:lstStyle/>
          <a:p>
            <a:r>
              <a:rPr lang="zh-CN" altLang="en-US" sz="1800" dirty="0">
                <a:solidFill>
                  <a:srgbClr val="000000"/>
                </a:solidFill>
                <a:effectLst/>
                <a:latin typeface="等线" panose="02010600030101010101" charset="-122"/>
                <a:ea typeface="等线" panose="02010600030101010101" charset="-122"/>
              </a:rPr>
              <a:t>解答：</a:t>
            </a:r>
            <a:r>
              <a:rPr lang="zh-CN" altLang="en-US" dirty="0">
                <a:solidFill>
                  <a:srgbClr val="FF0000"/>
                </a:solidFill>
                <a:latin typeface="等线" panose="02010600030101010101" charset="-122"/>
                <a:ea typeface="等线" panose="02010600030101010101" charset="-122"/>
              </a:rPr>
              <a:t>给出伪代码或算法</a:t>
            </a:r>
            <a:endParaRPr lang="en-US" altLang="zh-CN" dirty="0">
              <a:solidFill>
                <a:srgbClr val="FF0000"/>
              </a:solidFill>
              <a:latin typeface="等线" panose="02010600030101010101" charset="-122"/>
              <a:ea typeface="等线" panose="02010600030101010101" charset="-122"/>
            </a:endParaRPr>
          </a:p>
          <a:p>
            <a:r>
              <a:rPr lang="zh-CN" altLang="en-US" sz="1800" dirty="0">
                <a:solidFill>
                  <a:srgbClr val="000000"/>
                </a:solidFill>
                <a:effectLst/>
                <a:latin typeface="等线" panose="02010600030101010101" charset="-122"/>
                <a:ea typeface="等线" panose="02010600030101010101" charset="-122"/>
              </a:rPr>
              <a:t>循环直到两个链表中的一个被遍历完毕，执行操作：在 </a:t>
            </a:r>
            <a:r>
              <a:rPr lang="en-US" altLang="zh-CN" sz="1800" dirty="0">
                <a:solidFill>
                  <a:srgbClr val="000000"/>
                </a:solidFill>
                <a:effectLst/>
                <a:latin typeface="等线" panose="02010600030101010101" charset="-122"/>
                <a:ea typeface="等线" panose="02010600030101010101" charset="-122"/>
              </a:rPr>
              <a:t>A </a:t>
            </a:r>
            <a:r>
              <a:rPr lang="zh-CN" altLang="en-US" sz="1800" dirty="0">
                <a:solidFill>
                  <a:srgbClr val="000000"/>
                </a:solidFill>
                <a:effectLst/>
                <a:latin typeface="等线" panose="02010600030101010101" charset="-122"/>
                <a:ea typeface="等线" panose="02010600030101010101" charset="-122"/>
              </a:rPr>
              <a:t>表头之后插入表 </a:t>
            </a:r>
            <a:r>
              <a:rPr lang="en-US" altLang="zh-CN" sz="1800" dirty="0">
                <a:solidFill>
                  <a:srgbClr val="000000"/>
                </a:solidFill>
                <a:effectLst/>
                <a:latin typeface="等线" panose="02010600030101010101" charset="-122"/>
                <a:ea typeface="等线" panose="02010600030101010101" charset="-122"/>
              </a:rPr>
              <a:t>A </a:t>
            </a:r>
            <a:r>
              <a:rPr lang="zh-CN" altLang="en-US" sz="1800" dirty="0">
                <a:solidFill>
                  <a:srgbClr val="000000"/>
                </a:solidFill>
                <a:effectLst/>
                <a:latin typeface="等线" panose="02010600030101010101" charset="-122"/>
                <a:ea typeface="等线" panose="02010600030101010101" charset="-122"/>
              </a:rPr>
              <a:t>和表 </a:t>
            </a:r>
            <a:r>
              <a:rPr lang="en-US" altLang="zh-CN" sz="1800" dirty="0">
                <a:solidFill>
                  <a:srgbClr val="000000"/>
                </a:solidFill>
                <a:effectLst/>
                <a:latin typeface="等线" panose="02010600030101010101" charset="-122"/>
                <a:ea typeface="等线" panose="02010600030101010101" charset="-122"/>
              </a:rPr>
              <a:t>B </a:t>
            </a:r>
            <a:r>
              <a:rPr lang="zh-CN" altLang="en-US" sz="1800" dirty="0">
                <a:solidFill>
                  <a:srgbClr val="000000"/>
                </a:solidFill>
                <a:effectLst/>
                <a:latin typeface="等线" panose="02010600030101010101" charset="-122"/>
                <a:ea typeface="等线" panose="02010600030101010101" charset="-122"/>
              </a:rPr>
              <a:t>中当前节点中小的元素， </a:t>
            </a:r>
            <a:endParaRPr lang="zh-CN" altLang="en-US" dirty="0"/>
          </a:p>
          <a:p>
            <a:r>
              <a:rPr lang="zh-CN" altLang="en-US" sz="1800" dirty="0">
                <a:solidFill>
                  <a:srgbClr val="000000"/>
                </a:solidFill>
                <a:effectLst/>
                <a:latin typeface="等线" panose="02010600030101010101" charset="-122"/>
                <a:ea typeface="等线" panose="02010600030101010101" charset="-122"/>
              </a:rPr>
              <a:t>如果相同，删除表 </a:t>
            </a:r>
            <a:r>
              <a:rPr lang="en-US" altLang="zh-CN" sz="1800" dirty="0">
                <a:solidFill>
                  <a:srgbClr val="000000"/>
                </a:solidFill>
                <a:effectLst/>
                <a:latin typeface="等线" panose="02010600030101010101" charset="-122"/>
                <a:ea typeface="等线" panose="02010600030101010101" charset="-122"/>
              </a:rPr>
              <a:t>B </a:t>
            </a:r>
            <a:r>
              <a:rPr lang="zh-CN" altLang="en-US" sz="1800" dirty="0">
                <a:solidFill>
                  <a:srgbClr val="000000"/>
                </a:solidFill>
                <a:effectLst/>
                <a:latin typeface="等线" panose="02010600030101010101" charset="-122"/>
                <a:ea typeface="等线" panose="02010600030101010101" charset="-122"/>
              </a:rPr>
              <a:t>中的相同元素。 </a:t>
            </a:r>
            <a:endParaRPr lang="en-US" altLang="zh-CN" sz="1800" dirty="0">
              <a:solidFill>
                <a:srgbClr val="000000"/>
              </a:solidFill>
              <a:effectLst/>
              <a:latin typeface="等线" panose="02010600030101010101" charset="-122"/>
              <a:ea typeface="等线" panose="02010600030101010101" charset="-122"/>
            </a:endParaRPr>
          </a:p>
          <a:p>
            <a:endParaRPr lang="en-US" altLang="zh-CN" dirty="0">
              <a:solidFill>
                <a:srgbClr val="000000"/>
              </a:solidFill>
              <a:latin typeface="等线" panose="02010600030101010101" charset="-122"/>
              <a:ea typeface="等线" panose="02010600030101010101" charset="-122"/>
            </a:endParaRPr>
          </a:p>
          <a:p>
            <a:r>
              <a:rPr lang="zh-CN" altLang="en-US" sz="1800" dirty="0">
                <a:solidFill>
                  <a:srgbClr val="000000"/>
                </a:solidFill>
                <a:effectLst/>
                <a:latin typeface="等线" panose="02010600030101010101" charset="-122"/>
                <a:ea typeface="等线" panose="02010600030101010101" charset="-122"/>
              </a:rPr>
              <a:t>循环处理 </a:t>
            </a:r>
            <a:r>
              <a:rPr lang="en-US" altLang="zh-CN" sz="1800" dirty="0">
                <a:solidFill>
                  <a:srgbClr val="000000"/>
                </a:solidFill>
                <a:effectLst/>
                <a:latin typeface="等线" panose="02010600030101010101" charset="-122"/>
                <a:ea typeface="等线" panose="02010600030101010101" charset="-122"/>
              </a:rPr>
              <a:t>A</a:t>
            </a:r>
            <a:r>
              <a:rPr lang="zh-CN" altLang="en-US" sz="1800" dirty="0">
                <a:solidFill>
                  <a:srgbClr val="000000"/>
                </a:solidFill>
                <a:effectLst/>
                <a:latin typeface="等线" panose="02010600030101010101" charset="-122"/>
                <a:ea typeface="等线" panose="02010600030101010101" charset="-122"/>
              </a:rPr>
              <a:t>（</a:t>
            </a:r>
            <a:r>
              <a:rPr lang="en-US" altLang="zh-CN" sz="1800" dirty="0">
                <a:solidFill>
                  <a:srgbClr val="000000"/>
                </a:solidFill>
                <a:effectLst/>
                <a:latin typeface="等线" panose="02010600030101010101" charset="-122"/>
                <a:ea typeface="等线" panose="02010600030101010101" charset="-122"/>
              </a:rPr>
              <a:t>B </a:t>
            </a:r>
            <a:r>
              <a:rPr lang="zh-CN" altLang="en-US" sz="1800" dirty="0">
                <a:solidFill>
                  <a:srgbClr val="000000"/>
                </a:solidFill>
                <a:effectLst/>
                <a:latin typeface="等线" panose="02010600030101010101" charset="-122"/>
                <a:ea typeface="等线" panose="02010600030101010101" charset="-122"/>
              </a:rPr>
              <a:t>被遍历完毕）或者 </a:t>
            </a:r>
            <a:r>
              <a:rPr lang="en-US" altLang="zh-CN" sz="1800" dirty="0">
                <a:solidFill>
                  <a:srgbClr val="000000"/>
                </a:solidFill>
                <a:effectLst/>
                <a:latin typeface="等线" panose="02010600030101010101" charset="-122"/>
                <a:ea typeface="等线" panose="02010600030101010101" charset="-122"/>
              </a:rPr>
              <a:t>B</a:t>
            </a:r>
            <a:r>
              <a:rPr lang="zh-CN" altLang="en-US" sz="1800" dirty="0">
                <a:solidFill>
                  <a:srgbClr val="000000"/>
                </a:solidFill>
                <a:effectLst/>
                <a:latin typeface="等线" panose="02010600030101010101" charset="-122"/>
                <a:ea typeface="等线" panose="02010600030101010101" charset="-122"/>
              </a:rPr>
              <a:t>（</a:t>
            </a:r>
            <a:r>
              <a:rPr lang="en-US" altLang="zh-CN" sz="1800" dirty="0">
                <a:solidFill>
                  <a:srgbClr val="000000"/>
                </a:solidFill>
                <a:effectLst/>
                <a:latin typeface="等线" panose="02010600030101010101" charset="-122"/>
                <a:ea typeface="等线" panose="02010600030101010101" charset="-122"/>
              </a:rPr>
              <a:t>A </a:t>
            </a:r>
            <a:r>
              <a:rPr lang="zh-CN" altLang="en-US" sz="1800" dirty="0">
                <a:solidFill>
                  <a:srgbClr val="000000"/>
                </a:solidFill>
                <a:effectLst/>
                <a:latin typeface="等线" panose="02010600030101010101" charset="-122"/>
                <a:ea typeface="等线" panose="02010600030101010101" charset="-122"/>
              </a:rPr>
              <a:t>被遍历完毕），将 </a:t>
            </a:r>
            <a:r>
              <a:rPr lang="en-US" altLang="zh-CN" sz="1800" dirty="0">
                <a:solidFill>
                  <a:srgbClr val="000000"/>
                </a:solidFill>
                <a:effectLst/>
                <a:latin typeface="等线" panose="02010600030101010101" charset="-122"/>
                <a:ea typeface="等线" panose="02010600030101010101" charset="-122"/>
              </a:rPr>
              <a:t>A </a:t>
            </a:r>
            <a:r>
              <a:rPr lang="zh-CN" altLang="en-US" sz="1800" dirty="0">
                <a:solidFill>
                  <a:srgbClr val="000000"/>
                </a:solidFill>
                <a:effectLst/>
                <a:latin typeface="等线" panose="02010600030101010101" charset="-122"/>
                <a:ea typeface="等线" panose="02010600030101010101" charset="-122"/>
              </a:rPr>
              <a:t>或 </a:t>
            </a:r>
            <a:r>
              <a:rPr lang="en-US" altLang="zh-CN" sz="1800" dirty="0">
                <a:solidFill>
                  <a:srgbClr val="000000"/>
                </a:solidFill>
                <a:effectLst/>
                <a:latin typeface="等线" panose="02010600030101010101" charset="-122"/>
                <a:ea typeface="等线" panose="02010600030101010101" charset="-122"/>
              </a:rPr>
              <a:t>B </a:t>
            </a:r>
            <a:r>
              <a:rPr lang="zh-CN" altLang="en-US" sz="1800" dirty="0">
                <a:solidFill>
                  <a:srgbClr val="000000"/>
                </a:solidFill>
                <a:effectLst/>
                <a:latin typeface="等线" panose="02010600030101010101" charset="-122"/>
                <a:ea typeface="等线" panose="02010600030101010101" charset="-122"/>
              </a:rPr>
              <a:t>的剩余节点插入 </a:t>
            </a:r>
            <a:r>
              <a:rPr lang="en-US" altLang="zh-CN" sz="1800" dirty="0">
                <a:solidFill>
                  <a:srgbClr val="000000"/>
                </a:solidFill>
                <a:effectLst/>
                <a:latin typeface="等线" panose="02010600030101010101" charset="-122"/>
                <a:ea typeface="等线" panose="02010600030101010101" charset="-122"/>
              </a:rPr>
              <a:t>A </a:t>
            </a:r>
            <a:r>
              <a:rPr lang="zh-CN" altLang="en-US" sz="1800" dirty="0">
                <a:solidFill>
                  <a:srgbClr val="000000"/>
                </a:solidFill>
                <a:effectLst/>
                <a:latin typeface="等线" panose="02010600030101010101" charset="-122"/>
                <a:ea typeface="等线" panose="02010600030101010101" charset="-122"/>
              </a:rPr>
              <a:t>表头之后 </a:t>
            </a:r>
            <a:endParaRPr lang="zh-CN" altLang="en-US" dirty="0"/>
          </a:p>
          <a:p>
            <a:r>
              <a:rPr lang="en-US" altLang="zh-CN" sz="1800" dirty="0">
                <a:solidFill>
                  <a:srgbClr val="000000"/>
                </a:solidFill>
                <a:effectLst/>
                <a:latin typeface="等线" panose="02010600030101010101" charset="-122"/>
                <a:ea typeface="等线" panose="02010600030101010101" charset="-122"/>
              </a:rPr>
              <a:t> </a:t>
            </a:r>
            <a:endParaRPr lang="zh-CN" altLang="en-US" dirty="0"/>
          </a:p>
          <a:p>
            <a:r>
              <a:rPr lang="zh-CN" altLang="en-US" sz="1800" dirty="0">
                <a:solidFill>
                  <a:srgbClr val="000000"/>
                </a:solidFill>
                <a:effectLst/>
                <a:latin typeface="等线" panose="02010600030101010101" charset="-122"/>
                <a:ea typeface="等线" panose="02010600030101010101" charset="-122"/>
              </a:rPr>
              <a:t>时间复杂度</a:t>
            </a:r>
            <a:r>
              <a:rPr lang="en-US" altLang="zh-CN" sz="1800" dirty="0">
                <a:solidFill>
                  <a:srgbClr val="000000"/>
                </a:solidFill>
                <a:effectLst/>
                <a:latin typeface="等线" panose="02010600030101010101" charset="-122"/>
                <a:ea typeface="等线" panose="02010600030101010101" charset="-122"/>
              </a:rPr>
              <a:t>O(</a:t>
            </a:r>
            <a:r>
              <a:rPr lang="en-US" altLang="zh-CN" sz="1800" dirty="0" err="1">
                <a:solidFill>
                  <a:srgbClr val="000000"/>
                </a:solidFill>
                <a:effectLst/>
                <a:latin typeface="等线" panose="02010600030101010101" charset="-122"/>
                <a:ea typeface="等线" panose="02010600030101010101" charset="-122"/>
              </a:rPr>
              <a:t>A.length+B.length</a:t>
            </a:r>
            <a:r>
              <a:rPr lang="en-US" altLang="zh-CN" sz="1800" dirty="0">
                <a:solidFill>
                  <a:srgbClr val="000000"/>
                </a:solidFill>
                <a:effectLst/>
                <a:latin typeface="等线" panose="02010600030101010101" charset="-122"/>
                <a:ea typeface="等线" panose="02010600030101010101" charset="-122"/>
              </a:rPr>
              <a:t>)</a:t>
            </a:r>
            <a:endParaRPr lang="zh-CN" altLang="en-US" dirty="0"/>
          </a:p>
        </p:txBody>
      </p:sp>
      <p:sp>
        <p:nvSpPr>
          <p:cNvPr id="5" name="文本框 4"/>
          <p:cNvSpPr txBox="1"/>
          <p:nvPr/>
        </p:nvSpPr>
        <p:spPr>
          <a:xfrm>
            <a:off x="5895372" y="2531433"/>
            <a:ext cx="4772628" cy="1753235"/>
          </a:xfrm>
          <a:prstGeom prst="rect">
            <a:avLst/>
          </a:prstGeom>
          <a:noFill/>
        </p:spPr>
        <p:txBody>
          <a:bodyPr wrap="square">
            <a:spAutoFit/>
          </a:bodyPr>
          <a:lstStyle/>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Typedef struct </a:t>
            </a:r>
            <a:r>
              <a:rPr lang="en-US" altLang="zh-CN" dirty="0" err="1">
                <a:latin typeface="微软雅黑" panose="020B0503020204020204" charset="-122"/>
                <a:ea typeface="微软雅黑" panose="020B0503020204020204" charset="-122"/>
                <a:sym typeface="Wingdings 2" panose="05020102010507070707" pitchFamily="18" charset="2"/>
              </a:rPr>
              <a:t>LinkList</a:t>
            </a:r>
            <a:r>
              <a:rPr lang="en-US" altLang="zh-CN" dirty="0">
                <a:latin typeface="微软雅黑" panose="020B0503020204020204" charset="-122"/>
                <a:ea typeface="微软雅黑" panose="020B0503020204020204" charset="-122"/>
                <a:sym typeface="Wingdings 2" panose="05020102010507070707" pitchFamily="18" charset="2"/>
              </a:rPr>
              <a:t> /*</a:t>
            </a:r>
            <a:r>
              <a:rPr lang="zh-CN" altLang="en-US" dirty="0">
                <a:latin typeface="微软雅黑" panose="020B0503020204020204" charset="-122"/>
                <a:ea typeface="微软雅黑" panose="020B0503020204020204" charset="-122"/>
                <a:sym typeface="Wingdings 2" panose="05020102010507070707" pitchFamily="18" charset="2"/>
              </a:rPr>
              <a:t>单链表类型定义</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     </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      </a:t>
            </a:r>
            <a:r>
              <a:rPr lang="en-US" altLang="zh-CN" dirty="0" err="1">
                <a:latin typeface="微软雅黑" panose="020B0503020204020204" charset="-122"/>
                <a:ea typeface="微软雅黑" panose="020B0503020204020204" charset="-122"/>
                <a:sym typeface="Wingdings 2" panose="05020102010507070707" pitchFamily="18" charset="2"/>
              </a:rPr>
              <a:t>PNode</a:t>
            </a:r>
            <a:r>
              <a:rPr lang="en-US" altLang="zh-CN" dirty="0">
                <a:latin typeface="微软雅黑" panose="020B0503020204020204" charset="-122"/>
                <a:ea typeface="微软雅黑" panose="020B0503020204020204" charset="-122"/>
                <a:sym typeface="Wingdings 2" panose="05020102010507070707" pitchFamily="18" charset="2"/>
              </a:rPr>
              <a:t> head;</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a:t>
            </a:r>
            <a:r>
              <a:rPr lang="en-US" altLang="zh-CN" dirty="0" err="1">
                <a:latin typeface="微软雅黑" panose="020B0503020204020204" charset="-122"/>
                <a:ea typeface="微软雅黑" panose="020B0503020204020204" charset="-122"/>
                <a:sym typeface="Wingdings 2" panose="05020102010507070707" pitchFamily="18" charset="2"/>
              </a:rPr>
              <a:t>LinkList</a:t>
            </a:r>
            <a:r>
              <a:rPr lang="en-US" altLang="zh-CN" dirty="0">
                <a:latin typeface="微软雅黑" panose="020B0503020204020204" charset="-122"/>
                <a:ea typeface="微软雅黑" panose="020B0503020204020204" charset="-122"/>
                <a:sym typeface="Wingdings 2" panose="05020102010507070707" pitchFamily="18" charset="2"/>
              </a:rPr>
              <a:t>, *</a:t>
            </a:r>
            <a:r>
              <a:rPr lang="en-US" altLang="zh-CN" dirty="0" err="1">
                <a:latin typeface="微软雅黑" panose="020B0503020204020204" charset="-122"/>
                <a:ea typeface="微软雅黑" panose="020B0503020204020204" charset="-122"/>
                <a:sym typeface="Wingdings 2" panose="05020102010507070707" pitchFamily="18" charset="2"/>
              </a:rPr>
              <a:t>PLinkList</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latin typeface="微软雅黑" panose="020B0503020204020204" charset="-122"/>
              <a:ea typeface="微软雅黑" panose="020B0503020204020204" charset="-122"/>
              <a:sym typeface="Wingdings 2" panose="05020102010507070707" pitchFamily="18" charset="2"/>
            </a:endParaRPr>
          </a:p>
        </p:txBody>
      </p:sp>
      <p:sp>
        <p:nvSpPr>
          <p:cNvPr id="6" name="文本框 5"/>
          <p:cNvSpPr txBox="1"/>
          <p:nvPr/>
        </p:nvSpPr>
        <p:spPr>
          <a:xfrm>
            <a:off x="1915189" y="2563439"/>
            <a:ext cx="3980183" cy="1753235"/>
          </a:xfrm>
          <a:prstGeom prst="rect">
            <a:avLst/>
          </a:prstGeom>
          <a:noFill/>
        </p:spPr>
        <p:txBody>
          <a:bodyPr wrap="square">
            <a:spAutoFit/>
          </a:bodyPr>
          <a:lstStyle/>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Typedef struct Node /*</a:t>
            </a:r>
            <a:r>
              <a:rPr lang="zh-CN" altLang="en-US" dirty="0">
                <a:latin typeface="微软雅黑" panose="020B0503020204020204" charset="-122"/>
                <a:ea typeface="微软雅黑" panose="020B0503020204020204" charset="-122"/>
                <a:sym typeface="Wingdings 2" panose="05020102010507070707" pitchFamily="18" charset="2"/>
              </a:rPr>
              <a:t>结点结构</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    int data;</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     struct Node *next;</a:t>
            </a:r>
            <a:endParaRPr lang="en-US" alt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dirty="0">
                <a:latin typeface="微软雅黑" panose="020B0503020204020204" charset="-122"/>
                <a:ea typeface="微软雅黑" panose="020B0503020204020204" charset="-122"/>
                <a:sym typeface="Wingdings 2" panose="05020102010507070707" pitchFamily="18" charset="2"/>
              </a:rPr>
              <a:t>}Node, *</a:t>
            </a:r>
            <a:r>
              <a:rPr lang="en-US" altLang="zh-CN" dirty="0" err="1">
                <a:latin typeface="微软雅黑" panose="020B0503020204020204" charset="-122"/>
                <a:ea typeface="微软雅黑" panose="020B0503020204020204" charset="-122"/>
                <a:sym typeface="Wingdings 2" panose="05020102010507070707" pitchFamily="18" charset="2"/>
              </a:rPr>
              <a:t>PNode</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latin typeface="微软雅黑" panose="020B0503020204020204" charset="-122"/>
              <a:ea typeface="微软雅黑" panose="020B0503020204020204" charset="-122"/>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2017432" y="183402"/>
            <a:ext cx="8314904" cy="6047105"/>
          </a:xfrm>
          <a:prstGeom prst="rect">
            <a:avLst/>
          </a:prstGeom>
          <a:noFill/>
        </p:spPr>
        <p:txBody>
          <a:bodyPr wrap="square" rtlCol="0">
            <a:spAutoFit/>
          </a:bodyPr>
          <a:lstStyle/>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习题讲解</a:t>
            </a:r>
            <a:r>
              <a:rPr lang="en-US" altLang="zh-CN" sz="3000" dirty="0">
                <a:latin typeface="微软雅黑" panose="020B0503020204020204" charset="-122"/>
                <a:ea typeface="微软雅黑" panose="020B0503020204020204" charset="-122"/>
                <a:sym typeface="Wingdings 2" panose="05020102010507070707" pitchFamily="18" charset="2"/>
              </a:rPr>
              <a:t>6</a:t>
            </a:r>
            <a:r>
              <a:rPr lang="zh-CN" altLang="en-US" sz="3000" dirty="0">
                <a:latin typeface="微软雅黑" panose="020B0503020204020204" charset="-122"/>
                <a:ea typeface="微软雅黑" panose="020B0503020204020204" charset="-122"/>
                <a:sym typeface="Wingdings 2" panose="05020102010507070707" pitchFamily="18" charset="2"/>
              </a:rPr>
              <a:t>：判断单链表是否中心对称</a:t>
            </a:r>
            <a:endParaRPr lang="zh-CN" altLang="en-US"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判断单链表是否有环（</a:t>
            </a:r>
            <a:r>
              <a:rPr lang="en-US" altLang="zh-CN" sz="3000" dirty="0">
                <a:latin typeface="微软雅黑" panose="020B0503020204020204" charset="-122"/>
                <a:ea typeface="微软雅黑" panose="020B0503020204020204" charset="-122"/>
                <a:sym typeface="Wingdings 2" panose="05020102010507070707" pitchFamily="18" charset="2"/>
              </a:rPr>
              <a:t>2</a:t>
            </a:r>
            <a:r>
              <a:rPr lang="zh-CN" altLang="en-US" sz="3000" dirty="0">
                <a:latin typeface="微软雅黑" panose="020B0503020204020204" charset="-122"/>
                <a:ea typeface="微软雅黑" panose="020B0503020204020204" charset="-122"/>
                <a:sym typeface="Wingdings 2" panose="05020102010507070707" pitchFamily="18" charset="2"/>
              </a:rPr>
              <a:t>种方法）</a:t>
            </a:r>
            <a:endParaRPr lang="zh-CN" altLang="en-US"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3000" dirty="0">
                <a:latin typeface="微软雅黑" panose="020B0503020204020204" charset="-122"/>
                <a:ea typeface="微软雅黑" panose="020B0503020204020204" charset="-122"/>
                <a:sym typeface="Wingdings 2" panose="05020102010507070707" pitchFamily="18" charset="2"/>
              </a:rPr>
              <a:t>判断单链表是否递增有序（递减有序）</a:t>
            </a:r>
            <a:endParaRPr lang="en-US" alt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sz="2800" dirty="0">
                <a:latin typeface="微软雅黑" panose="020B0503020204020204" charset="-122"/>
                <a:ea typeface="微软雅黑" panose="020B0503020204020204" charset="-122"/>
                <a:sym typeface="Wingdings 2" panose="05020102010507070707" pitchFamily="18" charset="2"/>
              </a:rPr>
              <a:t>判断两个单链表是否相交</a:t>
            </a:r>
            <a:endParaRPr lang="en-US" altLang="zh-CN"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如何快速定位单链表中倒数第</a:t>
            </a:r>
            <a:r>
              <a:rPr lang="en-US" altLang="zh-CN" sz="2800" dirty="0">
                <a:latin typeface="微软雅黑" panose="020B0503020204020204" charset="-122"/>
                <a:ea typeface="微软雅黑" panose="020B0503020204020204" charset="-122"/>
                <a:sym typeface="Wingdings 2" panose="05020102010507070707" pitchFamily="18" charset="2"/>
              </a:rPr>
              <a:t>K</a:t>
            </a:r>
            <a:r>
              <a:rPr lang="zh-CN" altLang="en-US" sz="2800" dirty="0">
                <a:latin typeface="微软雅黑" panose="020B0503020204020204" charset="-122"/>
                <a:ea typeface="微软雅黑" panose="020B0503020204020204" charset="-122"/>
                <a:sym typeface="Wingdings 2" panose="05020102010507070707" pitchFamily="18" charset="2"/>
              </a:rPr>
              <a:t>个结点</a:t>
            </a:r>
            <a:endParaRPr lang="zh-CN" altLang="en-US"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合并两个有序单链表</a:t>
            </a:r>
            <a:endParaRPr lang="zh-CN" altLang="en-US"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删除链表中重复结点</a:t>
            </a:r>
            <a:endParaRPr lang="zh-CN" altLang="en-US" sz="28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800" dirty="0">
                <a:latin typeface="微软雅黑" panose="020B0503020204020204" charset="-122"/>
                <a:ea typeface="微软雅黑" panose="020B0503020204020204" charset="-122"/>
                <a:sym typeface="Wingdings 2" panose="05020102010507070707" pitchFamily="18" charset="2"/>
              </a:rPr>
              <a:t>返回带环链表的入环结点（如果一个单链表有环，返回入环结点）</a:t>
            </a:r>
            <a:endParaRPr lang="zh-CN" altLang="en-US" sz="2800" dirty="0">
              <a:latin typeface="微软雅黑" panose="020B0503020204020204" charset="-122"/>
              <a:ea typeface="微软雅黑" panose="020B0503020204020204" charset="-122"/>
              <a:sym typeface="Wingdings 2" panose="05020102010507070707" pitchFamily="18" charset="2"/>
            </a:endParaRPr>
          </a:p>
        </p:txBody>
      </p:sp>
      <p:pic>
        <p:nvPicPr>
          <p:cNvPr id="2" name="图片 1"/>
          <p:cNvPicPr>
            <a:picLocks noChangeAspect="1"/>
          </p:cNvPicPr>
          <p:nvPr>
            <p:custDataLst>
              <p:tags r:id="rId1"/>
            </p:custDataLst>
          </p:nvPr>
        </p:nvPicPr>
        <p:blipFill>
          <a:blip r:embed="rId2"/>
          <a:stretch>
            <a:fillRect/>
          </a:stretch>
        </p:blipFill>
        <p:spPr>
          <a:xfrm>
            <a:off x="9849485" y="3846830"/>
            <a:ext cx="1504315" cy="180784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7" name="文本框 6"/>
          <p:cNvSpPr txBox="1"/>
          <p:nvPr/>
        </p:nvSpPr>
        <p:spPr>
          <a:xfrm>
            <a:off x="6362700" y="652780"/>
            <a:ext cx="5726430" cy="6323965"/>
          </a:xfrm>
          <a:prstGeom prst="rect">
            <a:avLst/>
          </a:prstGeom>
          <a:noFill/>
        </p:spPr>
        <p:txBody>
          <a:bodyPr wrap="square" rtlCol="0">
            <a:spAutoFit/>
          </a:bodyPr>
          <a:lstStyle/>
          <a:p>
            <a:pPr>
              <a:lnSpc>
                <a:spcPct val="150000"/>
              </a:lnSpc>
            </a:pPr>
            <a:r>
              <a:rPr lang="zh-CN" sz="3000" dirty="0">
                <a:latin typeface="微软雅黑" panose="020B0503020204020204" charset="-122"/>
                <a:ea typeface="微软雅黑" panose="020B0503020204020204" charset="-122"/>
                <a:sym typeface="Wingdings 2" panose="05020102010507070707" pitchFamily="18" charset="2"/>
              </a:rPr>
              <a:t>后续重点关注</a:t>
            </a:r>
            <a:endParaRPr 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图的邻接矩阵、邻接表</a:t>
            </a:r>
            <a:endParaRPr lang="zh-CN"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sz="2400" b="1" u="sng" dirty="0">
                <a:latin typeface="微软雅黑" panose="020B0503020204020204" charset="-122"/>
                <a:ea typeface="微软雅黑" panose="020B0503020204020204" charset="-122"/>
                <a:sym typeface="Wingdings 2" panose="05020102010507070707" pitchFamily="18" charset="2"/>
              </a:rPr>
              <a:t>Prim</a:t>
            </a:r>
            <a:r>
              <a:rPr lang="zh-CN" altLang="en-US" sz="2400" b="1" u="sng" dirty="0">
                <a:latin typeface="微软雅黑" panose="020B0503020204020204" charset="-122"/>
                <a:ea typeface="微软雅黑" panose="020B0503020204020204" charset="-122"/>
                <a:sym typeface="Wingdings 2" panose="05020102010507070707" pitchFamily="18" charset="2"/>
              </a:rPr>
              <a:t>算法</a:t>
            </a:r>
            <a:endParaRPr lang="zh-CN"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Dijkstra算法</a:t>
            </a:r>
            <a:endParaRPr lang="zh-CN"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冒泡排序、快速排序</a:t>
            </a:r>
            <a:r>
              <a:rPr lang="zh-CN" sz="2400" dirty="0">
                <a:latin typeface="微软雅黑" panose="020B0503020204020204" charset="-122"/>
                <a:ea typeface="微软雅黑" panose="020B0503020204020204" charset="-122"/>
                <a:sym typeface="Wingdings 2" panose="05020102010507070707" pitchFamily="18" charset="2"/>
              </a:rPr>
              <a:t>、拓扑排序、</a:t>
            </a:r>
            <a:r>
              <a:rPr lang="zh-CN" sz="2400" dirty="0">
                <a:latin typeface="微软雅黑" panose="020B0503020204020204" charset="-122"/>
                <a:ea typeface="微软雅黑" panose="020B0503020204020204" charset="-122"/>
                <a:sym typeface="Wingdings 2" panose="05020102010507070707" pitchFamily="18" charset="2"/>
              </a:rPr>
              <a:t>归并排序、希尔排序</a:t>
            </a:r>
            <a:r>
              <a:rPr lang="zh-CN" sz="2400" dirty="0">
                <a:latin typeface="微软雅黑" panose="020B0503020204020204" charset="-122"/>
                <a:ea typeface="微软雅黑" panose="020B0503020204020204" charset="-122"/>
                <a:sym typeface="Wingdings 2" panose="05020102010507070707" pitchFamily="18" charset="2"/>
              </a:rPr>
              <a:t>等</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二叉排序树、平衡二叉搜索树（AVL树）（查找成功的平均查找长度）</a:t>
            </a:r>
            <a:endParaRPr lang="zh-CN" sz="2400" b="1"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dirty="0">
                <a:latin typeface="微软雅黑" panose="020B0503020204020204" charset="-122"/>
                <a:ea typeface="微软雅黑" panose="020B0503020204020204" charset="-122"/>
                <a:sym typeface="Wingdings 2" panose="05020102010507070707" pitchFamily="18" charset="2"/>
              </a:rPr>
              <a:t>哈希表（构成要素、优缺点）</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堆</a:t>
            </a:r>
            <a:r>
              <a:rPr lang="zh-CN" sz="2400" u="sng" dirty="0">
                <a:latin typeface="微软雅黑" panose="020B0503020204020204" charset="-122"/>
                <a:ea typeface="微软雅黑" panose="020B0503020204020204" charset="-122"/>
                <a:sym typeface="Wingdings 2" panose="05020102010507070707" pitchFamily="18" charset="2"/>
              </a:rPr>
              <a:t>（存储表示、构建堆的过程）</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dirty="0">
                <a:latin typeface="微软雅黑" panose="020B0503020204020204" charset="-122"/>
                <a:ea typeface="微软雅黑" panose="020B0503020204020204" charset="-122"/>
                <a:sym typeface="Wingdings 2" panose="05020102010507070707" pitchFamily="18" charset="2"/>
              </a:rPr>
              <a:t>等</a:t>
            </a:r>
            <a:r>
              <a:rPr lang="en-US" altLang="zh-CN" sz="2400" dirty="0">
                <a:latin typeface="微软雅黑" panose="020B0503020204020204" charset="-122"/>
                <a:ea typeface="微软雅黑" panose="020B0503020204020204" charset="-122"/>
                <a:sym typeface="Wingdings 2" panose="05020102010507070707" pitchFamily="18" charset="2"/>
              </a:rPr>
              <a:t>....</a:t>
            </a: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sp>
        <p:nvSpPr>
          <p:cNvPr id="2" name="文本框 1"/>
          <p:cNvSpPr txBox="1"/>
          <p:nvPr>
            <p:custDataLst>
              <p:tags r:id="rId1"/>
            </p:custDataLst>
          </p:nvPr>
        </p:nvSpPr>
        <p:spPr>
          <a:xfrm>
            <a:off x="434340" y="582295"/>
            <a:ext cx="5766435" cy="6323965"/>
          </a:xfrm>
          <a:prstGeom prst="rect">
            <a:avLst/>
          </a:prstGeom>
          <a:noFill/>
        </p:spPr>
        <p:txBody>
          <a:bodyPr wrap="square" rtlCol="0">
            <a:spAutoFit/>
          </a:bodyPr>
          <a:p>
            <a:pPr>
              <a:lnSpc>
                <a:spcPct val="150000"/>
              </a:lnSpc>
            </a:pPr>
            <a:r>
              <a:rPr lang="zh-CN" sz="3000" dirty="0">
                <a:latin typeface="微软雅黑" panose="020B0503020204020204" charset="-122"/>
                <a:ea typeface="微软雅黑" panose="020B0503020204020204" charset="-122"/>
                <a:sym typeface="Wingdings 2" panose="05020102010507070707" pitchFamily="18" charset="2"/>
              </a:rPr>
              <a:t>重点关注</a:t>
            </a:r>
            <a:endParaRPr lang="zh-CN" sz="30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400" b="1" u="sng" dirty="0">
                <a:latin typeface="微软雅黑" panose="020B0503020204020204" charset="-122"/>
                <a:ea typeface="微软雅黑" panose="020B0503020204020204" charset="-122"/>
                <a:sym typeface="Wingdings 2" panose="05020102010507070707" pitchFamily="18" charset="2"/>
              </a:rPr>
              <a:t>单链表（循环单链表，增删查改函数，</a:t>
            </a:r>
            <a:endParaRPr lang="zh-CN" altLang="en-US"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sz="2400" b="1" u="sng" dirty="0">
                <a:latin typeface="微软雅黑" panose="020B0503020204020204" charset="-122"/>
                <a:ea typeface="微软雅黑" panose="020B0503020204020204" charset="-122"/>
                <a:sym typeface="Wingdings 2" panose="05020102010507070707" pitchFamily="18" charset="2"/>
              </a:rPr>
              <a:t>链表进行集合运算）</a:t>
            </a:r>
            <a:endParaRPr lang="zh-CN" altLang="en-US"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u="sng" dirty="0">
                <a:latin typeface="微软雅黑" panose="020B0503020204020204" charset="-122"/>
                <a:ea typeface="微软雅黑" panose="020B0503020204020204" charset="-122"/>
                <a:sym typeface="Wingdings 2" panose="05020102010507070707" pitchFamily="18" charset="2"/>
              </a:rPr>
              <a:t>广义表的多种表达方式</a:t>
            </a:r>
            <a:endParaRPr lang="zh-CN" sz="2400"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u="sng" dirty="0">
                <a:latin typeface="微软雅黑" panose="020B0503020204020204" charset="-122"/>
                <a:ea typeface="微软雅黑" panose="020B0503020204020204" charset="-122"/>
                <a:sym typeface="Wingdings 2" panose="05020102010507070707" pitchFamily="18" charset="2"/>
              </a:rPr>
              <a:t>（概念、计算广义表的表头</a:t>
            </a:r>
            <a:r>
              <a:rPr lang="en-US" altLang="zh-CN" sz="2400" u="sng" dirty="0">
                <a:latin typeface="微软雅黑" panose="020B0503020204020204" charset="-122"/>
                <a:ea typeface="微软雅黑" panose="020B0503020204020204" charset="-122"/>
                <a:sym typeface="Wingdings 2" panose="05020102010507070707" pitchFamily="18" charset="2"/>
              </a:rPr>
              <a:t> </a:t>
            </a:r>
            <a:r>
              <a:rPr lang="zh-CN" sz="2400" u="sng" dirty="0">
                <a:latin typeface="微软雅黑" panose="020B0503020204020204" charset="-122"/>
                <a:ea typeface="微软雅黑" panose="020B0503020204020204" charset="-122"/>
                <a:sym typeface="Wingdings 2" panose="05020102010507070707" pitchFamily="18" charset="2"/>
              </a:rPr>
              <a:t>表尾）</a:t>
            </a:r>
            <a:endParaRPr lang="zh-CN" sz="2400"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dirty="0">
                <a:latin typeface="微软雅黑" panose="020B0503020204020204" charset="-122"/>
                <a:ea typeface="微软雅黑" panose="020B0503020204020204" charset="-122"/>
                <a:sym typeface="Wingdings 2" panose="05020102010507070707" pitchFamily="18" charset="2"/>
              </a:rPr>
              <a:t>栈和队列的进栈入栈操作（函数）</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二叉树三种遍历方式</a:t>
            </a:r>
            <a:endParaRPr lang="zh-CN"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dirty="0">
                <a:latin typeface="微软雅黑" panose="020B0503020204020204" charset="-122"/>
                <a:ea typeface="微软雅黑" panose="020B0503020204020204" charset="-122"/>
                <a:sym typeface="Wingdings 2" panose="05020102010507070707" pitchFamily="18" charset="2"/>
              </a:rPr>
              <a:t>（两种遍历确定一棵二叉树）</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dirty="0">
                <a:latin typeface="微软雅黑" panose="020B0503020204020204" charset="-122"/>
                <a:ea typeface="微软雅黑" panose="020B0503020204020204" charset="-122"/>
                <a:sym typeface="Wingdings 2" panose="05020102010507070707" pitchFamily="18" charset="2"/>
              </a:rPr>
              <a:t>二叉树（高度计算、线索化）</a:t>
            </a:r>
            <a:endParaRPr lang="zh-CN" sz="240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哈夫曼树、哈夫曼编码</a:t>
            </a:r>
            <a:endParaRPr lang="zh-CN" sz="2400"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sz="2400" b="1" u="sng" dirty="0">
                <a:latin typeface="微软雅黑" panose="020B0503020204020204" charset="-122"/>
                <a:ea typeface="微软雅黑" panose="020B0503020204020204" charset="-122"/>
                <a:sym typeface="Wingdings 2" panose="05020102010507070707" pitchFamily="18" charset="2"/>
              </a:rPr>
              <a:t>时间复杂度、空间复杂度（给定算法计算）</a:t>
            </a:r>
            <a:endParaRPr lang="en-US" altLang="zh-CN" sz="2400" dirty="0">
              <a:latin typeface="微软雅黑" panose="020B0503020204020204" charset="-122"/>
              <a:ea typeface="微软雅黑" panose="020B0503020204020204" charset="-122"/>
              <a:sym typeface="Wingdings 2" panose="05020102010507070707" pitchFamily="18" charset="2"/>
            </a:endParaRPr>
          </a:p>
        </p:txBody>
      </p:sp>
      <p:sp>
        <p:nvSpPr>
          <p:cNvPr id="4" name="文本框 3"/>
          <p:cNvSpPr txBox="1"/>
          <p:nvPr/>
        </p:nvSpPr>
        <p:spPr>
          <a:xfrm>
            <a:off x="4325620" y="69215"/>
            <a:ext cx="4489450" cy="583565"/>
          </a:xfrm>
          <a:prstGeom prst="rect">
            <a:avLst/>
          </a:prstGeom>
          <a:noFill/>
        </p:spPr>
        <p:txBody>
          <a:bodyPr wrap="square" rtlCol="0">
            <a:spAutoFit/>
          </a:bodyPr>
          <a:p>
            <a:r>
              <a:rPr lang="zh-CN" altLang="en-US" sz="3200"/>
              <a:t>供参考：包括但不限于</a:t>
            </a:r>
            <a:endParaRPr lang="zh-CN" altLang="en-US" sz="32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p:nvPr/>
        </p:nvSpPr>
        <p:spPr>
          <a:xfrm>
            <a:off x="1736766" y="340975"/>
            <a:ext cx="3203877" cy="836561"/>
          </a:xfrm>
          <a:prstGeom prst="rect">
            <a:avLst/>
          </a:prstGeom>
        </p:spPr>
        <p:txBody>
          <a:bodyPr vert="horz" lIns="68580" tIns="34290" rIns="68580" bIns="34290" rtlCol="0" anchor="b">
            <a:normAutofit/>
          </a:bodyPr>
          <a:lstStyle/>
          <a:p>
            <a:pPr algn="ctr">
              <a:lnSpc>
                <a:spcPct val="90000"/>
              </a:lnSpc>
              <a:spcBef>
                <a:spcPct val="0"/>
              </a:spcBef>
              <a:spcAft>
                <a:spcPts val="450"/>
              </a:spcAft>
            </a:pPr>
            <a:r>
              <a:rPr lang="zh-CN" altLang="en-US" sz="3600" b="1" dirty="0">
                <a:effectLst>
                  <a:outerShdw blurRad="38100" dist="19050" dir="2700000" algn="tl" rotWithShape="0">
                    <a:schemeClr val="dk1">
                      <a:alpha val="40000"/>
                    </a:schemeClr>
                  </a:outerShdw>
                </a:effectLst>
                <a:latin typeface="+mj-lt"/>
                <a:ea typeface="+mj-ea"/>
                <a:cs typeface="+mj-cs"/>
              </a:rPr>
              <a:t>祝愿同学们：</a:t>
            </a:r>
            <a:endParaRPr lang="en-US" altLang="zh-CN" sz="3600" b="1" dirty="0">
              <a:effectLst>
                <a:outerShdw blurRad="38100" dist="19050" dir="2700000" algn="tl" rotWithShape="0">
                  <a:schemeClr val="dk1">
                    <a:alpha val="40000"/>
                  </a:schemeClr>
                </a:outerShdw>
              </a:effectLst>
              <a:latin typeface="+mj-lt"/>
              <a:ea typeface="+mj-ea"/>
              <a:cs typeface="+mj-cs"/>
            </a:endParaRPr>
          </a:p>
        </p:txBody>
      </p:sp>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3" name="文本框 2"/>
          <p:cNvSpPr txBox="1"/>
          <p:nvPr/>
        </p:nvSpPr>
        <p:spPr>
          <a:xfrm>
            <a:off x="1916823" y="1177536"/>
            <a:ext cx="8499314" cy="1198880"/>
          </a:xfrm>
          <a:prstGeom prst="rect">
            <a:avLst/>
          </a:prstGeom>
          <a:noFill/>
        </p:spPr>
        <p:txBody>
          <a:bodyPr wrap="square" rtlCol="0">
            <a:spAutoFit/>
          </a:bodyPr>
          <a:lstStyle/>
          <a:p>
            <a:pPr algn="just"/>
            <a:r>
              <a:rPr lang="zh-CN" altLang="en-US" sz="2400" b="0" i="0" dirty="0">
                <a:solidFill>
                  <a:srgbClr val="262626"/>
                </a:solidFill>
                <a:effectLst/>
                <a:latin typeface="system-ui"/>
              </a:rPr>
              <a:t>在大学期间，结交“两馆”</a:t>
            </a:r>
            <a:r>
              <a:rPr lang="en-US" altLang="zh-CN" sz="2400" b="0" i="0" dirty="0">
                <a:solidFill>
                  <a:srgbClr val="262626"/>
                </a:solidFill>
                <a:effectLst/>
                <a:latin typeface="system-ui"/>
              </a:rPr>
              <a:t>: </a:t>
            </a:r>
            <a:r>
              <a:rPr lang="zh-CN" altLang="en-US" sz="2400" b="0" i="0" dirty="0">
                <a:solidFill>
                  <a:srgbClr val="262626"/>
                </a:solidFill>
                <a:effectLst/>
                <a:latin typeface="system-ui"/>
              </a:rPr>
              <a:t>体育馆和图书馆</a:t>
            </a:r>
            <a:r>
              <a:rPr lang="zh-CN" altLang="en-US" sz="2400" dirty="0">
                <a:solidFill>
                  <a:srgbClr val="262626"/>
                </a:solidFill>
                <a:latin typeface="system-ui"/>
              </a:rPr>
              <a:t>。</a:t>
            </a:r>
            <a:endParaRPr lang="en-US" altLang="zh-CN" sz="2400" dirty="0">
              <a:solidFill>
                <a:srgbClr val="262626"/>
              </a:solidFill>
              <a:latin typeface="system-ui"/>
            </a:endParaRPr>
          </a:p>
          <a:p>
            <a:pPr algn="just"/>
            <a:r>
              <a:rPr lang="zh-CN" altLang="en-US" sz="2400" b="0" i="0" dirty="0">
                <a:solidFill>
                  <a:srgbClr val="FF0000"/>
                </a:solidFill>
                <a:effectLst/>
                <a:latin typeface="system-ui"/>
              </a:rPr>
              <a:t>到体育馆锻炼身体，强健体魄；</a:t>
            </a:r>
            <a:endParaRPr lang="en-US" altLang="zh-CN" sz="2400" b="0" i="0" dirty="0">
              <a:solidFill>
                <a:srgbClr val="FF0000"/>
              </a:solidFill>
              <a:effectLst/>
              <a:latin typeface="system-ui"/>
            </a:endParaRPr>
          </a:p>
          <a:p>
            <a:pPr algn="just"/>
            <a:r>
              <a:rPr lang="zh-CN" altLang="en-US" sz="2400" b="0" i="0" dirty="0">
                <a:solidFill>
                  <a:srgbClr val="FF0000"/>
                </a:solidFill>
                <a:effectLst/>
                <a:latin typeface="system-ui"/>
              </a:rPr>
              <a:t>去图书馆博览群书，增长才干。</a:t>
            </a:r>
            <a:endParaRPr lang="zh-CN" altLang="en-US" sz="2400" b="0" i="0" dirty="0">
              <a:solidFill>
                <a:srgbClr val="262626"/>
              </a:solidFill>
              <a:effectLst/>
              <a:latin typeface="system-ui"/>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2571280"/>
            <a:ext cx="4572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2314" y="2563179"/>
            <a:ext cx="5185686" cy="259284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2660650" y="5624830"/>
            <a:ext cx="7192010" cy="398780"/>
          </a:xfrm>
          <a:prstGeom prst="rect">
            <a:avLst/>
          </a:prstGeom>
          <a:noFill/>
        </p:spPr>
        <p:txBody>
          <a:bodyPr wrap="square">
            <a:spAutoFit/>
          </a:bodyPr>
          <a:lstStyle/>
          <a:p>
            <a:pPr algn="just"/>
            <a:r>
              <a:rPr lang="en-US" altLang="zh-CN" sz="2000" b="0" i="0" dirty="0">
                <a:solidFill>
                  <a:srgbClr val="262626"/>
                </a:solidFill>
                <a:effectLst/>
                <a:latin typeface="Times New Roman" panose="02020603050405020304" charset="0"/>
                <a:cs typeface="Times New Roman" panose="02020603050405020304" charset="0"/>
              </a:rPr>
              <a:t>Start Here</a:t>
            </a:r>
            <a:r>
              <a:rPr lang="zh-CN" altLang="en-US" sz="2000" b="0" i="0" dirty="0">
                <a:solidFill>
                  <a:srgbClr val="262626"/>
                </a:solidFill>
                <a:effectLst/>
                <a:latin typeface="Times New Roman" panose="02020603050405020304" charset="0"/>
                <a:cs typeface="Times New Roman" panose="02020603050405020304" charset="0"/>
              </a:rPr>
              <a:t>，</a:t>
            </a:r>
            <a:r>
              <a:rPr lang="en-US" altLang="zh-CN" sz="2000" b="0" i="0" dirty="0">
                <a:solidFill>
                  <a:srgbClr val="262626"/>
                </a:solidFill>
                <a:effectLst/>
                <a:latin typeface="Times New Roman" panose="02020603050405020304" charset="0"/>
                <a:cs typeface="Times New Roman" panose="02020603050405020304" charset="0"/>
              </a:rPr>
              <a:t>Make a Difference. </a:t>
            </a:r>
            <a:r>
              <a:rPr lang="zh-CN" altLang="en-US" sz="2000" b="0" i="0" dirty="0">
                <a:solidFill>
                  <a:srgbClr val="262626"/>
                </a:solidFill>
                <a:effectLst/>
                <a:latin typeface="system-ui"/>
              </a:rPr>
              <a:t>从这里开始，不一样的精彩。</a:t>
            </a:r>
            <a:endParaRPr lang="en-US" altLang="zh-CN" sz="2000" b="0" i="0" dirty="0">
              <a:solidFill>
                <a:srgbClr val="262626"/>
              </a:solidFill>
              <a:effectLst/>
              <a:latin typeface="system-u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p:nvPr/>
        </p:nvSpPr>
        <p:spPr>
          <a:xfrm>
            <a:off x="2214528" y="3622019"/>
            <a:ext cx="8179506" cy="836561"/>
          </a:xfrm>
          <a:prstGeom prst="rect">
            <a:avLst/>
          </a:prstGeom>
        </p:spPr>
        <p:txBody>
          <a:bodyPr vert="horz" lIns="68580" tIns="34290" rIns="68580" bIns="34290" rtlCol="0" anchor="b">
            <a:normAutofit/>
          </a:bodyPr>
          <a:lstStyle/>
          <a:p>
            <a:pPr algn="ctr">
              <a:lnSpc>
                <a:spcPct val="90000"/>
              </a:lnSpc>
              <a:spcBef>
                <a:spcPct val="0"/>
              </a:spcBef>
              <a:spcAft>
                <a:spcPts val="450"/>
              </a:spcAft>
            </a:pPr>
            <a:r>
              <a:rPr lang="zh-CN" altLang="en-US" sz="3600" b="1" dirty="0">
                <a:effectLst>
                  <a:outerShdw blurRad="38100" dist="19050" dir="2700000" algn="tl" rotWithShape="0">
                    <a:schemeClr val="dk1">
                      <a:alpha val="40000"/>
                    </a:schemeClr>
                  </a:outerShdw>
                </a:effectLst>
                <a:latin typeface="+mj-lt"/>
                <a:ea typeface="+mj-ea"/>
                <a:cs typeface="+mj-cs"/>
              </a:rPr>
              <a:t>谢谢大家！</a:t>
            </a:r>
            <a:endParaRPr lang="en-US" altLang="zh-CN" sz="3600" b="1" dirty="0">
              <a:effectLst>
                <a:outerShdw blurRad="38100" dist="19050" dir="2700000" algn="tl" rotWithShape="0">
                  <a:schemeClr val="dk1">
                    <a:alpha val="40000"/>
                  </a:schemeClr>
                </a:outerShdw>
              </a:effectLst>
              <a:latin typeface="+mj-lt"/>
              <a:ea typeface="+mj-ea"/>
              <a:cs typeface="+mj-cs"/>
            </a:endParaRPr>
          </a:p>
        </p:txBody>
      </p:sp>
      <p:sp>
        <p:nvSpPr>
          <p:cNvPr id="10" name="矩形: 圆角 9"/>
          <p:cNvSpPr/>
          <p:nvPr/>
        </p:nvSpPr>
        <p:spPr>
          <a:xfrm>
            <a:off x="1524002" y="1357933"/>
            <a:ext cx="9143999" cy="69944"/>
          </a:xfrm>
          <a:prstGeom prst="roundRect">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减号 10"/>
          <p:cNvSpPr/>
          <p:nvPr/>
        </p:nvSpPr>
        <p:spPr>
          <a:xfrm rot="5400000">
            <a:off x="3373924" y="1338618"/>
            <a:ext cx="340819" cy="449397"/>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减号 11"/>
          <p:cNvSpPr/>
          <p:nvPr/>
        </p:nvSpPr>
        <p:spPr>
          <a:xfrm rot="5400000">
            <a:off x="8911084" y="1332613"/>
            <a:ext cx="352829" cy="449397"/>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1635452" y="1637757"/>
            <a:ext cx="3568889" cy="2068469"/>
          </a:xfrm>
          <a:prstGeom prst="rect">
            <a:avLst/>
          </a:prstGeom>
        </p:spPr>
      </p:pic>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523" y="1675460"/>
            <a:ext cx="3620656" cy="2068468"/>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9032" y="56147"/>
            <a:ext cx="4741233" cy="1223380"/>
          </a:xfrm>
          <a:prstGeom prst="rect">
            <a:avLst/>
          </a:prstGeom>
        </p:spPr>
      </p:pic>
      <p:sp>
        <p:nvSpPr>
          <p:cNvPr id="5" name="灯片编号占位符 4"/>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3696375" y="4659848"/>
            <a:ext cx="5262880" cy="1322070"/>
          </a:xfrm>
          <a:prstGeom prst="rect">
            <a:avLst/>
          </a:prstGeom>
          <a:noFill/>
        </p:spPr>
        <p:txBody>
          <a:bodyPr wrap="none" rtlCol="0">
            <a:spAutoFit/>
          </a:bodyPr>
          <a:lstStyle/>
          <a:p>
            <a:r>
              <a:rPr lang="zh-CN" altLang="en-US" sz="4000" dirty="0"/>
              <a:t>祝同学们学业进步，</a:t>
            </a:r>
            <a:endParaRPr lang="en-US" altLang="zh-CN" sz="4000" dirty="0"/>
          </a:p>
          <a:p>
            <a:r>
              <a:rPr lang="zh-CN" altLang="en-US" sz="4000" dirty="0"/>
              <a:t>逢考必过，逢考必优！</a:t>
            </a:r>
            <a:endParaRPr lang="zh-CN" altLang="en-US" sz="40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YTc2ZGZiNzZiNDVlOGViOWVmM2JhOTY0NGJkNjUyYzgifQ=="/>
  <p:tag name="KSO_WPP_MARK_KEY" val="ba0cf462-ba9d-44c9-9929-31737e436fb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2863</Words>
  <Application>WPS 演示</Application>
  <PresentationFormat>宽屏</PresentationFormat>
  <Paragraphs>258</Paragraphs>
  <Slides>14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宋体</vt:lpstr>
      <vt:lpstr>Wingdings</vt:lpstr>
      <vt:lpstr>微软雅黑</vt:lpstr>
      <vt:lpstr>Wingdings 2</vt:lpstr>
      <vt:lpstr>-apple-system</vt:lpstr>
      <vt:lpstr>Segoe Print</vt:lpstr>
      <vt:lpstr>等线</vt:lpstr>
      <vt:lpstr>Times New Roman</vt:lpstr>
      <vt:lpstr>Calibri</vt:lpstr>
      <vt:lpstr>system-ui</vt:lpstr>
      <vt:lpstr>Arial Unicode MS</vt:lpstr>
      <vt:lpstr>-apple-system</vt:lpstr>
      <vt:lpstr>Wingdings</vt:lpstr>
      <vt:lpstr>Wingdings 2</vt:lpstr>
      <vt:lpstr>system-ui</vt:lpstr>
      <vt:lpstr>Be Happy</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huawei</dc:creator>
  <cp:lastModifiedBy>BookPlus</cp:lastModifiedBy>
  <cp:revision>163</cp:revision>
  <dcterms:created xsi:type="dcterms:W3CDTF">2025-03-26T07:24:00Z</dcterms:created>
  <dcterms:modified xsi:type="dcterms:W3CDTF">2026-04-23T02:19:09Z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B1DB2E60329644469FCB47E2068BBD49</vt:lpwstr>
  </property>
  <property fmtid="{D5CDD505-2E9C-101B-9397-08002B2CF9AE}" pid="3" name="KSOProductBuildVer">
    <vt:lpwstr>2052-12.1.0.25865</vt:lpwstr>
  </property>
</Properties>
</file>