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477" r:id="rId3"/>
    <p:sldId id="567" r:id="rId4"/>
    <p:sldId id="568" r:id="rId5"/>
    <p:sldId id="716" r:id="rId6"/>
    <p:sldId id="675" r:id="rId7"/>
    <p:sldId id="676" r:id="rId8"/>
    <p:sldId id="677" r:id="rId9"/>
    <p:sldId id="678" r:id="rId10"/>
    <p:sldId id="679" r:id="rId11"/>
    <p:sldId id="680" r:id="rId12"/>
    <p:sldId id="681" r:id="rId13"/>
    <p:sldId id="682" r:id="rId14"/>
    <p:sldId id="683" r:id="rId15"/>
    <p:sldId id="684" r:id="rId16"/>
    <p:sldId id="685" r:id="rId17"/>
    <p:sldId id="686" r:id="rId18"/>
    <p:sldId id="687" r:id="rId19"/>
    <p:sldId id="688" r:id="rId20"/>
    <p:sldId id="689" r:id="rId21"/>
    <p:sldId id="690" r:id="rId22"/>
    <p:sldId id="691" r:id="rId23"/>
    <p:sldId id="692" r:id="rId24"/>
    <p:sldId id="693" r:id="rId25"/>
    <p:sldId id="694" r:id="rId26"/>
    <p:sldId id="695" r:id="rId27"/>
    <p:sldId id="696" r:id="rId28"/>
    <p:sldId id="697" r:id="rId29"/>
    <p:sldId id="698" r:id="rId30"/>
    <p:sldId id="699" r:id="rId32"/>
    <p:sldId id="700" r:id="rId33"/>
    <p:sldId id="701" r:id="rId34"/>
    <p:sldId id="702" r:id="rId35"/>
    <p:sldId id="703" r:id="rId36"/>
    <p:sldId id="704" r:id="rId37"/>
    <p:sldId id="705" r:id="rId38"/>
    <p:sldId id="706" r:id="rId39"/>
    <p:sldId id="707" r:id="rId40"/>
    <p:sldId id="708" r:id="rId41"/>
    <p:sldId id="709" r:id="rId42"/>
    <p:sldId id="710" r:id="rId43"/>
    <p:sldId id="711" r:id="rId44"/>
    <p:sldId id="712" r:id="rId45"/>
    <p:sldId id="713" r:id="rId46"/>
    <p:sldId id="714" r:id="rId47"/>
    <p:sldId id="715" r:id="rId48"/>
  </p:sldIdLst>
  <p:sldSz cx="9144000" cy="6858000" type="screen4x3"/>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20" userDrawn="1">
          <p15:clr>
            <a:srgbClr val="A4A3A4"/>
          </p15:clr>
        </p15:guide>
        <p15:guide id="2" pos="29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1920"/>
        <p:guide pos="292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gs" Target="tags/tag5.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image" Target="../media/image20.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image" Target="../media/image24.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image" Target="../media/image26.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image" Target="../media/image28.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image" Target="../media/image30.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79E4F37-784C-47E3-88E7-9455E516655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109570" name="Group 2"/>
          <p:cNvGrpSpPr/>
          <p:nvPr userDrawn="1"/>
        </p:nvGrpSpPr>
        <p:grpSpPr bwMode="auto">
          <a:xfrm>
            <a:off x="0" y="3902075"/>
            <a:ext cx="3400425" cy="2949575"/>
            <a:chOff x="0" y="2458"/>
            <a:chExt cx="2142" cy="1858"/>
          </a:xfrm>
        </p:grpSpPr>
        <p:sp>
          <p:nvSpPr>
            <p:cNvPr id="109571"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2"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3"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4"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5"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6"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7"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9578"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endParaRPr lang="zh-CN" altLang="en-US" noProof="0"/>
          </a:p>
        </p:txBody>
      </p:sp>
      <p:sp>
        <p:nvSpPr>
          <p:cNvPr id="109579"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3" name="文本框 12"/>
          <p:cNvSpPr txBox="1"/>
          <p:nvPr userDrawn="1">
            <p:custDataLst>
              <p:tags r:id="rId2"/>
            </p:custDataLst>
          </p:nvPr>
        </p:nvSpPr>
        <p:spPr>
          <a:xfrm>
            <a:off x="0" y="0"/>
            <a:ext cx="9144000" cy="767715"/>
          </a:xfrm>
          <a:prstGeom prst="rect">
            <a:avLst/>
          </a:prstGeom>
          <a:solidFill>
            <a:srgbClr val="4472C4"/>
          </a:solidFill>
        </p:spPr>
        <p:txBody>
          <a:bodyPr wrap="square" anchor="ctr" anchorCtr="0">
            <a:noAutofit/>
          </a:bodyPr>
          <a:p>
            <a:pPr algn="r"/>
            <a:r>
              <a:rPr lang="en-US" altLang="zh-CN" sz="2400" dirty="0">
                <a:solidFill>
                  <a:schemeClr val="bg1"/>
                </a:solidFill>
              </a:rPr>
              <a:t>School of Software</a:t>
            </a:r>
            <a:endParaRPr lang="en-US" altLang="zh-CN" sz="2400" dirty="0">
              <a:solidFill>
                <a:schemeClr val="bg1"/>
              </a:solidFill>
            </a:endParaRPr>
          </a:p>
        </p:txBody>
      </p:sp>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2975610" cy="767715"/>
          </a:xfrm>
          <a:prstGeom prst="rect">
            <a:avLst/>
          </a:prstGeom>
        </p:spPr>
      </p:pic>
      <p:sp>
        <p:nvSpPr>
          <p:cNvPr id="10" name="矩形: 圆角 9"/>
          <p:cNvSpPr/>
          <p:nvPr userDrawn="1">
            <p:custDataLst>
              <p:tags r:id="rId5"/>
            </p:custDataLst>
          </p:nvPr>
        </p:nvSpPr>
        <p:spPr>
          <a:xfrm>
            <a:off x="0" y="6711315"/>
            <a:ext cx="9144000" cy="14668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0070C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4" name="矩形 33"/>
          <p:cNvSpPr/>
          <p:nvPr userDrawn="1"/>
        </p:nvSpPr>
        <p:spPr>
          <a:xfrm flipV="1">
            <a:off x="0" y="0"/>
            <a:ext cx="9143365" cy="885825"/>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endParaRPr lang="zh-CN" altLang="en-US" noProof="1"/>
          </a:p>
        </p:txBody>
      </p:sp>
      <p:sp>
        <p:nvSpPr>
          <p:cNvPr id="2" name="标题 1"/>
          <p:cNvSpPr>
            <a:spLocks noGrp="1"/>
          </p:cNvSpPr>
          <p:nvPr>
            <p:ph type="title"/>
          </p:nvPr>
        </p:nvSpPr>
        <p:spPr>
          <a:xfrm>
            <a:off x="1190625" y="0"/>
            <a:ext cx="7606665" cy="922020"/>
          </a:xfrm>
        </p:spPr>
        <p:txBody>
          <a:bodyPr anchor="ctr" anchorCtr="0"/>
          <a:lstStyle>
            <a:lvl1pPr marL="0" indent="0" algn="l" eaLnBrk="1" fontAlgn="ctr" latinLnBrk="0" hangingPunct="1">
              <a:defRPr sz="3200">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384175" y="1023620"/>
            <a:ext cx="8413115" cy="5470525"/>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77827" name="图片 1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0639BCA4-5DF8-4F2B-A77F-EEFEEEEEFCF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443C94E0-72E8-4A73-A8D6-53289ADB87C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9" name="灯片编号占位符 8"/>
          <p:cNvSpPr>
            <a:spLocks noGrp="1"/>
          </p:cNvSpPr>
          <p:nvPr>
            <p:ph type="sldNum" sz="quarter" idx="12"/>
          </p:nvPr>
        </p:nvSpPr>
        <p:spPr/>
        <p:txBody>
          <a:bodyPr/>
          <a:lstStyle>
            <a:lvl1pPr>
              <a:defRPr/>
            </a:lvl1pPr>
          </a:lstStyle>
          <a:p>
            <a:fld id="{39F38A25-CF1F-4B52-A46E-2EEAAA2F50B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5" name="灯片编号占位符 4"/>
          <p:cNvSpPr>
            <a:spLocks noGrp="1"/>
          </p:cNvSpPr>
          <p:nvPr>
            <p:ph type="sldNum" sz="quarter" idx="12"/>
          </p:nvPr>
        </p:nvSpPr>
        <p:spPr/>
        <p:txBody>
          <a:bodyPr/>
          <a:lstStyle>
            <a:lvl1pPr>
              <a:defRPr/>
            </a:lvl1pPr>
          </a:lstStyle>
          <a:p>
            <a:fld id="{857EF2C1-B5F7-423B-A448-3A0B5A33493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4" name="灯片编号占位符 3"/>
          <p:cNvSpPr>
            <a:spLocks noGrp="1"/>
          </p:cNvSpPr>
          <p:nvPr>
            <p:ph type="sldNum" sz="quarter" idx="12"/>
          </p:nvPr>
        </p:nvSpPr>
        <p:spPr/>
        <p:txBody>
          <a:bodyPr/>
          <a:lstStyle>
            <a:lvl1pPr>
              <a:defRPr/>
            </a:lvl1pPr>
          </a:lstStyle>
          <a:p>
            <a:fld id="{E177E7D1-3A79-44BD-B7DB-F8066A1B7CA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CD40F75D-FC4F-486C-9949-87BE89E7649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7CA9196D-E6B5-4A22-8520-A4108F1F401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E0DD9893-8A14-4322-B02D-5FC1C844C25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47DA128D-A86A-462D-A5EC-B32ACE8A6E9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44925D7E-B542-4D39-911F-9C66EB3EF7C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45847812-3FFE-4E5B-AE0A-6A412ED8120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6" name="灯片编号占位符 5"/>
          <p:cNvSpPr>
            <a:spLocks noGrp="1"/>
          </p:cNvSpPr>
          <p:nvPr>
            <p:ph type="sldNum" sz="quarter" idx="11"/>
          </p:nvPr>
        </p:nvSpPr>
        <p:spPr>
          <a:xfrm>
            <a:off x="6553200" y="6248400"/>
            <a:ext cx="2133600" cy="457200"/>
          </a:xfrm>
        </p:spPr>
        <p:txBody>
          <a:bodyPr/>
          <a:lstStyle>
            <a:lvl1pPr>
              <a:defRPr/>
            </a:lvl1pPr>
          </a:lstStyle>
          <a:p>
            <a:fld id="{4B8AB00C-BC51-49F0-AFD2-845F7FF64C4C}" type="slidenum">
              <a:rPr lang="en-US" altLang="zh-CN"/>
            </a:fld>
            <a:endParaRPr lang="en-US" altLang="zh-CN"/>
          </a:p>
        </p:txBody>
      </p:sp>
      <p:sp>
        <p:nvSpPr>
          <p:cNvPr id="7" name="页脚占位符 6"/>
          <p:cNvSpPr>
            <a:spLocks noGrp="1"/>
          </p:cNvSpPr>
          <p:nvPr>
            <p:ph type="ftr" sz="quarter" idx="12"/>
          </p:nvPr>
        </p:nvSpPr>
        <p:spPr>
          <a:xfrm>
            <a:off x="3124200" y="6407150"/>
            <a:ext cx="2895600" cy="457200"/>
          </a:xfrm>
        </p:spPr>
        <p:txBody>
          <a:bodyPr/>
          <a:lstStyle>
            <a:lvl1pPr>
              <a:defRPr/>
            </a:lvl1pPr>
          </a:lstStyle>
          <a:p>
            <a:endParaRPr lang="en-US" altLang="zh-CN"/>
          </a:p>
          <a:p>
            <a:r>
              <a:rPr lang="en-US" altLang="zh-CN"/>
              <a:t>Prof. Q. Wang</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08546" name="Group 2"/>
          <p:cNvGrpSpPr/>
          <p:nvPr/>
        </p:nvGrpSpPr>
        <p:grpSpPr bwMode="auto">
          <a:xfrm>
            <a:off x="0" y="3902075"/>
            <a:ext cx="3400425" cy="2949575"/>
            <a:chOff x="0" y="2458"/>
            <a:chExt cx="2142" cy="1858"/>
          </a:xfrm>
        </p:grpSpPr>
        <p:sp>
          <p:nvSpPr>
            <p:cNvPr id="108547"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8"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9"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0"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1"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2"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3"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8554" name="Rectangle 10"/>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a:t>单击此处编辑母版标题样式</a:t>
            </a:r>
            <a:endParaRPr lang="zh-CN" altLang="en-US"/>
          </a:p>
        </p:txBody>
      </p:sp>
      <p:sp>
        <p:nvSpPr>
          <p:cNvPr id="108555" name="Rectangle 11"/>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8556" name="Rectangle 12"/>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effectLst>
                  <a:outerShdw blurRad="38100" dist="38100" dir="2700000" algn="tl">
                    <a:srgbClr val="010199"/>
                  </a:outerShdw>
                </a:effectLst>
                <a:ea typeface="宋体" panose="02010600030101010101" pitchFamily="2" charset="-122"/>
              </a:defRPr>
            </a:lvl1pPr>
          </a:lstStyle>
          <a:p>
            <a:endParaRPr lang="en-US" altLang="zh-CN"/>
          </a:p>
        </p:txBody>
      </p:sp>
      <p:sp>
        <p:nvSpPr>
          <p:cNvPr id="108557" name="Rectangle 13"/>
          <p:cNvSpPr>
            <a:spLocks noGrp="1" noChangeArrowheads="1"/>
          </p:cNvSpPr>
          <p:nvPr>
            <p:ph type="ftr" sz="quarter" idx="3"/>
          </p:nvPr>
        </p:nvSpPr>
        <p:spPr bwMode="auto">
          <a:xfrm>
            <a:off x="3124200" y="628416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b" anchorCtr="0" compatLnSpc="1"/>
          <a:lstStyle>
            <a:lvl1pPr algn="ctr">
              <a:defRPr sz="1000">
                <a:effectLst/>
                <a:ea typeface="宋体" panose="02010600030101010101" pitchFamily="2" charset="-122"/>
              </a:defRPr>
            </a:lvl1pPr>
          </a:lstStyle>
          <a:p>
            <a:r>
              <a:rPr lang="zh-CN" altLang="zh-CN"/>
              <a:t>Prof. </a:t>
            </a:r>
            <a:r>
              <a:rPr lang="en-US" altLang="zh-CN"/>
              <a:t>Q. </a:t>
            </a:r>
            <a:r>
              <a:rPr lang="zh-CN" altLang="zh-CN"/>
              <a:t> Wang</a:t>
            </a:r>
            <a:endParaRPr lang="en-US" altLang="zh-CN" dirty="0"/>
          </a:p>
        </p:txBody>
      </p:sp>
      <p:sp>
        <p:nvSpPr>
          <p:cNvPr id="108558" name="Rectangle 14"/>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effectLst>
                  <a:outerShdw blurRad="38100" dist="38100" dir="2700000" algn="tl">
                    <a:srgbClr val="010199"/>
                  </a:outerShdw>
                </a:effectLst>
                <a:ea typeface="宋体" panose="02010600030101010101" pitchFamily="2" charset="-122"/>
              </a:defRPr>
            </a:lvl1pPr>
          </a:lstStyle>
          <a:p>
            <a:fld id="{4B6E865A-D731-440D-A39A-B7D52247B88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dt="0"/>
  <p:txStyles>
    <p:titleStyle>
      <a:lvl1pPr algn="ctr" rtl="0" fontAlgn="base">
        <a:spcBef>
          <a:spcPct val="0"/>
        </a:spcBef>
        <a:spcAft>
          <a:spcPct val="0"/>
        </a:spcAft>
        <a:defRPr sz="4400">
          <a:solidFill>
            <a:srgbClr val="FFFF00"/>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a:solidFill>
            <a:schemeClr val="tx1"/>
          </a:solidFill>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a:solidFill>
            <a:schemeClr val="tx1"/>
          </a:solidFill>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a:solidFill>
            <a:schemeClr val="tx1"/>
          </a:solidFill>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5pPr>
      <a:lvl6pPr marL="25146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6pPr>
      <a:lvl7pPr marL="29718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7pPr>
      <a:lvl8pPr marL="34290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8pPr>
      <a:lvl9pPr marL="38862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oleObject" Target="../embeddings/oleObject4.bin"/><Relationship Id="rId2" Type="http://schemas.openxmlformats.org/officeDocument/2006/relationships/image" Target="../media/image20.png"/><Relationship Id="rId1" Type="http://schemas.openxmlformats.org/officeDocument/2006/relationships/oleObject" Target="../embeddings/oleObject3.bin"/></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oleObject" Target="../embeddings/oleObject6.bin"/><Relationship Id="rId2" Type="http://schemas.openxmlformats.org/officeDocument/2006/relationships/image" Target="../media/image22.png"/><Relationship Id="rId1"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oleObject" Target="../embeddings/oleObject8.bin"/><Relationship Id="rId2" Type="http://schemas.openxmlformats.org/officeDocument/2006/relationships/image" Target="../media/image24.png"/><Relationship Id="rId1" Type="http://schemas.openxmlformats.org/officeDocument/2006/relationships/oleObject" Target="../embeddings/oleObject7.bin"/></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oleObject" Target="../embeddings/oleObject10.bin"/><Relationship Id="rId2" Type="http://schemas.openxmlformats.org/officeDocument/2006/relationships/image" Target="../media/image26.png"/><Relationship Id="rId1" Type="http://schemas.openxmlformats.org/officeDocument/2006/relationships/oleObject" Target="../embeddings/oleObject9.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oleObject" Target="../embeddings/oleObject12.bin"/><Relationship Id="rId2" Type="http://schemas.openxmlformats.org/officeDocument/2006/relationships/image" Target="../media/image28.png"/><Relationship Id="rId1" Type="http://schemas.openxmlformats.org/officeDocument/2006/relationships/oleObject" Target="../embeddings/oleObject11.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oleObject" Target="../embeddings/oleObject14.bin"/><Relationship Id="rId2" Type="http://schemas.openxmlformats.org/officeDocument/2006/relationships/image" Target="../media/image30.png"/><Relationship Id="rId1" Type="http://schemas.openxmlformats.org/officeDocument/2006/relationships/oleObject" Target="../embeddings/oleObject13.bin"/></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oleObject" Target="../embeddings/oleObject16.bin"/><Relationship Id="rId2" Type="http://schemas.openxmlformats.org/officeDocument/2006/relationships/image" Target="../media/image32.png"/><Relationship Id="rId1" Type="http://schemas.openxmlformats.org/officeDocument/2006/relationships/oleObject" Target="../embeddings/oleObject15.bin"/></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ctrTitle"/>
          </p:nvPr>
        </p:nvSpPr>
        <p:spPr>
          <a:xfrm>
            <a:off x="685800" y="1572260"/>
            <a:ext cx="7772400" cy="1856740"/>
          </a:xfrm>
        </p:spPr>
        <p:txBody>
          <a:bodyPr/>
          <a:p>
            <a:pPr>
              <a:lnSpc>
                <a:spcPct val="130000"/>
              </a:lnSpc>
            </a:pPr>
            <a:r>
              <a:rPr lang="en-US" altLang="zh-CN" dirty="0">
                <a:solidFill>
                  <a:schemeClr val="accent1"/>
                </a:solidFill>
                <a:ea typeface="黑体" panose="02010609060101010101" pitchFamily="2" charset="-122"/>
              </a:rPr>
              <a:t>Chapter 08 </a:t>
            </a:r>
            <a:r>
              <a:rPr lang="en-US" altLang="zh-CN" dirty="0">
                <a:solidFill>
                  <a:schemeClr val="accent1"/>
                </a:solidFill>
                <a:ea typeface="黑体" panose="02010609060101010101" pitchFamily="2" charset="-122"/>
                <a:sym typeface="+mn-ea"/>
              </a:rPr>
              <a:t>Searching</a:t>
            </a:r>
            <a:br>
              <a:rPr lang="en-US" altLang="zh-CN" dirty="0">
                <a:solidFill>
                  <a:schemeClr val="accent1"/>
                </a:solidFill>
                <a:ea typeface="黑体" panose="02010609060101010101" pitchFamily="2" charset="-122"/>
              </a:rPr>
            </a:br>
            <a:r>
              <a:rPr kumimoji="1" lang="zh-CN" altLang="en-US" sz="2700" dirty="0">
                <a:solidFill>
                  <a:schemeClr val="accent1"/>
                </a:solidFill>
                <a:ea typeface="黑体" panose="02010609060101010101" pitchFamily="2" charset="-122"/>
              </a:rPr>
              <a:t>第八章 查找</a:t>
            </a:r>
            <a:endParaRPr kumimoji="1" lang="zh-CN" altLang="en-US" sz="2700" dirty="0">
              <a:solidFill>
                <a:schemeClr val="accent1"/>
              </a:solidFill>
              <a:ea typeface="黑体" panose="02010609060101010101" pitchFamily="2" charset="-122"/>
            </a:endParaRPr>
          </a:p>
        </p:txBody>
      </p:sp>
      <p:sp>
        <p:nvSpPr>
          <p:cNvPr id="5" name="Rectangle 5"/>
          <p:cNvSpPr>
            <a:spLocks noGrp="1" noChangeArrowheads="1"/>
          </p:cNvSpPr>
          <p:nvPr>
            <p:ph type="subTitle" idx="1"/>
            <p:custDataLst>
              <p:tags r:id="rId1"/>
            </p:custDataLst>
          </p:nvPr>
        </p:nvSpPr>
        <p:spPr/>
        <p:txBody>
          <a:bodyPr/>
          <a:p>
            <a:pPr>
              <a:lnSpc>
                <a:spcPct val="130000"/>
              </a:lnSpc>
            </a:pPr>
            <a:r>
              <a:rPr lang="zh-CN" altLang="en-US" dirty="0">
                <a:solidFill>
                  <a:schemeClr val="dk1"/>
                </a:solidFill>
                <a:latin typeface="黑体" panose="02010609060101010101" pitchFamily="2" charset="-122"/>
                <a:ea typeface="黑体" panose="02010609060101010101" pitchFamily="2" charset="-122"/>
              </a:rPr>
              <a:t>王犇</a:t>
            </a:r>
            <a:endParaRPr lang="zh-CN" altLang="en-US" dirty="0">
              <a:solidFill>
                <a:schemeClr val="dk1"/>
              </a:solidFill>
              <a:latin typeface="黑体" panose="02010609060101010101" pitchFamily="2" charset="-122"/>
              <a:ea typeface="黑体" panose="02010609060101010101" pitchFamily="2" charset="-122"/>
            </a:endParaRPr>
          </a:p>
          <a:p>
            <a:r>
              <a:rPr lang="en-US" altLang="zh-CN" dirty="0">
                <a:solidFill>
                  <a:schemeClr val="dk1"/>
                </a:solidFill>
                <a:latin typeface="黑体" panose="02010609060101010101" pitchFamily="2" charset="-122"/>
                <a:ea typeface="黑体" panose="02010609060101010101" pitchFamily="2" charset="-122"/>
              </a:rPr>
              <a:t>wben@nwpu.edu.cn</a:t>
            </a:r>
            <a:endParaRPr lang="en-US" altLang="zh-CN" dirty="0">
              <a:solidFill>
                <a:schemeClr val="dk1"/>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Grp="1" noChangeArrowheads="1"/>
          </p:cNvSpPr>
          <p:nvPr/>
        </p:nvSpPr>
        <p:spPr>
          <a:xfrm>
            <a:off x="1141095" y="635"/>
            <a:ext cx="7545705" cy="885190"/>
          </a:xfrm>
          <a:prstGeom prst="rect">
            <a:avLst/>
          </a:prstGeom>
          <a:noFill/>
          <a:ln>
            <a:noFill/>
          </a:ln>
          <a:effectLst/>
        </p:spPr>
        <p:txBody>
          <a:bodyPr vert="horz" wrap="square" lIns="91440" tIns="45720" rIns="91440" bIns="45720" numCol="1" anchor="ctr" anchorCtr="0" compatLnSpc="1">
            <a:scene3d>
              <a:camera prst="orthographicFront"/>
              <a:lightRig rig="threePt" dir="t"/>
            </a:scene3d>
          </a:bodyPr>
          <a:lstStyle>
            <a:lvl1pPr algn="l" rtl="0" fontAlgn="base">
              <a:spcBef>
                <a:spcPct val="0"/>
              </a:spcBef>
              <a:spcAft>
                <a:spcPct val="0"/>
              </a:spcAft>
              <a:defRPr sz="3200">
                <a:solidFill>
                  <a:schemeClr val="bg1"/>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a:lstStyle>
          <a:p>
            <a:r>
              <a:rPr lang="zh-CN" altLang="en-US" b="1">
                <a:solidFill>
                  <a:schemeClr val="bg1"/>
                </a:solidFill>
                <a:effectLst>
                  <a:outerShdw blurRad="38100" dist="25400" dir="5400000" algn="ctr" rotWithShape="0">
                    <a:srgbClr val="6E747A">
                      <a:alpha val="43000"/>
                    </a:srgbClr>
                  </a:outerShdw>
                </a:effectLst>
              </a:rPr>
              <a:t>本章学习线索</a:t>
            </a:r>
            <a:endParaRPr lang="zh-CN" altLang="en-US" b="1">
              <a:solidFill>
                <a:schemeClr val="bg1"/>
              </a:solidFill>
              <a:effectLst>
                <a:outerShdw blurRad="38100" dist="25400" dir="5400000" algn="ctr" rotWithShape="0">
                  <a:srgbClr val="6E747A">
                    <a:alpha val="43000"/>
                  </a:srgbClr>
                </a:outerShdw>
              </a:effectLst>
            </a:endParaRPr>
          </a:p>
        </p:txBody>
      </p:sp>
      <p:sp>
        <p:nvSpPr>
          <p:cNvPr id="3" name="Rectangle 5"/>
          <p:cNvSpPr>
            <a:spLocks noGrp="1" noChangeArrowheads="1"/>
          </p:cNvSpPr>
          <p:nvPr>
            <p:ph type="body" idx="1"/>
          </p:nvPr>
        </p:nvSpPr>
        <p:spPr>
          <a:xfrm>
            <a:off x="474980" y="1146810"/>
            <a:ext cx="8079740" cy="5248910"/>
          </a:xfrm>
          <a:noFill/>
        </p:spPr>
        <p:txBody>
          <a:bodyPr/>
          <a:lstStyle/>
          <a:p>
            <a:pPr>
              <a:lnSpc>
                <a:spcPct val="110000"/>
              </a:lnSpc>
            </a:pPr>
            <a:r>
              <a:rPr lang="zh-CN" altLang="en-US" sz="2400">
                <a:latin typeface="Times New Roman" panose="02020603050405020304" pitchFamily="18" charset="0"/>
                <a:cs typeface="Times New Roman" panose="02020603050405020304" pitchFamily="18" charset="0"/>
              </a:rPr>
              <a:t>主要线索</a:t>
            </a:r>
            <a:endParaRPr lang="zh-CN" altLang="en-US" sz="2400">
              <a:latin typeface="Times New Roman" panose="02020603050405020304" pitchFamily="18" charset="0"/>
              <a:cs typeface="Times New Roman" panose="02020603050405020304" pitchFamily="18" charset="0"/>
            </a:endParaRPr>
          </a:p>
          <a:p>
            <a:pPr>
              <a:lnSpc>
                <a:spcPct val="110000"/>
              </a:lnSpc>
            </a:pPr>
            <a:endParaRPr lang="zh-CN" altLang="en-US" sz="2400">
              <a:latin typeface="Times New Roman" panose="02020603050405020304" pitchFamily="18" charset="0"/>
              <a:cs typeface="Times New Roman" panose="02020603050405020304" pitchFamily="18" charset="0"/>
            </a:endParaRPr>
          </a:p>
          <a:p>
            <a:pPr>
              <a:lnSpc>
                <a:spcPct val="110000"/>
              </a:lnSpc>
            </a:pPr>
            <a:endParaRPr lang="zh-CN" altLang="en-US" sz="2400">
              <a:latin typeface="Times New Roman" panose="02020603050405020304" pitchFamily="18" charset="0"/>
              <a:cs typeface="Times New Roman" panose="02020603050405020304" pitchFamily="18" charset="0"/>
            </a:endParaRPr>
          </a:p>
          <a:p>
            <a:pPr>
              <a:lnSpc>
                <a:spcPct val="110000"/>
              </a:lnSpc>
            </a:pPr>
            <a:r>
              <a:rPr lang="zh-CN" altLang="en-US" sz="2400">
                <a:latin typeface="Times New Roman" panose="02020603050405020304" pitchFamily="18" charset="0"/>
                <a:cs typeface="Times New Roman" panose="02020603050405020304" pitchFamily="18" charset="0"/>
              </a:rPr>
              <a:t>重点</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静态查找表：顺序查找，二分查找，索引查找</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动态查找表：概念和方法</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哈希查找表：概念和策略</a:t>
            </a:r>
            <a:endParaRPr lang="zh-CN" altLang="en-US" sz="2400">
              <a:latin typeface="Times New Roman" panose="02020603050405020304" pitchFamily="18" charset="0"/>
              <a:cs typeface="Times New Roman" panose="02020603050405020304" pitchFamily="18" charset="0"/>
            </a:endParaRPr>
          </a:p>
          <a:p>
            <a:pPr>
              <a:lnSpc>
                <a:spcPct val="110000"/>
              </a:lnSpc>
            </a:pPr>
            <a:r>
              <a:rPr lang="zh-CN" altLang="en-US" sz="2400">
                <a:latin typeface="Times New Roman" panose="02020603050405020304" pitchFamily="18" charset="0"/>
                <a:cs typeface="Times New Roman" panose="02020603050405020304" pitchFamily="18" charset="0"/>
              </a:rPr>
              <a:t> 难点 </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二叉排序树和二叉平衡树</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en-US" altLang="zh-CN" sz="2400">
                <a:latin typeface="Times New Roman" panose="02020603050405020304" pitchFamily="18" charset="0"/>
                <a:cs typeface="Times New Roman" panose="02020603050405020304" pitchFamily="18" charset="0"/>
              </a:rPr>
              <a:t>B</a:t>
            </a:r>
            <a:r>
              <a:rPr lang="zh-CN" altLang="en-US" sz="2400">
                <a:latin typeface="Times New Roman" panose="02020603050405020304" pitchFamily="18" charset="0"/>
                <a:cs typeface="Times New Roman" panose="02020603050405020304" pitchFamily="18" charset="0"/>
              </a:rPr>
              <a:t>树和</a:t>
            </a:r>
            <a:r>
              <a:rPr lang="en-US" altLang="zh-CN" sz="2400">
                <a:latin typeface="Times New Roman" panose="02020603050405020304" pitchFamily="18" charset="0"/>
                <a:cs typeface="Times New Roman" panose="02020603050405020304" pitchFamily="18" charset="0"/>
              </a:rPr>
              <a:t>B</a:t>
            </a:r>
            <a:r>
              <a:rPr lang="en-US" altLang="zh-CN" sz="2400" baseline="300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树</a:t>
            </a:r>
            <a:endParaRPr lang="zh-CN" altLang="en-US" sz="2400">
              <a:latin typeface="Times New Roman" panose="02020603050405020304" pitchFamily="18" charset="0"/>
              <a:cs typeface="Times New Roman" panose="02020603050405020304" pitchFamily="18" charset="0"/>
            </a:endParaRPr>
          </a:p>
        </p:txBody>
      </p:sp>
      <p:sp>
        <p:nvSpPr>
          <p:cNvPr id="4" name="Text Box 6"/>
          <p:cNvSpPr txBox="1">
            <a:spLocks noChangeArrowheads="1"/>
          </p:cNvSpPr>
          <p:nvPr/>
        </p:nvSpPr>
        <p:spPr bwMode="auto">
          <a:xfrm>
            <a:off x="861060" y="1876425"/>
            <a:ext cx="1418590"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r>
              <a:rPr lang="zh-CN" altLang="en-US" sz="1600" b="1">
                <a:ea typeface="幼圆" panose="02010509060101010101" pitchFamily="49" charset="-122"/>
              </a:rPr>
              <a:t>查找的概念及一般方法</a:t>
            </a:r>
            <a:endParaRPr lang="zh-CN" altLang="en-US" sz="1600" b="1">
              <a:ea typeface="幼圆" panose="02010509060101010101" pitchFamily="49" charset="-122"/>
            </a:endParaRPr>
          </a:p>
        </p:txBody>
      </p:sp>
      <p:sp>
        <p:nvSpPr>
          <p:cNvPr id="5" name="Text Box 7"/>
          <p:cNvSpPr txBox="1">
            <a:spLocks noChangeArrowheads="1"/>
          </p:cNvSpPr>
          <p:nvPr/>
        </p:nvSpPr>
        <p:spPr bwMode="auto">
          <a:xfrm>
            <a:off x="2715260" y="1774190"/>
            <a:ext cx="1455420" cy="82994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buClrTx/>
              <a:buSzTx/>
              <a:buFontTx/>
            </a:pPr>
            <a:r>
              <a:rPr lang="zh-CN" altLang="en-US" sz="1600" b="1">
                <a:ea typeface="幼圆" panose="02010509060101010101" pitchFamily="49" charset="-122"/>
              </a:rPr>
              <a:t>静态查找表</a:t>
            </a:r>
            <a:endParaRPr lang="zh-CN" altLang="en-US" sz="1600" b="1">
              <a:ea typeface="幼圆" panose="02010509060101010101" pitchFamily="49" charset="-122"/>
            </a:endParaRPr>
          </a:p>
          <a:p>
            <a:pPr algn="ctr">
              <a:buClrTx/>
              <a:buSzTx/>
              <a:buFontTx/>
            </a:pPr>
            <a:r>
              <a:rPr lang="zh-CN" altLang="en-US" sz="1600" b="1">
                <a:ea typeface="幼圆" panose="02010509060101010101" pitchFamily="49" charset="-122"/>
              </a:rPr>
              <a:t>顺序，二分和索引查找</a:t>
            </a:r>
            <a:endParaRPr lang="zh-CN" altLang="en-US" sz="1600" b="1">
              <a:ea typeface="幼圆" panose="02010509060101010101" pitchFamily="49" charset="-122"/>
            </a:endParaRPr>
          </a:p>
        </p:txBody>
      </p:sp>
      <p:sp>
        <p:nvSpPr>
          <p:cNvPr id="6" name="Text Box 8"/>
          <p:cNvSpPr txBox="1">
            <a:spLocks noChangeArrowheads="1"/>
          </p:cNvSpPr>
          <p:nvPr/>
        </p:nvSpPr>
        <p:spPr bwMode="auto">
          <a:xfrm>
            <a:off x="4606290" y="1630045"/>
            <a:ext cx="1880235" cy="107632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r>
              <a:rPr kumimoji="1" lang="zh-CN" altLang="en-US" sz="1600" b="1">
                <a:ea typeface="幼圆" panose="02010509060101010101" pitchFamily="49" charset="-122"/>
              </a:rPr>
              <a:t>动态查找表</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二叉排序树</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二叉平衡树</a:t>
            </a:r>
            <a:endParaRPr lang="zh-CN" altLang="en-US" sz="1600" b="1">
              <a:ea typeface="幼圆" panose="02010509060101010101" pitchFamily="49" charset="-122"/>
            </a:endParaRPr>
          </a:p>
          <a:p>
            <a:pPr algn="ctr"/>
            <a:r>
              <a:rPr kumimoji="1" lang="en-US" altLang="zh-CN" sz="1600" b="1">
                <a:ea typeface="幼圆" panose="02010509060101010101" pitchFamily="49" charset="-122"/>
              </a:rPr>
              <a:t>B</a:t>
            </a:r>
            <a:r>
              <a:rPr kumimoji="1" lang="zh-CN" altLang="en-US" sz="1600" b="1">
                <a:ea typeface="幼圆" panose="02010509060101010101" pitchFamily="49" charset="-122"/>
              </a:rPr>
              <a:t>树和</a:t>
            </a:r>
            <a:r>
              <a:rPr kumimoji="1" lang="en-US" altLang="zh-CN" sz="1600" b="1">
                <a:ea typeface="幼圆" panose="02010509060101010101" pitchFamily="49" charset="-122"/>
              </a:rPr>
              <a:t>B</a:t>
            </a:r>
            <a:r>
              <a:rPr kumimoji="1" lang="en-US" altLang="zh-CN" sz="1600" b="1" baseline="30000">
                <a:ea typeface="幼圆" panose="02010509060101010101" pitchFamily="49" charset="-122"/>
              </a:rPr>
              <a:t>+</a:t>
            </a:r>
            <a:r>
              <a:rPr kumimoji="1" lang="zh-CN" altLang="en-US" sz="1600" b="1">
                <a:ea typeface="幼圆" panose="02010509060101010101" pitchFamily="49" charset="-122"/>
              </a:rPr>
              <a:t>树</a:t>
            </a:r>
            <a:endParaRPr kumimoji="1" lang="zh-CN" altLang="en-US" sz="1600" b="1">
              <a:ea typeface="幼圆" panose="02010509060101010101" pitchFamily="49" charset="-122"/>
            </a:endParaRPr>
          </a:p>
        </p:txBody>
      </p:sp>
      <p:sp>
        <p:nvSpPr>
          <p:cNvPr id="7" name="Text Box 9"/>
          <p:cNvSpPr txBox="1">
            <a:spLocks noChangeArrowheads="1"/>
          </p:cNvSpPr>
          <p:nvPr/>
        </p:nvSpPr>
        <p:spPr bwMode="auto">
          <a:xfrm>
            <a:off x="6922135" y="1809115"/>
            <a:ext cx="1703070" cy="82994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r>
              <a:rPr kumimoji="1" lang="zh-CN" altLang="en-US" sz="1600" b="1">
                <a:ea typeface="幼圆" panose="02010509060101010101" pitchFamily="49" charset="-122"/>
              </a:rPr>
              <a:t>哈希查找表</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哈希函数</a:t>
            </a:r>
            <a:endParaRPr kumimoji="1" lang="zh-CN" altLang="en-US" sz="1600" b="1">
              <a:ea typeface="幼圆" panose="02010509060101010101" pitchFamily="49" charset="-122"/>
            </a:endParaRPr>
          </a:p>
          <a:p>
            <a:pPr algn="ctr"/>
            <a:r>
              <a:rPr lang="zh-CN" altLang="en-US" sz="1600" b="1">
                <a:ea typeface="幼圆" panose="02010509060101010101" pitchFamily="49" charset="-122"/>
              </a:rPr>
              <a:t>冲突</a:t>
            </a:r>
            <a:r>
              <a:rPr kumimoji="1" lang="zh-CN" altLang="en-US" sz="1600" b="1">
                <a:ea typeface="幼圆" panose="02010509060101010101" pitchFamily="49" charset="-122"/>
              </a:rPr>
              <a:t>及解决策略</a:t>
            </a:r>
            <a:endParaRPr kumimoji="1" lang="zh-CN" altLang="en-US" sz="1600" b="1">
              <a:ea typeface="幼圆" panose="02010509060101010101" pitchFamily="49" charset="-122"/>
            </a:endParaRPr>
          </a:p>
        </p:txBody>
      </p:sp>
      <p:sp>
        <p:nvSpPr>
          <p:cNvPr id="8" name="AutoShape 10"/>
          <p:cNvSpPr>
            <a:spLocks noChangeArrowheads="1"/>
          </p:cNvSpPr>
          <p:nvPr/>
        </p:nvSpPr>
        <p:spPr bwMode="auto">
          <a:xfrm>
            <a:off x="2335530" y="2108280"/>
            <a:ext cx="323850"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9" name="AutoShape 11"/>
          <p:cNvSpPr>
            <a:spLocks noChangeArrowheads="1"/>
          </p:cNvSpPr>
          <p:nvPr/>
        </p:nvSpPr>
        <p:spPr bwMode="auto">
          <a:xfrm>
            <a:off x="4226322" y="2108280"/>
            <a:ext cx="323850"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10" name="AutoShape 12"/>
          <p:cNvSpPr>
            <a:spLocks noChangeArrowheads="1"/>
          </p:cNvSpPr>
          <p:nvPr/>
        </p:nvSpPr>
        <p:spPr bwMode="auto">
          <a:xfrm>
            <a:off x="6535420" y="2143125"/>
            <a:ext cx="328295"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11" name="Rectangle 14"/>
          <p:cNvSpPr>
            <a:spLocks noChangeArrowheads="1"/>
          </p:cNvSpPr>
          <p:nvPr/>
        </p:nvSpPr>
        <p:spPr bwMode="auto">
          <a:xfrm>
            <a:off x="5937012" y="3781981"/>
            <a:ext cx="1790700" cy="414020"/>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none">
            <a:spAutoFit/>
            <a:scene3d>
              <a:camera prst="orthographicFront"/>
              <a:lightRig rig="threePt" dir="t"/>
            </a:scene3d>
          </a:bodyPr>
          <a:lstStyle/>
          <a:p>
            <a:r>
              <a:rPr kumimoji="1" lang="zh-CN" altLang="en-US" sz="2100" b="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幼圆" panose="02010509060101010101" pitchFamily="49" charset="-122"/>
                <a:cs typeface="Times New Roman" panose="02020603050405020304" pitchFamily="18" charset="0"/>
              </a:rPr>
              <a:t>平均检索长度</a:t>
            </a:r>
            <a:endParaRPr kumimoji="1" lang="zh-CN" altLang="en-US" sz="2100" b="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scene3d>
              <a:camera prst="orthographicFront"/>
              <a:lightRig rig="threePt" dir="t"/>
            </a:scene3d>
          </a:bodyPr>
          <a:lstStyle/>
          <a:p>
            <a:r>
              <a:rPr lang="en-US" altLang="zh-CN" b="1">
                <a:solidFill>
                  <a:schemeClr val="bg1"/>
                </a:solidFill>
                <a:effectLst>
                  <a:outerShdw blurRad="38100" dist="25400" dir="5400000" algn="ctr" rotWithShape="0">
                    <a:srgbClr val="6E747A">
                      <a:alpha val="43000"/>
                    </a:srgbClr>
                  </a:outerShdw>
                </a:effectLst>
              </a:rPr>
              <a:t>Contents</a:t>
            </a:r>
            <a:endParaRPr lang="en-US" altLang="zh-CN" b="1">
              <a:solidFill>
                <a:schemeClr val="bg1"/>
              </a:solidFill>
              <a:effectLst>
                <a:outerShdw blurRad="38100" dist="25400" dir="5400000" algn="ctr" rotWithShape="0">
                  <a:srgbClr val="6E747A">
                    <a:alpha val="43000"/>
                  </a:srgbClr>
                </a:outerShdw>
              </a:effectLst>
            </a:endParaRPr>
          </a:p>
        </p:txBody>
      </p:sp>
      <p:sp>
        <p:nvSpPr>
          <p:cNvPr id="122883" name="Rectangle 3"/>
          <p:cNvSpPr>
            <a:spLocks noGrp="1" noChangeArrowheads="1"/>
          </p:cNvSpPr>
          <p:nvPr>
            <p:ph type="body" idx="1"/>
          </p:nvPr>
        </p:nvSpPr>
        <p:spPr>
          <a:xfrm>
            <a:off x="384175" y="1162685"/>
            <a:ext cx="8413115" cy="5331460"/>
          </a:xfrm>
        </p:spPr>
        <p:txBody>
          <a:bodyPr/>
          <a:lstStyle/>
          <a:p>
            <a:r>
              <a:rPr lang="en-US" altLang="zh-CN" dirty="0">
                <a:solidFill>
                  <a:schemeClr val="accent1">
                    <a:lumMod val="20000"/>
                    <a:lumOff val="80000"/>
                  </a:schemeClr>
                </a:solidFill>
              </a:rPr>
              <a:t>Definition of searching (Retrieval)</a:t>
            </a:r>
            <a:endParaRPr lang="en-US" altLang="zh-CN" dirty="0">
              <a:solidFill>
                <a:schemeClr val="accent1">
                  <a:lumMod val="20000"/>
                  <a:lumOff val="80000"/>
                </a:schemeClr>
              </a:solidFill>
            </a:endParaRPr>
          </a:p>
          <a:p>
            <a:r>
              <a:rPr lang="en-US" altLang="zh-CN" dirty="0">
                <a:solidFill>
                  <a:schemeClr val="accent1">
                    <a:lumMod val="20000"/>
                    <a:lumOff val="80000"/>
                  </a:schemeClr>
                </a:solidFill>
              </a:rPr>
              <a:t>Static searching table</a:t>
            </a:r>
            <a:endParaRPr lang="en-US" altLang="zh-CN" dirty="0">
              <a:solidFill>
                <a:schemeClr val="accent1">
                  <a:lumMod val="20000"/>
                  <a:lumOff val="80000"/>
                </a:schemeClr>
              </a:solidFill>
            </a:endParaRPr>
          </a:p>
          <a:p>
            <a:pPr algn="l"/>
            <a:r>
              <a:rPr lang="en-US" altLang="zh-CN" dirty="0">
                <a:solidFill>
                  <a:srgbClr val="FF0000"/>
                </a:solidFill>
              </a:rPr>
              <a:t>Dynamic searching table</a:t>
            </a:r>
            <a:endParaRPr lang="en-US" altLang="zh-CN" dirty="0">
              <a:solidFill>
                <a:srgbClr val="FF0000"/>
              </a:solidFill>
            </a:endParaRPr>
          </a:p>
          <a:p>
            <a:r>
              <a:rPr lang="en-US" altLang="zh-CN" dirty="0">
                <a:solidFill>
                  <a:schemeClr val="accent1"/>
                </a:solidFill>
              </a:rPr>
              <a:t>Hash table</a:t>
            </a:r>
            <a:endParaRPr lang="en-US" altLang="zh-CN" dirty="0">
              <a:solidFill>
                <a:schemeClr val="accent1"/>
              </a:solidFill>
            </a:endParaRPr>
          </a:p>
          <a:p>
            <a:r>
              <a:rPr lang="en-US" altLang="zh-CN" dirty="0">
                <a:solidFill>
                  <a:schemeClr val="accent1"/>
                </a:solidFill>
              </a:rPr>
              <a:t>Searching efficiency analysis</a:t>
            </a:r>
            <a:endParaRPr lang="en-US" altLang="zh-CN" dirty="0">
              <a:solidFill>
                <a:schemeClr val="accent1"/>
              </a:solidFill>
            </a:endParaRPr>
          </a:p>
          <a:p>
            <a:r>
              <a:rPr lang="en-US" altLang="zh-CN" dirty="0">
                <a:solidFill>
                  <a:schemeClr val="accent1"/>
                </a:solidFill>
              </a:rPr>
              <a:t>Conclusion</a:t>
            </a:r>
            <a:endParaRPr lang="en-US" altLang="zh-CN"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effectLst>
                  <a:outerShdw blurRad="38100" dist="25400" dir="5400000" algn="ctr" rotWithShape="0">
                    <a:srgbClr val="6E747A">
                      <a:alpha val="43000"/>
                    </a:srgbClr>
                  </a:outerShdw>
                </a:effectLst>
                <a:sym typeface="+mn-ea"/>
              </a:rPr>
              <a:t>8.5 B</a:t>
            </a:r>
            <a:r>
              <a:rPr lang="zh-CN" altLang="en-US" b="1">
                <a:effectLst>
                  <a:outerShdw blurRad="38100" dist="25400" dir="5400000" algn="ctr" rotWithShape="0">
                    <a:srgbClr val="6E747A">
                      <a:alpha val="43000"/>
                    </a:srgbClr>
                  </a:outerShdw>
                </a:effectLst>
                <a:sym typeface="+mn-ea"/>
              </a:rPr>
              <a:t>树和</a:t>
            </a:r>
            <a:r>
              <a:rPr lang="en-US" altLang="zh-CN" b="1">
                <a:effectLst>
                  <a:outerShdw blurRad="38100" dist="25400" dir="5400000" algn="ctr" rotWithShape="0">
                    <a:srgbClr val="6E747A">
                      <a:alpha val="43000"/>
                    </a:srgbClr>
                  </a:outerShdw>
                </a:effectLst>
                <a:sym typeface="+mn-ea"/>
              </a:rPr>
              <a:t>B</a:t>
            </a:r>
            <a:r>
              <a:rPr lang="zh-CN" altLang="en-US" b="1" baseline="30000">
                <a:effectLst>
                  <a:outerShdw blurRad="38100" dist="25400" dir="5400000" algn="ctr" rotWithShape="0">
                    <a:srgbClr val="6E747A">
                      <a:alpha val="43000"/>
                    </a:srgbClr>
                  </a:outerShdw>
                </a:effectLst>
                <a:sym typeface="+mn-ea"/>
              </a:rPr>
              <a:t>＋</a:t>
            </a:r>
            <a:r>
              <a:rPr lang="zh-CN" altLang="en-US" b="1">
                <a:effectLst>
                  <a:outerShdw blurRad="38100" dist="25400" dir="5400000" algn="ctr" rotWithShape="0">
                    <a:srgbClr val="6E747A">
                      <a:alpha val="43000"/>
                    </a:srgbClr>
                  </a:outerShdw>
                </a:effectLst>
                <a:sym typeface="+mn-ea"/>
              </a:rPr>
              <a:t>树</a:t>
            </a:r>
            <a:endParaRPr lang="zh-CN" altLang="en-US"/>
          </a:p>
        </p:txBody>
      </p:sp>
      <p:sp>
        <p:nvSpPr>
          <p:cNvPr id="3" name="内容占位符 2"/>
          <p:cNvSpPr>
            <a:spLocks noGrp="1"/>
          </p:cNvSpPr>
          <p:nvPr>
            <p:ph idx="1"/>
          </p:nvPr>
        </p:nvSpPr>
        <p:spPr/>
        <p:txBody>
          <a:bodyPr/>
          <a:p>
            <a:pPr>
              <a:lnSpc>
                <a:spcPct val="130000"/>
              </a:lnSpc>
            </a:pPr>
            <a:r>
              <a:rPr kumimoji="1" lang="en-US" altLang="zh-CN" dirty="0">
                <a:solidFill>
                  <a:schemeClr val="accent1"/>
                </a:solidFill>
                <a:ea typeface="幼圆" panose="02010509060101010101" pitchFamily="49" charset="-122"/>
                <a:cs typeface="Times New Roman" panose="02020603050405020304" pitchFamily="18" charset="0"/>
                <a:sym typeface="+mn-ea"/>
              </a:rPr>
              <a:t>B</a:t>
            </a:r>
            <a:r>
              <a:rPr kumimoji="1" lang="zh-CN" altLang="en-US" dirty="0">
                <a:solidFill>
                  <a:schemeClr val="accent1"/>
                </a:solidFill>
                <a:ea typeface="幼圆" panose="02010509060101010101" pitchFamily="49" charset="-122"/>
                <a:cs typeface="Times New Roman" panose="02020603050405020304" pitchFamily="18" charset="0"/>
                <a:sym typeface="+mn-ea"/>
              </a:rPr>
              <a:t>树定义及查找</a:t>
            </a:r>
            <a:endParaRPr kumimoji="1" lang="zh-CN" altLang="en-US" dirty="0">
              <a:solidFill>
                <a:schemeClr val="accent1"/>
              </a:solidFill>
              <a:ea typeface="幼圆" panose="02010509060101010101" pitchFamily="49" charset="-122"/>
              <a:cs typeface="Times New Roman" panose="02020603050405020304" pitchFamily="18" charset="0"/>
              <a:sym typeface="+mn-ea"/>
            </a:endParaRPr>
          </a:p>
          <a:p>
            <a:pPr>
              <a:lnSpc>
                <a:spcPct val="130000"/>
              </a:lnSpc>
            </a:pPr>
            <a:r>
              <a:rPr kumimoji="1" lang="en-US" altLang="zh-CN" dirty="0">
                <a:solidFill>
                  <a:schemeClr val="accent1"/>
                </a:solidFill>
                <a:ea typeface="幼圆" panose="02010509060101010101" pitchFamily="49" charset="-122"/>
                <a:cs typeface="Times New Roman" panose="02020603050405020304" pitchFamily="18" charset="0"/>
                <a:sym typeface="+mn-ea"/>
              </a:rPr>
              <a:t>B</a:t>
            </a:r>
            <a:r>
              <a:rPr kumimoji="1" lang="zh-CN" altLang="en-US" dirty="0">
                <a:solidFill>
                  <a:schemeClr val="accent1"/>
                </a:solidFill>
                <a:ea typeface="幼圆" panose="02010509060101010101" pitchFamily="49" charset="-122"/>
                <a:cs typeface="Times New Roman" panose="02020603050405020304" pitchFamily="18" charset="0"/>
                <a:sym typeface="+mn-ea"/>
              </a:rPr>
              <a:t>树查找性能分析</a:t>
            </a:r>
            <a:endParaRPr kumimoji="1" lang="zh-CN" altLang="en-US" dirty="0">
              <a:solidFill>
                <a:schemeClr val="accent1"/>
              </a:solidFill>
              <a:ea typeface="幼圆" panose="02010509060101010101" pitchFamily="49" charset="-122"/>
              <a:cs typeface="Times New Roman" panose="02020603050405020304" pitchFamily="18" charset="0"/>
              <a:sym typeface="+mn-ea"/>
            </a:endParaRPr>
          </a:p>
          <a:p>
            <a:pPr>
              <a:lnSpc>
                <a:spcPct val="130000"/>
              </a:lnSpc>
            </a:pPr>
            <a:r>
              <a:rPr kumimoji="1" lang="zh-CN" altLang="en-US" dirty="0">
                <a:solidFill>
                  <a:schemeClr val="accent1"/>
                </a:solidFill>
                <a:ea typeface="幼圆" panose="02010509060101010101" pitchFamily="49" charset="-122"/>
                <a:cs typeface="Times New Roman" panose="02020603050405020304" pitchFamily="18" charset="0"/>
                <a:sym typeface="+mn-ea"/>
              </a:rPr>
              <a:t>树的插入和删除</a:t>
            </a:r>
            <a:endParaRPr kumimoji="1" lang="zh-CN" altLang="en-US" dirty="0">
              <a:solidFill>
                <a:schemeClr val="accent1"/>
              </a:solidFill>
              <a:ea typeface="幼圆" panose="02010509060101010101" pitchFamily="49" charset="-122"/>
              <a:cs typeface="Times New Roman" panose="02020603050405020304" pitchFamily="18" charset="0"/>
              <a:sym typeface="+mn-ea"/>
            </a:endParaRPr>
          </a:p>
          <a:p>
            <a:pPr>
              <a:lnSpc>
                <a:spcPct val="130000"/>
              </a:lnSpc>
            </a:pPr>
            <a:r>
              <a:rPr kumimoji="1" lang="zh-CN" altLang="en-US" dirty="0">
                <a:solidFill>
                  <a:schemeClr val="accent1"/>
                </a:solidFill>
                <a:ea typeface="幼圆" panose="02010509060101010101" pitchFamily="49" charset="-122"/>
                <a:cs typeface="+mj-lt"/>
                <a:sym typeface="+mn-ea"/>
              </a:rPr>
              <a:t>B＋树</a:t>
            </a:r>
            <a:endParaRPr kumimoji="1" lang="zh-CN" altLang="en-US" dirty="0">
              <a:solidFill>
                <a:schemeClr val="accent1"/>
              </a:solidFill>
              <a:ea typeface="幼圆" panose="02010509060101010101" pitchFamily="49" charset="-122"/>
              <a:cs typeface="Times New Roman" panose="02020603050405020304" pitchFamily="18" charset="0"/>
              <a:sym typeface="+mn-ea"/>
            </a:endParaRPr>
          </a:p>
          <a:p>
            <a:endParaRPr kumimoji="1" lang="zh-CN" altLang="en-US" dirty="0">
              <a:solidFill>
                <a:schemeClr val="accent1"/>
              </a:solidFill>
              <a:ea typeface="幼圆" panose="02010509060101010101" pitchFamily="49" charset="-122"/>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431800" y="1029970"/>
            <a:ext cx="8366125" cy="570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30000"/>
              </a:lnSpc>
              <a:buClr>
                <a:srgbClr val="00B0F0"/>
              </a:buClr>
              <a:buFont typeface="Wingdings" panose="05000000000000000000" charset="0"/>
              <a:buChar char="l"/>
            </a:pP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树主要用于高维数据检索和文件的索引</a:t>
            </a:r>
            <a:endPar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gn="just">
              <a:lnSpc>
                <a:spcPct val="13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一棵</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阶的</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树，或为空树，或是满足下列特性的</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叉树：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3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树中每个结点至多有</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棵子树；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3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若根结点不是叶子结点，则至少有两棵子树；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3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除根之外的所有非终端结点至少有</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棵子树；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3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所有非终端结点中包含下列信息数据</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gn="just">
              <a:lnSpc>
                <a:spcPct val="130000"/>
              </a:lnSpc>
              <a:spcBef>
                <a:spcPct val="20000"/>
              </a:spcBef>
              <a:spcAft>
                <a:spcPct val="20000"/>
              </a:spcAft>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P</a:t>
            </a:r>
            <a:r>
              <a:rPr kumimoji="1" lang="en-US" altLang="zh-CN" sz="2000"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K</a:t>
            </a:r>
            <a:r>
              <a:rPr kumimoji="1" lang="en-US" altLang="zh-CN" sz="2000"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sz="2000"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K</a:t>
            </a:r>
            <a:r>
              <a:rPr kumimoji="1" lang="en-US" altLang="zh-CN" sz="2000"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 </a:t>
            </a:r>
            <a:r>
              <a:rPr kumimoji="1" lang="en-US" altLang="zh-CN" sz="20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K</a:t>
            </a:r>
            <a:r>
              <a:rPr kumimoji="1" lang="en-US" altLang="zh-CN" sz="2000" b="1"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sz="2000"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just">
              <a:lnSpc>
                <a:spcPct val="130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其中</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为关键字，且</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&lt; 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rPr>
              <a:t>+1</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P</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=0,…,</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为指向子树根结点的指针，且</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所指子树中所有结点的关键字均小于</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P</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所指子树中所有结点的关键字均大于</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-1&lt;= </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&lt;= </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）为关键字的个数（或</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为子树个数）</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30000"/>
              </a:lnSpc>
              <a:buClr>
                <a:srgbClr val="00B0F0"/>
              </a:buClr>
              <a:buSzTx/>
              <a:buFont typeface="+mj-ea"/>
              <a:buAutoNum type="circleNumDbPlain" startAt="5"/>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所有叶子结点都出现在同一层上，并且不带信息。实际上这些结点不存在，指向这些结点的指针为空。</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82275" name="Rectangle 3"/>
          <p:cNvSpPr>
            <a:spLocks noGrp="1" noChangeArrowheads="1"/>
          </p:cNvSpPr>
          <p:nvPr>
            <p:ph type="title"/>
          </p:nvPr>
        </p:nvSpPr>
        <p:spPr/>
        <p:txBody>
          <a:bodyPr>
            <a:scene3d>
              <a:camera prst="orthographicFront"/>
              <a:lightRig rig="threePt" dir="t"/>
            </a:scene3d>
          </a:bodyPr>
          <a:lstStyle/>
          <a:p>
            <a:r>
              <a:rPr lang="en-US" altLang="zh-CN" b="1">
                <a:solidFill>
                  <a:schemeClr val="bg1"/>
                </a:solidFill>
                <a:effectLst>
                  <a:outerShdw blurRad="38100" dist="25400" dir="5400000" algn="ctr" rotWithShape="0">
                    <a:srgbClr val="6E747A">
                      <a:alpha val="43000"/>
                    </a:srgbClr>
                  </a:outerShdw>
                </a:effectLst>
              </a:rPr>
              <a:t>8.5.1 </a:t>
            </a:r>
            <a:r>
              <a:rPr kumimoji="1" lang="en-US" altLang="zh-CN"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B</a:t>
            </a:r>
            <a:r>
              <a:rPr kumimoji="1" lang="zh-CN" altLang="en-US"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树定义及查找</a:t>
            </a:r>
            <a:endParaRPr kumimoji="1" lang="zh-CN" altLang="en-US"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27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27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227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2274">
                                            <p:txEl>
                                              <p:pRg st="5" end="5"/>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82274">
                                            <p:txEl>
                                              <p:pRg st="6" end="6"/>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8227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227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effectLst>
                  <a:outerShdw blurRad="38100" dist="25400" dir="5400000" algn="ctr" rotWithShape="0">
                    <a:srgbClr val="6E747A">
                      <a:alpha val="43000"/>
                    </a:srgbClr>
                  </a:outerShdw>
                </a:effectLst>
                <a:sym typeface="+mn-ea"/>
              </a:rPr>
              <a:t>8.5.1 </a:t>
            </a:r>
            <a:r>
              <a:rPr kumimoji="1" lang="en-US" altLang="zh-CN"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树定义及查找</a:t>
            </a:r>
            <a:endParaRPr lang="zh-CN" altLang="en-US"/>
          </a:p>
        </p:txBody>
      </p:sp>
      <p:sp>
        <p:nvSpPr>
          <p:cNvPr id="183298" name="Text Box 2"/>
          <p:cNvSpPr txBox="1">
            <a:spLocks noChangeArrowheads="1"/>
          </p:cNvSpPr>
          <p:nvPr/>
        </p:nvSpPr>
        <p:spPr bwMode="auto">
          <a:xfrm>
            <a:off x="501015" y="1057910"/>
            <a:ext cx="8264525" cy="1540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3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从</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阶</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树的定义可知，当</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时，</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阶</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树实际上就是二叉排序树。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gn="just">
              <a:lnSpc>
                <a:spcPct val="130000"/>
              </a:lnSpc>
              <a:buClr>
                <a:srgbClr val="00B0F0"/>
              </a:buClr>
              <a:buFont typeface="Wingdings" panose="05000000000000000000" charset="0"/>
              <a:buChar char="l"/>
            </a:pP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阶</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树是二叉排序树的推广。</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gn="just">
              <a:lnSpc>
                <a:spcPct val="13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其查找过程跟二叉排序树是类似的，</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是</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顺指针查找结点和在结点的关键字中查找的交叉过程</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矩形 2"/>
          <p:cNvSpPr/>
          <p:nvPr/>
        </p:nvSpPr>
        <p:spPr>
          <a:xfrm>
            <a:off x="589915" y="2733675"/>
            <a:ext cx="8119745" cy="3888105"/>
          </a:xfrm>
          <a:prstGeom prst="rect">
            <a:avLst/>
          </a:prstGeom>
          <a:ln w="12700" cmpd="sng">
            <a:solidFill>
              <a:schemeClr val="accent1">
                <a:shade val="50000"/>
              </a:schemeClr>
            </a:solidFill>
            <a:prstDash val="solid"/>
          </a:ln>
        </p:spPr>
        <p:txBody>
          <a:bodyPr wrap="square">
            <a:noAutofit/>
          </a:bodyPr>
          <a:lstStyle/>
          <a:p>
            <a:pPr lvl="0" algn="just">
              <a:lnSpc>
                <a:spcPct val="130000"/>
              </a:lnSpc>
            </a:pP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 结点类型</a:t>
            </a:r>
            <a:r>
              <a:rPr kumimoji="1" lang="zh-CN" altLang="en-US" dirty="0">
                <a:solidFill>
                  <a:srgbClr val="00B050"/>
                </a:solidFill>
                <a:latin typeface="Consolas" panose="020B0609020204030204" charset="0"/>
                <a:ea typeface="幼圆" panose="02010509060101010101" pitchFamily="49" charset="-122"/>
                <a:cs typeface="Consolas" panose="020B0609020204030204" charset="0"/>
              </a:rPr>
              <a:t>定义</a:t>
            </a:r>
            <a:endParaRPr kumimoji="1" lang="zh-CN" altLang="en-US" dirty="0">
              <a:solidFill>
                <a:schemeClr val="tx1"/>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#define </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m 3</a:t>
            </a:r>
            <a:endParaRPr kumimoji="1" lang="en-US" altLang="zh-CN" dirty="0">
              <a:solidFill>
                <a:schemeClr val="tx1"/>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BTNode</a:t>
            </a:r>
            <a:endParaRPr kumimoji="1" lang="en-US" altLang="zh-CN" dirty="0">
              <a:solidFill>
                <a:schemeClr val="tx1"/>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a:t>
            </a:r>
            <a:endParaRPr kumimoji="1" lang="en-US" altLang="zh-CN" dirty="0">
              <a:solidFill>
                <a:schemeClr val="tx1"/>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keyNum</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B050"/>
                </a:solidFill>
                <a:latin typeface="Consolas" panose="020B0609020204030204" charset="0"/>
                <a:ea typeface="幼圆" panose="02010509060101010101" pitchFamily="49" charset="-122"/>
                <a:cs typeface="Consolas" panose="020B0609020204030204" charset="0"/>
              </a:rPr>
              <a:t>关键字个数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B050"/>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BTNode</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*parent;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B050"/>
                </a:solidFill>
                <a:latin typeface="Consolas" panose="020B0609020204030204" charset="0"/>
                <a:ea typeface="幼圆" panose="02010509060101010101" pitchFamily="49" charset="-122"/>
                <a:cs typeface="Consolas" panose="020B0609020204030204" charset="0"/>
              </a:rPr>
              <a:t>指向父结点*</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B050"/>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KeyType</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key[</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m+1</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B050"/>
                </a:solidFill>
                <a:latin typeface="Consolas" panose="020B0609020204030204" charset="0"/>
                <a:ea typeface="幼圆" panose="02010509060101010101" pitchFamily="49" charset="-122"/>
                <a:cs typeface="Consolas" panose="020B0609020204030204" charset="0"/>
              </a:rPr>
              <a:t>关键字向量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B050"/>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BTNode</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ptr</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m+1</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B050"/>
                </a:solidFill>
                <a:latin typeface="Consolas" panose="020B0609020204030204" charset="0"/>
                <a:ea typeface="幼圆" panose="02010509060101010101" pitchFamily="49" charset="-122"/>
                <a:cs typeface="Consolas" panose="020B0609020204030204" charset="0"/>
              </a:rPr>
              <a:t>子树指针向量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B050"/>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Record  *</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recPtr</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a:t>
            </a:r>
            <a:r>
              <a:rPr kumimoji="1" lang="en-US" altLang="zh-CN" dirty="0" err="1">
                <a:solidFill>
                  <a:schemeClr val="tx1"/>
                </a:solidFill>
                <a:latin typeface="Consolas" panose="020B0609020204030204" charset="0"/>
                <a:ea typeface="幼圆" panose="02010509060101010101" pitchFamily="49" charset="-122"/>
                <a:cs typeface="Consolas" panose="020B0609020204030204" charset="0"/>
              </a:rPr>
              <a:t>m+1</a:t>
            </a: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B050"/>
                </a:solidFill>
                <a:latin typeface="Consolas" panose="020B0609020204030204" charset="0"/>
                <a:ea typeface="幼圆" panose="02010509060101010101" pitchFamily="49" charset="-122"/>
                <a:cs typeface="Consolas" panose="020B0609020204030204" charset="0"/>
              </a:rPr>
              <a:t>指向文件中的记录号 *</a:t>
            </a:r>
            <a:r>
              <a:rPr kumimoji="1" lang="en-US" altLang="zh-CN" dirty="0">
                <a:solidFill>
                  <a:srgbClr val="00B05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B050"/>
              </a:solidFill>
              <a:latin typeface="Consolas" panose="020B0609020204030204" charset="0"/>
              <a:ea typeface="幼圆" panose="02010509060101010101" pitchFamily="49" charset="-122"/>
              <a:cs typeface="Consolas" panose="020B0609020204030204" charset="0"/>
            </a:endParaRPr>
          </a:p>
          <a:p>
            <a:pPr lvl="0" algn="just">
              <a:lnSpc>
                <a:spcPct val="130000"/>
              </a:lnSpc>
            </a:pPr>
            <a:r>
              <a:rPr kumimoji="1" lang="en-US" altLang="zh-CN" dirty="0">
                <a:solidFill>
                  <a:schemeClr val="tx1"/>
                </a:solidFill>
                <a:latin typeface="Consolas" panose="020B0609020204030204" charset="0"/>
                <a:ea typeface="幼圆" panose="02010509060101010101" pitchFamily="49" charset="-122"/>
                <a:cs typeface="Consolas" panose="020B0609020204030204" charset="0"/>
              </a:rPr>
              <a: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BTNode</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BTree</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effectLst>
                  <a:outerShdw blurRad="38100" dist="25400" dir="5400000" algn="ctr" rotWithShape="0">
                    <a:srgbClr val="6E747A">
                      <a:alpha val="43000"/>
                    </a:srgbClr>
                  </a:outerShdw>
                </a:effectLst>
                <a:sym typeface="+mn-ea"/>
              </a:rPr>
              <a:t>8.5.1 </a:t>
            </a:r>
            <a:r>
              <a:rPr kumimoji="1" lang="en-US" altLang="zh-CN"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树定义及查找</a:t>
            </a:r>
            <a:endParaRPr lang="zh-CN" altLang="en-US"/>
          </a:p>
        </p:txBody>
      </p:sp>
      <p:sp>
        <p:nvSpPr>
          <p:cNvPr id="184326" name="Rectangle 6"/>
          <p:cNvSpPr>
            <a:spLocks noChangeArrowheads="1"/>
          </p:cNvSpPr>
          <p:nvPr/>
        </p:nvSpPr>
        <p:spPr bwMode="auto">
          <a:xfrm>
            <a:off x="415290" y="4585970"/>
            <a:ext cx="8382000" cy="185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30000"/>
              </a:lnSpc>
              <a:buClr>
                <a:srgbClr val="00B0F0"/>
              </a:buClr>
              <a:buFont typeface="Wingdings" panose="05000000000000000000" charset="0"/>
              <a:buChar char="l"/>
            </a:pPr>
            <a:r>
              <a:rPr kumimoji="1" lang="en-US" altLang="zh-CN" sz="22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2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树的查找算法：</a:t>
            </a:r>
            <a:endParaRPr kumimoji="1" lang="zh-CN" altLang="en-US" sz="22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sz="22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       在</a:t>
            </a:r>
            <a:r>
              <a:rPr kumimoji="1" lang="en-US" altLang="zh-CN" sz="22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2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树上进行查找包含两种基本操作：</a:t>
            </a:r>
            <a:endParaRPr kumimoji="1" lang="zh-CN" altLang="en-US" sz="22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30000"/>
              </a:lnSpc>
              <a:buClr>
                <a:srgbClr val="00B0F0"/>
              </a:buClr>
              <a:buFont typeface="+mj-ea"/>
              <a:buAutoNum type="circleNumDbPlain"/>
            </a:pPr>
            <a:r>
              <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在</a:t>
            </a:r>
            <a:r>
              <a:rPr kumimoji="1" lang="en-US" altLang="zh-CN"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树中找结点；</a:t>
            </a:r>
            <a:endPar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30000"/>
              </a:lnSpc>
              <a:buClr>
                <a:srgbClr val="00B0F0"/>
              </a:buClr>
              <a:buFont typeface="+mj-ea"/>
              <a:buAutoNum type="circleNumDbPlain"/>
            </a:pPr>
            <a:r>
              <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在结点中找关键字。</a:t>
            </a:r>
            <a:endPar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57" name="组合 56"/>
          <p:cNvGrpSpPr/>
          <p:nvPr/>
        </p:nvGrpSpPr>
        <p:grpSpPr>
          <a:xfrm>
            <a:off x="333375" y="1057910"/>
            <a:ext cx="8560435" cy="3343910"/>
            <a:chOff x="180" y="1320"/>
            <a:chExt cx="14040" cy="5320"/>
          </a:xfrm>
        </p:grpSpPr>
        <p:graphicFrame>
          <p:nvGraphicFramePr>
            <p:cNvPr id="58" name="Object 3"/>
            <p:cNvGraphicFramePr>
              <a:graphicFrameLocks noChangeAspect="1"/>
            </p:cNvGraphicFramePr>
            <p:nvPr/>
          </p:nvGraphicFramePr>
          <p:xfrm>
            <a:off x="180" y="1320"/>
            <a:ext cx="14040" cy="5320"/>
          </p:xfrm>
          <a:graphic>
            <a:graphicData uri="http://schemas.openxmlformats.org/presentationml/2006/ole">
              <mc:AlternateContent xmlns:mc="http://schemas.openxmlformats.org/markup-compatibility/2006">
                <mc:Choice xmlns:v="urn:schemas-microsoft-com:vml" Requires="v">
                  <p:oleObj spid="_x0000_s59" name="" r:id="rId1" imgW="5152390" imgH="1951990" progId="Word.Picture.8">
                    <p:embed/>
                  </p:oleObj>
                </mc:Choice>
                <mc:Fallback>
                  <p:oleObj name="" r:id="rId1" imgW="5152390" imgH="195199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 y="1320"/>
                          <a:ext cx="14040" cy="5320"/>
                        </a:xfrm>
                        <a:prstGeom prst="rect">
                          <a:avLst/>
                        </a:prstGeom>
                        <a:noFill/>
                        <a:effectLst>
                          <a:outerShdw dist="107763" dir="2700000" algn="ctr" rotWithShape="0">
                            <a:srgbClr val="808080">
                              <a:alpha val="50000"/>
                            </a:srgbClr>
                          </a:outerShdw>
                        </a:effectLst>
                      </p:spPr>
                    </p:pic>
                  </p:oleObj>
                </mc:Fallback>
              </mc:AlternateContent>
            </a:graphicData>
          </a:graphic>
        </p:graphicFrame>
        <p:sp>
          <p:nvSpPr>
            <p:cNvPr id="60" name="Text Box 7"/>
            <p:cNvSpPr txBox="1">
              <a:spLocks noChangeArrowheads="1"/>
            </p:cNvSpPr>
            <p:nvPr/>
          </p:nvSpPr>
          <p:spPr bwMode="auto">
            <a:xfrm>
              <a:off x="5108" y="1335"/>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61" name="Text Box 8"/>
            <p:cNvSpPr txBox="1">
              <a:spLocks noChangeArrowheads="1"/>
            </p:cNvSpPr>
            <p:nvPr/>
          </p:nvSpPr>
          <p:spPr bwMode="auto">
            <a:xfrm>
              <a:off x="963" y="3133"/>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62" name="Text Box 9"/>
            <p:cNvSpPr txBox="1">
              <a:spLocks noChangeArrowheads="1"/>
            </p:cNvSpPr>
            <p:nvPr/>
          </p:nvSpPr>
          <p:spPr bwMode="auto">
            <a:xfrm>
              <a:off x="5953" y="3133"/>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5</a:t>
              </a:r>
              <a:endParaRPr lang="en-US" altLang="zh-CN" sz="1200" b="1">
                <a:solidFill>
                  <a:srgbClr val="CC0000"/>
                </a:solidFill>
              </a:endParaRPr>
            </a:p>
          </p:txBody>
        </p:sp>
        <p:sp>
          <p:nvSpPr>
            <p:cNvPr id="63" name="Text Box 10"/>
            <p:cNvSpPr txBox="1">
              <a:spLocks noChangeArrowheads="1"/>
            </p:cNvSpPr>
            <p:nvPr/>
          </p:nvSpPr>
          <p:spPr bwMode="auto">
            <a:xfrm>
              <a:off x="268" y="4713"/>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2</a:t>
              </a:r>
              <a:endParaRPr lang="en-US" altLang="zh-CN" sz="1200" b="1">
                <a:solidFill>
                  <a:srgbClr val="CC0000"/>
                </a:solidFill>
              </a:endParaRPr>
            </a:p>
          </p:txBody>
        </p:sp>
        <p:sp>
          <p:nvSpPr>
            <p:cNvPr id="64" name="Text Box 11"/>
            <p:cNvSpPr txBox="1">
              <a:spLocks noChangeArrowheads="1"/>
            </p:cNvSpPr>
            <p:nvPr/>
          </p:nvSpPr>
          <p:spPr bwMode="auto">
            <a:xfrm>
              <a:off x="5160" y="4713"/>
              <a:ext cx="468"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65" name="Text Box 12"/>
            <p:cNvSpPr txBox="1">
              <a:spLocks noChangeArrowheads="1"/>
            </p:cNvSpPr>
            <p:nvPr/>
          </p:nvSpPr>
          <p:spPr bwMode="auto">
            <a:xfrm>
              <a:off x="1270" y="4713"/>
              <a:ext cx="468"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2</a:t>
              </a:r>
              <a:endParaRPr lang="en-US" altLang="zh-CN" sz="1200" b="1">
                <a:solidFill>
                  <a:srgbClr val="CC0000"/>
                </a:solidFill>
              </a:endParaRPr>
            </a:p>
          </p:txBody>
        </p:sp>
        <p:sp>
          <p:nvSpPr>
            <p:cNvPr id="66" name="Text Box 13"/>
            <p:cNvSpPr txBox="1">
              <a:spLocks noChangeArrowheads="1"/>
            </p:cNvSpPr>
            <p:nvPr/>
          </p:nvSpPr>
          <p:spPr bwMode="auto">
            <a:xfrm>
              <a:off x="6520" y="4713"/>
              <a:ext cx="468"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5</a:t>
              </a:r>
              <a:endParaRPr lang="en-US" altLang="zh-CN" sz="1200" b="1">
                <a:solidFill>
                  <a:srgbClr val="CC0000"/>
                </a:solidFill>
              </a:endParaRPr>
            </a:p>
          </p:txBody>
        </p:sp>
        <p:sp>
          <p:nvSpPr>
            <p:cNvPr id="67" name="Text Box 14"/>
            <p:cNvSpPr txBox="1">
              <a:spLocks noChangeArrowheads="1"/>
            </p:cNvSpPr>
            <p:nvPr/>
          </p:nvSpPr>
          <p:spPr bwMode="auto">
            <a:xfrm>
              <a:off x="8560" y="4713"/>
              <a:ext cx="468"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68" name="Text Box 15"/>
            <p:cNvSpPr txBox="1">
              <a:spLocks noChangeArrowheads="1"/>
            </p:cNvSpPr>
            <p:nvPr/>
          </p:nvSpPr>
          <p:spPr bwMode="auto">
            <a:xfrm>
              <a:off x="12643" y="4713"/>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69" name="Text Box 16"/>
            <p:cNvSpPr txBox="1">
              <a:spLocks noChangeArrowheads="1"/>
            </p:cNvSpPr>
            <p:nvPr/>
          </p:nvSpPr>
          <p:spPr bwMode="auto">
            <a:xfrm>
              <a:off x="9908" y="4713"/>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70" name="Text Box 17"/>
            <p:cNvSpPr txBox="1">
              <a:spLocks noChangeArrowheads="1"/>
            </p:cNvSpPr>
            <p:nvPr/>
          </p:nvSpPr>
          <p:spPr bwMode="auto">
            <a:xfrm>
              <a:off x="11288" y="4713"/>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71" name="Text Box 18"/>
            <p:cNvSpPr txBox="1">
              <a:spLocks noChangeArrowheads="1"/>
            </p:cNvSpPr>
            <p:nvPr/>
          </p:nvSpPr>
          <p:spPr bwMode="auto">
            <a:xfrm>
              <a:off x="2250" y="4713"/>
              <a:ext cx="468"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72" name="Text Box 19"/>
            <p:cNvSpPr txBox="1">
              <a:spLocks noChangeArrowheads="1"/>
            </p:cNvSpPr>
            <p:nvPr/>
          </p:nvSpPr>
          <p:spPr bwMode="auto">
            <a:xfrm>
              <a:off x="3573" y="4713"/>
              <a:ext cx="467"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3</a:t>
              </a:r>
              <a:endParaRPr lang="en-US" altLang="zh-CN" sz="1200" b="1">
                <a:solidFill>
                  <a:srgbClr val="CC0000"/>
                </a:solidFill>
              </a:endParaRPr>
            </a:p>
          </p:txBody>
        </p:sp>
        <p:sp>
          <p:nvSpPr>
            <p:cNvPr id="73" name="Rectangle 20"/>
            <p:cNvSpPr>
              <a:spLocks noChangeArrowheads="1"/>
            </p:cNvSpPr>
            <p:nvPr/>
          </p:nvSpPr>
          <p:spPr bwMode="auto">
            <a:xfrm>
              <a:off x="315" y="6080"/>
              <a:ext cx="13723" cy="455"/>
            </a:xfrm>
            <a:prstGeom prst="rect">
              <a:avLst/>
            </a:prstGeom>
            <a:noFill/>
            <a:ln w="28575">
              <a:solidFill>
                <a:srgbClr val="CC0000"/>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2"/>
          <p:cNvSpPr txBox="1">
            <a:spLocks noChangeArrowheads="1"/>
          </p:cNvSpPr>
          <p:nvPr/>
        </p:nvSpPr>
        <p:spPr bwMode="auto">
          <a:xfrm>
            <a:off x="375920" y="224790"/>
            <a:ext cx="8400415" cy="640588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Result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SearchBTree</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BTree</a:t>
            </a:r>
            <a:r>
              <a:rPr kumimoji="1" lang="en-US" altLang="zh-CN" dirty="0">
                <a:latin typeface="Consolas" panose="020B0609020204030204" charset="0"/>
                <a:ea typeface="幼圆" panose="02010509060101010101" pitchFamily="49" charset="-122"/>
                <a:cs typeface="Consolas" panose="020B0609020204030204" charset="0"/>
              </a:rPr>
              <a:t> 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没有找到，返回</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k</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的插入位置信息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Btree</a:t>
            </a:r>
            <a:r>
              <a:rPr kumimoji="1" lang="en-US" altLang="zh-CN" dirty="0">
                <a:latin typeface="Consolas" panose="020B0609020204030204" charset="0"/>
                <a:ea typeface="幼圆" panose="02010509060101010101" pitchFamily="49" charset="-122"/>
                <a:cs typeface="Consolas" panose="020B0609020204030204" charset="0"/>
              </a:rPr>
              <a:t>  p, q;</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 n;</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Result  result;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p = 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p</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指向待查结点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q = NULL;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q</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指向</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p</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的双亲结点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found = FALSE;</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 = 0;</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while</a:t>
            </a:r>
            <a:r>
              <a:rPr kumimoji="1" lang="en-US" altLang="zh-CN" dirty="0">
                <a:latin typeface="Consolas" panose="020B0609020204030204" charset="0"/>
                <a:ea typeface="幼圆" panose="02010509060101010101" pitchFamily="49" charset="-122"/>
                <a:cs typeface="Consolas" panose="020B0609020204030204" charset="0"/>
              </a:rPr>
              <a:t>(p &amp;&amp; !found)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n = p-&gt;</a:t>
            </a:r>
            <a:r>
              <a:rPr kumimoji="1" lang="en-US" altLang="zh-CN" dirty="0" err="1">
                <a:latin typeface="Consolas" panose="020B0609020204030204" charset="0"/>
                <a:ea typeface="幼圆" panose="02010509060101010101" pitchFamily="49" charset="-122"/>
                <a:cs typeface="Consolas" panose="020B0609020204030204" charset="0"/>
              </a:rPr>
              <a:t>keyNum</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 = Search(p, k);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p-&gt;key[</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i</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&lt;= k &lt; p-&gt;key[</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i+1</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 &gt; 0 &amp;&amp; p-&gt;key[</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 == k)</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found = TRUE;</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q = p;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p = p-&gt;</a:t>
            </a:r>
            <a:r>
              <a:rPr kumimoji="1" lang="en-US" altLang="zh-CN" dirty="0" err="1">
                <a:latin typeface="Consolas" panose="020B0609020204030204" charset="0"/>
                <a:ea typeface="幼圆" panose="02010509060101010101" pitchFamily="49" charset="-122"/>
                <a:cs typeface="Consolas" panose="020B0609020204030204" charset="0"/>
              </a:rPr>
              <a:t>ptr</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2"/>
          <p:cNvSpPr txBox="1">
            <a:spLocks noChangeArrowheads="1"/>
          </p:cNvSpPr>
          <p:nvPr/>
        </p:nvSpPr>
        <p:spPr bwMode="auto">
          <a:xfrm>
            <a:off x="470535" y="450850"/>
            <a:ext cx="8152765" cy="426974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latin typeface="Consolas" panose="020B0609020204030204" charset="0"/>
                <a:cs typeface="Consolas" panose="020B0609020204030204" charset="0"/>
              </a:rPr>
              <a:t>(found) {</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result.pt</a:t>
            </a:r>
            <a:r>
              <a:rPr kumimoji="1" lang="en-US" altLang="zh-CN" dirty="0">
                <a:latin typeface="Consolas" panose="020B0609020204030204" charset="0"/>
                <a:cs typeface="Consolas" panose="020B0609020204030204" charset="0"/>
              </a:rPr>
              <a:t> = p;</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result.i</a:t>
            </a:r>
            <a:r>
              <a:rPr kumimoji="1" lang="en-US" altLang="zh-CN" dirty="0">
                <a:latin typeface="Consolas" panose="020B0609020204030204" charset="0"/>
                <a:cs typeface="Consolas" panose="020B0609020204030204" charset="0"/>
              </a:rPr>
              <a:t> = </a:t>
            </a:r>
            <a:r>
              <a:rPr kumimoji="1" lang="en-US" altLang="zh-CN" dirty="0" err="1">
                <a:latin typeface="Consolas" panose="020B0609020204030204" charset="0"/>
                <a:cs typeface="Consolas" panose="020B0609020204030204" charset="0"/>
              </a:rPr>
              <a:t>i</a:t>
            </a:r>
            <a:r>
              <a:rPr kumimoji="1" lang="en-US" altLang="zh-CN" dirty="0">
                <a:latin typeface="Consolas" panose="020B0609020204030204" charset="0"/>
                <a:cs typeface="Consolas" panose="020B0609020204030204" charset="0"/>
              </a:rPr>
              <a:t>;</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result.tag</a:t>
            </a:r>
            <a:r>
              <a:rPr kumimoji="1" lang="en-US" altLang="zh-CN" dirty="0">
                <a:latin typeface="Consolas" panose="020B0609020204030204" charset="0"/>
                <a:cs typeface="Consolas" panose="020B0609020204030204" charset="0"/>
              </a:rPr>
              <a:t> = 1;	</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else </a:t>
            </a:r>
            <a:r>
              <a:rPr kumimoji="1" lang="en-US" altLang="zh-CN" dirty="0">
                <a:latin typeface="Consolas" panose="020B0609020204030204" charset="0"/>
                <a:cs typeface="Consolas" panose="020B0609020204030204" charset="0"/>
              </a:rPr>
              <a:t>{ </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result.pt</a:t>
            </a:r>
            <a:r>
              <a:rPr kumimoji="1" lang="en-US" altLang="zh-CN" dirty="0">
                <a:latin typeface="Consolas" panose="020B0609020204030204" charset="0"/>
                <a:cs typeface="Consolas" panose="020B0609020204030204" charset="0"/>
              </a:rPr>
              <a:t> = q;</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result.i</a:t>
            </a:r>
            <a:r>
              <a:rPr kumimoji="1" lang="en-US" altLang="zh-CN" dirty="0">
                <a:latin typeface="Consolas" panose="020B0609020204030204" charset="0"/>
                <a:cs typeface="Consolas" panose="020B0609020204030204" charset="0"/>
              </a:rPr>
              <a:t> = </a:t>
            </a:r>
            <a:r>
              <a:rPr kumimoji="1" lang="en-US" altLang="zh-CN" dirty="0" err="1">
                <a:latin typeface="Consolas" panose="020B0609020204030204" charset="0"/>
                <a:cs typeface="Consolas" panose="020B0609020204030204" charset="0"/>
              </a:rPr>
              <a:t>i</a:t>
            </a:r>
            <a:r>
              <a:rPr kumimoji="1" lang="en-US" altLang="zh-CN" dirty="0">
                <a:latin typeface="Consolas" panose="020B0609020204030204" charset="0"/>
                <a:cs typeface="Consolas" panose="020B0609020204030204" charset="0"/>
              </a:rPr>
              <a:t>;</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result.tag</a:t>
            </a:r>
            <a:r>
              <a:rPr kumimoji="1" lang="en-US" altLang="zh-CN" dirty="0">
                <a:latin typeface="Consolas" panose="020B0609020204030204" charset="0"/>
                <a:cs typeface="Consolas" panose="020B0609020204030204" charset="0"/>
              </a:rPr>
              <a:t> = 0;</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latin typeface="Consolas" panose="020B0609020204030204" charset="0"/>
                <a:cs typeface="Consolas" panose="020B0609020204030204" charset="0"/>
              </a:rPr>
              <a:t>result;</a:t>
            </a:r>
            <a:endParaRPr kumimoji="1" lang="en-US" altLang="zh-CN" dirty="0">
              <a:latin typeface="Consolas" panose="020B0609020204030204" charset="0"/>
              <a:cs typeface="Consolas" panose="020B0609020204030204" charset="0"/>
            </a:endParaRPr>
          </a:p>
          <a:p>
            <a:pPr>
              <a:lnSpc>
                <a:spcPct val="120000"/>
              </a:lnSpc>
            </a:pPr>
            <a:r>
              <a:rPr kumimoji="1" lang="en-US" altLang="zh-CN" dirty="0">
                <a:latin typeface="Consolas" panose="020B0609020204030204" charset="0"/>
                <a:cs typeface="Consolas" panose="020B0609020204030204" charset="0"/>
              </a:rPr>
              <a:t>}</a:t>
            </a:r>
            <a:endParaRPr kumimoji="1" lang="en-US" altLang="zh-CN" dirty="0">
              <a:latin typeface="Consolas" panose="020B0609020204030204" charset="0"/>
              <a:cs typeface="Consolas" panose="020B0609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8.5.2 </a:t>
            </a:r>
            <a:r>
              <a:rPr kumimoji="1" lang="en-US" altLang="zh-CN"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树查找性能分析</a:t>
            </a:r>
            <a:endParaRPr lang="zh-CN" altLang="en-US"/>
          </a:p>
        </p:txBody>
      </p:sp>
      <p:sp>
        <p:nvSpPr>
          <p:cNvPr id="187394" name="Rectangle 2"/>
          <p:cNvSpPr>
            <a:spLocks noChangeArrowheads="1"/>
          </p:cNvSpPr>
          <p:nvPr/>
        </p:nvSpPr>
        <p:spPr bwMode="auto">
          <a:xfrm>
            <a:off x="415290" y="1032510"/>
            <a:ext cx="8382000" cy="529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60000"/>
              </a:lnSpc>
              <a:buClr>
                <a:srgbClr val="00B0F0"/>
              </a:buClr>
              <a:buFont typeface="Wingdings" panose="05000000000000000000" charset="0"/>
              <a:buChar char="l"/>
            </a:pP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在</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树上进行查找包含两种基本操作：</a:t>
            </a:r>
            <a:endPar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60000"/>
              </a:lnSpc>
              <a:buClr>
                <a:srgbClr val="00B0F0"/>
              </a:buClr>
              <a:buFont typeface="+mj-ea"/>
              <a:buAutoNum type="circleNumDbPlain"/>
            </a:pP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在</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树中找结点；</a:t>
            </a:r>
            <a:endPar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60000"/>
              </a:lnSpc>
              <a:buClr>
                <a:srgbClr val="00B0F0"/>
              </a:buClr>
              <a:buFont typeface="+mj-ea"/>
              <a:buAutoNum type="circleNumDbPlain"/>
            </a:pP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在结点中找关键字。</a:t>
            </a:r>
            <a:endPar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gn="just">
              <a:lnSpc>
                <a:spcPct val="160000"/>
              </a:lnSpc>
              <a:buClr>
                <a:srgbClr val="00B0F0"/>
              </a:buClr>
              <a:buFont typeface="Wingdings" panose="05000000000000000000" charset="0"/>
              <a:buChar char="l"/>
            </a:pP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由于</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树通常存储在磁盘上，因此</a:t>
            </a:r>
            <a:r>
              <a:rPr kumimoji="1" lang="zh-CN" altLang="en-US" sz="2100" b="1" u="sng"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前一操作是在磁盘上进行的</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，而</a:t>
            </a:r>
            <a:r>
              <a:rPr kumimoji="1" lang="zh-CN" altLang="en-US" sz="2100" b="1" u="sng"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后一操作是在内存中进行的</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，即在磁盘上找到指针</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p</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所指结点后，先将结点中信息读入内存，然后查询。</a:t>
            </a:r>
            <a:endPar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gn="just">
              <a:lnSpc>
                <a:spcPct val="160000"/>
              </a:lnSpc>
              <a:buClr>
                <a:srgbClr val="00B0F0"/>
              </a:buClr>
              <a:buFont typeface="Wingdings" panose="05000000000000000000" charset="0"/>
              <a:buChar char="l"/>
            </a:pP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而在磁盘上进行操作比在内存中操作慢得多，因此在磁盘上进行查找的次数，即待查关键字所在结点在</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树的层次数，是决定</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树查找效率的关键因素。</a:t>
            </a:r>
            <a:endPar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7394">
                                            <p:txEl>
                                              <p:pRg st="3" end="3"/>
                                            </p:txEl>
                                          </p:spTgt>
                                        </p:tgtEl>
                                        <p:attrNameLst>
                                          <p:attrName>style.visibility</p:attrName>
                                        </p:attrNameLst>
                                      </p:cBhvr>
                                      <p:to>
                                        <p:strVal val="visible"/>
                                      </p:to>
                                    </p:set>
                                    <p:animEffect transition="in" filter="fade">
                                      <p:cBhvr>
                                        <p:cTn id="7" dur="1000"/>
                                        <p:tgtEl>
                                          <p:spTgt spid="187394">
                                            <p:txEl>
                                              <p:pRg st="3" end="3"/>
                                            </p:txEl>
                                          </p:spTgt>
                                        </p:tgtEl>
                                      </p:cBhvr>
                                    </p:animEffect>
                                    <p:anim calcmode="lin" valueType="num">
                                      <p:cBhvr>
                                        <p:cTn id="8" dur="1000" fill="hold"/>
                                        <p:tgtEl>
                                          <p:spTgt spid="18739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8739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7394">
                                            <p:txEl>
                                              <p:pRg st="4" end="4"/>
                                            </p:txEl>
                                          </p:spTgt>
                                        </p:tgtEl>
                                        <p:attrNameLst>
                                          <p:attrName>style.visibility</p:attrName>
                                        </p:attrNameLst>
                                      </p:cBhvr>
                                      <p:to>
                                        <p:strVal val="visible"/>
                                      </p:to>
                                    </p:set>
                                    <p:animEffect transition="in" filter="fade">
                                      <p:cBhvr>
                                        <p:cTn id="14" dur="1000"/>
                                        <p:tgtEl>
                                          <p:spTgt spid="187394">
                                            <p:txEl>
                                              <p:pRg st="4" end="4"/>
                                            </p:txEl>
                                          </p:spTgt>
                                        </p:tgtEl>
                                      </p:cBhvr>
                                    </p:animEffect>
                                    <p:anim calcmode="lin" valueType="num">
                                      <p:cBhvr>
                                        <p:cTn id="15" dur="1000" fill="hold"/>
                                        <p:tgtEl>
                                          <p:spTgt spid="18739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18739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olidFill>
                  <a:schemeClr val="bg1"/>
                </a:solidFill>
              </a:rPr>
              <a:t>8.5.2 </a:t>
            </a:r>
            <a:r>
              <a:rPr kumimoji="1" lang="en-US" altLang="zh-CN"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B</a:t>
            </a:r>
            <a:r>
              <a:rPr kumimoji="1" lang="zh-CN" altLang="en-US"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树查找性能分析</a:t>
            </a:r>
            <a:endParaRPr kumimoji="1" lang="zh-CN" altLang="en-US"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endParaRPr>
          </a:p>
        </p:txBody>
      </p:sp>
      <p:graphicFrame>
        <p:nvGraphicFramePr>
          <p:cNvPr id="3" name="Object 5"/>
          <p:cNvGraphicFramePr>
            <a:graphicFrameLocks noChangeAspect="1"/>
          </p:cNvGraphicFramePr>
          <p:nvPr/>
        </p:nvGraphicFramePr>
        <p:xfrm>
          <a:off x="3004185" y="2384108"/>
          <a:ext cx="3026093" cy="1134904"/>
        </p:xfrm>
        <a:graphic>
          <a:graphicData uri="http://schemas.openxmlformats.org/presentationml/2006/ole">
            <mc:AlternateContent xmlns:mc="http://schemas.openxmlformats.org/markup-compatibility/2006">
              <mc:Choice xmlns:v="urn:schemas-microsoft-com:vml" Requires="v">
                <p:oleObj spid="_x0000_s302205" name="Equation" r:id="rId1" imgW="914400" imgH="342900" progId="Equation.DSMT4">
                  <p:embed/>
                </p:oleObj>
              </mc:Choice>
              <mc:Fallback>
                <p:oleObj name="Equation" r:id="rId1" imgW="914400" imgH="342900" progId="Equation.DSMT4">
                  <p:embed/>
                  <p:pic>
                    <p:nvPicPr>
                      <p:cNvPr id="0" name="图片 302204"/>
                      <p:cNvPicPr>
                        <a:picLocks noChangeAspect="1" noChangeArrowheads="1"/>
                      </p:cNvPicPr>
                      <p:nvPr/>
                    </p:nvPicPr>
                    <p:blipFill>
                      <a:blip r:embed="rId2"/>
                      <a:srcRect/>
                      <a:stretch>
                        <a:fillRect/>
                      </a:stretch>
                    </p:blipFill>
                    <p:spPr bwMode="auto">
                      <a:xfrm>
                        <a:off x="3004185" y="2384108"/>
                        <a:ext cx="3026093" cy="1134904"/>
                      </a:xfrm>
                      <a:prstGeom prst="rect">
                        <a:avLst/>
                      </a:prstGeom>
                      <a:solidFill>
                        <a:schemeClr val="accent1"/>
                      </a:solid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矩形 3"/>
          <p:cNvSpPr/>
          <p:nvPr/>
        </p:nvSpPr>
        <p:spPr>
          <a:xfrm>
            <a:off x="504825" y="1095375"/>
            <a:ext cx="8291830" cy="1115695"/>
          </a:xfrm>
          <a:prstGeom prst="rect">
            <a:avLst/>
          </a:prstGeom>
        </p:spPr>
        <p:txBody>
          <a:bodyPr wrap="square">
            <a:noAutofit/>
          </a:bodyPr>
          <a:lstStyle/>
          <a:p>
            <a:pPr marL="342900" indent="-342900">
              <a:lnSpc>
                <a:spcPct val="120000"/>
              </a:lnSpc>
              <a:buClr>
                <a:srgbClr val="00B0F0"/>
              </a:buClr>
              <a:buFont typeface="Wingdings" panose="05000000000000000000" charset="0"/>
              <a:buChar char="l"/>
            </a:pPr>
            <a:r>
              <a:rPr kumimoji="1" lang="zh-CN" altLang="en-US" sz="2400" dirty="0">
                <a:solidFill>
                  <a:schemeClr val="tx1"/>
                </a:solidFill>
                <a:ea typeface="幼圆" panose="02010509060101010101" pitchFamily="49" charset="-122"/>
                <a:cs typeface="Times New Roman" panose="02020603050405020304" pitchFamily="18" charset="0"/>
              </a:rPr>
              <a:t>考虑最坏的情况：看含</a:t>
            </a:r>
            <a:r>
              <a:rPr kumimoji="1" lang="en-US" altLang="zh-CN" sz="2400" dirty="0">
                <a:solidFill>
                  <a:schemeClr val="tx1"/>
                </a:solidFill>
                <a:ea typeface="幼圆" panose="02010509060101010101" pitchFamily="49" charset="-122"/>
                <a:cs typeface="Times New Roman" panose="02020603050405020304" pitchFamily="18" charset="0"/>
              </a:rPr>
              <a:t>N</a:t>
            </a:r>
            <a:r>
              <a:rPr kumimoji="1" lang="zh-CN" altLang="en-US" sz="2400" dirty="0">
                <a:solidFill>
                  <a:schemeClr val="tx1"/>
                </a:solidFill>
                <a:ea typeface="幼圆" panose="02010509060101010101" pitchFamily="49" charset="-122"/>
                <a:cs typeface="Times New Roman" panose="02020603050405020304" pitchFamily="18" charset="0"/>
              </a:rPr>
              <a:t>个关键字的</a:t>
            </a:r>
            <a:r>
              <a:rPr kumimoji="1" lang="en-US" altLang="zh-CN" sz="2400" dirty="0">
                <a:solidFill>
                  <a:schemeClr val="tx1"/>
                </a:solidFill>
                <a:ea typeface="幼圆" panose="02010509060101010101" pitchFamily="49" charset="-122"/>
                <a:cs typeface="Times New Roman" panose="02020603050405020304" pitchFamily="18" charset="0"/>
              </a:rPr>
              <a:t>m</a:t>
            </a:r>
            <a:r>
              <a:rPr kumimoji="1" lang="zh-CN" altLang="en-US" sz="2400" dirty="0">
                <a:solidFill>
                  <a:schemeClr val="tx1"/>
                </a:solidFill>
                <a:ea typeface="幼圆" panose="02010509060101010101" pitchFamily="49" charset="-122"/>
                <a:cs typeface="Times New Roman" panose="02020603050405020304" pitchFamily="18" charset="0"/>
              </a:rPr>
              <a:t>阶</a:t>
            </a:r>
            <a:r>
              <a:rPr kumimoji="1" lang="en-US" altLang="zh-CN" sz="2400" dirty="0">
                <a:solidFill>
                  <a:schemeClr val="tx1"/>
                </a:solidFill>
                <a:ea typeface="幼圆" panose="02010509060101010101" pitchFamily="49" charset="-122"/>
                <a:cs typeface="Times New Roman" panose="02020603050405020304" pitchFamily="18" charset="0"/>
              </a:rPr>
              <a:t>B</a:t>
            </a:r>
            <a:r>
              <a:rPr kumimoji="1" lang="zh-CN" altLang="en-US" sz="2400" dirty="0">
                <a:solidFill>
                  <a:schemeClr val="tx1"/>
                </a:solidFill>
                <a:ea typeface="幼圆" panose="02010509060101010101" pitchFamily="49" charset="-122"/>
                <a:cs typeface="Times New Roman" panose="02020603050405020304" pitchFamily="18" charset="0"/>
              </a:rPr>
              <a:t>树的最大深度是多少？ </a:t>
            </a:r>
            <a:endParaRPr kumimoji="1" lang="zh-CN" altLang="en-US" sz="2400" dirty="0">
              <a:solidFill>
                <a:schemeClr val="tx1"/>
              </a:solidFill>
              <a:ea typeface="幼圆"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olidFill>
                  <a:schemeClr val="bg1"/>
                </a:solidFill>
              </a:rPr>
              <a:t>8.5.3 B</a:t>
            </a:r>
            <a:r>
              <a:rPr kumimoji="1" lang="zh-CN" altLang="en-US"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kumimoji="1" lang="zh-CN" altLang="en-US" b="1" dirty="0">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endParaRPr>
          </a:p>
        </p:txBody>
      </p:sp>
      <p:sp>
        <p:nvSpPr>
          <p:cNvPr id="188418" name="Rectangle 2"/>
          <p:cNvSpPr>
            <a:spLocks noChangeArrowheads="1"/>
          </p:cNvSpPr>
          <p:nvPr/>
        </p:nvSpPr>
        <p:spPr bwMode="auto">
          <a:xfrm>
            <a:off x="484505" y="1055370"/>
            <a:ext cx="8312785" cy="5218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50000"/>
              </a:lnSpc>
              <a:buClr>
                <a:srgbClr val="00B0F0"/>
              </a:buClr>
              <a:buFont typeface="Wingdings" panose="05000000000000000000" charset="0"/>
              <a:buChar char="l"/>
            </a:pPr>
            <a:r>
              <a:rPr kumimoji="1" lang="en-US" altLang="zh-CN" sz="21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1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树的生成也是从空树起</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，逐个插入关键字而得。</a:t>
            </a:r>
            <a:endPar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由于</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树结点中的关键字个数必须大于等于</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1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，因此每次插入一个关键字不是在树中添加一个叶子结点，而是首先</a:t>
            </a:r>
            <a:r>
              <a:rPr kumimoji="1" lang="zh-CN" altLang="en-US" sz="2100" b="1" u="sng"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在最低层的非终端结点中添加一个关键字</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，若该结点关键字个数不超过</a:t>
            </a:r>
            <a:r>
              <a:rPr kumimoji="1" lang="en-US" altLang="zh-CN" sz="21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，则插入完成，否则，要产生结点的“</a:t>
            </a:r>
            <a:r>
              <a:rPr kumimoji="1" lang="zh-CN" altLang="en-US" sz="21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分裂</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sp>
        <p:nvSpPr>
          <p:cNvPr id="262146" name="Rectangle 2"/>
          <p:cNvSpPr>
            <a:spLocks noChangeArrowheads="1"/>
          </p:cNvSpPr>
          <p:nvPr/>
        </p:nvSpPr>
        <p:spPr bwMode="auto">
          <a:xfrm>
            <a:off x="445135" y="944245"/>
            <a:ext cx="8352155" cy="3011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nSpc>
                <a:spcPct val="130000"/>
              </a:lnSpc>
              <a:buClr>
                <a:srgbClr val="00B0F0"/>
              </a:buClr>
              <a:buFont typeface="Wingdings" panose="05000000000000000000" charset="0"/>
              <a:buChar char="l"/>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dirty="0">
                <a:solidFill>
                  <a:srgbClr val="FF0000"/>
                </a:solidFill>
                <a:ea typeface="幼圆" panose="02010509060101010101" pitchFamily="49" charset="-122"/>
                <a:cs typeface="Times New Roman" panose="02020603050405020304" pitchFamily="18" charset="0"/>
                <a:sym typeface="Symbol" panose="05050102010706020507" pitchFamily="18" charset="2"/>
              </a:rPr>
              <a:t>分裂</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”的实现 ：假设*</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结点中已有</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个关键字（</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临界状态</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），当插入一个关键字后，结点中含有信息为：</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a:lnSpc>
                <a:spcPct val="13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b="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b="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b="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 (K</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indent="457200">
              <a:lnSpc>
                <a:spcPct val="13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且其中</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&lt; </a:t>
            </a: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i="1" baseline="-25000" dirty="0" err="1">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en-US" altLang="zh-CN" baseline="-25000" dirty="0" err="1">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1&lt;=</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i</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&lt; m</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indent="457200">
              <a:lnSpc>
                <a:spcPct val="13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此时可将*</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分裂为</a:t>
            </a:r>
            <a:r>
              <a:rPr kumimoji="1" lang="zh-CN" altLang="en-US"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和</a:t>
            </a:r>
            <a:r>
              <a:rPr kumimoji="1" lang="zh-CN" altLang="en-US"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两个结点，其中*</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结点中含有信息为：</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a:lnSpc>
                <a:spcPct val="130000"/>
              </a:lnSpc>
            </a:pPr>
            <a:r>
              <a:rPr kumimoji="1" lang="zh-CN" altLang="en-US" b="1" dirty="0">
                <a:solidFill>
                  <a:srgbClr val="FFFF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b="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…(K</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indent="457200">
              <a:lnSpc>
                <a:spcPct val="130000"/>
              </a:lnSpc>
            </a:pP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结点中含有信息为：</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a:lnSpc>
                <a:spcPct val="130000"/>
              </a:lnSpc>
            </a:pPr>
            <a:r>
              <a:rPr kumimoji="1" lang="zh-CN" altLang="en-US" b="1" dirty="0">
                <a:solidFill>
                  <a:srgbClr val="FFFF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(K </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+1</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+1</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 (K</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pSp>
        <p:nvGrpSpPr>
          <p:cNvPr id="262161" name="Group 17"/>
          <p:cNvGrpSpPr/>
          <p:nvPr/>
        </p:nvGrpSpPr>
        <p:grpSpPr bwMode="auto">
          <a:xfrm>
            <a:off x="1280081" y="4052396"/>
            <a:ext cx="3738563" cy="526256"/>
            <a:chOff x="113" y="2671"/>
            <a:chExt cx="3140" cy="442"/>
          </a:xfrm>
        </p:grpSpPr>
        <p:sp>
          <p:nvSpPr>
            <p:cNvPr id="262147" name="Rectangle 3"/>
            <p:cNvSpPr>
              <a:spLocks noChangeArrowheads="1"/>
            </p:cNvSpPr>
            <p:nvPr/>
          </p:nvSpPr>
          <p:spPr bwMode="auto">
            <a:xfrm>
              <a:off x="113" y="2750"/>
              <a:ext cx="2585" cy="363"/>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i="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(K</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 (K</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262150" name="Text Box 6"/>
            <p:cNvSpPr txBox="1">
              <a:spLocks noChangeArrowheads="1"/>
            </p:cNvSpPr>
            <p:nvPr/>
          </p:nvSpPr>
          <p:spPr bwMode="auto">
            <a:xfrm>
              <a:off x="3003" y="2671"/>
              <a:ext cx="25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latin typeface="Times New Roman" panose="02020603050405020304" pitchFamily="18" charset="0"/>
                  <a:cs typeface="Times New Roman" panose="02020603050405020304" pitchFamily="18" charset="0"/>
                </a:rPr>
                <a:t>p</a:t>
              </a:r>
              <a:endParaRPr lang="en-US" altLang="zh-CN" i="1">
                <a:latin typeface="Times New Roman" panose="02020603050405020304" pitchFamily="18" charset="0"/>
                <a:cs typeface="Times New Roman" panose="02020603050405020304" pitchFamily="18" charset="0"/>
              </a:endParaRPr>
            </a:p>
          </p:txBody>
        </p:sp>
        <p:cxnSp>
          <p:nvCxnSpPr>
            <p:cNvPr id="262153" name="AutoShape 9"/>
            <p:cNvCxnSpPr>
              <a:cxnSpLocks noChangeShapeType="1"/>
              <a:stCxn id="262150" idx="1"/>
              <a:endCxn id="262147" idx="3"/>
            </p:cNvCxnSpPr>
            <p:nvPr/>
          </p:nvCxnSpPr>
          <p:spPr bwMode="auto">
            <a:xfrm rot="10800000" flipV="1">
              <a:off x="2698" y="2826"/>
              <a:ext cx="305" cy="106"/>
            </a:xfrm>
            <a:prstGeom prst="curvedConnector3">
              <a:avLst>
                <a:gd name="adj1" fmla="val 49978"/>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2162" name="Group 18"/>
          <p:cNvGrpSpPr/>
          <p:nvPr/>
        </p:nvGrpSpPr>
        <p:grpSpPr bwMode="auto">
          <a:xfrm>
            <a:off x="2198053" y="4342909"/>
            <a:ext cx="5000625" cy="857250"/>
            <a:chOff x="884" y="2915"/>
            <a:chExt cx="4200" cy="720"/>
          </a:xfrm>
        </p:grpSpPr>
        <p:sp>
          <p:nvSpPr>
            <p:cNvPr id="262148" name="Rectangle 4"/>
            <p:cNvSpPr>
              <a:spLocks noChangeArrowheads="1"/>
            </p:cNvSpPr>
            <p:nvPr/>
          </p:nvSpPr>
          <p:spPr bwMode="auto">
            <a:xfrm>
              <a:off x="884" y="3272"/>
              <a:ext cx="3720" cy="363"/>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i="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(K</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…(K</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262151" name="Text Box 7"/>
            <p:cNvSpPr txBox="1">
              <a:spLocks noChangeArrowheads="1"/>
            </p:cNvSpPr>
            <p:nvPr/>
          </p:nvSpPr>
          <p:spPr bwMode="auto">
            <a:xfrm>
              <a:off x="4834" y="2915"/>
              <a:ext cx="25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latin typeface="Times New Roman" panose="02020603050405020304" pitchFamily="18" charset="0"/>
                  <a:cs typeface="Times New Roman" panose="02020603050405020304" pitchFamily="18" charset="0"/>
                </a:rPr>
                <a:t>p</a:t>
              </a:r>
              <a:endParaRPr lang="en-US" altLang="zh-CN" i="1">
                <a:latin typeface="Times New Roman" panose="02020603050405020304" pitchFamily="18" charset="0"/>
                <a:cs typeface="Times New Roman" panose="02020603050405020304" pitchFamily="18" charset="0"/>
              </a:endParaRPr>
            </a:p>
          </p:txBody>
        </p:sp>
        <p:cxnSp>
          <p:nvCxnSpPr>
            <p:cNvPr id="262154" name="AutoShape 10"/>
            <p:cNvCxnSpPr>
              <a:cxnSpLocks noChangeShapeType="1"/>
              <a:stCxn id="262151" idx="1"/>
              <a:endCxn id="262148" idx="3"/>
            </p:cNvCxnSpPr>
            <p:nvPr/>
          </p:nvCxnSpPr>
          <p:spPr bwMode="auto">
            <a:xfrm rot="10800000" flipV="1">
              <a:off x="4604" y="3070"/>
              <a:ext cx="230" cy="385"/>
            </a:xfrm>
            <a:prstGeom prst="curvedConnector3">
              <a:avLst>
                <a:gd name="adj1" fmla="val 50000"/>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2163" name="Group 19"/>
          <p:cNvGrpSpPr/>
          <p:nvPr/>
        </p:nvGrpSpPr>
        <p:grpSpPr bwMode="auto">
          <a:xfrm>
            <a:off x="2955290" y="4362089"/>
            <a:ext cx="5022056" cy="1406129"/>
            <a:chOff x="1520" y="2976"/>
            <a:chExt cx="4218" cy="1181"/>
          </a:xfrm>
        </p:grpSpPr>
        <p:sp>
          <p:nvSpPr>
            <p:cNvPr id="262149" name="Rectangle 5"/>
            <p:cNvSpPr>
              <a:spLocks noChangeArrowheads="1"/>
            </p:cNvSpPr>
            <p:nvPr/>
          </p:nvSpPr>
          <p:spPr bwMode="auto">
            <a:xfrm>
              <a:off x="1520" y="3794"/>
              <a:ext cx="4218" cy="363"/>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i="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(K </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b="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+1</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 (K</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P</a:t>
              </a:r>
              <a:r>
                <a:rPr kumimoji="1" lang="en-US" altLang="zh-CN" b="1" i="1" baseline="-2500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262152" name="Text Box 8"/>
            <p:cNvSpPr txBox="1">
              <a:spLocks noChangeArrowheads="1"/>
            </p:cNvSpPr>
            <p:nvPr/>
          </p:nvSpPr>
          <p:spPr bwMode="auto">
            <a:xfrm>
              <a:off x="5329" y="2976"/>
              <a:ext cx="31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latin typeface="Times New Roman" panose="02020603050405020304" pitchFamily="18" charset="0"/>
                  <a:cs typeface="Times New Roman" panose="02020603050405020304" pitchFamily="18" charset="0"/>
                </a:rPr>
                <a:t>p’</a:t>
              </a:r>
              <a:endParaRPr lang="en-US" altLang="zh-CN" i="1">
                <a:latin typeface="Times New Roman" panose="02020603050405020304" pitchFamily="18" charset="0"/>
                <a:cs typeface="Times New Roman" panose="02020603050405020304" pitchFamily="18" charset="0"/>
              </a:endParaRPr>
            </a:p>
          </p:txBody>
        </p:sp>
        <p:cxnSp>
          <p:nvCxnSpPr>
            <p:cNvPr id="262156" name="AutoShape 12"/>
            <p:cNvCxnSpPr>
              <a:cxnSpLocks noChangeShapeType="1"/>
            </p:cNvCxnSpPr>
            <p:nvPr/>
          </p:nvCxnSpPr>
          <p:spPr bwMode="auto">
            <a:xfrm rot="10800000" flipH="1" flipV="1">
              <a:off x="5368" y="3158"/>
              <a:ext cx="279" cy="597"/>
            </a:xfrm>
            <a:prstGeom prst="curvedConnector4">
              <a:avLst>
                <a:gd name="adj1" fmla="val -51611"/>
                <a:gd name="adj2" fmla="val 62144"/>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62158" name="AutoShape 14"/>
          <p:cNvSpPr>
            <a:spLocks noChangeArrowheads="1"/>
          </p:cNvSpPr>
          <p:nvPr/>
        </p:nvSpPr>
        <p:spPr bwMode="auto">
          <a:xfrm>
            <a:off x="1550353" y="5550203"/>
            <a:ext cx="594122" cy="215503"/>
          </a:xfrm>
          <a:prstGeom prst="rightArrow">
            <a:avLst>
              <a:gd name="adj1" fmla="val 50000"/>
              <a:gd name="adj2" fmla="val 6892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62159" name="AutoShape 15"/>
          <p:cNvSpPr>
            <a:spLocks noChangeArrowheads="1"/>
          </p:cNvSpPr>
          <p:nvPr/>
        </p:nvSpPr>
        <p:spPr bwMode="auto">
          <a:xfrm>
            <a:off x="1550353" y="4847734"/>
            <a:ext cx="377429" cy="215503"/>
          </a:xfrm>
          <a:prstGeom prst="rightArrow">
            <a:avLst>
              <a:gd name="adj1" fmla="val 50000"/>
              <a:gd name="adj2" fmla="val 43785"/>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62160" name="Rectangle 16"/>
          <p:cNvSpPr>
            <a:spLocks noChangeArrowheads="1"/>
          </p:cNvSpPr>
          <p:nvPr/>
        </p:nvSpPr>
        <p:spPr bwMode="auto">
          <a:xfrm>
            <a:off x="1442006" y="4632230"/>
            <a:ext cx="108347" cy="107989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 name="矩形 2"/>
          <p:cNvSpPr/>
          <p:nvPr/>
        </p:nvSpPr>
        <p:spPr>
          <a:xfrm>
            <a:off x="887730" y="5955030"/>
            <a:ext cx="6603365" cy="440055"/>
          </a:xfrm>
          <a:prstGeom prst="rect">
            <a:avLst/>
          </a:prstGeom>
        </p:spPr>
        <p:txBody>
          <a:bodyPr wrap="square">
            <a:noAutofit/>
          </a:bodyPr>
          <a:lstStyle/>
          <a:p>
            <a:pPr lvl="0"/>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而关键字</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b="1"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和指针*</a:t>
            </a:r>
            <a:r>
              <a:rPr kumimoji="1" lang="en-US" altLang="zh-CN"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一起插入到*</a:t>
            </a:r>
            <a:r>
              <a:rPr kumimoji="1" lang="en-US" altLang="zh-CN"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的双亲结点中。</a:t>
            </a:r>
            <a:endPar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621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214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2146">
                                            <p:txEl>
                                              <p:pRg st="4" end="4"/>
                                            </p:txEl>
                                          </p:spTgt>
                                        </p:tgtEl>
                                        <p:attrNameLst>
                                          <p:attrName>style.visibility</p:attrName>
                                        </p:attrNameLst>
                                      </p:cBhvr>
                                      <p:to>
                                        <p:strVal val="visible"/>
                                      </p:to>
                                    </p:set>
                                  </p:childTnLst>
                                </p:cTn>
                              </p:par>
                              <p:par>
                                <p:cTn id="13" presetID="2" presetClass="entr" presetSubtype="1" fill="hold" grpId="0" nodeType="withEffect">
                                  <p:stCondLst>
                                    <p:cond delay="0"/>
                                  </p:stCondLst>
                                  <p:childTnLst>
                                    <p:set>
                                      <p:cBhvr>
                                        <p:cTn id="14" dur="1" fill="hold">
                                          <p:stCondLst>
                                            <p:cond delay="0"/>
                                          </p:stCondLst>
                                        </p:cTn>
                                        <p:tgtEl>
                                          <p:spTgt spid="262160"/>
                                        </p:tgtEl>
                                        <p:attrNameLst>
                                          <p:attrName>style.visibility</p:attrName>
                                        </p:attrNameLst>
                                      </p:cBhvr>
                                      <p:to>
                                        <p:strVal val="visible"/>
                                      </p:to>
                                    </p:set>
                                    <p:anim calcmode="lin" valueType="num">
                                      <p:cBhvr additive="base">
                                        <p:cTn id="15" dur="500" fill="hold"/>
                                        <p:tgtEl>
                                          <p:spTgt spid="262160"/>
                                        </p:tgtEl>
                                        <p:attrNameLst>
                                          <p:attrName>ppt_x</p:attrName>
                                        </p:attrNameLst>
                                      </p:cBhvr>
                                      <p:tavLst>
                                        <p:tav tm="0">
                                          <p:val>
                                            <p:strVal val="#ppt_x"/>
                                          </p:val>
                                        </p:tav>
                                        <p:tav tm="100000">
                                          <p:val>
                                            <p:strVal val="#ppt_x"/>
                                          </p:val>
                                        </p:tav>
                                      </p:tavLst>
                                    </p:anim>
                                    <p:anim calcmode="lin" valueType="num">
                                      <p:cBhvr additive="base">
                                        <p:cTn id="16" dur="500" fill="hold"/>
                                        <p:tgtEl>
                                          <p:spTgt spid="262160"/>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262159"/>
                                        </p:tgtEl>
                                        <p:attrNameLst>
                                          <p:attrName>style.visibility</p:attrName>
                                        </p:attrNameLst>
                                      </p:cBhvr>
                                      <p:to>
                                        <p:strVal val="visible"/>
                                      </p:to>
                                    </p:set>
                                    <p:anim calcmode="lin" valueType="num">
                                      <p:cBhvr additive="base">
                                        <p:cTn id="19" dur="500" fill="hold"/>
                                        <p:tgtEl>
                                          <p:spTgt spid="262159"/>
                                        </p:tgtEl>
                                        <p:attrNameLst>
                                          <p:attrName>ppt_x</p:attrName>
                                        </p:attrNameLst>
                                      </p:cBhvr>
                                      <p:tavLst>
                                        <p:tav tm="0">
                                          <p:val>
                                            <p:strVal val="#ppt_x"/>
                                          </p:val>
                                        </p:tav>
                                        <p:tav tm="100000">
                                          <p:val>
                                            <p:strVal val="#ppt_x"/>
                                          </p:val>
                                        </p:tav>
                                      </p:tavLst>
                                    </p:anim>
                                    <p:anim calcmode="lin" valueType="num">
                                      <p:cBhvr additive="base">
                                        <p:cTn id="20" dur="500" fill="hold"/>
                                        <p:tgtEl>
                                          <p:spTgt spid="262159"/>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262158"/>
                                        </p:tgtEl>
                                        <p:attrNameLst>
                                          <p:attrName>style.visibility</p:attrName>
                                        </p:attrNameLst>
                                      </p:cBhvr>
                                      <p:to>
                                        <p:strVal val="visible"/>
                                      </p:to>
                                    </p:set>
                                    <p:anim calcmode="lin" valueType="num">
                                      <p:cBhvr additive="base">
                                        <p:cTn id="23" dur="500" fill="hold"/>
                                        <p:tgtEl>
                                          <p:spTgt spid="262158"/>
                                        </p:tgtEl>
                                        <p:attrNameLst>
                                          <p:attrName>ppt_x</p:attrName>
                                        </p:attrNameLst>
                                      </p:cBhvr>
                                      <p:tavLst>
                                        <p:tav tm="0">
                                          <p:val>
                                            <p:strVal val="#ppt_x"/>
                                          </p:val>
                                        </p:tav>
                                        <p:tav tm="100000">
                                          <p:val>
                                            <p:strVal val="#ppt_x"/>
                                          </p:val>
                                        </p:tav>
                                      </p:tavLst>
                                    </p:anim>
                                    <p:anim calcmode="lin" valueType="num">
                                      <p:cBhvr additive="base">
                                        <p:cTn id="24" dur="500" fill="hold"/>
                                        <p:tgtEl>
                                          <p:spTgt spid="262158"/>
                                        </p:tgtEl>
                                        <p:attrNameLst>
                                          <p:attrName>ppt_y</p:attrName>
                                        </p:attrNameLst>
                                      </p:cBhvr>
                                      <p:tavLst>
                                        <p:tav tm="0">
                                          <p:val>
                                            <p:strVal val="0-#ppt_h/2"/>
                                          </p:val>
                                        </p:tav>
                                        <p:tav tm="100000">
                                          <p:val>
                                            <p:strVal val="#ppt_y"/>
                                          </p:val>
                                        </p:tav>
                                      </p:tavLst>
                                    </p:anim>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26216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62146">
                                            <p:txEl>
                                              <p:pRg st="5" end="5"/>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62146">
                                            <p:txEl>
                                              <p:pRg st="6" end="6"/>
                                            </p:txEl>
                                          </p:spTgt>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26216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58" grpId="0" bldLvl="0" animBg="1"/>
      <p:bldP spid="262159" grpId="0" bldLvl="0" animBg="1"/>
      <p:bldP spid="262160" grpId="0" bldLvl="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sp>
        <p:nvSpPr>
          <p:cNvPr id="207876" name="Rectangle 4"/>
          <p:cNvSpPr>
            <a:spLocks noChangeArrowheads="1"/>
          </p:cNvSpPr>
          <p:nvPr/>
        </p:nvSpPr>
        <p:spPr bwMode="auto">
          <a:xfrm>
            <a:off x="1871663" y="1269206"/>
            <a:ext cx="5347097" cy="4374356"/>
          </a:xfrm>
          <a:prstGeom prst="rect">
            <a:avLst/>
          </a:prstGeom>
          <a:no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lstStyle/>
          <a:p>
            <a:pPr algn="r"/>
            <a:r>
              <a:rPr kumimoji="1" lang="en-US" altLang="zh-CN" b="1">
                <a:solidFill>
                  <a:srgbClr val="CC0000"/>
                </a:solidFill>
              </a:rPr>
              <a:t>Splitting operation</a:t>
            </a:r>
            <a:endParaRPr kumimoji="1" lang="en-US" altLang="zh-CN" b="1">
              <a:solidFill>
                <a:srgbClr val="CC0000"/>
              </a:solidFill>
            </a:endParaRPr>
          </a:p>
          <a:p>
            <a:pPr algn="r"/>
            <a:r>
              <a:rPr lang="en-US" altLang="zh-CN">
                <a:solidFill>
                  <a:srgbClr val="CC0000"/>
                </a:solidFill>
              </a:rPr>
              <a:t>Insert 139</a:t>
            </a:r>
            <a:endParaRPr lang="en-US" altLang="zh-CN">
              <a:solidFill>
                <a:srgbClr val="CC0000"/>
              </a:solidFill>
            </a:endParaRPr>
          </a:p>
        </p:txBody>
      </p:sp>
      <p:pic>
        <p:nvPicPr>
          <p:cNvPr id="20787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1663" y="1302544"/>
            <a:ext cx="3053954"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8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3" y="2386013"/>
            <a:ext cx="40005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8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1663" y="3507581"/>
            <a:ext cx="502920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solidFill>
                  <a:schemeClr val="bg1"/>
                </a:solidFill>
                <a:ea typeface="仿宋_GB2312" panose="02010609030101010101" pitchFamily="49" charset="-122"/>
                <a:sym typeface="+mn-ea"/>
              </a:rPr>
              <a:t>Example: Setup of a B-Tree (2-3 tree)</a:t>
            </a:r>
            <a:endParaRPr kumimoji="1" lang="en-US" altLang="zh-CN">
              <a:solidFill>
                <a:schemeClr val="bg1"/>
              </a:solidFill>
              <a:ea typeface="仿宋_GB2312" panose="02010609030101010101" pitchFamily="49" charset="-122"/>
              <a:sym typeface="+mn-ea"/>
            </a:endParaRPr>
          </a:p>
        </p:txBody>
      </p:sp>
      <p:sp>
        <p:nvSpPr>
          <p:cNvPr id="208914" name="Rectangle 18"/>
          <p:cNvSpPr>
            <a:spLocks noChangeArrowheads="1"/>
          </p:cNvSpPr>
          <p:nvPr/>
        </p:nvSpPr>
        <p:spPr bwMode="auto">
          <a:xfrm>
            <a:off x="655955" y="1480185"/>
            <a:ext cx="8014335" cy="5029200"/>
          </a:xfrm>
          <a:prstGeom prst="rect">
            <a:avLst/>
          </a:prstGeom>
          <a:solidFill>
            <a:srgbClr val="FFFF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350"/>
          </a:p>
        </p:txBody>
      </p:sp>
      <p:sp>
        <p:nvSpPr>
          <p:cNvPr id="208923" name="Text Box 27"/>
          <p:cNvSpPr txBox="1">
            <a:spLocks noChangeArrowheads="1"/>
          </p:cNvSpPr>
          <p:nvPr/>
        </p:nvSpPr>
        <p:spPr bwMode="auto">
          <a:xfrm>
            <a:off x="655955" y="1012190"/>
            <a:ext cx="4259580" cy="4857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spcBef>
                <a:spcPct val="50000"/>
              </a:spcBef>
            </a:pPr>
            <a:r>
              <a:rPr kumimoji="1" lang="en-US" altLang="zh-CN" sz="2000" b="1">
                <a:solidFill>
                  <a:srgbClr val="CC0000"/>
                </a:solidFill>
                <a:latin typeface="Times New Roman" panose="02020603050405020304" pitchFamily="18" charset="0"/>
                <a:cs typeface="Times New Roman" panose="02020603050405020304" pitchFamily="18" charset="0"/>
              </a:rPr>
              <a:t>53, 75, 139, 49, 145, 36, 101</a:t>
            </a:r>
            <a:endParaRPr kumimoji="1" lang="en-US" altLang="zh-CN" sz="2000" b="1">
              <a:solidFill>
                <a:srgbClr val="CC0000"/>
              </a:solidFill>
              <a:latin typeface="Times New Roman" panose="02020603050405020304" pitchFamily="18" charset="0"/>
              <a:cs typeface="Times New Roman" panose="02020603050405020304" pitchFamily="18" charset="0"/>
            </a:endParaRPr>
          </a:p>
        </p:txBody>
      </p:sp>
      <p:grpSp>
        <p:nvGrpSpPr>
          <p:cNvPr id="208940" name="Group 44"/>
          <p:cNvGrpSpPr/>
          <p:nvPr/>
        </p:nvGrpSpPr>
        <p:grpSpPr bwMode="auto">
          <a:xfrm>
            <a:off x="841375" y="1480185"/>
            <a:ext cx="7642225" cy="2395220"/>
            <a:chOff x="295" y="663"/>
            <a:chExt cx="5126" cy="1619"/>
          </a:xfrm>
        </p:grpSpPr>
        <p:pic>
          <p:nvPicPr>
            <p:cNvPr id="208915" name="Picture 19"/>
            <p:cNvPicPr>
              <a:picLocks noChangeAspect="1" noChangeArrowheads="1"/>
            </p:cNvPicPr>
            <p:nvPr/>
          </p:nvPicPr>
          <p:blipFill>
            <a:blip r:embed="rId1">
              <a:extLst>
                <a:ext uri="{28A0092B-C50C-407E-A947-70E740481C1C}">
                  <a14:useLocalDpi xmlns:a14="http://schemas.microsoft.com/office/drawing/2010/main" val="0"/>
                </a:ext>
              </a:extLst>
            </a:blip>
            <a:srcRect l="1704" r="2286"/>
            <a:stretch>
              <a:fillRect/>
            </a:stretch>
          </p:blipFill>
          <p:spPr bwMode="auto">
            <a:xfrm>
              <a:off x="295" y="663"/>
              <a:ext cx="5126" cy="1619"/>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918" name="Rectangle 22"/>
            <p:cNvSpPr>
              <a:spLocks noChangeArrowheads="1"/>
            </p:cNvSpPr>
            <p:nvPr/>
          </p:nvSpPr>
          <p:spPr bwMode="auto">
            <a:xfrm>
              <a:off x="622" y="736"/>
              <a:ext cx="372" cy="21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8919" name="Rectangle 23"/>
            <p:cNvSpPr>
              <a:spLocks noChangeArrowheads="1"/>
            </p:cNvSpPr>
            <p:nvPr/>
          </p:nvSpPr>
          <p:spPr bwMode="auto">
            <a:xfrm>
              <a:off x="2173" y="745"/>
              <a:ext cx="372" cy="21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8920" name="Rectangle 24"/>
            <p:cNvSpPr>
              <a:spLocks noChangeArrowheads="1"/>
            </p:cNvSpPr>
            <p:nvPr/>
          </p:nvSpPr>
          <p:spPr bwMode="auto">
            <a:xfrm>
              <a:off x="4169" y="718"/>
              <a:ext cx="372" cy="21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8926" name="Text Box 30"/>
            <p:cNvSpPr txBox="1">
              <a:spLocks noChangeArrowheads="1"/>
            </p:cNvSpPr>
            <p:nvPr/>
          </p:nvSpPr>
          <p:spPr bwMode="auto">
            <a:xfrm>
              <a:off x="401" y="951"/>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8927" name="Text Box 31"/>
            <p:cNvSpPr txBox="1">
              <a:spLocks noChangeArrowheads="1"/>
            </p:cNvSpPr>
            <p:nvPr/>
          </p:nvSpPr>
          <p:spPr bwMode="auto">
            <a:xfrm>
              <a:off x="1831" y="981"/>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2</a:t>
              </a:r>
              <a:endParaRPr lang="en-US" altLang="zh-CN" sz="1200" b="1">
                <a:solidFill>
                  <a:srgbClr val="CC0000"/>
                </a:solidFill>
              </a:endParaRPr>
            </a:p>
          </p:txBody>
        </p:sp>
        <p:sp>
          <p:nvSpPr>
            <p:cNvPr id="208928" name="Text Box 32"/>
            <p:cNvSpPr txBox="1">
              <a:spLocks noChangeArrowheads="1"/>
            </p:cNvSpPr>
            <p:nvPr/>
          </p:nvSpPr>
          <p:spPr bwMode="auto">
            <a:xfrm>
              <a:off x="3651" y="1616"/>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8929" name="Text Box 33"/>
            <p:cNvSpPr txBox="1">
              <a:spLocks noChangeArrowheads="1"/>
            </p:cNvSpPr>
            <p:nvPr/>
          </p:nvSpPr>
          <p:spPr bwMode="auto">
            <a:xfrm>
              <a:off x="4604" y="1616"/>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8930" name="Text Box 34"/>
            <p:cNvSpPr txBox="1">
              <a:spLocks noChangeArrowheads="1"/>
            </p:cNvSpPr>
            <p:nvPr/>
          </p:nvSpPr>
          <p:spPr bwMode="auto">
            <a:xfrm>
              <a:off x="4059" y="935"/>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grpSp>
      <p:grpSp>
        <p:nvGrpSpPr>
          <p:cNvPr id="208938" name="Group 42"/>
          <p:cNvGrpSpPr/>
          <p:nvPr/>
        </p:nvGrpSpPr>
        <p:grpSpPr bwMode="auto">
          <a:xfrm>
            <a:off x="743585" y="3558865"/>
            <a:ext cx="3511550" cy="2567272"/>
            <a:chOff x="295" y="2368"/>
            <a:chExt cx="2355" cy="1735"/>
          </a:xfrm>
        </p:grpSpPr>
        <p:pic>
          <p:nvPicPr>
            <p:cNvPr id="208916"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 y="2492"/>
              <a:ext cx="2355" cy="1611"/>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922" name="Rectangle 26"/>
            <p:cNvSpPr>
              <a:spLocks noChangeArrowheads="1"/>
            </p:cNvSpPr>
            <p:nvPr/>
          </p:nvSpPr>
          <p:spPr bwMode="auto">
            <a:xfrm>
              <a:off x="1003" y="2368"/>
              <a:ext cx="335" cy="21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8931" name="Text Box 35"/>
            <p:cNvSpPr txBox="1">
              <a:spLocks noChangeArrowheads="1"/>
            </p:cNvSpPr>
            <p:nvPr/>
          </p:nvSpPr>
          <p:spPr bwMode="auto">
            <a:xfrm>
              <a:off x="930" y="2800"/>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8932" name="Text Box 36"/>
            <p:cNvSpPr txBox="1">
              <a:spLocks noChangeArrowheads="1"/>
            </p:cNvSpPr>
            <p:nvPr/>
          </p:nvSpPr>
          <p:spPr bwMode="auto">
            <a:xfrm>
              <a:off x="385" y="3249"/>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2</a:t>
              </a:r>
              <a:endParaRPr lang="en-US" altLang="zh-CN" sz="1200" b="1">
                <a:solidFill>
                  <a:srgbClr val="CC0000"/>
                </a:solidFill>
              </a:endParaRPr>
            </a:p>
          </p:txBody>
        </p:sp>
        <p:sp>
          <p:nvSpPr>
            <p:cNvPr id="208933" name="Text Box 37"/>
            <p:cNvSpPr txBox="1">
              <a:spLocks noChangeArrowheads="1"/>
            </p:cNvSpPr>
            <p:nvPr/>
          </p:nvSpPr>
          <p:spPr bwMode="auto">
            <a:xfrm>
              <a:off x="1506" y="3249"/>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2</a:t>
              </a:r>
              <a:endParaRPr lang="en-US" altLang="zh-CN" sz="1200" b="1">
                <a:solidFill>
                  <a:srgbClr val="CC0000"/>
                </a:solidFill>
              </a:endParaRPr>
            </a:p>
          </p:txBody>
        </p:sp>
      </p:grpSp>
      <p:grpSp>
        <p:nvGrpSpPr>
          <p:cNvPr id="208939" name="Group 43"/>
          <p:cNvGrpSpPr/>
          <p:nvPr/>
        </p:nvGrpSpPr>
        <p:grpSpPr bwMode="auto">
          <a:xfrm>
            <a:off x="4631690" y="3952240"/>
            <a:ext cx="3888105" cy="2433320"/>
            <a:chOff x="2880" y="2302"/>
            <a:chExt cx="2608" cy="1645"/>
          </a:xfrm>
        </p:grpSpPr>
        <p:pic>
          <p:nvPicPr>
            <p:cNvPr id="208917"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2302"/>
              <a:ext cx="2608" cy="164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921" name="Rectangle 25"/>
            <p:cNvSpPr>
              <a:spLocks noChangeArrowheads="1"/>
            </p:cNvSpPr>
            <p:nvPr/>
          </p:nvSpPr>
          <p:spPr bwMode="auto">
            <a:xfrm>
              <a:off x="3977" y="2350"/>
              <a:ext cx="303" cy="21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8934" name="Text Box 38"/>
            <p:cNvSpPr txBox="1">
              <a:spLocks noChangeArrowheads="1"/>
            </p:cNvSpPr>
            <p:nvPr/>
          </p:nvSpPr>
          <p:spPr bwMode="auto">
            <a:xfrm>
              <a:off x="3016" y="3218"/>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8935" name="Text Box 39"/>
            <p:cNvSpPr txBox="1">
              <a:spLocks noChangeArrowheads="1"/>
            </p:cNvSpPr>
            <p:nvPr/>
          </p:nvSpPr>
          <p:spPr bwMode="auto">
            <a:xfrm>
              <a:off x="3696" y="3218"/>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8936" name="Text Box 40"/>
            <p:cNvSpPr txBox="1">
              <a:spLocks noChangeArrowheads="1"/>
            </p:cNvSpPr>
            <p:nvPr/>
          </p:nvSpPr>
          <p:spPr bwMode="auto">
            <a:xfrm>
              <a:off x="4371" y="3203"/>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2</a:t>
              </a:r>
              <a:endParaRPr lang="en-US" altLang="zh-CN" sz="1200" b="1">
                <a:solidFill>
                  <a:srgbClr val="CC0000"/>
                </a:solidFill>
              </a:endParaRPr>
            </a:p>
          </p:txBody>
        </p:sp>
        <p:sp>
          <p:nvSpPr>
            <p:cNvPr id="208937" name="Text Box 41"/>
            <p:cNvSpPr txBox="1">
              <a:spLocks noChangeArrowheads="1"/>
            </p:cNvSpPr>
            <p:nvPr/>
          </p:nvSpPr>
          <p:spPr bwMode="auto">
            <a:xfrm>
              <a:off x="3606" y="2568"/>
              <a:ext cx="22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2</a:t>
              </a:r>
              <a:endParaRPr lang="en-US" altLang="zh-CN" sz="1200" b="1">
                <a:solidFill>
                  <a:srgbClr val="CC0000"/>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ea typeface="仿宋_GB2312" panose="02010609030101010101" pitchFamily="49" charset="-122"/>
                <a:sym typeface="+mn-ea"/>
              </a:rPr>
              <a:t>Example: Setup of a B-Tree </a:t>
            </a:r>
            <a:endParaRPr lang="zh-CN" altLang="en-US"/>
          </a:p>
        </p:txBody>
      </p:sp>
      <p:grpSp>
        <p:nvGrpSpPr>
          <p:cNvPr id="209934" name="Group 14"/>
          <p:cNvGrpSpPr/>
          <p:nvPr/>
        </p:nvGrpSpPr>
        <p:grpSpPr bwMode="auto">
          <a:xfrm>
            <a:off x="1949450" y="1664335"/>
            <a:ext cx="5163185" cy="3583940"/>
            <a:chOff x="423" y="602"/>
            <a:chExt cx="2956" cy="2057"/>
          </a:xfrm>
        </p:grpSpPr>
        <p:pic>
          <p:nvPicPr>
            <p:cNvPr id="2099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3" y="602"/>
              <a:ext cx="2956" cy="2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209926" name="Text Box 6"/>
            <p:cNvSpPr txBox="1">
              <a:spLocks noChangeArrowheads="1"/>
            </p:cNvSpPr>
            <p:nvPr/>
          </p:nvSpPr>
          <p:spPr bwMode="auto">
            <a:xfrm>
              <a:off x="431" y="2069"/>
              <a:ext cx="225"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9927" name="Text Box 7"/>
            <p:cNvSpPr txBox="1">
              <a:spLocks noChangeArrowheads="1"/>
            </p:cNvSpPr>
            <p:nvPr/>
          </p:nvSpPr>
          <p:spPr bwMode="auto">
            <a:xfrm>
              <a:off x="1202" y="2069"/>
              <a:ext cx="225"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9928" name="Text Box 8"/>
            <p:cNvSpPr txBox="1">
              <a:spLocks noChangeArrowheads="1"/>
            </p:cNvSpPr>
            <p:nvPr/>
          </p:nvSpPr>
          <p:spPr bwMode="auto">
            <a:xfrm>
              <a:off x="1967" y="2069"/>
              <a:ext cx="225"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9929" name="Text Box 9"/>
            <p:cNvSpPr txBox="1">
              <a:spLocks noChangeArrowheads="1"/>
            </p:cNvSpPr>
            <p:nvPr/>
          </p:nvSpPr>
          <p:spPr bwMode="auto">
            <a:xfrm>
              <a:off x="2738" y="2069"/>
              <a:ext cx="225"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9930" name="Text Box 10"/>
            <p:cNvSpPr txBox="1">
              <a:spLocks noChangeArrowheads="1"/>
            </p:cNvSpPr>
            <p:nvPr/>
          </p:nvSpPr>
          <p:spPr bwMode="auto">
            <a:xfrm>
              <a:off x="697" y="1442"/>
              <a:ext cx="225"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9931" name="Text Box 11"/>
            <p:cNvSpPr txBox="1">
              <a:spLocks noChangeArrowheads="1"/>
            </p:cNvSpPr>
            <p:nvPr/>
          </p:nvSpPr>
          <p:spPr bwMode="auto">
            <a:xfrm>
              <a:off x="2245" y="1442"/>
              <a:ext cx="225"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sp>
          <p:nvSpPr>
            <p:cNvPr id="209932" name="Text Box 12"/>
            <p:cNvSpPr txBox="1">
              <a:spLocks noChangeArrowheads="1"/>
            </p:cNvSpPr>
            <p:nvPr/>
          </p:nvSpPr>
          <p:spPr bwMode="auto">
            <a:xfrm>
              <a:off x="1474" y="835"/>
              <a:ext cx="225"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solidFill>
                    <a:srgbClr val="CC0000"/>
                  </a:solidFill>
                </a:rPr>
                <a:t>1</a:t>
              </a:r>
              <a:endParaRPr lang="en-US" altLang="zh-CN" sz="1200" b="1">
                <a:solidFill>
                  <a:srgbClr val="CC0000"/>
                </a:solidFill>
              </a:endParaRPr>
            </a:p>
          </p:txBody>
        </p:sp>
      </p:grpSp>
      <p:sp>
        <p:nvSpPr>
          <p:cNvPr id="208923" name="Text Box 27"/>
          <p:cNvSpPr txBox="1">
            <a:spLocks noChangeArrowheads="1"/>
          </p:cNvSpPr>
          <p:nvPr/>
        </p:nvSpPr>
        <p:spPr bwMode="auto">
          <a:xfrm>
            <a:off x="655955" y="1012190"/>
            <a:ext cx="4259580" cy="4857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p>
            <a:pPr>
              <a:spcBef>
                <a:spcPct val="50000"/>
              </a:spcBef>
            </a:pPr>
            <a:r>
              <a:rPr kumimoji="1" lang="en-US" altLang="zh-CN" sz="2000" b="1">
                <a:solidFill>
                  <a:srgbClr val="CC0000"/>
                </a:solidFill>
                <a:latin typeface="Times New Roman" panose="02020603050405020304" pitchFamily="18" charset="0"/>
                <a:cs typeface="Times New Roman" panose="02020603050405020304" pitchFamily="18" charset="0"/>
              </a:rPr>
              <a:t>53, 75, 139, 49, 145, 36, 101</a:t>
            </a:r>
            <a:endParaRPr kumimoji="1" lang="en-US" altLang="zh-CN" sz="2000" b="1">
              <a:solidFill>
                <a:srgbClr val="CC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ea typeface="仿宋_GB2312" panose="02010609030101010101" pitchFamily="49" charset="-122"/>
                <a:sym typeface="+mn-ea"/>
              </a:rPr>
              <a:t>Example: Inset </a:t>
            </a:r>
            <a:r>
              <a:rPr kumimoji="1" lang="en-US" altLang="zh-CN">
                <a:ea typeface="仿宋_GB2312" panose="02010609030101010101" pitchFamily="49" charset="-122"/>
                <a:sym typeface="+mn-ea"/>
              </a:rPr>
              <a:t>into a B-Tree </a:t>
            </a:r>
            <a:endParaRPr lang="zh-CN" altLang="en-US"/>
          </a:p>
        </p:txBody>
      </p:sp>
      <p:pic>
        <p:nvPicPr>
          <p:cNvPr id="189442" name="Picture 2" descr="btree_insert11"/>
          <p:cNvPicPr>
            <a:picLocks noChangeAspect="1" noChangeArrowheads="1"/>
          </p:cNvPicPr>
          <p:nvPr/>
        </p:nvPicPr>
        <p:blipFill>
          <a:blip r:embed="rId1">
            <a:extLst>
              <a:ext uri="{28A0092B-C50C-407E-A947-70E740481C1C}">
                <a14:useLocalDpi xmlns:a14="http://schemas.microsoft.com/office/drawing/2010/main" val="0"/>
              </a:ext>
            </a:extLst>
          </a:blip>
          <a:srcRect r="8153" b="63988"/>
          <a:stretch>
            <a:fillRect/>
          </a:stretch>
        </p:blipFill>
        <p:spPr bwMode="auto">
          <a:xfrm>
            <a:off x="149860" y="1531620"/>
            <a:ext cx="8236585" cy="3458210"/>
          </a:xfrm>
          <a:prstGeom prst="rect">
            <a:avLst/>
          </a:prstGeom>
          <a:noFill/>
          <a:effectLst/>
        </p:spPr>
      </p:pic>
      <p:sp>
        <p:nvSpPr>
          <p:cNvPr id="189444" name="Text Box 4"/>
          <p:cNvSpPr txBox="1">
            <a:spLocks noChangeArrowheads="1"/>
          </p:cNvSpPr>
          <p:nvPr/>
        </p:nvSpPr>
        <p:spPr bwMode="auto">
          <a:xfrm>
            <a:off x="725170" y="1050290"/>
            <a:ext cx="5312410" cy="481330"/>
          </a:xfrm>
          <a:prstGeom prst="rect">
            <a:avLst/>
          </a:prstGeom>
          <a:noFill/>
          <a:ln>
            <a:noFill/>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lvl="0" algn="l">
              <a:spcBef>
                <a:spcPct val="50000"/>
              </a:spcBef>
              <a:buClrTx/>
              <a:buSzTx/>
              <a:buFontTx/>
            </a:pPr>
            <a:r>
              <a:rPr kumimoji="1" lang="en-US" altLang="zh-CN" sz="2000" b="1">
                <a:solidFill>
                  <a:srgbClr val="CC0000"/>
                </a:solidFill>
                <a:latin typeface="Times New Roman" panose="02020603050405020304" pitchFamily="18" charset="0"/>
                <a:cs typeface="Times New Roman" panose="02020603050405020304" pitchFamily="18" charset="0"/>
                <a:sym typeface="+mn-ea"/>
              </a:rPr>
              <a:t>插入</a:t>
            </a:r>
            <a:r>
              <a:rPr kumimoji="1" lang="en-US" altLang="zh-CN" sz="2000" b="1">
                <a:solidFill>
                  <a:srgbClr val="CC0000"/>
                </a:solidFill>
                <a:latin typeface="Times New Roman" panose="02020603050405020304" pitchFamily="18" charset="0"/>
                <a:cs typeface="Times New Roman" panose="02020603050405020304" pitchFamily="18" charset="0"/>
                <a:sym typeface="+mn-ea"/>
              </a:rPr>
              <a:t>30</a:t>
            </a:r>
            <a:r>
              <a:rPr kumimoji="1" lang="en-US" altLang="zh-CN" sz="2000" b="1">
                <a:solidFill>
                  <a:srgbClr val="CC0000"/>
                </a:solidFill>
                <a:latin typeface="Times New Roman" panose="02020603050405020304" pitchFamily="18" charset="0"/>
                <a:cs typeface="Times New Roman" panose="02020603050405020304" pitchFamily="18" charset="0"/>
                <a:sym typeface="+mn-ea"/>
              </a:rPr>
              <a:t>，</a:t>
            </a:r>
            <a:r>
              <a:rPr kumimoji="1" lang="en-US" altLang="zh-CN" sz="2000" b="1">
                <a:solidFill>
                  <a:srgbClr val="CC0000"/>
                </a:solidFill>
                <a:latin typeface="Times New Roman" panose="02020603050405020304" pitchFamily="18" charset="0"/>
                <a:cs typeface="Times New Roman" panose="02020603050405020304" pitchFamily="18" charset="0"/>
                <a:sym typeface="+mn-ea"/>
              </a:rPr>
              <a:t>26</a:t>
            </a:r>
            <a:r>
              <a:rPr kumimoji="1" lang="en-US" altLang="zh-CN" sz="2000" b="1">
                <a:solidFill>
                  <a:srgbClr val="CC0000"/>
                </a:solidFill>
                <a:latin typeface="Times New Roman" panose="02020603050405020304" pitchFamily="18" charset="0"/>
                <a:cs typeface="Times New Roman" panose="02020603050405020304" pitchFamily="18" charset="0"/>
                <a:sym typeface="+mn-ea"/>
              </a:rPr>
              <a:t>，</a:t>
            </a:r>
            <a:r>
              <a:rPr kumimoji="1" lang="en-US" altLang="zh-CN" sz="2000" b="1">
                <a:solidFill>
                  <a:srgbClr val="CC0000"/>
                </a:solidFill>
                <a:latin typeface="Times New Roman" panose="02020603050405020304" pitchFamily="18" charset="0"/>
                <a:cs typeface="Times New Roman" panose="02020603050405020304" pitchFamily="18" charset="0"/>
                <a:sym typeface="+mn-ea"/>
              </a:rPr>
              <a:t>85</a:t>
            </a:r>
            <a:r>
              <a:rPr kumimoji="1" lang="en-US" altLang="zh-CN" sz="2000" b="1">
                <a:solidFill>
                  <a:srgbClr val="CC0000"/>
                </a:solidFill>
                <a:latin typeface="Times New Roman" panose="02020603050405020304" pitchFamily="18" charset="0"/>
                <a:cs typeface="Times New Roman" panose="02020603050405020304" pitchFamily="18" charset="0"/>
                <a:sym typeface="+mn-ea"/>
              </a:rPr>
              <a:t>，</a:t>
            </a:r>
            <a:r>
              <a:rPr kumimoji="1" lang="en-US" altLang="zh-CN" sz="2000" b="1">
                <a:solidFill>
                  <a:srgbClr val="CC0000"/>
                </a:solidFill>
                <a:latin typeface="Times New Roman" panose="02020603050405020304" pitchFamily="18" charset="0"/>
                <a:cs typeface="Times New Roman" panose="02020603050405020304" pitchFamily="18" charset="0"/>
                <a:sym typeface="+mn-ea"/>
              </a:rPr>
              <a:t>7</a:t>
            </a:r>
            <a:endParaRPr kumimoji="1" lang="en-US" altLang="zh-CN" sz="2000" b="1">
              <a:solidFill>
                <a:srgbClr val="CC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ea typeface="仿宋_GB2312" panose="02010609030101010101" pitchFamily="49" charset="-122"/>
                <a:sym typeface="+mn-ea"/>
              </a:rPr>
              <a:t>Example: Inset into a B-Tree </a:t>
            </a:r>
            <a:endParaRPr lang="zh-CN" altLang="en-US"/>
          </a:p>
        </p:txBody>
      </p:sp>
      <p:pic>
        <p:nvPicPr>
          <p:cNvPr id="271362" name="Picture 2" descr="btree_insert11"/>
          <p:cNvPicPr>
            <a:picLocks noChangeAspect="1" noChangeArrowheads="1"/>
          </p:cNvPicPr>
          <p:nvPr/>
        </p:nvPicPr>
        <p:blipFill>
          <a:blip r:embed="rId1">
            <a:extLst>
              <a:ext uri="{28A0092B-C50C-407E-A947-70E740481C1C}">
                <a14:useLocalDpi xmlns:a14="http://schemas.microsoft.com/office/drawing/2010/main" val="0"/>
              </a:ext>
            </a:extLst>
          </a:blip>
          <a:srcRect t="36011" r="8153" b="31718"/>
          <a:stretch>
            <a:fillRect/>
          </a:stretch>
        </p:blipFill>
        <p:spPr bwMode="auto">
          <a:xfrm>
            <a:off x="107315" y="1934210"/>
            <a:ext cx="8086725" cy="3042285"/>
          </a:xfrm>
          <a:prstGeom prst="rect">
            <a:avLst/>
          </a:prstGeom>
          <a:noFill/>
          <a:effectLst/>
        </p:spPr>
      </p:pic>
      <p:sp>
        <p:nvSpPr>
          <p:cNvPr id="271363" name="Text Box 3"/>
          <p:cNvSpPr txBox="1">
            <a:spLocks noChangeArrowheads="1"/>
          </p:cNvSpPr>
          <p:nvPr/>
        </p:nvSpPr>
        <p:spPr bwMode="auto">
          <a:xfrm>
            <a:off x="595710" y="1130459"/>
            <a:ext cx="1458515"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插入</a:t>
            </a:r>
            <a:r>
              <a:rPr lang="en-US" altLang="zh-CN" sz="2100" b="1">
                <a:solidFill>
                  <a:srgbClr val="CC0000"/>
                </a:solidFill>
                <a:ea typeface="幼圆" panose="02010509060101010101" pitchFamily="49" charset="-122"/>
                <a:cs typeface="Arial" panose="020B0604020202020204" pitchFamily="34" charset="0"/>
              </a:rPr>
              <a:t>30</a:t>
            </a:r>
            <a:endParaRPr lang="en-US" altLang="zh-CN" sz="2100" b="1">
              <a:solidFill>
                <a:srgbClr val="CC0000"/>
              </a:solidFill>
              <a:ea typeface="幼圆" panose="02010509060101010101" pitchFamily="49" charset="-122"/>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ea typeface="仿宋_GB2312" panose="02010609030101010101" pitchFamily="49" charset="-122"/>
                <a:sym typeface="+mn-ea"/>
              </a:rPr>
              <a:t>Example: Inset into a B-Tree </a:t>
            </a:r>
            <a:endParaRPr lang="zh-CN" altLang="en-US"/>
          </a:p>
        </p:txBody>
      </p:sp>
      <p:grpSp>
        <p:nvGrpSpPr>
          <p:cNvPr id="190469" name="Group 5"/>
          <p:cNvGrpSpPr/>
          <p:nvPr/>
        </p:nvGrpSpPr>
        <p:grpSpPr bwMode="auto">
          <a:xfrm>
            <a:off x="1009650" y="1054735"/>
            <a:ext cx="7125335" cy="5245735"/>
            <a:chOff x="204" y="119"/>
            <a:chExt cx="5398" cy="4047"/>
          </a:xfrm>
          <a:noFill/>
          <a:effectLst/>
        </p:grpSpPr>
        <p:pic>
          <p:nvPicPr>
            <p:cNvPr id="190466" name="Picture 2" descr="btree_insert11"/>
            <p:cNvPicPr>
              <a:picLocks noChangeAspect="1" noChangeArrowheads="1"/>
            </p:cNvPicPr>
            <p:nvPr/>
          </p:nvPicPr>
          <p:blipFill>
            <a:blip r:embed="rId1">
              <a:extLst>
                <a:ext uri="{28A0092B-C50C-407E-A947-70E740481C1C}">
                  <a14:useLocalDpi xmlns:a14="http://schemas.microsoft.com/office/drawing/2010/main" val="0"/>
                </a:ext>
              </a:extLst>
            </a:blip>
            <a:srcRect t="67715" r="6383"/>
            <a:stretch>
              <a:fillRect/>
            </a:stretch>
          </p:blipFill>
          <p:spPr bwMode="auto">
            <a:xfrm>
              <a:off x="204" y="119"/>
              <a:ext cx="5397" cy="1993"/>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pic>
        <p:pic>
          <p:nvPicPr>
            <p:cNvPr id="190468" name="Picture 4" descr="btree_insert12"/>
            <p:cNvPicPr>
              <a:picLocks noChangeAspect="1" noChangeArrowheads="1"/>
            </p:cNvPicPr>
            <p:nvPr/>
          </p:nvPicPr>
          <p:blipFill>
            <a:blip r:embed="rId2">
              <a:extLst>
                <a:ext uri="{28A0092B-C50C-407E-A947-70E740481C1C}">
                  <a14:useLocalDpi xmlns:a14="http://schemas.microsoft.com/office/drawing/2010/main" val="0"/>
                </a:ext>
              </a:extLst>
            </a:blip>
            <a:srcRect l="3297" r="3461" b="50414"/>
            <a:stretch>
              <a:fillRect/>
            </a:stretch>
          </p:blipFill>
          <p:spPr bwMode="auto">
            <a:xfrm>
              <a:off x="204" y="2069"/>
              <a:ext cx="5398" cy="2097"/>
            </a:xfrm>
            <a:prstGeom prst="rect">
              <a:avLst/>
            </a:prstGeom>
            <a:grpFill/>
            <a:ln>
              <a:noFill/>
            </a:ln>
            <a:effectLst/>
            <a:extLst>
              <a:ext uri="{91240B29-F687-4F45-9708-019B960494DF}">
                <a14:hiddenLine xmlns:a14="http://schemas.microsoft.com/office/drawing/2010/main" w="9525">
                  <a:solidFill>
                    <a:srgbClr val="CC0000"/>
                  </a:solidFill>
                  <a:miter lim="800000"/>
                  <a:headEnd/>
                  <a:tailEnd/>
                </a14:hiddenLine>
              </a:ext>
            </a:extLst>
          </p:spPr>
        </p:pic>
      </p:grpSp>
      <p:sp>
        <p:nvSpPr>
          <p:cNvPr id="190467" name="Text Box 3"/>
          <p:cNvSpPr txBox="1">
            <a:spLocks noChangeArrowheads="1"/>
          </p:cNvSpPr>
          <p:nvPr/>
        </p:nvSpPr>
        <p:spPr bwMode="auto">
          <a:xfrm>
            <a:off x="403146" y="1100931"/>
            <a:ext cx="162044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插入</a:t>
            </a:r>
            <a:r>
              <a:rPr lang="en-US" altLang="zh-CN" sz="2100" b="1">
                <a:solidFill>
                  <a:srgbClr val="CC0000"/>
                </a:solidFill>
                <a:ea typeface="幼圆" panose="02010509060101010101" pitchFamily="49" charset="-122"/>
                <a:cs typeface="Arial" panose="020B0604020202020204" pitchFamily="34" charset="0"/>
              </a:rPr>
              <a:t>26</a:t>
            </a:r>
            <a:endParaRPr lang="en-US" altLang="zh-CN" sz="2100" b="1">
              <a:solidFill>
                <a:srgbClr val="CC0000"/>
              </a:solidFill>
              <a:ea typeface="幼圆" panose="02010509060101010101" pitchFamily="49" charset="-122"/>
              <a:cs typeface="Arial" panose="020B0604020202020204" pitchFamily="34" charset="0"/>
            </a:endParaRPr>
          </a:p>
        </p:txBody>
      </p:sp>
      <p:sp>
        <p:nvSpPr>
          <p:cNvPr id="190470" name="Oval 6"/>
          <p:cNvSpPr>
            <a:spLocks noChangeArrowheads="1"/>
          </p:cNvSpPr>
          <p:nvPr/>
        </p:nvSpPr>
        <p:spPr bwMode="auto">
          <a:xfrm>
            <a:off x="2905760" y="5080000"/>
            <a:ext cx="253365" cy="227330"/>
          </a:xfrm>
          <a:prstGeom prst="ellipse">
            <a:avLst/>
          </a:prstGeom>
          <a:solidFill>
            <a:srgbClr val="FF5050">
              <a:alpha val="30000"/>
            </a:srgbClr>
          </a:solidFill>
          <a:ln w="38100" algn="ctr">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ea typeface="仿宋_GB2312" panose="02010609030101010101" pitchFamily="49" charset="-122"/>
                <a:sym typeface="+mn-ea"/>
              </a:rPr>
              <a:t>Example: Inset into a B-Tree </a:t>
            </a:r>
            <a:endParaRPr lang="zh-CN" altLang="en-US"/>
          </a:p>
        </p:txBody>
      </p:sp>
      <p:grpSp>
        <p:nvGrpSpPr>
          <p:cNvPr id="191493" name="Group 5"/>
          <p:cNvGrpSpPr/>
          <p:nvPr/>
        </p:nvGrpSpPr>
        <p:grpSpPr bwMode="auto">
          <a:xfrm>
            <a:off x="1252220" y="998855"/>
            <a:ext cx="6457950" cy="5220335"/>
            <a:chOff x="431" y="119"/>
            <a:chExt cx="4944" cy="4043"/>
          </a:xfrm>
          <a:noFill/>
        </p:grpSpPr>
        <p:pic>
          <p:nvPicPr>
            <p:cNvPr id="191490" name="Picture 2" descr="btree_insert12"/>
            <p:cNvPicPr>
              <a:picLocks noChangeAspect="1" noChangeArrowheads="1"/>
            </p:cNvPicPr>
            <p:nvPr/>
          </p:nvPicPr>
          <p:blipFill>
            <a:blip r:embed="rId1">
              <a:extLst>
                <a:ext uri="{28A0092B-C50C-407E-A947-70E740481C1C}">
                  <a14:useLocalDpi xmlns:a14="http://schemas.microsoft.com/office/drawing/2010/main" val="0"/>
                </a:ext>
              </a:extLst>
            </a:blip>
            <a:srcRect l="4869" t="50650" r="9731"/>
            <a:stretch>
              <a:fillRect/>
            </a:stretch>
          </p:blipFill>
          <p:spPr bwMode="auto">
            <a:xfrm>
              <a:off x="431" y="119"/>
              <a:ext cx="4944" cy="2087"/>
            </a:xfrm>
            <a:prstGeom prst="rect">
              <a:avLst/>
            </a:prstGeom>
            <a:noFill/>
            <a:effectLst/>
          </p:spPr>
        </p:pic>
        <p:pic>
          <p:nvPicPr>
            <p:cNvPr id="191492" name="Picture 4" descr="btree_insert21"/>
            <p:cNvPicPr>
              <a:picLocks noChangeAspect="1" noChangeArrowheads="1"/>
            </p:cNvPicPr>
            <p:nvPr/>
          </p:nvPicPr>
          <p:blipFill>
            <a:blip r:embed="rId2">
              <a:extLst>
                <a:ext uri="{28A0092B-C50C-407E-A947-70E740481C1C}">
                  <a14:useLocalDpi xmlns:a14="http://schemas.microsoft.com/office/drawing/2010/main" val="0"/>
                </a:ext>
              </a:extLst>
            </a:blip>
            <a:srcRect l="5876" r="4617" b="68100"/>
            <a:stretch>
              <a:fillRect/>
            </a:stretch>
          </p:blipFill>
          <p:spPr bwMode="auto">
            <a:xfrm>
              <a:off x="431" y="2205"/>
              <a:ext cx="4944" cy="1957"/>
            </a:xfrm>
            <a:prstGeom prst="rect">
              <a:avLst/>
            </a:prstGeom>
            <a:grpFill/>
            <a:effectLst/>
          </p:spPr>
        </p:pic>
      </p:grpSp>
      <p:sp>
        <p:nvSpPr>
          <p:cNvPr id="191491" name="Text Box 3"/>
          <p:cNvSpPr txBox="1">
            <a:spLocks noChangeArrowheads="1"/>
          </p:cNvSpPr>
          <p:nvPr/>
        </p:nvSpPr>
        <p:spPr bwMode="auto">
          <a:xfrm>
            <a:off x="225743" y="1150620"/>
            <a:ext cx="1674019"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插入</a:t>
            </a:r>
            <a:r>
              <a:rPr lang="en-US" altLang="zh-CN" sz="2100" b="1">
                <a:solidFill>
                  <a:srgbClr val="CC0000"/>
                </a:solidFill>
                <a:ea typeface="幼圆" panose="02010509060101010101" pitchFamily="49" charset="-122"/>
                <a:cs typeface="Arial" panose="020B0604020202020204" pitchFamily="34" charset="0"/>
              </a:rPr>
              <a:t>85</a:t>
            </a:r>
            <a:endParaRPr lang="en-US" altLang="zh-CN" sz="2100" b="1">
              <a:solidFill>
                <a:srgbClr val="CC0000"/>
              </a:solidFill>
              <a:ea typeface="幼圆" panose="02010509060101010101" pitchFamily="49" charset="-122"/>
              <a:cs typeface="Arial" panose="020B0604020202020204" pitchFamily="34" charset="0"/>
            </a:endParaRPr>
          </a:p>
        </p:txBody>
      </p:sp>
      <p:sp>
        <p:nvSpPr>
          <p:cNvPr id="191494" name="Text Box 6"/>
          <p:cNvSpPr txBox="1">
            <a:spLocks noChangeArrowheads="1"/>
          </p:cNvSpPr>
          <p:nvPr/>
        </p:nvSpPr>
        <p:spPr bwMode="auto">
          <a:xfrm>
            <a:off x="6192679" y="4539139"/>
            <a:ext cx="1296591"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100" b="1">
                <a:solidFill>
                  <a:srgbClr val="CC0000"/>
                </a:solidFill>
                <a:ea typeface="幼圆" panose="02010509060101010101" pitchFamily="49" charset="-122"/>
                <a:cs typeface="Arial" panose="020B0604020202020204" pitchFamily="34" charset="0"/>
              </a:rPr>
              <a:t>70</a:t>
            </a:r>
            <a:r>
              <a:rPr lang="zh-CN" altLang="en-US" sz="2100" b="1">
                <a:solidFill>
                  <a:srgbClr val="CC0000"/>
                </a:solidFill>
                <a:ea typeface="幼圆" panose="02010509060101010101" pitchFamily="49" charset="-122"/>
                <a:cs typeface="Arial" panose="020B0604020202020204" pitchFamily="34" charset="0"/>
              </a:rPr>
              <a:t>上升</a:t>
            </a:r>
            <a:endParaRPr lang="zh-CN" altLang="en-US" sz="2100" b="1">
              <a:solidFill>
                <a:srgbClr val="CC0000"/>
              </a:solidFill>
              <a:ea typeface="幼圆" panose="02010509060101010101" pitchFamily="49" charset="-122"/>
              <a:cs typeface="Arial" panose="020B0604020202020204" pitchFamily="34" charset="0"/>
            </a:endParaRPr>
          </a:p>
        </p:txBody>
      </p:sp>
      <p:sp>
        <p:nvSpPr>
          <p:cNvPr id="191496" name="AutoShape 8"/>
          <p:cNvSpPr>
            <a:spLocks noChangeArrowheads="1"/>
          </p:cNvSpPr>
          <p:nvPr/>
        </p:nvSpPr>
        <p:spPr bwMode="auto">
          <a:xfrm>
            <a:off x="6624638" y="4953159"/>
            <a:ext cx="432197" cy="378619"/>
          </a:xfrm>
          <a:prstGeom prst="rightArrow">
            <a:avLst>
              <a:gd name="adj1" fmla="val 50000"/>
              <a:gd name="adj2" fmla="val 2853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91497" name="Oval 9"/>
          <p:cNvSpPr>
            <a:spLocks noChangeArrowheads="1"/>
          </p:cNvSpPr>
          <p:nvPr/>
        </p:nvSpPr>
        <p:spPr bwMode="auto">
          <a:xfrm>
            <a:off x="5689600" y="5011420"/>
            <a:ext cx="285750" cy="264795"/>
          </a:xfrm>
          <a:prstGeom prst="ellipse">
            <a:avLst/>
          </a:prstGeom>
          <a:solidFill>
            <a:srgbClr val="FF5050">
              <a:alpha val="30000"/>
            </a:srgbClr>
          </a:solidFill>
          <a:ln w="38100" algn="ctr">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ea typeface="仿宋_GB2312" panose="02010609030101010101" pitchFamily="49" charset="-122"/>
                <a:sym typeface="+mn-ea"/>
              </a:rPr>
              <a:t>Example: Inset into a B-Tree </a:t>
            </a:r>
            <a:endParaRPr lang="zh-CN" altLang="en-US"/>
          </a:p>
        </p:txBody>
      </p:sp>
      <p:pic>
        <p:nvPicPr>
          <p:cNvPr id="192514" name="Picture 2" descr="btree_insert21"/>
          <p:cNvPicPr>
            <a:picLocks noChangeAspect="1" noChangeArrowheads="1"/>
          </p:cNvPicPr>
          <p:nvPr/>
        </p:nvPicPr>
        <p:blipFill>
          <a:blip r:embed="rId1">
            <a:extLst>
              <a:ext uri="{28A0092B-C50C-407E-A947-70E740481C1C}">
                <a14:useLocalDpi xmlns:a14="http://schemas.microsoft.com/office/drawing/2010/main" val="0"/>
              </a:ext>
            </a:extLst>
          </a:blip>
          <a:srcRect l="4225" t="31502" r="1651" b="37141"/>
          <a:stretch>
            <a:fillRect/>
          </a:stretch>
        </p:blipFill>
        <p:spPr bwMode="auto">
          <a:xfrm>
            <a:off x="1494149" y="1022984"/>
            <a:ext cx="6193800" cy="2290956"/>
          </a:xfrm>
          <a:prstGeom prst="rect">
            <a:avLst/>
          </a:prstGeom>
          <a:noFill/>
          <a:effectLst/>
        </p:spPr>
      </p:pic>
      <p:sp>
        <p:nvSpPr>
          <p:cNvPr id="192515" name="Text Box 3"/>
          <p:cNvSpPr txBox="1">
            <a:spLocks noChangeArrowheads="1"/>
          </p:cNvSpPr>
          <p:nvPr/>
        </p:nvSpPr>
        <p:spPr bwMode="auto">
          <a:xfrm>
            <a:off x="5705475" y="1191816"/>
            <a:ext cx="1890713"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100" b="1">
                <a:solidFill>
                  <a:srgbClr val="CC0000"/>
                </a:solidFill>
                <a:ea typeface="幼圆" panose="02010509060101010101" pitchFamily="49" charset="-122"/>
                <a:cs typeface="Arial" panose="020B0604020202020204" pitchFamily="34" charset="0"/>
              </a:rPr>
              <a:t>70</a:t>
            </a:r>
            <a:r>
              <a:rPr lang="zh-CN" altLang="en-US" sz="2100" b="1">
                <a:solidFill>
                  <a:srgbClr val="CC0000"/>
                </a:solidFill>
                <a:ea typeface="幼圆" panose="02010509060101010101" pitchFamily="49" charset="-122"/>
                <a:cs typeface="Arial" panose="020B0604020202020204" pitchFamily="34" charset="0"/>
              </a:rPr>
              <a:t>继续上升</a:t>
            </a:r>
            <a:endParaRPr lang="zh-CN" altLang="en-US" sz="2100" b="1">
              <a:solidFill>
                <a:srgbClr val="CC0000"/>
              </a:solidFill>
              <a:ea typeface="幼圆" panose="02010509060101010101" pitchFamily="49" charset="-122"/>
              <a:cs typeface="Arial" panose="020B0604020202020204" pitchFamily="34" charset="0"/>
            </a:endParaRPr>
          </a:p>
        </p:txBody>
      </p:sp>
      <p:sp>
        <p:nvSpPr>
          <p:cNvPr id="192516" name="Oval 4"/>
          <p:cNvSpPr>
            <a:spLocks noChangeArrowheads="1"/>
          </p:cNvSpPr>
          <p:nvPr/>
        </p:nvSpPr>
        <p:spPr bwMode="auto">
          <a:xfrm>
            <a:off x="4525566" y="1514079"/>
            <a:ext cx="215503" cy="215503"/>
          </a:xfrm>
          <a:prstGeom prst="ellipse">
            <a:avLst/>
          </a:prstGeom>
          <a:solidFill>
            <a:srgbClr val="FF5050">
              <a:alpha val="30000"/>
            </a:srgbClr>
          </a:solidFill>
          <a:ln w="38100" algn="ctr">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pic>
        <p:nvPicPr>
          <p:cNvPr id="192517" name="Picture 5" descr="btree_insert21"/>
          <p:cNvPicPr>
            <a:picLocks noChangeAspect="1" noChangeArrowheads="1"/>
          </p:cNvPicPr>
          <p:nvPr/>
        </p:nvPicPr>
        <p:blipFill>
          <a:blip r:embed="rId1">
            <a:extLst>
              <a:ext uri="{28A0092B-C50C-407E-A947-70E740481C1C}">
                <a14:useLocalDpi xmlns:a14="http://schemas.microsoft.com/office/drawing/2010/main" val="0"/>
              </a:ext>
            </a:extLst>
          </a:blip>
          <a:srcRect l="3995" t="65080" r="1816"/>
          <a:stretch>
            <a:fillRect/>
          </a:stretch>
        </p:blipFill>
        <p:spPr bwMode="auto">
          <a:xfrm>
            <a:off x="1493639" y="3491106"/>
            <a:ext cx="6194822" cy="2550319"/>
          </a:xfrm>
          <a:prstGeom prst="rect">
            <a:avLst/>
          </a:prstGeom>
          <a:noFill/>
          <a:effectLst/>
        </p:spPr>
      </p:pic>
      <p:sp>
        <p:nvSpPr>
          <p:cNvPr id="192518" name="Text Box 6"/>
          <p:cNvSpPr txBox="1">
            <a:spLocks noChangeArrowheads="1"/>
          </p:cNvSpPr>
          <p:nvPr/>
        </p:nvSpPr>
        <p:spPr bwMode="auto">
          <a:xfrm>
            <a:off x="1763316" y="3760708"/>
            <a:ext cx="1512094"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插入</a:t>
            </a:r>
            <a:r>
              <a:rPr lang="en-US" altLang="zh-CN" sz="2100" b="1">
                <a:solidFill>
                  <a:srgbClr val="CC0000"/>
                </a:solidFill>
                <a:ea typeface="幼圆" panose="02010509060101010101" pitchFamily="49" charset="-122"/>
                <a:cs typeface="Arial" panose="020B0604020202020204" pitchFamily="34" charset="0"/>
              </a:rPr>
              <a:t>7</a:t>
            </a:r>
            <a:endParaRPr lang="en-US" altLang="zh-CN" sz="2100" b="1">
              <a:solidFill>
                <a:srgbClr val="CC0000"/>
              </a:solidFill>
              <a:ea typeface="幼圆" panose="02010509060101010101" pitchFamily="49" charset="-122"/>
              <a:cs typeface="Arial" panose="020B0604020202020204" pitchFamily="34" charset="0"/>
            </a:endParaRPr>
          </a:p>
        </p:txBody>
      </p:sp>
      <p:sp>
        <p:nvSpPr>
          <p:cNvPr id="192519" name="Text Box 7"/>
          <p:cNvSpPr txBox="1">
            <a:spLocks noChangeArrowheads="1"/>
          </p:cNvSpPr>
          <p:nvPr/>
        </p:nvSpPr>
        <p:spPr bwMode="auto">
          <a:xfrm>
            <a:off x="1534716" y="4733449"/>
            <a:ext cx="1254919"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100" b="1">
                <a:solidFill>
                  <a:srgbClr val="CC0000"/>
                </a:solidFill>
                <a:ea typeface="幼圆" panose="02010509060101010101" pitchFamily="49" charset="-122"/>
                <a:cs typeface="Arial" panose="020B0604020202020204" pitchFamily="34" charset="0"/>
              </a:rPr>
              <a:t>7</a:t>
            </a:r>
            <a:r>
              <a:rPr lang="zh-CN" altLang="en-US" sz="2100" b="1">
                <a:solidFill>
                  <a:srgbClr val="CC0000"/>
                </a:solidFill>
                <a:ea typeface="幼圆" panose="02010509060101010101" pitchFamily="49" charset="-122"/>
                <a:cs typeface="Arial" panose="020B0604020202020204" pitchFamily="34" charset="0"/>
              </a:rPr>
              <a:t>上升</a:t>
            </a:r>
            <a:endParaRPr lang="zh-CN" altLang="en-US" sz="2100" b="1">
              <a:solidFill>
                <a:srgbClr val="CC0000"/>
              </a:solidFill>
              <a:ea typeface="幼圆" panose="02010509060101010101" pitchFamily="49" charset="-122"/>
              <a:cs typeface="Arial" panose="020B0604020202020204" pitchFamily="34" charset="0"/>
            </a:endParaRPr>
          </a:p>
        </p:txBody>
      </p:sp>
      <p:sp>
        <p:nvSpPr>
          <p:cNvPr id="192520" name="Oval 8"/>
          <p:cNvSpPr>
            <a:spLocks noChangeArrowheads="1"/>
          </p:cNvSpPr>
          <p:nvPr/>
        </p:nvSpPr>
        <p:spPr bwMode="auto">
          <a:xfrm>
            <a:off x="2587705" y="4776311"/>
            <a:ext cx="215503" cy="215504"/>
          </a:xfrm>
          <a:prstGeom prst="ellipse">
            <a:avLst/>
          </a:prstGeom>
          <a:solidFill>
            <a:srgbClr val="FF5050">
              <a:alpha val="30000"/>
            </a:srgbClr>
          </a:solidFill>
          <a:ln w="38100" algn="ctr">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ea typeface="仿宋_GB2312" panose="02010609030101010101" pitchFamily="49" charset="-122"/>
                <a:sym typeface="+mn-ea"/>
              </a:rPr>
              <a:t>Example: Inset into a B-Tree </a:t>
            </a:r>
            <a:endParaRPr lang="zh-CN" altLang="en-US"/>
          </a:p>
        </p:txBody>
      </p:sp>
      <p:pic>
        <p:nvPicPr>
          <p:cNvPr id="194562" name="Picture 2" descr="btree_insert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7541" y="1111806"/>
            <a:ext cx="6629400" cy="4914900"/>
          </a:xfrm>
          <a:prstGeom prst="rect">
            <a:avLst/>
          </a:prstGeom>
          <a:noFill/>
          <a:effectLst/>
        </p:spPr>
      </p:pic>
      <p:sp>
        <p:nvSpPr>
          <p:cNvPr id="194564" name="Text Box 4"/>
          <p:cNvSpPr txBox="1">
            <a:spLocks noChangeArrowheads="1"/>
          </p:cNvSpPr>
          <p:nvPr/>
        </p:nvSpPr>
        <p:spPr bwMode="auto">
          <a:xfrm>
            <a:off x="2303860" y="3650218"/>
            <a:ext cx="101600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100" b="1">
                <a:solidFill>
                  <a:srgbClr val="CC0000"/>
                </a:solidFill>
                <a:ea typeface="幼圆" panose="02010509060101010101" pitchFamily="49" charset="-122"/>
                <a:cs typeface="Arial" panose="020B0604020202020204" pitchFamily="34" charset="0"/>
              </a:rPr>
              <a:t>45</a:t>
            </a:r>
            <a:r>
              <a:rPr lang="zh-CN" altLang="en-US" sz="2100" b="1">
                <a:solidFill>
                  <a:srgbClr val="CC0000"/>
                </a:solidFill>
                <a:ea typeface="幼圆" panose="02010509060101010101" pitchFamily="49" charset="-122"/>
                <a:cs typeface="Arial" panose="020B0604020202020204" pitchFamily="34" charset="0"/>
              </a:rPr>
              <a:t>上升</a:t>
            </a:r>
            <a:endParaRPr lang="zh-CN" altLang="en-US" sz="2100" b="1">
              <a:solidFill>
                <a:srgbClr val="CC0000"/>
              </a:solidFill>
              <a:ea typeface="幼圆" panose="02010509060101010101" pitchFamily="49" charset="-122"/>
              <a:cs typeface="Arial" panose="020B0604020202020204" pitchFamily="34" charset="0"/>
            </a:endParaRPr>
          </a:p>
        </p:txBody>
      </p:sp>
      <p:sp>
        <p:nvSpPr>
          <p:cNvPr id="194565" name="Text Box 5"/>
          <p:cNvSpPr txBox="1">
            <a:spLocks noChangeArrowheads="1"/>
          </p:cNvSpPr>
          <p:nvPr/>
        </p:nvSpPr>
        <p:spPr bwMode="auto">
          <a:xfrm>
            <a:off x="5057775" y="3369231"/>
            <a:ext cx="1835944"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新的根结点</a:t>
            </a:r>
            <a:endParaRPr lang="zh-CN" altLang="en-US" sz="2100" b="1">
              <a:solidFill>
                <a:srgbClr val="CC0000"/>
              </a:solidFill>
              <a:ea typeface="幼圆" panose="02010509060101010101" pitchFamily="49" charset="-122"/>
              <a:cs typeface="Arial" panose="020B0604020202020204" pitchFamily="34" charset="0"/>
            </a:endParaRPr>
          </a:p>
        </p:txBody>
      </p:sp>
      <p:sp>
        <p:nvSpPr>
          <p:cNvPr id="194566" name="Text Box 6"/>
          <p:cNvSpPr txBox="1">
            <a:spLocks noChangeArrowheads="1"/>
          </p:cNvSpPr>
          <p:nvPr/>
        </p:nvSpPr>
        <p:spPr bwMode="auto">
          <a:xfrm>
            <a:off x="1439466" y="1490425"/>
            <a:ext cx="101600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100" b="1">
                <a:solidFill>
                  <a:srgbClr val="CC0000"/>
                </a:solidFill>
                <a:ea typeface="幼圆" panose="02010509060101010101" pitchFamily="49" charset="-122"/>
                <a:cs typeface="Arial" panose="020B0604020202020204" pitchFamily="34" charset="0"/>
              </a:rPr>
              <a:t>24</a:t>
            </a:r>
            <a:r>
              <a:rPr lang="zh-CN" altLang="en-US" sz="2100" b="1">
                <a:solidFill>
                  <a:srgbClr val="CC0000"/>
                </a:solidFill>
                <a:ea typeface="幼圆" panose="02010509060101010101" pitchFamily="49" charset="-122"/>
                <a:cs typeface="Arial" panose="020B0604020202020204" pitchFamily="34" charset="0"/>
              </a:rPr>
              <a:t>上升</a:t>
            </a:r>
            <a:endParaRPr lang="zh-CN" altLang="en-US" sz="2100" b="1">
              <a:solidFill>
                <a:srgbClr val="CC0000"/>
              </a:solidFill>
              <a:ea typeface="幼圆" panose="02010509060101010101" pitchFamily="49" charset="-122"/>
              <a:cs typeface="Arial" panose="020B0604020202020204" pitchFamily="34" charset="0"/>
            </a:endParaRPr>
          </a:p>
        </p:txBody>
      </p:sp>
      <p:sp>
        <p:nvSpPr>
          <p:cNvPr id="194567" name="Oval 7"/>
          <p:cNvSpPr>
            <a:spLocks noChangeArrowheads="1"/>
          </p:cNvSpPr>
          <p:nvPr/>
        </p:nvSpPr>
        <p:spPr bwMode="auto">
          <a:xfrm>
            <a:off x="4174808" y="1613059"/>
            <a:ext cx="215504" cy="215504"/>
          </a:xfrm>
          <a:prstGeom prst="ellipse">
            <a:avLst/>
          </a:prstGeom>
          <a:solidFill>
            <a:srgbClr val="FF5050">
              <a:alpha val="30000"/>
            </a:srgbClr>
          </a:solidFill>
          <a:ln w="38100" algn="ctr">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194568" name="Oval 8"/>
          <p:cNvSpPr>
            <a:spLocks noChangeArrowheads="1"/>
          </p:cNvSpPr>
          <p:nvPr/>
        </p:nvSpPr>
        <p:spPr bwMode="auto">
          <a:xfrm>
            <a:off x="4518422" y="3885962"/>
            <a:ext cx="215503" cy="215503"/>
          </a:xfrm>
          <a:prstGeom prst="ellipse">
            <a:avLst/>
          </a:prstGeom>
          <a:solidFill>
            <a:srgbClr val="FF5050">
              <a:alpha val="30000"/>
            </a:srgbClr>
          </a:solidFill>
          <a:ln w="38100" algn="ctr">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ext Box 2"/>
          <p:cNvSpPr txBox="1">
            <a:spLocks noChangeArrowheads="1"/>
          </p:cNvSpPr>
          <p:nvPr/>
        </p:nvSpPr>
        <p:spPr bwMode="auto">
          <a:xfrm>
            <a:off x="452120" y="308610"/>
            <a:ext cx="8208645" cy="623062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//算法如下：</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Status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sym typeface="Symbol" panose="05050102010706020507" pitchFamily="18" charset="2"/>
              </a:rPr>
              <a:t>InsertBTree</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BTree</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*T,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KeyType</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k,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Btree</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q,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Symbol" panose="05050102010706020507" pitchFamily="18" charset="2"/>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i</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    /*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在</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上结点*</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q</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的</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key[</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i</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和</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key[</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i+1</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之间插入关键字</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k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KeyType</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x;</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BTree</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ap</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int</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s;</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x = k;</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ap</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 NULL;</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finished = FALSE;</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Symbol" panose="05050102010706020507" pitchFamily="18" charset="2"/>
              </a:rPr>
              <a:t>while</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(q &amp;&amp; !finished) {</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将</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x</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和</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ap</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分别插入到</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q-&gt;key[i+1]</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和</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q-&gt;</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ptr</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Symbol" panose="05050102010706020507" pitchFamily="18" charset="2"/>
              </a:rPr>
              <a:t>[i+1]*/</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marL="457200" lvl="1" indent="457200">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Insert(q,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i</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x, </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ap</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Symbol" panose="05050102010706020507" pitchFamily="18" charset="2"/>
              </a:rPr>
              <a:t>if</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(q-&gt;</a:t>
            </a:r>
            <a:r>
              <a:rPr kumimoji="1" lang="en-US" altLang="zh-CN" dirty="0" err="1">
                <a:latin typeface="Consolas" panose="020B0609020204030204" charset="0"/>
                <a:ea typeface="幼圆" panose="02010509060101010101" pitchFamily="49" charset="-122"/>
                <a:cs typeface="Consolas" panose="020B0609020204030204" charset="0"/>
                <a:sym typeface="Symbol" panose="05050102010706020507" pitchFamily="18" charset="2"/>
              </a:rPr>
              <a:t>keyNum</a:t>
            </a: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&lt; m)</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rPr>
              <a:t>            finished = TRUE;</a:t>
            </a:r>
            <a:endParaRPr kumimoji="1" lang="en-US" altLang="zh-CN" dirty="0">
              <a:latin typeface="Consolas" panose="020B0609020204030204" charset="0"/>
              <a:ea typeface="幼圆" panose="02010509060101010101" pitchFamily="49" charset="-122"/>
              <a:cs typeface="Consolas" panose="020B0609020204030204" charset="0"/>
              <a:sym typeface="Symbol" panose="05050102010706020507" pitchFamily="18" charset="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
          <p:cNvSpPr txBox="1">
            <a:spLocks noChangeArrowheads="1"/>
          </p:cNvSpPr>
          <p:nvPr/>
        </p:nvSpPr>
        <p:spPr bwMode="auto">
          <a:xfrm>
            <a:off x="546735" y="376555"/>
            <a:ext cx="8120380" cy="591756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s = m/2 +1;</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split(q, </a:t>
            </a:r>
            <a:r>
              <a:rPr kumimoji="1" lang="en-US" altLang="zh-CN" dirty="0" err="1">
                <a:latin typeface="Consolas" panose="020B0609020204030204" charset="0"/>
                <a:ea typeface="幼圆" panose="02010509060101010101" pitchFamily="49" charset="-122"/>
                <a:cs typeface="Consolas" panose="020B0609020204030204" charset="0"/>
              </a:rPr>
              <a:t>ap</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x = q-&gt;key[s];</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q = q-&gt;parent;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(q)</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 = Search(</a:t>
            </a:r>
            <a:r>
              <a:rPr kumimoji="1" lang="en-US" altLang="zh-CN" dirty="0" err="1">
                <a:latin typeface="Consolas" panose="020B0609020204030204" charset="0"/>
                <a:ea typeface="幼圆" panose="02010509060101010101" pitchFamily="49" charset="-122"/>
                <a:cs typeface="Consolas" panose="020B0609020204030204" charset="0"/>
              </a:rPr>
              <a:t>q,x</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在双亲结点中查找</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x</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的插入位置*</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(!finished)	</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nSpc>
                <a:spcPct val="13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是空树</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参数</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q</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初值为</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NULL)</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或者根结点已分裂为结点*</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q</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和*</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ap</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NewRoot</a:t>
            </a:r>
            <a:r>
              <a:rPr kumimoji="1" lang="en-US" altLang="zh-CN" dirty="0">
                <a:latin typeface="Consolas" panose="020B0609020204030204" charset="0"/>
                <a:ea typeface="幼圆" panose="02010509060101010101" pitchFamily="49" charset="-122"/>
                <a:cs typeface="Consolas" panose="020B0609020204030204" charset="0"/>
              </a:rPr>
              <a:t>(T, q, x, </a:t>
            </a:r>
            <a:r>
              <a:rPr kumimoji="1" lang="en-US" altLang="zh-CN" dirty="0" err="1">
                <a:latin typeface="Consolas" panose="020B0609020204030204" charset="0"/>
                <a:ea typeface="幼圆" panose="02010509060101010101" pitchFamily="49" charset="-122"/>
                <a:cs typeface="Consolas" panose="020B0609020204030204" charset="0"/>
              </a:rPr>
              <a:t>ap</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nSpc>
                <a:spcPct val="13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生成含信息</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(T, x, </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ap</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的新的根结点*</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原</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和</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ap</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为子树指针*</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sp>
        <p:nvSpPr>
          <p:cNvPr id="197634" name="Text Box 2"/>
          <p:cNvSpPr txBox="1">
            <a:spLocks noChangeArrowheads="1"/>
          </p:cNvSpPr>
          <p:nvPr/>
        </p:nvSpPr>
        <p:spPr bwMode="auto">
          <a:xfrm>
            <a:off x="514350" y="1138555"/>
            <a:ext cx="8282305" cy="495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5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下面讨论</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删除</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的情况</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首先找到该关键字所在结点，并从中删除之，若该结点为最下层的非终端结点，且其中的关键字数目不少于</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，则删除完成，否则要进行</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“合并结点”</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的操作。</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42900" indent="-342900">
              <a:lnSpc>
                <a:spcPct val="15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假若所删关键字为非终端结点中的</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，则可以用指针</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所指子树中最小关键字</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Y</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替代</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，然后在相应的结点中删去</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Y</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而</a:t>
            </a: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Y</a:t>
            </a:r>
            <a:r>
              <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肯定在最下层的结点中，</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因此下面只需讨论删除最下层非终端结点中关键字的情形，这有三种可能：</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pic>
        <p:nvPicPr>
          <p:cNvPr id="272388" name="Picture 4" descr="btree_insert11"/>
          <p:cNvPicPr>
            <a:picLocks noChangeAspect="1" noChangeArrowheads="1"/>
          </p:cNvPicPr>
          <p:nvPr/>
        </p:nvPicPr>
        <p:blipFill>
          <a:blip r:embed="rId1">
            <a:extLst>
              <a:ext uri="{28A0092B-C50C-407E-A947-70E740481C1C}">
                <a14:useLocalDpi xmlns:a14="http://schemas.microsoft.com/office/drawing/2010/main" val="0"/>
              </a:ext>
            </a:extLst>
          </a:blip>
          <a:srcRect t="2948" r="8153" b="63988"/>
          <a:stretch>
            <a:fillRect/>
          </a:stretch>
        </p:blipFill>
        <p:spPr bwMode="auto">
          <a:xfrm>
            <a:off x="1420416" y="2456892"/>
            <a:ext cx="6304359" cy="2430065"/>
          </a:xfrm>
          <a:prstGeom prst="rect">
            <a:avLst/>
          </a:prstGeom>
          <a:noFill/>
          <a:effectLst/>
        </p:spPr>
      </p:pic>
      <p:sp>
        <p:nvSpPr>
          <p:cNvPr id="272389" name="Oval 5"/>
          <p:cNvSpPr>
            <a:spLocks noChangeArrowheads="1"/>
          </p:cNvSpPr>
          <p:nvPr/>
        </p:nvSpPr>
        <p:spPr bwMode="auto">
          <a:xfrm>
            <a:off x="2844404" y="4401182"/>
            <a:ext cx="269081" cy="270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72390" name="Text Box 6"/>
          <p:cNvSpPr txBox="1">
            <a:spLocks noChangeArrowheads="1"/>
          </p:cNvSpPr>
          <p:nvPr/>
        </p:nvSpPr>
        <p:spPr bwMode="auto">
          <a:xfrm>
            <a:off x="597535" y="1036320"/>
            <a:ext cx="8199755"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457200" indent="-4572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被删关键字所在结点的关键字数目不小于</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，则只需从该结点中删去该关键字</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和相应指针</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，树的其他部分不变。        </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272391" name="AutoShape 7"/>
          <p:cNvSpPr>
            <a:spLocks noChangeArrowheads="1"/>
          </p:cNvSpPr>
          <p:nvPr/>
        </p:nvSpPr>
        <p:spPr bwMode="auto">
          <a:xfrm>
            <a:off x="4301729" y="5103651"/>
            <a:ext cx="378619" cy="465535"/>
          </a:xfrm>
          <a:prstGeom prst="downArrow">
            <a:avLst>
              <a:gd name="adj1" fmla="val 50000"/>
              <a:gd name="adj2" fmla="val 3073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pic>
        <p:nvPicPr>
          <p:cNvPr id="274436" name="Picture 4" descr="btree_del1"/>
          <p:cNvPicPr>
            <a:picLocks noChangeAspect="1" noChangeArrowheads="1"/>
          </p:cNvPicPr>
          <p:nvPr/>
        </p:nvPicPr>
        <p:blipFill>
          <a:blip r:embed="rId1">
            <a:extLst>
              <a:ext uri="{28A0092B-C50C-407E-A947-70E740481C1C}">
                <a14:useLocalDpi xmlns:a14="http://schemas.microsoft.com/office/drawing/2010/main" val="0"/>
              </a:ext>
            </a:extLst>
          </a:blip>
          <a:srcRect t="1880" b="48003"/>
          <a:stretch>
            <a:fillRect/>
          </a:stretch>
        </p:blipFill>
        <p:spPr bwMode="auto">
          <a:xfrm>
            <a:off x="1631156" y="2842022"/>
            <a:ext cx="5911454" cy="2538413"/>
          </a:xfrm>
          <a:prstGeom prst="rect">
            <a:avLst/>
          </a:prstGeom>
          <a:noFill/>
          <a:effectLst/>
        </p:spPr>
      </p:pic>
      <p:sp>
        <p:nvSpPr>
          <p:cNvPr id="274437" name="AutoShape 5"/>
          <p:cNvSpPr>
            <a:spLocks noChangeArrowheads="1"/>
          </p:cNvSpPr>
          <p:nvPr/>
        </p:nvSpPr>
        <p:spPr bwMode="auto">
          <a:xfrm>
            <a:off x="4301729" y="1916906"/>
            <a:ext cx="378619" cy="432197"/>
          </a:xfrm>
          <a:prstGeom prst="downArrow">
            <a:avLst>
              <a:gd name="adj1" fmla="val 50000"/>
              <a:gd name="adj2" fmla="val 2853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sp>
        <p:nvSpPr>
          <p:cNvPr id="274438" name="Rectangle 6"/>
          <p:cNvSpPr>
            <a:spLocks noChangeArrowheads="1"/>
          </p:cNvSpPr>
          <p:nvPr/>
        </p:nvSpPr>
        <p:spPr bwMode="auto">
          <a:xfrm>
            <a:off x="4382691" y="1701404"/>
            <a:ext cx="215503"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74439" name="Rectangle 7"/>
          <p:cNvSpPr>
            <a:spLocks noChangeArrowheads="1"/>
          </p:cNvSpPr>
          <p:nvPr/>
        </p:nvSpPr>
        <p:spPr bwMode="auto">
          <a:xfrm>
            <a:off x="4382691" y="1484710"/>
            <a:ext cx="215503"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74440" name="Rectangle 8"/>
          <p:cNvSpPr>
            <a:spLocks noChangeArrowheads="1"/>
          </p:cNvSpPr>
          <p:nvPr/>
        </p:nvSpPr>
        <p:spPr bwMode="auto">
          <a:xfrm>
            <a:off x="4382691" y="1269206"/>
            <a:ext cx="215503"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sp>
        <p:nvSpPr>
          <p:cNvPr id="270338" name="Text Box 2"/>
          <p:cNvSpPr txBox="1">
            <a:spLocks noChangeArrowheads="1"/>
          </p:cNvSpPr>
          <p:nvPr/>
        </p:nvSpPr>
        <p:spPr bwMode="auto">
          <a:xfrm>
            <a:off x="469900" y="959485"/>
            <a:ext cx="8352790" cy="2122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457200" indent="-457200" algn="just">
              <a:lnSpc>
                <a:spcPct val="130000"/>
              </a:lnSpc>
              <a:buClr>
                <a:srgbClr val="00B0F0"/>
              </a:buClr>
              <a:buFont typeface="+mj-ea"/>
              <a:buAutoNum type="circleNumDbPlain" startAt="2"/>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被删关键字所在结点中的关键字数目等于</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，而与该结点相邻的右兄弟（或左兄弟）结点中的关键字数目大于</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，则需将其兄弟结点中的最小（或最大）的关键字上移至双亲结点中，而将双亲结点中小于（或大于）</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且紧靠该上移关键字的关键字下移至被删关键字所在结点中。</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270339" name="Picture 3" descr="btree_del1"/>
          <p:cNvPicPr>
            <a:picLocks noChangeAspect="1" noChangeArrowheads="1"/>
          </p:cNvPicPr>
          <p:nvPr/>
        </p:nvPicPr>
        <p:blipFill>
          <a:blip r:embed="rId1">
            <a:extLst>
              <a:ext uri="{28A0092B-C50C-407E-A947-70E740481C1C}">
                <a14:useLocalDpi xmlns:a14="http://schemas.microsoft.com/office/drawing/2010/main" val="0"/>
              </a:ext>
            </a:extLst>
          </a:blip>
          <a:srcRect t="1880" b="48003"/>
          <a:stretch>
            <a:fillRect/>
          </a:stretch>
        </p:blipFill>
        <p:spPr bwMode="auto">
          <a:xfrm>
            <a:off x="1332865" y="2995930"/>
            <a:ext cx="6422390" cy="2758440"/>
          </a:xfrm>
          <a:prstGeom prst="rect">
            <a:avLst/>
          </a:prstGeom>
          <a:noFill/>
          <a:effectLst/>
        </p:spPr>
      </p:pic>
      <p:sp>
        <p:nvSpPr>
          <p:cNvPr id="270340" name="Text Box 4"/>
          <p:cNvSpPr txBox="1">
            <a:spLocks noChangeArrowheads="1"/>
          </p:cNvSpPr>
          <p:nvPr/>
        </p:nvSpPr>
        <p:spPr bwMode="auto">
          <a:xfrm>
            <a:off x="1719025" y="3345243"/>
            <a:ext cx="1835944"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删除</a:t>
            </a:r>
            <a:r>
              <a:rPr lang="en-US" altLang="zh-CN" sz="2100" b="1">
                <a:solidFill>
                  <a:srgbClr val="CC0000"/>
                </a:solidFill>
                <a:ea typeface="幼圆" panose="02010509060101010101" pitchFamily="49" charset="-122"/>
                <a:cs typeface="Arial" panose="020B0604020202020204" pitchFamily="34" charset="0"/>
              </a:rPr>
              <a:t>50</a:t>
            </a:r>
            <a:endParaRPr lang="en-US" altLang="zh-CN" sz="2100" b="1">
              <a:solidFill>
                <a:srgbClr val="CC0000"/>
              </a:solidFill>
              <a:ea typeface="幼圆" panose="02010509060101010101" pitchFamily="49" charset="-122"/>
              <a:cs typeface="Arial" panose="020B0604020202020204" pitchFamily="34" charset="0"/>
            </a:endParaRPr>
          </a:p>
        </p:txBody>
      </p:sp>
      <p:sp>
        <p:nvSpPr>
          <p:cNvPr id="270342" name="AutoShape 6"/>
          <p:cNvSpPr>
            <a:spLocks noChangeArrowheads="1"/>
          </p:cNvSpPr>
          <p:nvPr/>
        </p:nvSpPr>
        <p:spPr bwMode="auto">
          <a:xfrm>
            <a:off x="6089650" y="3703955"/>
            <a:ext cx="1009015" cy="360045"/>
          </a:xfrm>
          <a:prstGeom prst="wedgeRoundRectCallout">
            <a:avLst>
              <a:gd name="adj1" fmla="val -72872"/>
              <a:gd name="adj2" fmla="val 159955"/>
              <a:gd name="adj3" fmla="val 16667"/>
            </a:avLst>
          </a:prstGeom>
          <a:solidFill>
            <a:schemeClr val="accent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b="1">
                <a:solidFill>
                  <a:srgbClr val="FFFF00"/>
                </a:solidFill>
                <a:latin typeface="Times New Roman" panose="02020603050405020304" pitchFamily="18" charset="0"/>
                <a:cs typeface="Times New Roman" panose="02020603050405020304" pitchFamily="18" charset="0"/>
              </a:rPr>
              <a:t>53</a:t>
            </a:r>
            <a:r>
              <a:rPr lang="zh-CN" altLang="en-US" b="1">
                <a:solidFill>
                  <a:srgbClr val="FFFF00"/>
                </a:solidFill>
                <a:latin typeface="Times New Roman" panose="02020603050405020304" pitchFamily="18" charset="0"/>
                <a:cs typeface="Times New Roman" panose="02020603050405020304" pitchFamily="18" charset="0"/>
              </a:rPr>
              <a:t>下降</a:t>
            </a:r>
            <a:endParaRPr lang="zh-CN" altLang="en-US" b="1">
              <a:solidFill>
                <a:srgbClr val="FFFF00"/>
              </a:solidFill>
              <a:latin typeface="Times New Roman" panose="02020603050405020304" pitchFamily="18" charset="0"/>
              <a:cs typeface="Times New Roman" panose="02020603050405020304" pitchFamily="18" charset="0"/>
            </a:endParaRPr>
          </a:p>
        </p:txBody>
      </p:sp>
      <p:sp>
        <p:nvSpPr>
          <p:cNvPr id="270344" name="AutoShape 8"/>
          <p:cNvSpPr>
            <a:spLocks noChangeArrowheads="1"/>
          </p:cNvSpPr>
          <p:nvPr/>
        </p:nvSpPr>
        <p:spPr bwMode="auto">
          <a:xfrm>
            <a:off x="5745480" y="5698490"/>
            <a:ext cx="929640" cy="422910"/>
          </a:xfrm>
          <a:prstGeom prst="wedgeRoundRectCallout">
            <a:avLst>
              <a:gd name="adj1" fmla="val -51565"/>
              <a:gd name="adj2" fmla="val -130480"/>
              <a:gd name="adj3" fmla="val 16667"/>
            </a:avLst>
          </a:prstGeom>
          <a:solidFill>
            <a:schemeClr val="accent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b="1">
                <a:solidFill>
                  <a:srgbClr val="FFFF00"/>
                </a:solidFill>
                <a:latin typeface="Times New Roman" panose="02020603050405020304" pitchFamily="18" charset="0"/>
                <a:cs typeface="Times New Roman" panose="02020603050405020304" pitchFamily="18" charset="0"/>
              </a:rPr>
              <a:t>61</a:t>
            </a:r>
            <a:r>
              <a:rPr lang="zh-CN" altLang="en-US" b="1">
                <a:solidFill>
                  <a:srgbClr val="FFFF00"/>
                </a:solidFill>
                <a:latin typeface="Times New Roman" panose="02020603050405020304" pitchFamily="18" charset="0"/>
                <a:cs typeface="Times New Roman" panose="02020603050405020304" pitchFamily="18" charset="0"/>
              </a:rPr>
              <a:t>上升</a:t>
            </a:r>
            <a:endParaRPr lang="zh-CN" altLang="en-US" b="1">
              <a:solidFill>
                <a:srgbClr val="FFFF00"/>
              </a:solidFill>
              <a:latin typeface="Times New Roman" panose="02020603050405020304" pitchFamily="18" charset="0"/>
              <a:cs typeface="Times New Roman" panose="02020603050405020304" pitchFamily="18" charset="0"/>
            </a:endParaRPr>
          </a:p>
        </p:txBody>
      </p:sp>
      <p:sp>
        <p:nvSpPr>
          <p:cNvPr id="270345" name="Oval 9"/>
          <p:cNvSpPr>
            <a:spLocks noChangeArrowheads="1"/>
          </p:cNvSpPr>
          <p:nvPr/>
        </p:nvSpPr>
        <p:spPr bwMode="auto">
          <a:xfrm>
            <a:off x="4689634" y="5139753"/>
            <a:ext cx="269081" cy="270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10" name="AutoShape 8"/>
          <p:cNvSpPr>
            <a:spLocks noChangeArrowheads="1"/>
          </p:cNvSpPr>
          <p:nvPr/>
        </p:nvSpPr>
        <p:spPr bwMode="auto">
          <a:xfrm flipV="1">
            <a:off x="8227616" y="5207001"/>
            <a:ext cx="513159" cy="647700"/>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pic>
        <p:nvPicPr>
          <p:cNvPr id="273412" name="Picture 4" descr="btree_del1"/>
          <p:cNvPicPr>
            <a:picLocks noChangeAspect="1" noChangeArrowheads="1"/>
          </p:cNvPicPr>
          <p:nvPr/>
        </p:nvPicPr>
        <p:blipFill>
          <a:blip r:embed="rId1">
            <a:extLst>
              <a:ext uri="{28A0092B-C50C-407E-A947-70E740481C1C}">
                <a14:useLocalDpi xmlns:a14="http://schemas.microsoft.com/office/drawing/2010/main" val="0"/>
              </a:ext>
            </a:extLst>
          </a:blip>
          <a:srcRect t="49858"/>
          <a:stretch>
            <a:fillRect/>
          </a:stretch>
        </p:blipFill>
        <p:spPr bwMode="auto">
          <a:xfrm>
            <a:off x="1450975" y="2295525"/>
            <a:ext cx="6717665" cy="2886075"/>
          </a:xfrm>
          <a:prstGeom prst="rect">
            <a:avLst/>
          </a:prstGeom>
          <a:noFill/>
          <a:effectLst/>
        </p:spPr>
      </p:pic>
      <p:sp>
        <p:nvSpPr>
          <p:cNvPr id="273413" name="AutoShape 5"/>
          <p:cNvSpPr>
            <a:spLocks noChangeArrowheads="1"/>
          </p:cNvSpPr>
          <p:nvPr/>
        </p:nvSpPr>
        <p:spPr bwMode="auto">
          <a:xfrm>
            <a:off x="1655099" y="1754981"/>
            <a:ext cx="378619" cy="432197"/>
          </a:xfrm>
          <a:prstGeom prst="downArrow">
            <a:avLst>
              <a:gd name="adj1" fmla="val 50000"/>
              <a:gd name="adj2" fmla="val 2853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sp>
        <p:nvSpPr>
          <p:cNvPr id="273414" name="Rectangle 6"/>
          <p:cNvSpPr>
            <a:spLocks noChangeArrowheads="1"/>
          </p:cNvSpPr>
          <p:nvPr/>
        </p:nvSpPr>
        <p:spPr bwMode="auto">
          <a:xfrm>
            <a:off x="1736062" y="1539479"/>
            <a:ext cx="215503"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73415" name="Rectangle 7"/>
          <p:cNvSpPr>
            <a:spLocks noChangeArrowheads="1"/>
          </p:cNvSpPr>
          <p:nvPr/>
        </p:nvSpPr>
        <p:spPr bwMode="auto">
          <a:xfrm>
            <a:off x="1736062" y="1322785"/>
            <a:ext cx="215503"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73416" name="Rectangle 8"/>
          <p:cNvSpPr>
            <a:spLocks noChangeArrowheads="1"/>
          </p:cNvSpPr>
          <p:nvPr/>
        </p:nvSpPr>
        <p:spPr bwMode="auto">
          <a:xfrm>
            <a:off x="1736062" y="1107281"/>
            <a:ext cx="215503"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sp>
        <p:nvSpPr>
          <p:cNvPr id="198658" name="Text Box 2"/>
          <p:cNvSpPr txBox="1">
            <a:spLocks noChangeArrowheads="1"/>
          </p:cNvSpPr>
          <p:nvPr/>
        </p:nvSpPr>
        <p:spPr bwMode="auto">
          <a:xfrm>
            <a:off x="417195" y="1091565"/>
            <a:ext cx="8252460" cy="209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30000"/>
              </a:lnSpc>
              <a:buClr>
                <a:srgbClr val="00B0F0"/>
              </a:buClr>
              <a:buFont typeface="+mj-ea"/>
              <a:buAutoNum type="circleNumDbPlain" startAt="3"/>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被删关键字所在结点和其相邻的兄弟结点中的关键字数目均等于</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m</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。假设该结点有右兄弟，且其右兄弟结点地址由双亲结点中的指针</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所指，则在删去关键字之后，它所在结点中剩余的关键字和指针，加上双亲结点中的关键字</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K</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一起，合并到</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P</a:t>
            </a:r>
            <a:r>
              <a:rPr kumimoji="1" lang="en-US" altLang="zh-CN" sz="2000" i="1"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所指兄弟结点中（若没有右兄弟结点，则合并到左兄弟结点中）。</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pic>
        <p:nvPicPr>
          <p:cNvPr id="198659" name="Picture 3" descr="btree_del1"/>
          <p:cNvPicPr>
            <a:picLocks noChangeAspect="1" noChangeArrowheads="1"/>
          </p:cNvPicPr>
          <p:nvPr/>
        </p:nvPicPr>
        <p:blipFill>
          <a:blip r:embed="rId1">
            <a:extLst>
              <a:ext uri="{28A0092B-C50C-407E-A947-70E740481C1C}">
                <a14:useLocalDpi xmlns:a14="http://schemas.microsoft.com/office/drawing/2010/main" val="0"/>
              </a:ext>
            </a:extLst>
          </a:blip>
          <a:srcRect t="49858"/>
          <a:stretch>
            <a:fillRect/>
          </a:stretch>
        </p:blipFill>
        <p:spPr bwMode="auto">
          <a:xfrm>
            <a:off x="1281430" y="3353435"/>
            <a:ext cx="6581775" cy="2827655"/>
          </a:xfrm>
          <a:prstGeom prst="rect">
            <a:avLst/>
          </a:prstGeom>
          <a:noFill/>
          <a:effectLst/>
        </p:spPr>
      </p:pic>
      <p:sp>
        <p:nvSpPr>
          <p:cNvPr id="198660" name="Text Box 4"/>
          <p:cNvSpPr txBox="1">
            <a:spLocks noChangeArrowheads="1"/>
          </p:cNvSpPr>
          <p:nvPr/>
        </p:nvSpPr>
        <p:spPr bwMode="auto">
          <a:xfrm>
            <a:off x="1818085" y="3636281"/>
            <a:ext cx="1782365"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删除</a:t>
            </a:r>
            <a:r>
              <a:rPr lang="en-US" altLang="zh-CN" sz="2100" b="1">
                <a:solidFill>
                  <a:srgbClr val="CC0000"/>
                </a:solidFill>
                <a:ea typeface="幼圆" panose="02010509060101010101" pitchFamily="49" charset="-122"/>
                <a:cs typeface="Arial" panose="020B0604020202020204" pitchFamily="34" charset="0"/>
              </a:rPr>
              <a:t>53</a:t>
            </a:r>
            <a:endParaRPr lang="en-US" altLang="zh-CN" sz="2100" b="1">
              <a:solidFill>
                <a:srgbClr val="CC0000"/>
              </a:solidFill>
              <a:ea typeface="幼圆" panose="02010509060101010101" pitchFamily="49" charset="-122"/>
              <a:cs typeface="Arial" panose="020B0604020202020204" pitchFamily="34" charset="0"/>
            </a:endParaRPr>
          </a:p>
        </p:txBody>
      </p:sp>
      <p:sp>
        <p:nvSpPr>
          <p:cNvPr id="198661" name="AutoShape 5"/>
          <p:cNvSpPr>
            <a:spLocks noChangeArrowheads="1"/>
          </p:cNvSpPr>
          <p:nvPr/>
        </p:nvSpPr>
        <p:spPr bwMode="auto">
          <a:xfrm>
            <a:off x="6394450" y="4050030"/>
            <a:ext cx="944880" cy="358775"/>
          </a:xfrm>
          <a:prstGeom prst="wedgeRoundRectCallout">
            <a:avLst>
              <a:gd name="adj1" fmla="val -103091"/>
              <a:gd name="adj2" fmla="val 191592"/>
              <a:gd name="adj3" fmla="val 16667"/>
            </a:avLst>
          </a:prstGeom>
          <a:solidFill>
            <a:schemeClr val="accent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b="1">
                <a:solidFill>
                  <a:srgbClr val="FFFF00"/>
                </a:solidFill>
                <a:latin typeface="Times New Roman" panose="02020603050405020304" pitchFamily="18" charset="0"/>
                <a:cs typeface="Times New Roman" panose="02020603050405020304" pitchFamily="18" charset="0"/>
              </a:rPr>
              <a:t>61</a:t>
            </a:r>
            <a:r>
              <a:rPr lang="zh-CN" altLang="en-US" b="1">
                <a:solidFill>
                  <a:srgbClr val="FFFF00"/>
                </a:solidFill>
                <a:latin typeface="Times New Roman" panose="02020603050405020304" pitchFamily="18" charset="0"/>
                <a:cs typeface="Times New Roman" panose="02020603050405020304" pitchFamily="18" charset="0"/>
              </a:rPr>
              <a:t>下降</a:t>
            </a:r>
            <a:endParaRPr lang="zh-CN" altLang="en-US" b="1">
              <a:solidFill>
                <a:srgbClr val="FFFF00"/>
              </a:solidFill>
              <a:latin typeface="Times New Roman" panose="02020603050405020304" pitchFamily="18" charset="0"/>
              <a:cs typeface="Times New Roman" panose="02020603050405020304" pitchFamily="18" charset="0"/>
            </a:endParaRPr>
          </a:p>
        </p:txBody>
      </p:sp>
      <p:sp>
        <p:nvSpPr>
          <p:cNvPr id="198662" name="Oval 6"/>
          <p:cNvSpPr>
            <a:spLocks noChangeArrowheads="1"/>
          </p:cNvSpPr>
          <p:nvPr/>
        </p:nvSpPr>
        <p:spPr bwMode="auto">
          <a:xfrm>
            <a:off x="4712494" y="5583508"/>
            <a:ext cx="269081" cy="270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198664" name="AutoShape 8"/>
          <p:cNvSpPr>
            <a:spLocks noChangeArrowheads="1"/>
          </p:cNvSpPr>
          <p:nvPr/>
        </p:nvSpPr>
        <p:spPr bwMode="auto">
          <a:xfrm flipV="1">
            <a:off x="7487841" y="4671362"/>
            <a:ext cx="513159" cy="647700"/>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pic>
        <p:nvPicPr>
          <p:cNvPr id="220169" name="Picture 9" descr="btree_del2"/>
          <p:cNvPicPr>
            <a:picLocks noChangeAspect="1" noChangeArrowheads="1"/>
          </p:cNvPicPr>
          <p:nvPr/>
        </p:nvPicPr>
        <p:blipFill>
          <a:blip r:embed="rId1">
            <a:extLst>
              <a:ext uri="{28A0092B-C50C-407E-A947-70E740481C1C}">
                <a14:useLocalDpi xmlns:a14="http://schemas.microsoft.com/office/drawing/2010/main" val="0"/>
              </a:ext>
            </a:extLst>
          </a:blip>
          <a:srcRect l="-2278" t="1936" r="-116" b="41978"/>
          <a:stretch>
            <a:fillRect/>
          </a:stretch>
        </p:blipFill>
        <p:spPr bwMode="auto">
          <a:xfrm>
            <a:off x="1059180" y="2403475"/>
            <a:ext cx="7093585" cy="3014980"/>
          </a:xfrm>
          <a:prstGeom prst="rect">
            <a:avLst/>
          </a:prstGeom>
          <a:noFill/>
          <a:effectLst/>
        </p:spPr>
      </p:pic>
      <p:sp>
        <p:nvSpPr>
          <p:cNvPr id="220170" name="AutoShape 10"/>
          <p:cNvSpPr>
            <a:spLocks noChangeArrowheads="1"/>
          </p:cNvSpPr>
          <p:nvPr/>
        </p:nvSpPr>
        <p:spPr bwMode="auto">
          <a:xfrm>
            <a:off x="1709738" y="1863329"/>
            <a:ext cx="378619" cy="432197"/>
          </a:xfrm>
          <a:prstGeom prst="downArrow">
            <a:avLst>
              <a:gd name="adj1" fmla="val 50000"/>
              <a:gd name="adj2" fmla="val 2853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sp>
        <p:nvSpPr>
          <p:cNvPr id="220171" name="Rectangle 11"/>
          <p:cNvSpPr>
            <a:spLocks noChangeArrowheads="1"/>
          </p:cNvSpPr>
          <p:nvPr/>
        </p:nvSpPr>
        <p:spPr bwMode="auto">
          <a:xfrm>
            <a:off x="1790700" y="1647825"/>
            <a:ext cx="215504"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20172" name="Rectangle 12"/>
          <p:cNvSpPr>
            <a:spLocks noChangeArrowheads="1"/>
          </p:cNvSpPr>
          <p:nvPr/>
        </p:nvSpPr>
        <p:spPr bwMode="auto">
          <a:xfrm>
            <a:off x="1790700" y="1431131"/>
            <a:ext cx="215504"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20173" name="Rectangle 13"/>
          <p:cNvSpPr>
            <a:spLocks noChangeArrowheads="1"/>
          </p:cNvSpPr>
          <p:nvPr/>
        </p:nvSpPr>
        <p:spPr bwMode="auto">
          <a:xfrm>
            <a:off x="1790700" y="1215629"/>
            <a:ext cx="215504" cy="1071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8.5.3 B</a:t>
            </a:r>
            <a:r>
              <a:rPr kumimoji="1" lang="zh-CN" altLang="en-US" b="1" dirty="0">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树的插入和删除</a:t>
            </a:r>
            <a:endParaRPr lang="zh-CN" altLang="en-US"/>
          </a:p>
        </p:txBody>
      </p:sp>
      <p:pic>
        <p:nvPicPr>
          <p:cNvPr id="221186" name="Picture 2" descr="btree_del2"/>
          <p:cNvPicPr>
            <a:picLocks noChangeAspect="1" noChangeArrowheads="1"/>
          </p:cNvPicPr>
          <p:nvPr/>
        </p:nvPicPr>
        <p:blipFill>
          <a:blip r:embed="rId1">
            <a:extLst>
              <a:ext uri="{28A0092B-C50C-407E-A947-70E740481C1C}">
                <a14:useLocalDpi xmlns:a14="http://schemas.microsoft.com/office/drawing/2010/main" val="0"/>
              </a:ext>
            </a:extLst>
          </a:blip>
          <a:srcRect l="-2278" t="1936" r="-116" b="-47"/>
          <a:stretch>
            <a:fillRect/>
          </a:stretch>
        </p:blipFill>
        <p:spPr bwMode="auto">
          <a:xfrm>
            <a:off x="1548130" y="1214755"/>
            <a:ext cx="6602095" cy="4908550"/>
          </a:xfrm>
          <a:prstGeom prst="rect">
            <a:avLst/>
          </a:prstGeom>
          <a:noFill/>
          <a:effectLst/>
        </p:spPr>
      </p:pic>
      <p:sp>
        <p:nvSpPr>
          <p:cNvPr id="221187" name="Text Box 3"/>
          <p:cNvSpPr txBox="1">
            <a:spLocks noChangeArrowheads="1"/>
          </p:cNvSpPr>
          <p:nvPr/>
        </p:nvSpPr>
        <p:spPr bwMode="auto">
          <a:xfrm>
            <a:off x="2033588" y="1576388"/>
            <a:ext cx="1458516"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100" b="1">
                <a:solidFill>
                  <a:srgbClr val="CC0000"/>
                </a:solidFill>
                <a:ea typeface="幼圆" panose="02010509060101010101" pitchFamily="49" charset="-122"/>
                <a:cs typeface="Arial" panose="020B0604020202020204" pitchFamily="34" charset="0"/>
              </a:rPr>
              <a:t>删除</a:t>
            </a:r>
            <a:r>
              <a:rPr lang="en-US" altLang="zh-CN" sz="2100" b="1">
                <a:solidFill>
                  <a:srgbClr val="CC0000"/>
                </a:solidFill>
                <a:ea typeface="幼圆" panose="02010509060101010101" pitchFamily="49" charset="-122"/>
                <a:cs typeface="Arial" panose="020B0604020202020204" pitchFamily="34" charset="0"/>
              </a:rPr>
              <a:t>37</a:t>
            </a:r>
            <a:endParaRPr lang="en-US" altLang="zh-CN" sz="2100" b="1">
              <a:solidFill>
                <a:srgbClr val="CC0000"/>
              </a:solidFill>
              <a:ea typeface="幼圆" panose="02010509060101010101" pitchFamily="49" charset="-122"/>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en-US" altLang="zh-CN" b="1">
              <a:sym typeface="+mn-ea"/>
            </a:endParaRPr>
          </a:p>
        </p:txBody>
      </p:sp>
      <p:sp>
        <p:nvSpPr>
          <p:cNvPr id="210957" name="Rectangle 13"/>
          <p:cNvSpPr>
            <a:spLocks noChangeArrowheads="1"/>
          </p:cNvSpPr>
          <p:nvPr/>
        </p:nvSpPr>
        <p:spPr bwMode="auto">
          <a:xfrm>
            <a:off x="1494235" y="1107281"/>
            <a:ext cx="5831681" cy="4643438"/>
          </a:xfrm>
          <a:prstGeom prst="rect">
            <a:avLst/>
          </a:prstGeom>
          <a:solidFill>
            <a:srgbClr val="FFFFFF"/>
          </a:solid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350"/>
          </a:p>
        </p:txBody>
      </p:sp>
      <p:pic>
        <p:nvPicPr>
          <p:cNvPr id="210958"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3369469"/>
            <a:ext cx="5161360"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0959" name="Picture 15"/>
          <p:cNvPicPr>
            <a:picLocks noChangeAspect="1" noChangeArrowheads="1"/>
          </p:cNvPicPr>
          <p:nvPr/>
        </p:nvPicPr>
        <p:blipFill>
          <a:blip r:embed="rId2">
            <a:extLst>
              <a:ext uri="{28A0092B-C50C-407E-A947-70E740481C1C}">
                <a14:useLocalDpi xmlns:a14="http://schemas.microsoft.com/office/drawing/2010/main" val="0"/>
              </a:ext>
            </a:extLst>
          </a:blip>
          <a:srcRect r="7245"/>
          <a:stretch>
            <a:fillRect/>
          </a:stretch>
        </p:blipFill>
        <p:spPr bwMode="auto">
          <a:xfrm>
            <a:off x="1547813" y="1107281"/>
            <a:ext cx="5670947" cy="2280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0960" name="AutoShape 16"/>
          <p:cNvSpPr>
            <a:spLocks noChangeArrowheads="1"/>
          </p:cNvSpPr>
          <p:nvPr/>
        </p:nvSpPr>
        <p:spPr bwMode="auto">
          <a:xfrm>
            <a:off x="4972050" y="3657600"/>
            <a:ext cx="1435894" cy="400050"/>
          </a:xfrm>
          <a:prstGeom prst="wedgeRectCallout">
            <a:avLst>
              <a:gd name="adj1" fmla="val -95273"/>
              <a:gd name="adj2" fmla="val -154167"/>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1">
              <a:latin typeface="Times New Roman" panose="02020603050405020304" pitchFamily="18" charset="0"/>
            </a:endParaRPr>
          </a:p>
        </p:txBody>
      </p:sp>
      <p:sp>
        <p:nvSpPr>
          <p:cNvPr id="210961" name="Text Box 17"/>
          <p:cNvSpPr txBox="1">
            <a:spLocks noChangeArrowheads="1"/>
          </p:cNvSpPr>
          <p:nvPr/>
        </p:nvSpPr>
        <p:spPr bwMode="auto">
          <a:xfrm>
            <a:off x="4957763" y="3668316"/>
            <a:ext cx="1504950" cy="4140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Remove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55</a:t>
            </a:r>
            <a:endParaRPr kumimoji="1" lang="en-US" altLang="zh-CN" b="1">
              <a:solidFill>
                <a:srgbClr val="000000"/>
              </a:solidFill>
              <a:latin typeface="Times New Roman" panose="02020603050405020304" pitchFamily="18" charset="0"/>
            </a:endParaRPr>
          </a:p>
        </p:txBody>
      </p:sp>
      <p:sp>
        <p:nvSpPr>
          <p:cNvPr id="210962" name="Text Box 18"/>
          <p:cNvSpPr txBox="1">
            <a:spLocks noChangeArrowheads="1"/>
          </p:cNvSpPr>
          <p:nvPr/>
        </p:nvSpPr>
        <p:spPr bwMode="auto">
          <a:xfrm>
            <a:off x="1476375" y="1050131"/>
            <a:ext cx="2286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u="sng">
                <a:solidFill>
                  <a:srgbClr val="CC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Remove Leaf </a:t>
            </a:r>
            <a:endParaRPr kumimoji="1" lang="en-US" altLang="zh-CN" sz="1500">
              <a:solidFill>
                <a:srgbClr val="CC0000"/>
              </a:solidFill>
              <a:latin typeface="Times New Roman" panose="02020603050405020304" pitchFamily="18" charset="0"/>
            </a:endParaRPr>
          </a:p>
        </p:txBody>
      </p:sp>
      <p:sp>
        <p:nvSpPr>
          <p:cNvPr id="210963" name="Rectangle 19"/>
          <p:cNvSpPr>
            <a:spLocks noChangeArrowheads="1"/>
          </p:cNvSpPr>
          <p:nvPr/>
        </p:nvSpPr>
        <p:spPr bwMode="auto">
          <a:xfrm>
            <a:off x="6407944" y="1431131"/>
            <a:ext cx="822722" cy="102631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0964" name="AutoShape 20"/>
          <p:cNvSpPr>
            <a:spLocks noChangeArrowheads="1"/>
          </p:cNvSpPr>
          <p:nvPr/>
        </p:nvSpPr>
        <p:spPr bwMode="auto">
          <a:xfrm>
            <a:off x="2033588" y="3429000"/>
            <a:ext cx="432197" cy="1026319"/>
          </a:xfrm>
          <a:prstGeom prst="downArrow">
            <a:avLst>
              <a:gd name="adj1" fmla="val 50000"/>
              <a:gd name="adj2" fmla="val 59366"/>
            </a:avLst>
          </a:prstGeom>
          <a:solidFill>
            <a:srgbClr val="FFFF66"/>
          </a:solidFill>
          <a:ln w="9525">
            <a:solidFill>
              <a:srgbClr val="000000"/>
            </a:solidFill>
            <a:miter lim="800000"/>
          </a:ln>
          <a:effectLst>
            <a:outerShdw dist="35921" dir="2700000" algn="ctr" rotWithShape="0">
              <a:schemeClr val="bg2"/>
            </a:outerShdw>
          </a:effectLst>
        </p:spPr>
        <p:txBody>
          <a:bodyPr vert="eaVert" wrap="none" anchor="ctr"/>
          <a:lstStyle/>
          <a:p>
            <a:endParaRPr lang="zh-CN" altLang="en-US" sz="1350"/>
          </a:p>
        </p:txBody>
      </p:sp>
      <p:sp>
        <p:nvSpPr>
          <p:cNvPr id="210965" name="Text Box 21"/>
          <p:cNvSpPr txBox="1">
            <a:spLocks noChangeArrowheads="1"/>
          </p:cNvSpPr>
          <p:nvPr/>
        </p:nvSpPr>
        <p:spPr bwMode="auto">
          <a:xfrm>
            <a:off x="1439466" y="3590925"/>
            <a:ext cx="756047" cy="50673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350" b="1">
                <a:solidFill>
                  <a:srgbClr val="000000"/>
                </a:solidFill>
              </a:rPr>
              <a:t>Simple case</a:t>
            </a:r>
            <a:endParaRPr lang="en-US" altLang="zh-CN" sz="1350" b="1">
              <a:solidFill>
                <a:srgbClr val="000000"/>
              </a:solidFill>
            </a:endParaRPr>
          </a:p>
        </p:txBody>
      </p:sp>
      <p:grpSp>
        <p:nvGrpSpPr>
          <p:cNvPr id="210969" name="Group 25"/>
          <p:cNvGrpSpPr/>
          <p:nvPr/>
        </p:nvGrpSpPr>
        <p:grpSpPr bwMode="auto">
          <a:xfrm>
            <a:off x="3952875" y="2724150"/>
            <a:ext cx="323850" cy="323850"/>
            <a:chOff x="2360" y="1568"/>
            <a:chExt cx="272" cy="272"/>
          </a:xfrm>
        </p:grpSpPr>
        <p:sp>
          <p:nvSpPr>
            <p:cNvPr id="210966" name="Oval 22"/>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0967" name="Line 23"/>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0968" name="Line 24"/>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09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graphicFrame>
        <p:nvGraphicFramePr>
          <p:cNvPr id="211982" name="Object 14"/>
          <p:cNvGraphicFramePr>
            <a:graphicFrameLocks noChangeAspect="1"/>
          </p:cNvGraphicFramePr>
          <p:nvPr/>
        </p:nvGraphicFramePr>
        <p:xfrm>
          <a:off x="1218010" y="3517106"/>
          <a:ext cx="6704409" cy="2386013"/>
        </p:xfrm>
        <a:graphic>
          <a:graphicData uri="http://schemas.openxmlformats.org/presentationml/2006/ole">
            <mc:AlternateContent xmlns:mc="http://schemas.openxmlformats.org/markup-compatibility/2006">
              <mc:Choice xmlns:v="urn:schemas-microsoft-com:vml" Requires="v">
                <p:oleObj spid="_x0000_s212326" name="Image" r:id="rId1" imgW="10566400" imgH="4241800" progId="Photoshop.Image.6">
                  <p:embed/>
                </p:oleObj>
              </mc:Choice>
              <mc:Fallback>
                <p:oleObj name="Image" r:id="rId1" imgW="10566400" imgH="4241800" progId="Photoshop.Image.6">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l="-1753"/>
                      <a:stretch>
                        <a:fillRect/>
                      </a:stretch>
                    </p:blipFill>
                    <p:spPr bwMode="auto">
                      <a:xfrm>
                        <a:off x="1218010" y="3517106"/>
                        <a:ext cx="6704409" cy="2386013"/>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11983" name="Object 15"/>
          <p:cNvGraphicFramePr>
            <a:graphicFrameLocks noChangeAspect="1"/>
          </p:cNvGraphicFramePr>
          <p:nvPr/>
        </p:nvGraphicFramePr>
        <p:xfrm>
          <a:off x="1220391" y="1042988"/>
          <a:ext cx="6700838" cy="2386013"/>
        </p:xfrm>
        <a:graphic>
          <a:graphicData uri="http://schemas.openxmlformats.org/presentationml/2006/ole">
            <mc:AlternateContent xmlns:mc="http://schemas.openxmlformats.org/markup-compatibility/2006">
              <mc:Choice xmlns:v="urn:schemas-microsoft-com:vml" Requires="v">
                <p:oleObj spid="_x0000_s212327" name="Image" r:id="rId3" imgW="11912600" imgH="4241800" progId="Photoshop.Image.6">
                  <p:embed/>
                </p:oleObj>
              </mc:Choice>
              <mc:Fallback>
                <p:oleObj name="Image" r:id="rId3" imgW="11912600" imgH="4241800" progId="Photoshop.Image.6">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0391" y="1042988"/>
                        <a:ext cx="6700838" cy="2386013"/>
                      </a:xfrm>
                      <a:prstGeom prst="rect">
                        <a:avLst/>
                      </a:prstGeom>
                      <a:noFill/>
                      <a:ln>
                        <a:noFill/>
                      </a:ln>
                      <a:effectLst>
                        <a:outerShdw dist="107763" dir="2700000" algn="ctr" rotWithShape="0">
                          <a:schemeClr val="tx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1984" name="AutoShape 16"/>
          <p:cNvSpPr>
            <a:spLocks noChangeArrowheads="1"/>
          </p:cNvSpPr>
          <p:nvPr/>
        </p:nvSpPr>
        <p:spPr bwMode="auto">
          <a:xfrm>
            <a:off x="6686550" y="3981450"/>
            <a:ext cx="1028700" cy="400050"/>
          </a:xfrm>
          <a:prstGeom prst="wedgeRectCallout">
            <a:avLst>
              <a:gd name="adj1" fmla="val -115278"/>
              <a:gd name="adj2" fmla="val -208630"/>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1">
              <a:latin typeface="Times New Roman" panose="02020603050405020304" pitchFamily="18" charset="0"/>
            </a:endParaRPr>
          </a:p>
        </p:txBody>
      </p:sp>
      <p:sp>
        <p:nvSpPr>
          <p:cNvPr id="211985" name="Text Box 17"/>
          <p:cNvSpPr txBox="1">
            <a:spLocks noChangeArrowheads="1"/>
          </p:cNvSpPr>
          <p:nvPr/>
        </p:nvSpPr>
        <p:spPr bwMode="auto">
          <a:xfrm>
            <a:off x="6729413" y="3992166"/>
            <a:ext cx="1214438" cy="4140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RM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65</a:t>
            </a:r>
            <a:endParaRPr kumimoji="1" lang="en-US" altLang="zh-CN" b="1">
              <a:solidFill>
                <a:srgbClr val="000000"/>
              </a:solidFill>
              <a:latin typeface="Times New Roman" panose="02020603050405020304" pitchFamily="18" charset="0"/>
            </a:endParaRPr>
          </a:p>
        </p:txBody>
      </p:sp>
      <p:sp>
        <p:nvSpPr>
          <p:cNvPr id="211986" name="Rectangle 18"/>
          <p:cNvSpPr>
            <a:spLocks noChangeArrowheads="1"/>
          </p:cNvSpPr>
          <p:nvPr/>
        </p:nvSpPr>
        <p:spPr bwMode="auto">
          <a:xfrm>
            <a:off x="1329095" y="3698081"/>
            <a:ext cx="1969770" cy="4603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u="sng">
                <a:solidFill>
                  <a:srgbClr val="CC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Jointly adjust</a:t>
            </a:r>
            <a:endParaRPr kumimoji="1" lang="en-US" altLang="zh-CN" sz="1500" u="sng">
              <a:solidFill>
                <a:srgbClr val="CC0000"/>
              </a:solidFill>
              <a:latin typeface="Times New Roman" panose="02020603050405020304" pitchFamily="18" charset="0"/>
            </a:endParaRPr>
          </a:p>
        </p:txBody>
      </p:sp>
      <p:sp>
        <p:nvSpPr>
          <p:cNvPr id="211987" name="Text Box 19"/>
          <p:cNvSpPr txBox="1">
            <a:spLocks noChangeArrowheads="1"/>
          </p:cNvSpPr>
          <p:nvPr/>
        </p:nvSpPr>
        <p:spPr bwMode="auto">
          <a:xfrm>
            <a:off x="1331119" y="1151335"/>
            <a:ext cx="2286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u="sng">
                <a:solidFill>
                  <a:srgbClr val="CC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Remove Leaf</a:t>
            </a:r>
            <a:endParaRPr kumimoji="1" lang="en-US" altLang="zh-CN" sz="1500">
              <a:solidFill>
                <a:srgbClr val="CC0000"/>
              </a:solidFill>
              <a:latin typeface="Times New Roman" panose="02020603050405020304" pitchFamily="18" charset="0"/>
            </a:endParaRPr>
          </a:p>
        </p:txBody>
      </p:sp>
      <p:sp>
        <p:nvSpPr>
          <p:cNvPr id="211988" name="Rectangle 20"/>
          <p:cNvSpPr>
            <a:spLocks noChangeArrowheads="1"/>
          </p:cNvSpPr>
          <p:nvPr/>
        </p:nvSpPr>
        <p:spPr bwMode="auto">
          <a:xfrm>
            <a:off x="6571060" y="1281112"/>
            <a:ext cx="1241822" cy="377429"/>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Remove 65</a:t>
            </a:r>
            <a:endParaRPr lang="en-US" altLang="zh-CN" sz="1350" b="1">
              <a:solidFill>
                <a:srgbClr val="000000"/>
              </a:solidFill>
            </a:endParaRPr>
          </a:p>
        </p:txBody>
      </p:sp>
      <p:sp>
        <p:nvSpPr>
          <p:cNvPr id="211989" name="Rectangle 21"/>
          <p:cNvSpPr>
            <a:spLocks noChangeArrowheads="1"/>
          </p:cNvSpPr>
          <p:nvPr/>
        </p:nvSpPr>
        <p:spPr bwMode="auto">
          <a:xfrm>
            <a:off x="6571060" y="2015729"/>
            <a:ext cx="1241822" cy="377428"/>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Adjust  g, c, h</a:t>
            </a:r>
            <a:endParaRPr lang="en-US" altLang="zh-CN" sz="1350" b="1">
              <a:solidFill>
                <a:srgbClr val="000000"/>
              </a:solidFill>
            </a:endParaRPr>
          </a:p>
        </p:txBody>
      </p:sp>
      <p:sp>
        <p:nvSpPr>
          <p:cNvPr id="211990" name="AutoShape 22"/>
          <p:cNvSpPr>
            <a:spLocks noChangeArrowheads="1"/>
          </p:cNvSpPr>
          <p:nvPr/>
        </p:nvSpPr>
        <p:spPr bwMode="auto">
          <a:xfrm>
            <a:off x="5274469" y="3419475"/>
            <a:ext cx="432197" cy="864394"/>
          </a:xfrm>
          <a:prstGeom prst="downArrow">
            <a:avLst>
              <a:gd name="adj1" fmla="val 50000"/>
              <a:gd name="adj2" fmla="val 50000"/>
            </a:avLst>
          </a:prstGeom>
          <a:solidFill>
            <a:srgbClr val="FFFF66"/>
          </a:solidFill>
          <a:ln w="9525">
            <a:solidFill>
              <a:srgbClr val="000000"/>
            </a:solidFill>
            <a:miter lim="800000"/>
          </a:ln>
          <a:effectLst>
            <a:outerShdw dist="35921" dir="2700000" algn="ctr" rotWithShape="0">
              <a:schemeClr val="bg2"/>
            </a:outerShdw>
          </a:effectLst>
        </p:spPr>
        <p:txBody>
          <a:bodyPr vert="eaVert" wrap="none" anchor="ctr"/>
          <a:lstStyle/>
          <a:p>
            <a:endParaRPr lang="zh-CN" altLang="en-US" sz="1350"/>
          </a:p>
        </p:txBody>
      </p:sp>
      <p:sp>
        <p:nvSpPr>
          <p:cNvPr id="211991" name="Rectangle 23"/>
          <p:cNvSpPr>
            <a:spLocks noChangeArrowheads="1"/>
          </p:cNvSpPr>
          <p:nvPr/>
        </p:nvSpPr>
        <p:spPr bwMode="auto">
          <a:xfrm>
            <a:off x="6569869" y="1679972"/>
            <a:ext cx="1243013" cy="32504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nvGrpSpPr>
          <p:cNvPr id="211992" name="Group 24"/>
          <p:cNvGrpSpPr/>
          <p:nvPr/>
        </p:nvGrpSpPr>
        <p:grpSpPr bwMode="auto">
          <a:xfrm>
            <a:off x="5328047" y="2764631"/>
            <a:ext cx="323850" cy="323850"/>
            <a:chOff x="2360" y="1568"/>
            <a:chExt cx="272" cy="272"/>
          </a:xfrm>
        </p:grpSpPr>
        <p:sp>
          <p:nvSpPr>
            <p:cNvPr id="211993" name="Oval 25"/>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1994" name="Line 26"/>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1995" name="Line 27"/>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graphicFrame>
        <p:nvGraphicFramePr>
          <p:cNvPr id="213005" name="Object 13"/>
          <p:cNvGraphicFramePr>
            <a:graphicFrameLocks noChangeAspect="1"/>
          </p:cNvGraphicFramePr>
          <p:nvPr/>
        </p:nvGraphicFramePr>
        <p:xfrm>
          <a:off x="1277541" y="3583543"/>
          <a:ext cx="6588919" cy="2386013"/>
        </p:xfrm>
        <a:graphic>
          <a:graphicData uri="http://schemas.openxmlformats.org/presentationml/2006/ole">
            <mc:AlternateContent xmlns:mc="http://schemas.openxmlformats.org/markup-compatibility/2006">
              <mc:Choice xmlns:v="urn:schemas-microsoft-com:vml" Requires="v">
                <p:oleObj spid="_x0000_s213348" name="Image" r:id="rId1" imgW="9982200" imgH="4241800" progId="Photoshop.Image.6">
                  <p:embed/>
                </p:oleObj>
              </mc:Choice>
              <mc:Fallback>
                <p:oleObj name="Image" r:id="rId1" imgW="9982200" imgH="4241800" progId="Photoshop.Image.6">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7541" y="3583543"/>
                        <a:ext cx="6588919" cy="2386013"/>
                      </a:xfrm>
                      <a:prstGeom prst="rect">
                        <a:avLst/>
                      </a:prstGeom>
                      <a:noFill/>
                      <a:ln>
                        <a:noFill/>
                      </a:ln>
                      <a:effectLst>
                        <a:outerShdw dist="107763" dir="2700000" algn="ctr" rotWithShape="0">
                          <a:schemeClr val="tx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13006" name="Object 14"/>
          <p:cNvGraphicFramePr>
            <a:graphicFrameLocks noChangeAspect="1"/>
          </p:cNvGraphicFramePr>
          <p:nvPr/>
        </p:nvGraphicFramePr>
        <p:xfrm>
          <a:off x="1278731" y="1054656"/>
          <a:ext cx="6586538" cy="2386013"/>
        </p:xfrm>
        <a:graphic>
          <a:graphicData uri="http://schemas.openxmlformats.org/presentationml/2006/ole">
            <mc:AlternateContent xmlns:mc="http://schemas.openxmlformats.org/markup-compatibility/2006">
              <mc:Choice xmlns:v="urn:schemas-microsoft-com:vml" Requires="v">
                <p:oleObj spid="_x0000_s213349" name="Image" r:id="rId3" imgW="11709400" imgH="4241800" progId="Photoshop.Image.6">
                  <p:embed/>
                </p:oleObj>
              </mc:Choice>
              <mc:Fallback>
                <p:oleObj name="Image" r:id="rId3" imgW="11709400" imgH="4241800" progId="Photoshop.Image.6">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8731" y="1054656"/>
                        <a:ext cx="6586538" cy="2386013"/>
                      </a:xfrm>
                      <a:prstGeom prst="rect">
                        <a:avLst/>
                      </a:prstGeom>
                      <a:noFill/>
                      <a:ln>
                        <a:noFill/>
                      </a:ln>
                      <a:effectLst>
                        <a:outerShdw dist="107763" dir="2700000" algn="ctr" rotWithShape="0">
                          <a:schemeClr val="tx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3007" name="AutoShape 15"/>
          <p:cNvSpPr>
            <a:spLocks noChangeArrowheads="1"/>
          </p:cNvSpPr>
          <p:nvPr/>
        </p:nvSpPr>
        <p:spPr bwMode="auto">
          <a:xfrm>
            <a:off x="6286500" y="3768090"/>
            <a:ext cx="1028700" cy="400050"/>
          </a:xfrm>
          <a:prstGeom prst="wedgeRectCallout">
            <a:avLst>
              <a:gd name="adj1" fmla="val -93056"/>
              <a:gd name="adj2" fmla="val -162204"/>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1">
              <a:latin typeface="Times New Roman" panose="02020603050405020304" pitchFamily="18" charset="0"/>
            </a:endParaRPr>
          </a:p>
        </p:txBody>
      </p:sp>
      <p:sp>
        <p:nvSpPr>
          <p:cNvPr id="213008" name="Text Box 16"/>
          <p:cNvSpPr txBox="1">
            <a:spLocks noChangeArrowheads="1"/>
          </p:cNvSpPr>
          <p:nvPr/>
        </p:nvSpPr>
        <p:spPr bwMode="auto">
          <a:xfrm>
            <a:off x="6286500" y="3768090"/>
            <a:ext cx="1214438" cy="4140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RM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70</a:t>
            </a:r>
            <a:endParaRPr kumimoji="1" lang="en-US" altLang="zh-CN" b="1">
              <a:solidFill>
                <a:srgbClr val="000000"/>
              </a:solidFill>
              <a:latin typeface="Times New Roman" panose="02020603050405020304" pitchFamily="18" charset="0"/>
            </a:endParaRPr>
          </a:p>
        </p:txBody>
      </p:sp>
      <p:sp>
        <p:nvSpPr>
          <p:cNvPr id="213009" name="Text Box 17"/>
          <p:cNvSpPr txBox="1">
            <a:spLocks noChangeArrowheads="1"/>
          </p:cNvSpPr>
          <p:nvPr/>
        </p:nvSpPr>
        <p:spPr bwMode="auto">
          <a:xfrm>
            <a:off x="1331119" y="1109425"/>
            <a:ext cx="2286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u="sng">
                <a:solidFill>
                  <a:srgbClr val="CC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Remove Leaf</a:t>
            </a:r>
            <a:endParaRPr kumimoji="1" lang="en-US" altLang="zh-CN" sz="1500">
              <a:solidFill>
                <a:srgbClr val="CC0000"/>
              </a:solidFill>
              <a:latin typeface="Times New Roman" panose="02020603050405020304" pitchFamily="18" charset="0"/>
            </a:endParaRPr>
          </a:p>
        </p:txBody>
      </p:sp>
      <p:sp>
        <p:nvSpPr>
          <p:cNvPr id="213010" name="Rectangle 18"/>
          <p:cNvSpPr>
            <a:spLocks noChangeArrowheads="1"/>
          </p:cNvSpPr>
          <p:nvPr/>
        </p:nvSpPr>
        <p:spPr bwMode="auto">
          <a:xfrm>
            <a:off x="6571060" y="1271350"/>
            <a:ext cx="1241822" cy="377428"/>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Remove 70</a:t>
            </a:r>
            <a:endParaRPr lang="en-US" altLang="zh-CN" sz="1350" b="1">
              <a:solidFill>
                <a:srgbClr val="000000"/>
              </a:solidFill>
            </a:endParaRPr>
          </a:p>
        </p:txBody>
      </p:sp>
      <p:sp>
        <p:nvSpPr>
          <p:cNvPr id="213011" name="Rectangle 19"/>
          <p:cNvSpPr>
            <a:spLocks noChangeArrowheads="1"/>
          </p:cNvSpPr>
          <p:nvPr/>
        </p:nvSpPr>
        <p:spPr bwMode="auto">
          <a:xfrm>
            <a:off x="6571060" y="2027396"/>
            <a:ext cx="1241822" cy="377429"/>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Adjust  f, c, g</a:t>
            </a:r>
            <a:endParaRPr lang="en-US" altLang="zh-CN" sz="1350" b="1">
              <a:solidFill>
                <a:srgbClr val="000000"/>
              </a:solidFill>
            </a:endParaRPr>
          </a:p>
        </p:txBody>
      </p:sp>
      <p:sp>
        <p:nvSpPr>
          <p:cNvPr id="213012" name="AutoShape 20"/>
          <p:cNvSpPr>
            <a:spLocks noChangeArrowheads="1"/>
          </p:cNvSpPr>
          <p:nvPr/>
        </p:nvSpPr>
        <p:spPr bwMode="auto">
          <a:xfrm>
            <a:off x="1818085" y="3539490"/>
            <a:ext cx="432197" cy="1026319"/>
          </a:xfrm>
          <a:prstGeom prst="downArrow">
            <a:avLst>
              <a:gd name="adj1" fmla="val 50000"/>
              <a:gd name="adj2" fmla="val 59366"/>
            </a:avLst>
          </a:prstGeom>
          <a:solidFill>
            <a:srgbClr val="FFFF66"/>
          </a:solidFill>
          <a:ln w="9525">
            <a:solidFill>
              <a:srgbClr val="000000"/>
            </a:solidFill>
            <a:miter lim="800000"/>
          </a:ln>
          <a:effectLst>
            <a:outerShdw dist="35921" dir="2700000" algn="ctr" rotWithShape="0">
              <a:schemeClr val="bg2"/>
            </a:outerShdw>
          </a:effectLst>
        </p:spPr>
        <p:txBody>
          <a:bodyPr vert="eaVert" wrap="none" anchor="ctr"/>
          <a:lstStyle/>
          <a:p>
            <a:endParaRPr lang="zh-CN" altLang="en-US" sz="1350"/>
          </a:p>
        </p:txBody>
      </p:sp>
      <p:sp>
        <p:nvSpPr>
          <p:cNvPr id="213013" name="Rectangle 21"/>
          <p:cNvSpPr>
            <a:spLocks noChangeArrowheads="1"/>
          </p:cNvSpPr>
          <p:nvPr/>
        </p:nvSpPr>
        <p:spPr bwMode="auto">
          <a:xfrm>
            <a:off x="6569869" y="1670209"/>
            <a:ext cx="1243013" cy="325041"/>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nvGrpSpPr>
          <p:cNvPr id="213014" name="Group 22"/>
          <p:cNvGrpSpPr/>
          <p:nvPr/>
        </p:nvGrpSpPr>
        <p:grpSpPr bwMode="auto">
          <a:xfrm>
            <a:off x="5382816" y="2800112"/>
            <a:ext cx="323850" cy="323850"/>
            <a:chOff x="2360" y="1568"/>
            <a:chExt cx="272" cy="272"/>
          </a:xfrm>
        </p:grpSpPr>
        <p:sp>
          <p:nvSpPr>
            <p:cNvPr id="213015" name="Oval 23"/>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3016" name="Line 24"/>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3017" name="Line 25"/>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30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graphicFrame>
        <p:nvGraphicFramePr>
          <p:cNvPr id="214030" name="Object 14"/>
          <p:cNvGraphicFramePr>
            <a:graphicFrameLocks noChangeAspect="1"/>
          </p:cNvGraphicFramePr>
          <p:nvPr/>
        </p:nvGraphicFramePr>
        <p:xfrm>
          <a:off x="1378744" y="1062038"/>
          <a:ext cx="6487716" cy="2443163"/>
        </p:xfrm>
        <a:graphic>
          <a:graphicData uri="http://schemas.openxmlformats.org/presentationml/2006/ole">
            <mc:AlternateContent xmlns:mc="http://schemas.openxmlformats.org/markup-compatibility/2006">
              <mc:Choice xmlns:v="urn:schemas-microsoft-com:vml" Requires="v">
                <p:oleObj spid="_x0000_s214374" name="Image" r:id="rId1" imgW="11353800" imgH="4343400" progId="Photoshop.Image.6">
                  <p:embed/>
                </p:oleObj>
              </mc:Choice>
              <mc:Fallback>
                <p:oleObj name="Image" r:id="rId1" imgW="11353800" imgH="4343400" progId="Photoshop.Image.6">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8744" y="1062038"/>
                        <a:ext cx="6487716" cy="2443163"/>
                      </a:xfrm>
                      <a:prstGeom prst="rect">
                        <a:avLst/>
                      </a:prstGeom>
                      <a:noFill/>
                      <a:ln>
                        <a:noFill/>
                      </a:ln>
                      <a:effectLst>
                        <a:outerShdw dist="107763" dir="2700000" algn="ctr" rotWithShape="0">
                          <a:schemeClr val="tx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14031" name="Object 15"/>
          <p:cNvGraphicFramePr>
            <a:graphicFrameLocks noChangeAspect="1"/>
          </p:cNvGraphicFramePr>
          <p:nvPr/>
        </p:nvGraphicFramePr>
        <p:xfrm>
          <a:off x="1378744" y="3505200"/>
          <a:ext cx="6487716" cy="2438400"/>
        </p:xfrm>
        <a:graphic>
          <a:graphicData uri="http://schemas.openxmlformats.org/presentationml/2006/ole">
            <mc:AlternateContent xmlns:mc="http://schemas.openxmlformats.org/markup-compatibility/2006">
              <mc:Choice xmlns:v="urn:schemas-microsoft-com:vml" Requires="v">
                <p:oleObj spid="_x0000_s214375" name="Image" r:id="rId3" imgW="8686800" imgH="4343400" progId="Photoshop.Image.6">
                  <p:embed/>
                </p:oleObj>
              </mc:Choice>
              <mc:Fallback>
                <p:oleObj name="Image" r:id="rId3" imgW="8686800" imgH="4343400" progId="Photoshop.Image.6">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r="-30577"/>
                      <a:stretch>
                        <a:fillRect/>
                      </a:stretch>
                    </p:blipFill>
                    <p:spPr bwMode="auto">
                      <a:xfrm>
                        <a:off x="1378744" y="3505200"/>
                        <a:ext cx="6487716" cy="2438400"/>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4032" name="AutoShape 16"/>
          <p:cNvSpPr>
            <a:spLocks noChangeArrowheads="1"/>
          </p:cNvSpPr>
          <p:nvPr/>
        </p:nvSpPr>
        <p:spPr bwMode="auto">
          <a:xfrm>
            <a:off x="5166122" y="3558778"/>
            <a:ext cx="971550" cy="400050"/>
          </a:xfrm>
          <a:prstGeom prst="wedgeRectCallout">
            <a:avLst>
              <a:gd name="adj1" fmla="val -131370"/>
              <a:gd name="adj2" fmla="val -142560"/>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RM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55</a:t>
            </a:r>
            <a:endPar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endParaRPr>
          </a:p>
        </p:txBody>
      </p:sp>
      <p:sp>
        <p:nvSpPr>
          <p:cNvPr id="214034" name="Rectangle 18"/>
          <p:cNvSpPr>
            <a:spLocks noChangeArrowheads="1"/>
          </p:cNvSpPr>
          <p:nvPr/>
        </p:nvSpPr>
        <p:spPr bwMode="auto">
          <a:xfrm>
            <a:off x="6354366" y="4822031"/>
            <a:ext cx="1435735" cy="82994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u="sng">
                <a:solidFill>
                  <a:srgbClr val="CC0000"/>
                </a:solidFill>
                <a:latin typeface="Times New Roman" panose="02020603050405020304" pitchFamily="18" charset="0"/>
                <a:ea typeface="仿宋_GB2312" panose="02010609030101010101" pitchFamily="49" charset="-122"/>
              </a:rPr>
              <a:t>Merging</a:t>
            </a:r>
            <a:endParaRPr kumimoji="1" lang="en-US" altLang="zh-CN" sz="2400" b="1" u="sng">
              <a:solidFill>
                <a:srgbClr val="CC0000"/>
              </a:solidFill>
              <a:latin typeface="Times New Roman" panose="02020603050405020304" pitchFamily="18" charset="0"/>
              <a:ea typeface="仿宋_GB2312" panose="02010609030101010101" pitchFamily="49" charset="-122"/>
            </a:endParaRPr>
          </a:p>
          <a:p>
            <a:r>
              <a:rPr kumimoji="1" lang="en-US" altLang="zh-CN" sz="2400" b="1" u="sng">
                <a:solidFill>
                  <a:srgbClr val="CC0000"/>
                </a:solidFill>
                <a:latin typeface="Times New Roman" panose="02020603050405020304" pitchFamily="18" charset="0"/>
                <a:ea typeface="仿宋_GB2312" panose="02010609030101010101" pitchFamily="49" charset="-122"/>
              </a:rPr>
              <a:t>operation</a:t>
            </a:r>
            <a:endParaRPr kumimoji="1" lang="en-US" altLang="zh-CN" sz="1500" b="1">
              <a:solidFill>
                <a:srgbClr val="CC0000"/>
              </a:solidFill>
              <a:latin typeface="Times New Roman" panose="02020603050405020304" pitchFamily="18" charset="0"/>
            </a:endParaRPr>
          </a:p>
        </p:txBody>
      </p:sp>
      <p:sp>
        <p:nvSpPr>
          <p:cNvPr id="214035" name="Text Box 19"/>
          <p:cNvSpPr txBox="1">
            <a:spLocks noChangeArrowheads="1"/>
          </p:cNvSpPr>
          <p:nvPr/>
        </p:nvSpPr>
        <p:spPr bwMode="auto">
          <a:xfrm>
            <a:off x="1331119" y="1075135"/>
            <a:ext cx="2286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u="sng">
                <a:solidFill>
                  <a:srgbClr val="CC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Remove Leaf</a:t>
            </a:r>
            <a:endParaRPr kumimoji="1" lang="en-US" altLang="zh-CN" sz="1500">
              <a:solidFill>
                <a:srgbClr val="CC0000"/>
              </a:solidFill>
              <a:latin typeface="Times New Roman" panose="02020603050405020304" pitchFamily="18" charset="0"/>
            </a:endParaRPr>
          </a:p>
        </p:txBody>
      </p:sp>
      <p:sp>
        <p:nvSpPr>
          <p:cNvPr id="214037" name="Rectangle 21"/>
          <p:cNvSpPr>
            <a:spLocks noChangeArrowheads="1"/>
          </p:cNvSpPr>
          <p:nvPr/>
        </p:nvSpPr>
        <p:spPr bwMode="auto">
          <a:xfrm>
            <a:off x="6571060" y="2371725"/>
            <a:ext cx="1241822" cy="377429"/>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Merge  f, g</a:t>
            </a:r>
            <a:endParaRPr lang="en-US" altLang="zh-CN" sz="1350" b="1">
              <a:solidFill>
                <a:srgbClr val="000000"/>
              </a:solidFill>
            </a:endParaRPr>
          </a:p>
        </p:txBody>
      </p:sp>
      <p:sp>
        <p:nvSpPr>
          <p:cNvPr id="214038" name="AutoShape 22"/>
          <p:cNvSpPr>
            <a:spLocks noChangeArrowheads="1"/>
          </p:cNvSpPr>
          <p:nvPr/>
        </p:nvSpPr>
        <p:spPr bwMode="auto">
          <a:xfrm>
            <a:off x="1494235" y="3505200"/>
            <a:ext cx="432197" cy="1026319"/>
          </a:xfrm>
          <a:prstGeom prst="downArrow">
            <a:avLst>
              <a:gd name="adj1" fmla="val 50000"/>
              <a:gd name="adj2" fmla="val 59366"/>
            </a:avLst>
          </a:prstGeom>
          <a:solidFill>
            <a:srgbClr val="FFFF66"/>
          </a:solidFill>
          <a:ln w="9525">
            <a:solidFill>
              <a:srgbClr val="000000"/>
            </a:solidFill>
            <a:miter lim="800000"/>
          </a:ln>
          <a:effectLst>
            <a:outerShdw dist="35921" dir="2700000" algn="ctr" rotWithShape="0">
              <a:schemeClr val="bg2"/>
            </a:outerShdw>
          </a:effectLst>
        </p:spPr>
        <p:txBody>
          <a:bodyPr vert="eaVert" wrap="none" anchor="ctr"/>
          <a:lstStyle/>
          <a:p>
            <a:endParaRPr lang="zh-CN" altLang="en-US" sz="1350"/>
          </a:p>
        </p:txBody>
      </p:sp>
      <p:sp>
        <p:nvSpPr>
          <p:cNvPr id="214039" name="Rectangle 23"/>
          <p:cNvSpPr>
            <a:spLocks noChangeArrowheads="1"/>
          </p:cNvSpPr>
          <p:nvPr/>
        </p:nvSpPr>
        <p:spPr bwMode="auto">
          <a:xfrm>
            <a:off x="6569869" y="2078831"/>
            <a:ext cx="1246585" cy="23693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4036" name="Rectangle 20"/>
          <p:cNvSpPr>
            <a:spLocks noChangeArrowheads="1"/>
          </p:cNvSpPr>
          <p:nvPr/>
        </p:nvSpPr>
        <p:spPr bwMode="auto">
          <a:xfrm>
            <a:off x="6571060" y="1722835"/>
            <a:ext cx="1241822" cy="377428"/>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Remove 55</a:t>
            </a:r>
            <a:endParaRPr lang="en-US" altLang="zh-CN" sz="1350" b="1">
              <a:solidFill>
                <a:srgbClr val="000000"/>
              </a:solidFill>
            </a:endParaRPr>
          </a:p>
        </p:txBody>
      </p:sp>
      <p:grpSp>
        <p:nvGrpSpPr>
          <p:cNvPr id="214040" name="Group 24"/>
          <p:cNvGrpSpPr/>
          <p:nvPr/>
        </p:nvGrpSpPr>
        <p:grpSpPr bwMode="auto">
          <a:xfrm>
            <a:off x="4123135" y="2827735"/>
            <a:ext cx="323850" cy="323850"/>
            <a:chOff x="2360" y="1568"/>
            <a:chExt cx="272" cy="272"/>
          </a:xfrm>
        </p:grpSpPr>
        <p:sp>
          <p:nvSpPr>
            <p:cNvPr id="214041" name="Oval 25"/>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4042" name="Line 26"/>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4043" name="Line 27"/>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graphicFrame>
        <p:nvGraphicFramePr>
          <p:cNvPr id="215053" name="Object 13"/>
          <p:cNvGraphicFramePr>
            <a:graphicFrameLocks noChangeAspect="1"/>
          </p:cNvGraphicFramePr>
          <p:nvPr/>
        </p:nvGraphicFramePr>
        <p:xfrm>
          <a:off x="1245394" y="3547110"/>
          <a:ext cx="6621066" cy="2500313"/>
        </p:xfrm>
        <a:graphic>
          <a:graphicData uri="http://schemas.openxmlformats.org/presentationml/2006/ole">
            <mc:AlternateContent xmlns:mc="http://schemas.openxmlformats.org/markup-compatibility/2006">
              <mc:Choice xmlns:v="urn:schemas-microsoft-com:vml" Requires="v">
                <p:oleObj spid="_x0000_s215400" name="Image" r:id="rId1" imgW="9118600" imgH="4292600" progId="Photoshop.Image.6">
                  <p:embed/>
                </p:oleObj>
              </mc:Choice>
              <mc:Fallback>
                <p:oleObj name="Image" r:id="rId1" imgW="9118600" imgH="4292600" progId="Photoshop.Image.6">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r="-24715"/>
                      <a:stretch>
                        <a:fillRect/>
                      </a:stretch>
                    </p:blipFill>
                    <p:spPr bwMode="auto">
                      <a:xfrm>
                        <a:off x="1245394" y="3547110"/>
                        <a:ext cx="6621066" cy="2500313"/>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15056" name="Object 16"/>
          <p:cNvGraphicFramePr>
            <a:graphicFrameLocks noChangeAspect="1"/>
          </p:cNvGraphicFramePr>
          <p:nvPr/>
        </p:nvGraphicFramePr>
        <p:xfrm>
          <a:off x="1235869" y="1008698"/>
          <a:ext cx="6619875" cy="2414588"/>
        </p:xfrm>
        <a:graphic>
          <a:graphicData uri="http://schemas.openxmlformats.org/presentationml/2006/ole">
            <mc:AlternateContent xmlns:mc="http://schemas.openxmlformats.org/markup-compatibility/2006">
              <mc:Choice xmlns:v="urn:schemas-microsoft-com:vml" Requires="v">
                <p:oleObj spid="_x0000_s215401" name="Image" r:id="rId3" imgW="11861800" imgH="4292600" progId="Photoshop.Image.6">
                  <p:embed/>
                </p:oleObj>
              </mc:Choice>
              <mc:Fallback>
                <p:oleObj name="Image" r:id="rId3" imgW="11861800" imgH="4292600" progId="Photoshop.Image.6">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r="786"/>
                      <a:stretch>
                        <a:fillRect/>
                      </a:stretch>
                    </p:blipFill>
                    <p:spPr bwMode="auto">
                      <a:xfrm>
                        <a:off x="1235869" y="1008698"/>
                        <a:ext cx="6619875" cy="2414588"/>
                      </a:xfrm>
                      <a:prstGeom prst="rect">
                        <a:avLst/>
                      </a:prstGeom>
                      <a:noFill/>
                      <a:ln>
                        <a:noFill/>
                      </a:ln>
                      <a:effectLst>
                        <a:outerShdw dist="107763" dir="2700000" algn="ctr" rotWithShape="0">
                          <a:schemeClr val="tx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5057" name="Text Box 17"/>
          <p:cNvSpPr txBox="1">
            <a:spLocks noChangeArrowheads="1"/>
          </p:cNvSpPr>
          <p:nvPr/>
        </p:nvSpPr>
        <p:spPr bwMode="auto">
          <a:xfrm>
            <a:off x="1331119" y="1117045"/>
            <a:ext cx="2286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u="sng">
                <a:solidFill>
                  <a:srgbClr val="CC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Remove Leaf</a:t>
            </a:r>
            <a:endParaRPr kumimoji="1" lang="en-US" altLang="zh-CN" sz="1500">
              <a:solidFill>
                <a:srgbClr val="CC0000"/>
              </a:solidFill>
              <a:latin typeface="Times New Roman" panose="02020603050405020304" pitchFamily="18" charset="0"/>
            </a:endParaRPr>
          </a:p>
        </p:txBody>
      </p:sp>
      <p:sp>
        <p:nvSpPr>
          <p:cNvPr id="215060" name="Rectangle 20"/>
          <p:cNvSpPr>
            <a:spLocks noChangeArrowheads="1"/>
          </p:cNvSpPr>
          <p:nvPr/>
        </p:nvSpPr>
        <p:spPr bwMode="auto">
          <a:xfrm>
            <a:off x="6569869" y="2068354"/>
            <a:ext cx="1246585" cy="23693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5061" name="AutoShape 21"/>
          <p:cNvSpPr>
            <a:spLocks noChangeArrowheads="1"/>
          </p:cNvSpPr>
          <p:nvPr/>
        </p:nvSpPr>
        <p:spPr bwMode="auto">
          <a:xfrm>
            <a:off x="1385888" y="3655457"/>
            <a:ext cx="432197" cy="1026319"/>
          </a:xfrm>
          <a:prstGeom prst="downArrow">
            <a:avLst>
              <a:gd name="adj1" fmla="val 50000"/>
              <a:gd name="adj2" fmla="val 59366"/>
            </a:avLst>
          </a:prstGeom>
          <a:solidFill>
            <a:srgbClr val="FFFF66"/>
          </a:solidFill>
          <a:ln w="9525">
            <a:solidFill>
              <a:srgbClr val="000000"/>
            </a:solidFill>
            <a:miter lim="800000"/>
          </a:ln>
          <a:effectLst>
            <a:outerShdw dist="35921" dir="2700000" algn="ctr" rotWithShape="0">
              <a:schemeClr val="bg2"/>
            </a:outerShdw>
          </a:effectLst>
        </p:spPr>
        <p:txBody>
          <a:bodyPr vert="eaVert" wrap="none" anchor="ctr"/>
          <a:lstStyle/>
          <a:p>
            <a:endParaRPr lang="zh-CN" altLang="en-US" sz="1350"/>
          </a:p>
        </p:txBody>
      </p:sp>
      <p:sp>
        <p:nvSpPr>
          <p:cNvPr id="215054" name="AutoShape 14"/>
          <p:cNvSpPr>
            <a:spLocks noChangeArrowheads="1"/>
          </p:cNvSpPr>
          <p:nvPr/>
        </p:nvSpPr>
        <p:spPr bwMode="auto">
          <a:xfrm>
            <a:off x="6629400" y="4004310"/>
            <a:ext cx="1028700" cy="457200"/>
          </a:xfrm>
          <a:prstGeom prst="wedgeRectCallout">
            <a:avLst>
              <a:gd name="adj1" fmla="val -81366"/>
              <a:gd name="adj2" fmla="val -245051"/>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100" b="1">
                <a:solidFill>
                  <a:srgbClr val="000000"/>
                </a:solidFill>
                <a:latin typeface="Times New Roman" panose="02020603050405020304" pitchFamily="18" charset="0"/>
                <a:ea typeface="仿宋_GB2312" panose="02010609030101010101" pitchFamily="49" charset="-122"/>
              </a:rPr>
              <a:t>RM </a:t>
            </a:r>
            <a:r>
              <a:rPr kumimoji="1" lang="en-US" altLang="zh-CN" sz="2100" b="1">
                <a:solidFill>
                  <a:srgbClr val="000000"/>
                </a:solidFill>
                <a:latin typeface="Times New Roman" panose="02020603050405020304" pitchFamily="18" charset="0"/>
                <a:ea typeface="楷体_GB2312" panose="02010609030101010101" pitchFamily="49" charset="-122"/>
              </a:rPr>
              <a:t>80</a:t>
            </a:r>
            <a:endParaRPr kumimoji="1" lang="en-US" altLang="zh-CN" b="1">
              <a:latin typeface="Times New Roman" panose="02020603050405020304" pitchFamily="18" charset="0"/>
            </a:endParaRPr>
          </a:p>
        </p:txBody>
      </p:sp>
      <p:sp>
        <p:nvSpPr>
          <p:cNvPr id="215059" name="Rectangle 19"/>
          <p:cNvSpPr>
            <a:spLocks noChangeArrowheads="1"/>
          </p:cNvSpPr>
          <p:nvPr/>
        </p:nvSpPr>
        <p:spPr bwMode="auto">
          <a:xfrm>
            <a:off x="6571060" y="2250520"/>
            <a:ext cx="1241822" cy="377428"/>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Merge  g, h</a:t>
            </a:r>
            <a:endParaRPr lang="en-US" altLang="zh-CN" sz="1350" b="1">
              <a:solidFill>
                <a:srgbClr val="000000"/>
              </a:solidFill>
            </a:endParaRPr>
          </a:p>
        </p:txBody>
      </p:sp>
      <p:sp>
        <p:nvSpPr>
          <p:cNvPr id="215058" name="Rectangle 18"/>
          <p:cNvSpPr>
            <a:spLocks noChangeArrowheads="1"/>
          </p:cNvSpPr>
          <p:nvPr/>
        </p:nvSpPr>
        <p:spPr bwMode="auto">
          <a:xfrm>
            <a:off x="6571060" y="1679020"/>
            <a:ext cx="1241822" cy="377428"/>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Remove 55</a:t>
            </a:r>
            <a:endParaRPr lang="en-US" altLang="zh-CN" sz="1350" b="1">
              <a:solidFill>
                <a:srgbClr val="000000"/>
              </a:solidFill>
            </a:endParaRPr>
          </a:p>
        </p:txBody>
      </p:sp>
      <p:grpSp>
        <p:nvGrpSpPr>
          <p:cNvPr id="215062" name="Group 22"/>
          <p:cNvGrpSpPr/>
          <p:nvPr/>
        </p:nvGrpSpPr>
        <p:grpSpPr bwMode="auto">
          <a:xfrm>
            <a:off x="6100763" y="2747010"/>
            <a:ext cx="323850" cy="323850"/>
            <a:chOff x="2360" y="1568"/>
            <a:chExt cx="272" cy="272"/>
          </a:xfrm>
        </p:grpSpPr>
        <p:sp>
          <p:nvSpPr>
            <p:cNvPr id="215063" name="Oval 23"/>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5064" name="Line 24"/>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5065" name="Line 25"/>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graphicFrame>
        <p:nvGraphicFramePr>
          <p:cNvPr id="216079" name="Object 15"/>
          <p:cNvGraphicFramePr>
            <a:graphicFrameLocks noChangeAspect="1"/>
          </p:cNvGraphicFramePr>
          <p:nvPr/>
        </p:nvGraphicFramePr>
        <p:xfrm>
          <a:off x="1385888" y="3598545"/>
          <a:ext cx="6334125" cy="2386013"/>
        </p:xfrm>
        <a:graphic>
          <a:graphicData uri="http://schemas.openxmlformats.org/presentationml/2006/ole">
            <mc:AlternateContent xmlns:mc="http://schemas.openxmlformats.org/markup-compatibility/2006">
              <mc:Choice xmlns:v="urn:schemas-microsoft-com:vml" Requires="v">
                <p:oleObj spid="_x0000_s216428" name="Image" r:id="rId1" imgW="9855200" imgH="4241800" progId="Photoshop.Image.6">
                  <p:embed/>
                </p:oleObj>
              </mc:Choice>
              <mc:Fallback>
                <p:oleObj name="Image" r:id="rId1" imgW="9855200" imgH="4241800" progId="Photoshop.Image.6">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l="-8763" r="-5498"/>
                      <a:stretch>
                        <a:fillRect/>
                      </a:stretch>
                    </p:blipFill>
                    <p:spPr bwMode="auto">
                      <a:xfrm>
                        <a:off x="1385888" y="3598545"/>
                        <a:ext cx="6334125" cy="2386013"/>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16080" name="Object 16"/>
          <p:cNvGraphicFramePr>
            <a:graphicFrameLocks noChangeAspect="1"/>
          </p:cNvGraphicFramePr>
          <p:nvPr/>
        </p:nvGraphicFramePr>
        <p:xfrm>
          <a:off x="1385888" y="1069658"/>
          <a:ext cx="6318647" cy="2386013"/>
        </p:xfrm>
        <a:graphic>
          <a:graphicData uri="http://schemas.openxmlformats.org/presentationml/2006/ole">
            <mc:AlternateContent xmlns:mc="http://schemas.openxmlformats.org/markup-compatibility/2006">
              <mc:Choice xmlns:v="urn:schemas-microsoft-com:vml" Requires="v">
                <p:oleObj spid="_x0000_s216429" name="Image" r:id="rId3" imgW="11277600" imgH="4241800" progId="Photoshop.Image.6">
                  <p:embed/>
                </p:oleObj>
              </mc:Choice>
              <mc:Fallback>
                <p:oleObj name="Image" r:id="rId3" imgW="11277600" imgH="4241800" progId="Photoshop.Image.6">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r="394"/>
                      <a:stretch>
                        <a:fillRect/>
                      </a:stretch>
                    </p:blipFill>
                    <p:spPr bwMode="auto">
                      <a:xfrm>
                        <a:off x="1385888" y="1069658"/>
                        <a:ext cx="6318647" cy="2386013"/>
                      </a:xfrm>
                      <a:prstGeom prst="rect">
                        <a:avLst/>
                      </a:prstGeom>
                      <a:noFill/>
                      <a:ln>
                        <a:noFill/>
                      </a:ln>
                      <a:effectLst>
                        <a:outerShdw dist="107763" dir="2700000" algn="ctr" rotWithShape="0">
                          <a:schemeClr val="tx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6081" name="Text Box 17"/>
          <p:cNvSpPr txBox="1">
            <a:spLocks noChangeArrowheads="1"/>
          </p:cNvSpPr>
          <p:nvPr/>
        </p:nvSpPr>
        <p:spPr bwMode="auto">
          <a:xfrm>
            <a:off x="896620" y="1123315"/>
            <a:ext cx="293243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u="sng">
                <a:solidFill>
                  <a:srgbClr val="CC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Remove inner node</a:t>
            </a:r>
            <a:endParaRPr kumimoji="1" lang="en-US" altLang="zh-CN" sz="1500">
              <a:solidFill>
                <a:srgbClr val="CC0000"/>
              </a:solidFill>
              <a:latin typeface="Times New Roman" panose="02020603050405020304" pitchFamily="18" charset="0"/>
            </a:endParaRPr>
          </a:p>
        </p:txBody>
      </p:sp>
      <p:sp>
        <p:nvSpPr>
          <p:cNvPr id="216082" name="AutoShape 18"/>
          <p:cNvSpPr>
            <a:spLocks noChangeArrowheads="1"/>
          </p:cNvSpPr>
          <p:nvPr/>
        </p:nvSpPr>
        <p:spPr bwMode="auto">
          <a:xfrm>
            <a:off x="5429250" y="1207770"/>
            <a:ext cx="971550" cy="400050"/>
          </a:xfrm>
          <a:prstGeom prst="wedgeRectCallout">
            <a:avLst>
              <a:gd name="adj1" fmla="val -129046"/>
              <a:gd name="adj2" fmla="val 22917"/>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1">
              <a:latin typeface="Times New Roman" panose="02020603050405020304" pitchFamily="18" charset="0"/>
            </a:endParaRPr>
          </a:p>
        </p:txBody>
      </p:sp>
      <p:sp>
        <p:nvSpPr>
          <p:cNvPr id="216083" name="Text Box 19"/>
          <p:cNvSpPr txBox="1">
            <a:spLocks noChangeArrowheads="1"/>
          </p:cNvSpPr>
          <p:nvPr/>
        </p:nvSpPr>
        <p:spPr bwMode="auto">
          <a:xfrm>
            <a:off x="5429250" y="1207770"/>
            <a:ext cx="1214438" cy="4140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RM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50</a:t>
            </a:r>
            <a:endParaRPr kumimoji="1" lang="en-US" altLang="zh-CN" b="1">
              <a:solidFill>
                <a:srgbClr val="000000"/>
              </a:solidFill>
              <a:latin typeface="Times New Roman" panose="02020603050405020304" pitchFamily="18" charset="0"/>
            </a:endParaRPr>
          </a:p>
        </p:txBody>
      </p:sp>
      <p:sp>
        <p:nvSpPr>
          <p:cNvPr id="216084" name="Line 20"/>
          <p:cNvSpPr>
            <a:spLocks noChangeShapeType="1"/>
          </p:cNvSpPr>
          <p:nvPr/>
        </p:nvSpPr>
        <p:spPr bwMode="auto">
          <a:xfrm>
            <a:off x="3829050" y="2236470"/>
            <a:ext cx="0" cy="342900"/>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6085" name="AutoShape 21"/>
          <p:cNvSpPr>
            <a:spLocks noChangeArrowheads="1"/>
          </p:cNvSpPr>
          <p:nvPr/>
        </p:nvSpPr>
        <p:spPr bwMode="auto">
          <a:xfrm>
            <a:off x="1485900" y="3722370"/>
            <a:ext cx="1028700" cy="400050"/>
          </a:xfrm>
          <a:prstGeom prst="wedgeRectCallout">
            <a:avLst>
              <a:gd name="adj1" fmla="val 161111"/>
              <a:gd name="adj2" fmla="val 33630"/>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1">
              <a:latin typeface="Times New Roman" panose="02020603050405020304" pitchFamily="18" charset="0"/>
            </a:endParaRPr>
          </a:p>
        </p:txBody>
      </p:sp>
      <p:sp>
        <p:nvSpPr>
          <p:cNvPr id="216086" name="Text Box 22"/>
          <p:cNvSpPr txBox="1">
            <a:spLocks noChangeArrowheads="1"/>
          </p:cNvSpPr>
          <p:nvPr/>
        </p:nvSpPr>
        <p:spPr bwMode="auto">
          <a:xfrm>
            <a:off x="1528763" y="3722370"/>
            <a:ext cx="1214438" cy="4140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RM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55</a:t>
            </a:r>
            <a:endParaRPr kumimoji="1" lang="en-US" altLang="zh-CN" b="1">
              <a:solidFill>
                <a:srgbClr val="000000"/>
              </a:solidFill>
              <a:latin typeface="Times New Roman" panose="02020603050405020304" pitchFamily="18" charset="0"/>
            </a:endParaRPr>
          </a:p>
        </p:txBody>
      </p:sp>
      <p:sp>
        <p:nvSpPr>
          <p:cNvPr id="216087" name="Rectangle 23"/>
          <p:cNvSpPr>
            <a:spLocks noChangeArrowheads="1"/>
          </p:cNvSpPr>
          <p:nvPr/>
        </p:nvSpPr>
        <p:spPr bwMode="auto">
          <a:xfrm>
            <a:off x="6624638" y="1555433"/>
            <a:ext cx="1079897" cy="972741"/>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6088" name="AutoShape 24"/>
          <p:cNvSpPr>
            <a:spLocks noChangeArrowheads="1"/>
          </p:cNvSpPr>
          <p:nvPr/>
        </p:nvSpPr>
        <p:spPr bwMode="auto">
          <a:xfrm>
            <a:off x="6731794" y="1934051"/>
            <a:ext cx="810816" cy="377429"/>
          </a:xfrm>
          <a:prstGeom prst="rightArrow">
            <a:avLst>
              <a:gd name="adj1" fmla="val 50000"/>
              <a:gd name="adj2" fmla="val 53707"/>
            </a:avLst>
          </a:prstGeom>
          <a:solidFill>
            <a:srgbClr val="FFFF66"/>
          </a:solidFill>
          <a:ln w="9525">
            <a:solidFill>
              <a:srgbClr val="000000"/>
            </a:solidFill>
            <a:miter lim="800000"/>
          </a:ln>
          <a:effectLst>
            <a:outerShdw dist="35921" dir="2700000" algn="ctr" rotWithShape="0">
              <a:schemeClr val="bg2">
                <a:alpha val="50000"/>
              </a:schemeClr>
            </a:outerShdw>
          </a:effectLst>
        </p:spPr>
        <p:txBody>
          <a:bodyPr wrap="none" anchor="ctr"/>
          <a:lstStyle/>
          <a:p>
            <a:endParaRPr lang="zh-CN" altLang="en-US" sz="1350"/>
          </a:p>
        </p:txBody>
      </p:sp>
      <p:sp>
        <p:nvSpPr>
          <p:cNvPr id="216089" name="AutoShape 25"/>
          <p:cNvSpPr>
            <a:spLocks noChangeArrowheads="1"/>
          </p:cNvSpPr>
          <p:nvPr/>
        </p:nvSpPr>
        <p:spPr bwMode="auto">
          <a:xfrm>
            <a:off x="6624638" y="4417695"/>
            <a:ext cx="810816" cy="377429"/>
          </a:xfrm>
          <a:prstGeom prst="rightArrow">
            <a:avLst>
              <a:gd name="adj1" fmla="val 50000"/>
              <a:gd name="adj2" fmla="val 53707"/>
            </a:avLst>
          </a:prstGeom>
          <a:solidFill>
            <a:srgbClr val="FFFF66"/>
          </a:solidFill>
          <a:ln w="9525">
            <a:solidFill>
              <a:srgbClr val="000000"/>
            </a:solidFill>
            <a:miter lim="800000"/>
          </a:ln>
          <a:effectLst>
            <a:outerShdw dist="35921" dir="2700000" algn="ctr" rotWithShape="0">
              <a:schemeClr val="bg2">
                <a:alpha val="50000"/>
              </a:schemeClr>
            </a:outerShdw>
          </a:effectLst>
        </p:spPr>
        <p:txBody>
          <a:bodyPr wrap="none" anchor="ctr"/>
          <a:lstStyle/>
          <a:p>
            <a:endParaRPr lang="zh-CN" altLang="en-US" sz="1350"/>
          </a:p>
        </p:txBody>
      </p:sp>
      <p:grpSp>
        <p:nvGrpSpPr>
          <p:cNvPr id="216090" name="Group 26"/>
          <p:cNvGrpSpPr/>
          <p:nvPr/>
        </p:nvGrpSpPr>
        <p:grpSpPr bwMode="auto">
          <a:xfrm>
            <a:off x="4031456" y="1339930"/>
            <a:ext cx="323850" cy="323850"/>
            <a:chOff x="2360" y="1568"/>
            <a:chExt cx="272" cy="272"/>
          </a:xfrm>
        </p:grpSpPr>
        <p:sp>
          <p:nvSpPr>
            <p:cNvPr id="216091" name="Oval 27"/>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6092" name="Line 28"/>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6093" name="Line 29"/>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grpSp>
        <p:nvGrpSpPr>
          <p:cNvPr id="216094" name="Group 30"/>
          <p:cNvGrpSpPr/>
          <p:nvPr/>
        </p:nvGrpSpPr>
        <p:grpSpPr bwMode="auto">
          <a:xfrm>
            <a:off x="4036219" y="3865245"/>
            <a:ext cx="323850" cy="323850"/>
            <a:chOff x="2360" y="1568"/>
            <a:chExt cx="272" cy="272"/>
          </a:xfrm>
        </p:grpSpPr>
        <p:sp>
          <p:nvSpPr>
            <p:cNvPr id="216095" name="Oval 31"/>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6096" name="Line 32"/>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6097" name="Line 33"/>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60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60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graphicFrame>
        <p:nvGraphicFramePr>
          <p:cNvPr id="217101" name="Object 13"/>
          <p:cNvGraphicFramePr>
            <a:graphicFrameLocks noChangeAspect="1"/>
          </p:cNvGraphicFramePr>
          <p:nvPr/>
        </p:nvGraphicFramePr>
        <p:xfrm>
          <a:off x="1266825" y="3463290"/>
          <a:ext cx="6599635" cy="2564606"/>
        </p:xfrm>
        <a:graphic>
          <a:graphicData uri="http://schemas.openxmlformats.org/presentationml/2006/ole">
            <mc:AlternateContent xmlns:mc="http://schemas.openxmlformats.org/markup-compatibility/2006">
              <mc:Choice xmlns:v="urn:schemas-microsoft-com:vml" Requires="v">
                <p:oleObj spid="_x0000_s217444" name="Image" r:id="rId1" imgW="8255000" imgH="4381500" progId="Photoshop.Image.6">
                  <p:embed/>
                </p:oleObj>
              </mc:Choice>
              <mc:Fallback>
                <p:oleObj name="Image" r:id="rId1" imgW="8255000" imgH="4381500" progId="Photoshop.Image.6">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l="-31010" r="-5626"/>
                      <a:stretch>
                        <a:fillRect/>
                      </a:stretch>
                    </p:blipFill>
                    <p:spPr bwMode="auto">
                      <a:xfrm>
                        <a:off x="1266825" y="3463290"/>
                        <a:ext cx="6599635" cy="2564606"/>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7103" name="AutoShape 15"/>
          <p:cNvSpPr>
            <a:spLocks noChangeArrowheads="1"/>
          </p:cNvSpPr>
          <p:nvPr/>
        </p:nvSpPr>
        <p:spPr bwMode="auto">
          <a:xfrm>
            <a:off x="6743700" y="4339590"/>
            <a:ext cx="971550" cy="400050"/>
          </a:xfrm>
          <a:prstGeom prst="wedgeRectCallout">
            <a:avLst>
              <a:gd name="adj1" fmla="val -146690"/>
              <a:gd name="adj2" fmla="val 41370"/>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endParaRPr kumimoji="1" lang="zh-CN" altLang="zh-CN" b="1">
              <a:latin typeface="Times New Roman" panose="02020603050405020304" pitchFamily="18" charset="0"/>
            </a:endParaRPr>
          </a:p>
        </p:txBody>
      </p:sp>
      <p:sp>
        <p:nvSpPr>
          <p:cNvPr id="217104" name="Text Box 16"/>
          <p:cNvSpPr txBox="1">
            <a:spLocks noChangeArrowheads="1"/>
          </p:cNvSpPr>
          <p:nvPr/>
        </p:nvSpPr>
        <p:spPr bwMode="auto">
          <a:xfrm>
            <a:off x="6729413" y="4350306"/>
            <a:ext cx="1028700" cy="4140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RM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70</a:t>
            </a:r>
            <a:endParaRPr kumimoji="1" lang="en-US" altLang="zh-CN" b="1">
              <a:solidFill>
                <a:srgbClr val="000000"/>
              </a:solidFill>
              <a:latin typeface="Times New Roman" panose="02020603050405020304" pitchFamily="18" charset="0"/>
            </a:endParaRPr>
          </a:p>
        </p:txBody>
      </p:sp>
      <p:graphicFrame>
        <p:nvGraphicFramePr>
          <p:cNvPr id="217102" name="Object 14"/>
          <p:cNvGraphicFramePr>
            <a:graphicFrameLocks noChangeAspect="1"/>
          </p:cNvGraphicFramePr>
          <p:nvPr/>
        </p:nvGraphicFramePr>
        <p:xfrm>
          <a:off x="1266825" y="1054656"/>
          <a:ext cx="6599635" cy="2464594"/>
        </p:xfrm>
        <a:graphic>
          <a:graphicData uri="http://schemas.openxmlformats.org/presentationml/2006/ole">
            <mc:AlternateContent xmlns:mc="http://schemas.openxmlformats.org/markup-compatibility/2006">
              <mc:Choice xmlns:v="urn:schemas-microsoft-com:vml" Requires="v">
                <p:oleObj spid="_x0000_s217445" name="Image" r:id="rId3" imgW="11582400" imgH="4381500" progId="Photoshop.Image.6">
                  <p:embed/>
                </p:oleObj>
              </mc:Choice>
              <mc:Fallback>
                <p:oleObj name="Image" r:id="rId3" imgW="11582400" imgH="4381500" progId="Photoshop.Image.6">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r="-726"/>
                      <a:stretch>
                        <a:fillRect/>
                      </a:stretch>
                    </p:blipFill>
                    <p:spPr bwMode="auto">
                      <a:xfrm>
                        <a:off x="1266825" y="1054656"/>
                        <a:ext cx="6599635" cy="2464594"/>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7106" name="Rectangle 18"/>
          <p:cNvSpPr>
            <a:spLocks noChangeArrowheads="1"/>
          </p:cNvSpPr>
          <p:nvPr/>
        </p:nvSpPr>
        <p:spPr bwMode="auto">
          <a:xfrm>
            <a:off x="1309688" y="1271350"/>
            <a:ext cx="1241822" cy="107989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7107" name="Rectangle 19"/>
          <p:cNvSpPr>
            <a:spLocks noChangeArrowheads="1"/>
          </p:cNvSpPr>
          <p:nvPr/>
        </p:nvSpPr>
        <p:spPr bwMode="auto">
          <a:xfrm>
            <a:off x="6571060" y="1703546"/>
            <a:ext cx="1241822" cy="27027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7108" name="AutoShape 20"/>
          <p:cNvSpPr>
            <a:spLocks noChangeArrowheads="1"/>
          </p:cNvSpPr>
          <p:nvPr/>
        </p:nvSpPr>
        <p:spPr bwMode="auto">
          <a:xfrm>
            <a:off x="1494235" y="4187190"/>
            <a:ext cx="377428" cy="917972"/>
          </a:xfrm>
          <a:prstGeom prst="downArrow">
            <a:avLst>
              <a:gd name="adj1" fmla="val 50000"/>
              <a:gd name="adj2" fmla="val 60805"/>
            </a:avLst>
          </a:prstGeom>
          <a:solidFill>
            <a:srgbClr val="FFFF66"/>
          </a:solidFill>
          <a:ln w="9525">
            <a:solidFill>
              <a:srgbClr val="000000"/>
            </a:solidFill>
            <a:miter lim="800000"/>
          </a:ln>
          <a:effectLst>
            <a:outerShdw dist="35921" dir="2700000" algn="ctr" rotWithShape="0">
              <a:schemeClr val="bg2"/>
            </a:outerShdw>
          </a:effectLst>
        </p:spPr>
        <p:txBody>
          <a:bodyPr vert="eaVert" wrap="none" anchor="ctr"/>
          <a:lstStyle/>
          <a:p>
            <a:endParaRPr lang="zh-CN" altLang="en-US" sz="1350"/>
          </a:p>
        </p:txBody>
      </p:sp>
      <p:sp>
        <p:nvSpPr>
          <p:cNvPr id="217109" name="AutoShape 21"/>
          <p:cNvSpPr>
            <a:spLocks noChangeArrowheads="1"/>
          </p:cNvSpPr>
          <p:nvPr/>
        </p:nvSpPr>
        <p:spPr bwMode="auto">
          <a:xfrm>
            <a:off x="1547813" y="1919050"/>
            <a:ext cx="810816" cy="377428"/>
          </a:xfrm>
          <a:prstGeom prst="rightArrow">
            <a:avLst>
              <a:gd name="adj1" fmla="val 50000"/>
              <a:gd name="adj2" fmla="val 53707"/>
            </a:avLst>
          </a:prstGeom>
          <a:solidFill>
            <a:srgbClr val="FFFF66"/>
          </a:solidFill>
          <a:ln w="9525">
            <a:solidFill>
              <a:srgbClr val="000000"/>
            </a:solidFill>
            <a:miter lim="800000"/>
          </a:ln>
          <a:effectLst>
            <a:outerShdw dist="35921" dir="2700000" algn="ctr" rotWithShape="0">
              <a:schemeClr val="bg2">
                <a:alpha val="50000"/>
              </a:schemeClr>
            </a:outerShdw>
          </a:effectLst>
        </p:spPr>
        <p:txBody>
          <a:bodyPr wrap="none" anchor="ctr"/>
          <a:lstStyle/>
          <a:p>
            <a:endParaRPr lang="zh-CN" altLang="en-US" sz="1350"/>
          </a:p>
        </p:txBody>
      </p:sp>
      <p:sp>
        <p:nvSpPr>
          <p:cNvPr id="217105" name="Rectangle 17"/>
          <p:cNvSpPr>
            <a:spLocks noChangeArrowheads="1"/>
          </p:cNvSpPr>
          <p:nvPr/>
        </p:nvSpPr>
        <p:spPr bwMode="auto">
          <a:xfrm>
            <a:off x="6571060" y="1973819"/>
            <a:ext cx="1241822" cy="377428"/>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Merge  f, g</a:t>
            </a:r>
            <a:endParaRPr lang="en-US" altLang="zh-CN" sz="1350" b="1">
              <a:solidFill>
                <a:srgbClr val="000000"/>
              </a:solidFill>
            </a:endParaRPr>
          </a:p>
        </p:txBody>
      </p:sp>
      <p:grpSp>
        <p:nvGrpSpPr>
          <p:cNvPr id="217110" name="Group 22"/>
          <p:cNvGrpSpPr/>
          <p:nvPr/>
        </p:nvGrpSpPr>
        <p:grpSpPr bwMode="auto">
          <a:xfrm>
            <a:off x="5328047" y="4549140"/>
            <a:ext cx="323850" cy="323850"/>
            <a:chOff x="2360" y="1568"/>
            <a:chExt cx="272" cy="272"/>
          </a:xfrm>
        </p:grpSpPr>
        <p:sp>
          <p:nvSpPr>
            <p:cNvPr id="217111" name="Oval 23"/>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7112" name="Line 24"/>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7113" name="Line 25"/>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7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graphicFrame>
        <p:nvGraphicFramePr>
          <p:cNvPr id="218122" name="Object 10"/>
          <p:cNvGraphicFramePr>
            <a:graphicFrameLocks noChangeAspect="1"/>
          </p:cNvGraphicFramePr>
          <p:nvPr/>
        </p:nvGraphicFramePr>
        <p:xfrm>
          <a:off x="1277541" y="3692605"/>
          <a:ext cx="6588919" cy="2291953"/>
        </p:xfrm>
        <a:graphic>
          <a:graphicData uri="http://schemas.openxmlformats.org/presentationml/2006/ole">
            <mc:AlternateContent xmlns:mc="http://schemas.openxmlformats.org/markup-compatibility/2006">
              <mc:Choice xmlns:v="urn:schemas-microsoft-com:vml" Requires="v">
                <p:oleObj spid="_x0000_s218462" name="Image" r:id="rId1" imgW="12319000" imgH="4381500" progId="Photoshop.Image.6">
                  <p:embed/>
                </p:oleObj>
              </mc:Choice>
              <mc:Fallback>
                <p:oleObj name="Image" r:id="rId1" imgW="12319000" imgH="4381500" progId="Photoshop.Image.6">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l="-1682" r="-554"/>
                      <a:stretch>
                        <a:fillRect/>
                      </a:stretch>
                    </p:blipFill>
                    <p:spPr bwMode="auto">
                      <a:xfrm>
                        <a:off x="1277541" y="3692605"/>
                        <a:ext cx="6588919" cy="2291953"/>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18123" name="Object 11"/>
          <p:cNvGraphicFramePr>
            <a:graphicFrameLocks noChangeAspect="1"/>
          </p:cNvGraphicFramePr>
          <p:nvPr/>
        </p:nvGraphicFramePr>
        <p:xfrm>
          <a:off x="1271588" y="1069658"/>
          <a:ext cx="6600825" cy="2464594"/>
        </p:xfrm>
        <a:graphic>
          <a:graphicData uri="http://schemas.openxmlformats.org/presentationml/2006/ole">
            <mc:AlternateContent xmlns:mc="http://schemas.openxmlformats.org/markup-compatibility/2006">
              <mc:Choice xmlns:v="urn:schemas-microsoft-com:vml" Requires="v">
                <p:oleObj spid="_x0000_s218463" name="Image" r:id="rId3" imgW="11734800" imgH="4381500" progId="Photoshop.Image.6">
                  <p:embed/>
                </p:oleObj>
              </mc:Choice>
              <mc:Fallback>
                <p:oleObj name="Image" r:id="rId3" imgW="11734800" imgH="4381500" progId="Photoshop.Image.6">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1588" y="1069658"/>
                        <a:ext cx="6600825" cy="2464594"/>
                      </a:xfrm>
                      <a:prstGeom prst="rect">
                        <a:avLst/>
                      </a:prstGeom>
                      <a:noFill/>
                      <a:ln>
                        <a:noFill/>
                      </a:ln>
                      <a:effectLst>
                        <a:outerShdw dist="107763" dir="2700000" algn="ctr" rotWithShape="0">
                          <a:schemeClr val="tx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8124" name="AutoShape 12"/>
          <p:cNvSpPr>
            <a:spLocks noChangeArrowheads="1"/>
          </p:cNvSpPr>
          <p:nvPr/>
        </p:nvSpPr>
        <p:spPr bwMode="auto">
          <a:xfrm>
            <a:off x="6800850" y="1264920"/>
            <a:ext cx="971550" cy="400050"/>
          </a:xfrm>
          <a:prstGeom prst="wedgeRectCallout">
            <a:avLst>
              <a:gd name="adj1" fmla="val -101102"/>
              <a:gd name="adj2" fmla="val 155653"/>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1">
              <a:latin typeface="Times New Roman" panose="02020603050405020304" pitchFamily="18" charset="0"/>
            </a:endParaRPr>
          </a:p>
        </p:txBody>
      </p:sp>
      <p:sp>
        <p:nvSpPr>
          <p:cNvPr id="218125" name="Text Box 13"/>
          <p:cNvSpPr txBox="1">
            <a:spLocks noChangeArrowheads="1"/>
          </p:cNvSpPr>
          <p:nvPr/>
        </p:nvSpPr>
        <p:spPr bwMode="auto">
          <a:xfrm>
            <a:off x="6786563" y="1264920"/>
            <a:ext cx="1079897" cy="4140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仿宋_GB2312" panose="02010609030101010101" pitchFamily="49" charset="-122"/>
              </a:rPr>
              <a:t>RM </a:t>
            </a:r>
            <a:r>
              <a:rPr kumimoji="1" lang="en-US" altLang="zh-CN" sz="2100" b="1">
                <a:solidFill>
                  <a:srgbClr val="000000"/>
                </a:solidFill>
                <a:effectLst>
                  <a:outerShdw blurRad="38100" dist="38100" dir="2700000" algn="tl">
                    <a:srgbClr val="FFFFFF"/>
                  </a:outerShdw>
                </a:effectLst>
                <a:latin typeface="Times New Roman" panose="02020603050405020304" pitchFamily="18" charset="0"/>
                <a:ea typeface="楷体_GB2312" panose="02010609030101010101" pitchFamily="49" charset="-122"/>
              </a:rPr>
              <a:t>75</a:t>
            </a:r>
            <a:endParaRPr kumimoji="1" lang="en-US" altLang="zh-CN" b="1">
              <a:solidFill>
                <a:srgbClr val="000000"/>
              </a:solidFill>
              <a:latin typeface="Times New Roman" panose="02020603050405020304" pitchFamily="18" charset="0"/>
            </a:endParaRPr>
          </a:p>
        </p:txBody>
      </p:sp>
      <p:sp>
        <p:nvSpPr>
          <p:cNvPr id="218126" name="Rectangle 14"/>
          <p:cNvSpPr>
            <a:spLocks noChangeArrowheads="1"/>
          </p:cNvSpPr>
          <p:nvPr/>
        </p:nvSpPr>
        <p:spPr bwMode="auto">
          <a:xfrm>
            <a:off x="1547813" y="1448276"/>
            <a:ext cx="1241822" cy="97155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8127" name="Rectangle 15"/>
          <p:cNvSpPr>
            <a:spLocks noChangeArrowheads="1"/>
          </p:cNvSpPr>
          <p:nvPr/>
        </p:nvSpPr>
        <p:spPr bwMode="auto">
          <a:xfrm>
            <a:off x="1494235" y="3878342"/>
            <a:ext cx="1241822" cy="97155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nvGrpSpPr>
          <p:cNvPr id="218128" name="Group 16"/>
          <p:cNvGrpSpPr/>
          <p:nvPr/>
        </p:nvGrpSpPr>
        <p:grpSpPr bwMode="auto">
          <a:xfrm>
            <a:off x="5706666" y="2095976"/>
            <a:ext cx="323850" cy="323850"/>
            <a:chOff x="2360" y="1568"/>
            <a:chExt cx="272" cy="272"/>
          </a:xfrm>
        </p:grpSpPr>
        <p:sp>
          <p:nvSpPr>
            <p:cNvPr id="218129" name="Oval 17"/>
            <p:cNvSpPr>
              <a:spLocks noChangeArrowheads="1"/>
            </p:cNvSpPr>
            <p:nvPr/>
          </p:nvSpPr>
          <p:spPr bwMode="auto">
            <a:xfrm>
              <a:off x="2360" y="1568"/>
              <a:ext cx="272" cy="272"/>
            </a:xfrm>
            <a:prstGeom prst="ellipse">
              <a:avLst/>
            </a:prstGeom>
            <a:solidFill>
              <a:srgbClr val="FF5050">
                <a:alpha val="3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sp>
          <p:nvSpPr>
            <p:cNvPr id="218130" name="Line 18"/>
            <p:cNvSpPr>
              <a:spLocks noChangeShapeType="1"/>
            </p:cNvSpPr>
            <p:nvPr/>
          </p:nvSpPr>
          <p:spPr bwMode="auto">
            <a:xfrm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8131" name="Line 19"/>
            <p:cNvSpPr>
              <a:spLocks noChangeShapeType="1"/>
            </p:cNvSpPr>
            <p:nvPr/>
          </p:nvSpPr>
          <p:spPr bwMode="auto">
            <a:xfrm flipH="1" flipV="1">
              <a:off x="2405" y="1591"/>
              <a:ext cx="182" cy="227"/>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sym typeface="+mn-ea"/>
              </a:rPr>
              <a:t>Example</a:t>
            </a:r>
            <a:endParaRPr lang="zh-CN" altLang="en-US"/>
          </a:p>
        </p:txBody>
      </p:sp>
      <p:pic>
        <p:nvPicPr>
          <p:cNvPr id="219143" name="Picture 7"/>
          <p:cNvPicPr>
            <a:picLocks noChangeAspect="1" noChangeArrowheads="1"/>
          </p:cNvPicPr>
          <p:nvPr/>
        </p:nvPicPr>
        <p:blipFill>
          <a:blip r:embed="rId1">
            <a:extLst>
              <a:ext uri="{28A0092B-C50C-407E-A947-70E740481C1C}">
                <a14:useLocalDpi xmlns:a14="http://schemas.microsoft.com/office/drawing/2010/main" val="0"/>
              </a:ext>
            </a:extLst>
          </a:blip>
          <a:srcRect l="2744"/>
          <a:stretch>
            <a:fillRect/>
          </a:stretch>
        </p:blipFill>
        <p:spPr bwMode="auto">
          <a:xfrm>
            <a:off x="1277541" y="2210991"/>
            <a:ext cx="6669881" cy="25146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4" name="Rectangle 8"/>
          <p:cNvSpPr>
            <a:spLocks noChangeArrowheads="1"/>
          </p:cNvSpPr>
          <p:nvPr/>
        </p:nvSpPr>
        <p:spPr bwMode="auto">
          <a:xfrm>
            <a:off x="1332310" y="3213497"/>
            <a:ext cx="1458515" cy="377428"/>
          </a:xfrm>
          <a:prstGeom prst="rect">
            <a:avLst/>
          </a:prstGeom>
          <a:solidFill>
            <a:srgbClr val="FFFF66"/>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sz="1350" b="1">
                <a:solidFill>
                  <a:srgbClr val="000000"/>
                </a:solidFill>
              </a:rPr>
              <a:t>Merge  f, c, h</a:t>
            </a:r>
            <a:endParaRPr lang="en-US" altLang="zh-CN" sz="1350" b="1">
              <a:solidFill>
                <a:srgbClr val="000000"/>
              </a:solidFill>
            </a:endParaRPr>
          </a:p>
        </p:txBody>
      </p:sp>
      <p:sp>
        <p:nvSpPr>
          <p:cNvPr id="219145" name="Rectangle 9"/>
          <p:cNvSpPr>
            <a:spLocks noChangeArrowheads="1"/>
          </p:cNvSpPr>
          <p:nvPr/>
        </p:nvSpPr>
        <p:spPr bwMode="auto">
          <a:xfrm>
            <a:off x="1332310" y="2832497"/>
            <a:ext cx="1458515" cy="37742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ea typeface="幼圆" panose="02010509060101010101" pitchFamily="49" charset="-122"/>
                <a:cs typeface="+mj-lt"/>
              </a:rPr>
              <a:t>8.5.4 </a:t>
            </a:r>
            <a:r>
              <a:rPr lang="en-US" altLang="zh-CN" b="1" kern="1200" dirty="0">
                <a:effectLst>
                  <a:outerShdw blurRad="38100" dist="25400" dir="5400000" algn="ctr" rotWithShape="0">
                    <a:srgbClr val="6E747A">
                      <a:alpha val="43000"/>
                    </a:srgbClr>
                  </a:outerShdw>
                </a:effectLst>
                <a:sym typeface="+mn-ea"/>
              </a:rPr>
              <a:t>B+</a:t>
            </a:r>
            <a:r>
              <a:rPr lang="zh-CN" altLang="en-US" b="1" kern="1200" dirty="0">
                <a:effectLst>
                  <a:outerShdw blurRad="38100" dist="25400" dir="5400000" algn="ctr" rotWithShape="0">
                    <a:srgbClr val="6E747A">
                      <a:alpha val="43000"/>
                    </a:srgbClr>
                  </a:outerShdw>
                </a:effectLst>
                <a:sym typeface="+mn-ea"/>
              </a:rPr>
              <a:t>树</a:t>
            </a:r>
            <a:endParaRPr kumimoji="1" lang="zh-CN" altLang="en-US" b="1" dirty="0">
              <a:solidFill>
                <a:schemeClr val="bg1"/>
              </a:solidFill>
              <a:effectLst>
                <a:outerShdw blurRad="38100" dist="25400" dir="5400000" algn="ctr" rotWithShape="0">
                  <a:srgbClr val="6E747A">
                    <a:alpha val="43000"/>
                  </a:srgbClr>
                </a:outerShdw>
              </a:effectLst>
              <a:ea typeface="幼圆" panose="02010509060101010101" pitchFamily="49" charset="-122"/>
              <a:cs typeface="+mj-lt"/>
              <a:sym typeface="+mn-ea"/>
            </a:endParaRPr>
          </a:p>
        </p:txBody>
      </p:sp>
      <p:sp>
        <p:nvSpPr>
          <p:cNvPr id="201730" name="Rectangle 2"/>
          <p:cNvSpPr>
            <a:spLocks noChangeArrowheads="1"/>
          </p:cNvSpPr>
          <p:nvPr/>
        </p:nvSpPr>
        <p:spPr bwMode="auto">
          <a:xfrm>
            <a:off x="473075" y="1008380"/>
            <a:ext cx="8324215" cy="544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50000"/>
              </a:lnSpc>
              <a:buClr>
                <a:srgbClr val="00B0F0"/>
              </a:buClr>
              <a:buFont typeface="Wingdings" panose="05000000000000000000" charset="0"/>
              <a:buChar char="l"/>
            </a:pPr>
            <a:r>
              <a:rPr kumimoji="1"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400" baseline="30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a:t>
            </a:r>
            <a:r>
              <a:rPr kumimoji="1" lang="zh-CN" altLang="en-US" sz="2400" dirty="0">
                <a:latin typeface="Times New Roman" panose="02020603050405020304" pitchFamily="18" charset="0"/>
                <a:ea typeface="幼圆" panose="02010509060101010101" pitchFamily="49" charset="-122"/>
                <a:cs typeface="Times New Roman" panose="02020603050405020304" pitchFamily="18" charset="0"/>
              </a:rPr>
              <a:t>是一种</a:t>
            </a:r>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400" dirty="0">
                <a:latin typeface="Times New Roman" panose="02020603050405020304" pitchFamily="18" charset="0"/>
                <a:ea typeface="幼圆" panose="02010509060101010101" pitchFamily="49" charset="-122"/>
                <a:cs typeface="Times New Roman" panose="02020603050405020304" pitchFamily="18" charset="0"/>
              </a:rPr>
              <a:t>树的变形树</a:t>
            </a:r>
            <a:r>
              <a:rPr kumimoji="1" lang="zh-CN" altLang="en-US" sz="2400" dirty="0">
                <a:solidFill>
                  <a:schemeClr val="accent1"/>
                </a:solidFill>
                <a:ea typeface="幼圆" panose="02010509060101010101" pitchFamily="49" charset="-122"/>
                <a:cs typeface="Times New Roman" panose="02020603050405020304" pitchFamily="18" charset="0"/>
                <a:sym typeface="+mn-ea"/>
              </a:rPr>
              <a:t>，</a:t>
            </a:r>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sym typeface="+mn-ea"/>
              </a:rPr>
              <a:t>广泛用于数据库和操作系统的文件系统中，用以保持数据有序并允许快速的查找、插入和删除操作。</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gn="just">
              <a:lnSpc>
                <a:spcPct val="150000"/>
              </a:lnSpc>
              <a:buClr>
                <a:srgbClr val="00B0F0"/>
              </a:buClr>
              <a:buFont typeface="Wingdings" panose="05000000000000000000" charset="0"/>
              <a:buChar char="l"/>
            </a:pPr>
            <a:r>
              <a:rPr kumimoji="1" lang="zh-CN" altLang="en-US" sz="2400" dirty="0">
                <a:latin typeface="Times New Roman" panose="02020603050405020304" pitchFamily="18" charset="0"/>
                <a:ea typeface="幼圆" panose="02010509060101010101" pitchFamily="49" charset="-122"/>
                <a:cs typeface="Times New Roman" panose="02020603050405020304" pitchFamily="18" charset="0"/>
              </a:rPr>
              <a:t>一棵</a:t>
            </a:r>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m</a:t>
            </a:r>
            <a:r>
              <a:rPr kumimoji="1" lang="zh-CN" altLang="en-US" sz="2400" dirty="0">
                <a:latin typeface="Times New Roman" panose="02020603050405020304" pitchFamily="18" charset="0"/>
                <a:ea typeface="幼圆" panose="02010509060101010101" pitchFamily="49" charset="-122"/>
                <a:cs typeface="Times New Roman" panose="02020603050405020304" pitchFamily="18" charset="0"/>
              </a:rPr>
              <a:t>阶的</a:t>
            </a:r>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400" baseline="30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400" dirty="0">
                <a:latin typeface="Times New Roman" panose="02020603050405020304" pitchFamily="18" charset="0"/>
                <a:ea typeface="幼圆" panose="02010509060101010101" pitchFamily="49" charset="-122"/>
                <a:cs typeface="Times New Roman" panose="02020603050405020304" pitchFamily="18" charset="0"/>
              </a:rPr>
              <a:t>树和</a:t>
            </a:r>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400" dirty="0">
                <a:latin typeface="Times New Roman" panose="02020603050405020304" pitchFamily="18" charset="0"/>
                <a:ea typeface="幼圆" panose="02010509060101010101" pitchFamily="49" charset="-122"/>
                <a:cs typeface="Times New Roman" panose="02020603050405020304" pitchFamily="18" charset="0"/>
              </a:rPr>
              <a:t>树的差异在于：</a:t>
            </a:r>
            <a:endParaRPr kumimoji="1" lang="zh-CN" altLang="en-US" sz="24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50000"/>
              </a:lnSpc>
              <a:spcBef>
                <a:spcPts val="600"/>
              </a:spcBef>
              <a:buClr>
                <a:srgbClr val="00B0F0"/>
              </a:buClr>
              <a:buFont typeface="+mj-ea"/>
              <a:buAutoNum type="circleNumDbPlain"/>
            </a:pP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rPr>
              <a:t>有</a:t>
            </a:r>
            <a:r>
              <a:rPr kumimoji="1" lang="en-US" altLang="zh-CN" sz="2200" dirty="0">
                <a:latin typeface="Times New Roman" panose="02020603050405020304" pitchFamily="18" charset="0"/>
                <a:ea typeface="幼圆" panose="02010509060101010101" pitchFamily="49" charset="-122"/>
                <a:cs typeface="Times New Roman" panose="02020603050405020304" pitchFamily="18" charset="0"/>
              </a:rPr>
              <a:t>n</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rPr>
              <a:t>棵子树的结点中含有</a:t>
            </a:r>
            <a:r>
              <a:rPr kumimoji="1" lang="en-US" altLang="zh-CN" sz="2200" dirty="0">
                <a:latin typeface="Times New Roman" panose="02020603050405020304" pitchFamily="18" charset="0"/>
                <a:ea typeface="幼圆" panose="02010509060101010101" pitchFamily="49" charset="-122"/>
                <a:cs typeface="Times New Roman" panose="02020603050405020304" pitchFamily="18" charset="0"/>
              </a:rPr>
              <a:t>n</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rPr>
              <a:t>个关键字；</a:t>
            </a: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50000"/>
              </a:lnSpc>
              <a:spcBef>
                <a:spcPts val="600"/>
              </a:spcBef>
              <a:buClr>
                <a:srgbClr val="00B0F0"/>
              </a:buClr>
              <a:buFont typeface="+mj-ea"/>
              <a:buAutoNum type="circleNumDbPlain"/>
            </a:pPr>
            <a:r>
              <a:rPr kumimoji="1" lang="en-US" altLang="zh-CN" sz="22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2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所有的叶子结点中包含了全部关键字的信息以及指向含这些关键字记录的指针，且叶子结点的本身依关键字的大小从小到大顺序链接。</a:t>
            </a:r>
            <a:endParaRPr kumimoji="1" lang="zh-CN" altLang="en-US" sz="22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gn="just">
              <a:lnSpc>
                <a:spcPct val="150000"/>
              </a:lnSpc>
              <a:spcBef>
                <a:spcPts val="600"/>
              </a:spcBef>
              <a:buClr>
                <a:srgbClr val="00B0F0"/>
              </a:buClr>
              <a:buFont typeface="+mj-ea"/>
              <a:buAutoNum type="circleNumDbPlain"/>
            </a:pP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rPr>
              <a:t>所有的非终端结点可以看成是</a:t>
            </a:r>
            <a:r>
              <a:rPr kumimoji="1" lang="zh-CN" altLang="en-US" sz="22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索引部分</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rPr>
              <a:t>，结点中仅含有其子树（根结点）中最大（或最小）</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rPr>
              <a:t>关键字。</a:t>
            </a: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1730">
                                            <p:txEl>
                                              <p:pRg st="2" end="2"/>
                                            </p:txEl>
                                          </p:spTgt>
                                        </p:tgtEl>
                                        <p:attrNameLst>
                                          <p:attrName>style.visibility</p:attrName>
                                        </p:attrNameLst>
                                      </p:cBhvr>
                                      <p:to>
                                        <p:strVal val="visible"/>
                                      </p:to>
                                    </p:set>
                                    <p:animEffect transition="in" filter="fade">
                                      <p:cBhvr>
                                        <p:cTn id="7" dur="1000"/>
                                        <p:tgtEl>
                                          <p:spTgt spid="201730">
                                            <p:txEl>
                                              <p:pRg st="2" end="2"/>
                                            </p:txEl>
                                          </p:spTgt>
                                        </p:tgtEl>
                                      </p:cBhvr>
                                    </p:animEffect>
                                    <p:anim calcmode="lin" valueType="num">
                                      <p:cBhvr>
                                        <p:cTn id="8" dur="1000" fill="hold"/>
                                        <p:tgtEl>
                                          <p:spTgt spid="20173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0173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1730">
                                            <p:txEl>
                                              <p:pRg st="3" end="3"/>
                                            </p:txEl>
                                          </p:spTgt>
                                        </p:tgtEl>
                                        <p:attrNameLst>
                                          <p:attrName>style.visibility</p:attrName>
                                        </p:attrNameLst>
                                      </p:cBhvr>
                                      <p:to>
                                        <p:strVal val="visible"/>
                                      </p:to>
                                    </p:set>
                                    <p:animEffect transition="in" filter="fade">
                                      <p:cBhvr>
                                        <p:cTn id="14" dur="1000"/>
                                        <p:tgtEl>
                                          <p:spTgt spid="201730">
                                            <p:txEl>
                                              <p:pRg st="3" end="3"/>
                                            </p:txEl>
                                          </p:spTgt>
                                        </p:tgtEl>
                                      </p:cBhvr>
                                    </p:animEffect>
                                    <p:anim calcmode="lin" valueType="num">
                                      <p:cBhvr>
                                        <p:cTn id="15" dur="1000" fill="hold"/>
                                        <p:tgtEl>
                                          <p:spTgt spid="20173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0173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01730">
                                            <p:txEl>
                                              <p:pRg st="4" end="4"/>
                                            </p:txEl>
                                          </p:spTgt>
                                        </p:tgtEl>
                                        <p:attrNameLst>
                                          <p:attrName>style.visibility</p:attrName>
                                        </p:attrNameLst>
                                      </p:cBhvr>
                                      <p:to>
                                        <p:strVal val="visible"/>
                                      </p:to>
                                    </p:set>
                                    <p:animEffect transition="in" filter="fade">
                                      <p:cBhvr>
                                        <p:cTn id="21" dur="1000"/>
                                        <p:tgtEl>
                                          <p:spTgt spid="201730">
                                            <p:txEl>
                                              <p:pRg st="4" end="4"/>
                                            </p:txEl>
                                          </p:spTgt>
                                        </p:tgtEl>
                                      </p:cBhvr>
                                    </p:animEffect>
                                    <p:anim calcmode="lin" valueType="num">
                                      <p:cBhvr>
                                        <p:cTn id="22" dur="1000" fill="hold"/>
                                        <p:tgtEl>
                                          <p:spTgt spid="20173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0173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b="1">
                <a:ea typeface="幼圆" panose="02010509060101010101" pitchFamily="49" charset="-122"/>
                <a:cs typeface="+mj-lt"/>
                <a:sym typeface="+mn-ea"/>
              </a:rPr>
              <a:t>8.5.4 </a:t>
            </a:r>
            <a:r>
              <a:rPr lang="en-US" altLang="zh-CN" b="1" kern="1200" dirty="0">
                <a:effectLst>
                  <a:outerShdw blurRad="38100" dist="25400" dir="5400000" algn="ctr" rotWithShape="0">
                    <a:srgbClr val="6E747A">
                      <a:alpha val="43000"/>
                    </a:srgbClr>
                  </a:outerShdw>
                </a:effectLst>
                <a:sym typeface="+mn-ea"/>
              </a:rPr>
              <a:t>B+</a:t>
            </a:r>
            <a:r>
              <a:rPr lang="zh-CN" altLang="en-US" b="1" kern="1200" dirty="0">
                <a:effectLst>
                  <a:outerShdw blurRad="38100" dist="25400" dir="5400000" algn="ctr" rotWithShape="0">
                    <a:srgbClr val="6E747A">
                      <a:alpha val="43000"/>
                    </a:srgbClr>
                  </a:outerShdw>
                </a:effectLst>
                <a:sym typeface="+mn-ea"/>
              </a:rPr>
              <a:t>树</a:t>
            </a:r>
            <a:endParaRPr lang="zh-CN" altLang="en-US">
              <a:ea typeface="幼圆" panose="02010509060101010101" pitchFamily="49" charset="-122"/>
              <a:cs typeface="+mj-lt"/>
            </a:endParaRPr>
          </a:p>
        </p:txBody>
      </p:sp>
      <p:grpSp>
        <p:nvGrpSpPr>
          <p:cNvPr id="4" name="组合 3"/>
          <p:cNvGrpSpPr/>
          <p:nvPr/>
        </p:nvGrpSpPr>
        <p:grpSpPr>
          <a:xfrm>
            <a:off x="1043940" y="2153920"/>
            <a:ext cx="7427595" cy="3895725"/>
            <a:chOff x="395288" y="1478111"/>
            <a:chExt cx="8353425" cy="4648201"/>
          </a:xfrm>
        </p:grpSpPr>
        <p:sp>
          <p:nvSpPr>
            <p:cNvPr id="202818" name="Rectangle 66"/>
            <p:cNvSpPr>
              <a:spLocks noChangeArrowheads="1"/>
            </p:cNvSpPr>
            <p:nvPr/>
          </p:nvSpPr>
          <p:spPr bwMode="auto">
            <a:xfrm>
              <a:off x="395288" y="1478112"/>
              <a:ext cx="8353425" cy="4648200"/>
            </a:xfrm>
            <a:prstGeom prst="rect">
              <a:avLst/>
            </a:prstGeom>
            <a:noFill/>
            <a:ln>
              <a:noFill/>
            </a:ln>
            <a:effectLst>
              <a:outerShdw dist="107763" dir="2700000" algn="ctr" rotWithShape="0">
                <a:schemeClr val="tx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grpSp>
          <p:nvGrpSpPr>
            <p:cNvPr id="202755" name="Group 3"/>
            <p:cNvGrpSpPr/>
            <p:nvPr/>
          </p:nvGrpSpPr>
          <p:grpSpPr bwMode="auto">
            <a:xfrm>
              <a:off x="4213225" y="2503636"/>
              <a:ext cx="1219200" cy="457200"/>
              <a:chOff x="1920" y="720"/>
              <a:chExt cx="768" cy="288"/>
            </a:xfrm>
          </p:grpSpPr>
          <p:sp>
            <p:nvSpPr>
              <p:cNvPr id="202756" name="AutoShape 4"/>
              <p:cNvSpPr>
                <a:spLocks noChangeArrowheads="1"/>
              </p:cNvSpPr>
              <p:nvPr/>
            </p:nvSpPr>
            <p:spPr bwMode="auto">
              <a:xfrm>
                <a:off x="1920" y="720"/>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57" name="Text Box 5"/>
              <p:cNvSpPr txBox="1">
                <a:spLocks noChangeArrowheads="1"/>
              </p:cNvSpPr>
              <p:nvPr/>
            </p:nvSpPr>
            <p:spPr bwMode="auto">
              <a:xfrm>
                <a:off x="2016"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59</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58" name="Text Box 6"/>
              <p:cNvSpPr txBox="1">
                <a:spLocks noChangeArrowheads="1"/>
              </p:cNvSpPr>
              <p:nvPr/>
            </p:nvSpPr>
            <p:spPr bwMode="auto">
              <a:xfrm>
                <a:off x="2304"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97</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grpSp>
          <p:nvGrpSpPr>
            <p:cNvPr id="202759" name="Group 7"/>
            <p:cNvGrpSpPr/>
            <p:nvPr/>
          </p:nvGrpSpPr>
          <p:grpSpPr bwMode="auto">
            <a:xfrm>
              <a:off x="2185987" y="3494236"/>
              <a:ext cx="1357314" cy="457200"/>
              <a:chOff x="1891" y="1488"/>
              <a:chExt cx="855" cy="288"/>
            </a:xfrm>
          </p:grpSpPr>
          <p:sp>
            <p:nvSpPr>
              <p:cNvPr id="202760" name="AutoShape 8"/>
              <p:cNvSpPr>
                <a:spLocks noChangeArrowheads="1"/>
              </p:cNvSpPr>
              <p:nvPr/>
            </p:nvSpPr>
            <p:spPr bwMode="auto">
              <a:xfrm>
                <a:off x="1920" y="1488"/>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61" name="Text Box 9"/>
              <p:cNvSpPr txBox="1">
                <a:spLocks noChangeArrowheads="1"/>
              </p:cNvSpPr>
              <p:nvPr/>
            </p:nvSpPr>
            <p:spPr bwMode="auto">
              <a:xfrm>
                <a:off x="1891" y="1488"/>
                <a:ext cx="37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kumimoji="1" lang="en-US" altLang="zh-CN">
                    <a:solidFill>
                      <a:schemeClr val="accent1"/>
                    </a:solidFill>
                    <a:latin typeface="Times New Roman" panose="02020603050405020304" pitchFamily="18" charset="0"/>
                    <a:cs typeface="Times New Roman" panose="02020603050405020304" pitchFamily="18" charset="0"/>
                  </a:rPr>
                  <a:t>15</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62" name="Text Box 10"/>
              <p:cNvSpPr txBox="1">
                <a:spLocks noChangeArrowheads="1"/>
              </p:cNvSpPr>
              <p:nvPr/>
            </p:nvSpPr>
            <p:spPr bwMode="auto">
              <a:xfrm>
                <a:off x="2160" y="1488"/>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44</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63" name="Text Box 11"/>
              <p:cNvSpPr txBox="1">
                <a:spLocks noChangeArrowheads="1"/>
              </p:cNvSpPr>
              <p:nvPr/>
            </p:nvSpPr>
            <p:spPr bwMode="auto">
              <a:xfrm>
                <a:off x="2400" y="1488"/>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59</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grpSp>
          <p:nvGrpSpPr>
            <p:cNvPr id="202764" name="Group 12"/>
            <p:cNvGrpSpPr/>
            <p:nvPr/>
          </p:nvGrpSpPr>
          <p:grpSpPr bwMode="auto">
            <a:xfrm>
              <a:off x="6346825" y="3570436"/>
              <a:ext cx="1219200" cy="457200"/>
              <a:chOff x="1920" y="720"/>
              <a:chExt cx="768" cy="288"/>
            </a:xfrm>
          </p:grpSpPr>
          <p:sp>
            <p:nvSpPr>
              <p:cNvPr id="202765" name="AutoShape 13"/>
              <p:cNvSpPr>
                <a:spLocks noChangeArrowheads="1"/>
              </p:cNvSpPr>
              <p:nvPr/>
            </p:nvSpPr>
            <p:spPr bwMode="auto">
              <a:xfrm>
                <a:off x="1920" y="720"/>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66" name="Text Box 14"/>
              <p:cNvSpPr txBox="1">
                <a:spLocks noChangeArrowheads="1"/>
              </p:cNvSpPr>
              <p:nvPr/>
            </p:nvSpPr>
            <p:spPr bwMode="auto">
              <a:xfrm>
                <a:off x="2016"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72</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67" name="Text Box 15"/>
              <p:cNvSpPr txBox="1">
                <a:spLocks noChangeArrowheads="1"/>
              </p:cNvSpPr>
              <p:nvPr/>
            </p:nvSpPr>
            <p:spPr bwMode="auto">
              <a:xfrm>
                <a:off x="2304"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97</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grpSp>
          <p:nvGrpSpPr>
            <p:cNvPr id="202768" name="Group 16"/>
            <p:cNvGrpSpPr/>
            <p:nvPr/>
          </p:nvGrpSpPr>
          <p:grpSpPr bwMode="auto">
            <a:xfrm>
              <a:off x="784225" y="4637236"/>
              <a:ext cx="1219200" cy="457200"/>
              <a:chOff x="1920" y="720"/>
              <a:chExt cx="768" cy="288"/>
            </a:xfrm>
          </p:grpSpPr>
          <p:sp>
            <p:nvSpPr>
              <p:cNvPr id="202769" name="AutoShape 17"/>
              <p:cNvSpPr>
                <a:spLocks noChangeArrowheads="1"/>
              </p:cNvSpPr>
              <p:nvPr/>
            </p:nvSpPr>
            <p:spPr bwMode="auto">
              <a:xfrm>
                <a:off x="1920" y="720"/>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70" name="Text Box 18"/>
              <p:cNvSpPr txBox="1">
                <a:spLocks noChangeArrowheads="1"/>
              </p:cNvSpPr>
              <p:nvPr/>
            </p:nvSpPr>
            <p:spPr bwMode="auto">
              <a:xfrm>
                <a:off x="2016"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10</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71" name="Text Box 19"/>
              <p:cNvSpPr txBox="1">
                <a:spLocks noChangeArrowheads="1"/>
              </p:cNvSpPr>
              <p:nvPr/>
            </p:nvSpPr>
            <p:spPr bwMode="auto">
              <a:xfrm>
                <a:off x="2304"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15</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grpSp>
          <p:nvGrpSpPr>
            <p:cNvPr id="202772" name="Group 20"/>
            <p:cNvGrpSpPr/>
            <p:nvPr/>
          </p:nvGrpSpPr>
          <p:grpSpPr bwMode="auto">
            <a:xfrm>
              <a:off x="2232025" y="4637236"/>
              <a:ext cx="1374776" cy="457200"/>
              <a:chOff x="1920" y="1488"/>
              <a:chExt cx="866" cy="288"/>
            </a:xfrm>
          </p:grpSpPr>
          <p:sp>
            <p:nvSpPr>
              <p:cNvPr id="202773" name="AutoShape 21"/>
              <p:cNvSpPr>
                <a:spLocks noChangeArrowheads="1"/>
              </p:cNvSpPr>
              <p:nvPr/>
            </p:nvSpPr>
            <p:spPr bwMode="auto">
              <a:xfrm>
                <a:off x="1920" y="1488"/>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74" name="Text Box 22"/>
              <p:cNvSpPr txBox="1">
                <a:spLocks noChangeArrowheads="1"/>
              </p:cNvSpPr>
              <p:nvPr/>
            </p:nvSpPr>
            <p:spPr bwMode="auto">
              <a:xfrm>
                <a:off x="1920" y="1488"/>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21</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75" name="Text Box 23"/>
              <p:cNvSpPr txBox="1">
                <a:spLocks noChangeArrowheads="1"/>
              </p:cNvSpPr>
              <p:nvPr/>
            </p:nvSpPr>
            <p:spPr bwMode="auto">
              <a:xfrm>
                <a:off x="2160" y="1488"/>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37</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76" name="Text Box 24"/>
              <p:cNvSpPr txBox="1">
                <a:spLocks noChangeArrowheads="1"/>
              </p:cNvSpPr>
              <p:nvPr/>
            </p:nvSpPr>
            <p:spPr bwMode="auto">
              <a:xfrm>
                <a:off x="2400" y="1488"/>
                <a:ext cx="38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kumimoji="1" lang="en-US" altLang="zh-CN">
                    <a:solidFill>
                      <a:schemeClr val="accent1"/>
                    </a:solidFill>
                    <a:latin typeface="Times New Roman" panose="02020603050405020304" pitchFamily="18" charset="0"/>
                    <a:cs typeface="Times New Roman" panose="02020603050405020304" pitchFamily="18" charset="0"/>
                  </a:rPr>
                  <a:t>44</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grpSp>
          <p:nvGrpSpPr>
            <p:cNvPr id="202777" name="Group 25"/>
            <p:cNvGrpSpPr/>
            <p:nvPr/>
          </p:nvGrpSpPr>
          <p:grpSpPr bwMode="auto">
            <a:xfrm>
              <a:off x="3679825" y="4637236"/>
              <a:ext cx="1219200" cy="457200"/>
              <a:chOff x="1920" y="720"/>
              <a:chExt cx="768" cy="288"/>
            </a:xfrm>
          </p:grpSpPr>
          <p:sp>
            <p:nvSpPr>
              <p:cNvPr id="202778" name="AutoShape 26"/>
              <p:cNvSpPr>
                <a:spLocks noChangeArrowheads="1"/>
              </p:cNvSpPr>
              <p:nvPr/>
            </p:nvSpPr>
            <p:spPr bwMode="auto">
              <a:xfrm>
                <a:off x="1920" y="720"/>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79" name="Text Box 27"/>
              <p:cNvSpPr txBox="1">
                <a:spLocks noChangeArrowheads="1"/>
              </p:cNvSpPr>
              <p:nvPr/>
            </p:nvSpPr>
            <p:spPr bwMode="auto">
              <a:xfrm>
                <a:off x="2016"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51</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80" name="Text Box 28"/>
              <p:cNvSpPr txBox="1">
                <a:spLocks noChangeArrowheads="1"/>
              </p:cNvSpPr>
              <p:nvPr/>
            </p:nvSpPr>
            <p:spPr bwMode="auto">
              <a:xfrm>
                <a:off x="2304"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59</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grpSp>
          <p:nvGrpSpPr>
            <p:cNvPr id="202781" name="Group 29"/>
            <p:cNvGrpSpPr/>
            <p:nvPr/>
          </p:nvGrpSpPr>
          <p:grpSpPr bwMode="auto">
            <a:xfrm>
              <a:off x="5508625" y="4637236"/>
              <a:ext cx="1219200" cy="476250"/>
              <a:chOff x="1920" y="720"/>
              <a:chExt cx="768" cy="300"/>
            </a:xfrm>
          </p:grpSpPr>
          <p:sp>
            <p:nvSpPr>
              <p:cNvPr id="202782" name="AutoShape 30"/>
              <p:cNvSpPr>
                <a:spLocks noChangeArrowheads="1"/>
              </p:cNvSpPr>
              <p:nvPr/>
            </p:nvSpPr>
            <p:spPr bwMode="auto">
              <a:xfrm>
                <a:off x="1920" y="720"/>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83" name="Text Box 31"/>
              <p:cNvSpPr txBox="1">
                <a:spLocks noChangeArrowheads="1"/>
              </p:cNvSpPr>
              <p:nvPr/>
            </p:nvSpPr>
            <p:spPr bwMode="auto">
              <a:xfrm>
                <a:off x="2016" y="720"/>
                <a:ext cx="34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kumimoji="1" lang="en-US" altLang="zh-CN">
                    <a:solidFill>
                      <a:schemeClr val="accent1"/>
                    </a:solidFill>
                    <a:latin typeface="Times New Roman" panose="02020603050405020304" pitchFamily="18" charset="0"/>
                    <a:cs typeface="Times New Roman" panose="02020603050405020304" pitchFamily="18" charset="0"/>
                  </a:rPr>
                  <a:t>63</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84" name="Text Box 32"/>
              <p:cNvSpPr txBox="1">
                <a:spLocks noChangeArrowheads="1"/>
              </p:cNvSpPr>
              <p:nvPr/>
            </p:nvSpPr>
            <p:spPr bwMode="auto">
              <a:xfrm>
                <a:off x="2304" y="720"/>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72</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grpSp>
          <p:nvGrpSpPr>
            <p:cNvPr id="202785" name="Group 33"/>
            <p:cNvGrpSpPr/>
            <p:nvPr/>
          </p:nvGrpSpPr>
          <p:grpSpPr bwMode="auto">
            <a:xfrm>
              <a:off x="7108825" y="4637236"/>
              <a:ext cx="1317626" cy="457200"/>
              <a:chOff x="1920" y="1488"/>
              <a:chExt cx="830" cy="288"/>
            </a:xfrm>
          </p:grpSpPr>
          <p:sp>
            <p:nvSpPr>
              <p:cNvPr id="202786" name="AutoShape 34"/>
              <p:cNvSpPr>
                <a:spLocks noChangeArrowheads="1"/>
              </p:cNvSpPr>
              <p:nvPr/>
            </p:nvSpPr>
            <p:spPr bwMode="auto">
              <a:xfrm>
                <a:off x="1920" y="1488"/>
                <a:ext cx="768" cy="288"/>
              </a:xfrm>
              <a:prstGeom prst="roundRect">
                <a:avLst>
                  <a:gd name="adj" fmla="val 16667"/>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2787" name="Text Box 35"/>
              <p:cNvSpPr txBox="1">
                <a:spLocks noChangeArrowheads="1"/>
              </p:cNvSpPr>
              <p:nvPr/>
            </p:nvSpPr>
            <p:spPr bwMode="auto">
              <a:xfrm>
                <a:off x="1920" y="1488"/>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85</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88" name="Text Box 36"/>
              <p:cNvSpPr txBox="1">
                <a:spLocks noChangeArrowheads="1"/>
              </p:cNvSpPr>
              <p:nvPr/>
            </p:nvSpPr>
            <p:spPr bwMode="auto">
              <a:xfrm>
                <a:off x="2160" y="1488"/>
                <a:ext cx="3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91</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789" name="Text Box 37"/>
              <p:cNvSpPr txBox="1">
                <a:spLocks noChangeArrowheads="1"/>
              </p:cNvSpPr>
              <p:nvPr/>
            </p:nvSpPr>
            <p:spPr bwMode="auto">
              <a:xfrm>
                <a:off x="2400" y="1488"/>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kumimoji="1" lang="en-US" altLang="zh-CN">
                    <a:solidFill>
                      <a:schemeClr val="accent1"/>
                    </a:solidFill>
                    <a:latin typeface="Times New Roman" panose="02020603050405020304" pitchFamily="18" charset="0"/>
                    <a:cs typeface="Times New Roman" panose="02020603050405020304" pitchFamily="18" charset="0"/>
                  </a:rPr>
                  <a:t>97</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grpSp>
        <p:cxnSp>
          <p:nvCxnSpPr>
            <p:cNvPr id="202790" name="AutoShape 38"/>
            <p:cNvCxnSpPr>
              <a:cxnSpLocks noChangeShapeType="1"/>
              <a:stCxn id="202758" idx="2"/>
              <a:endCxn id="202766" idx="0"/>
            </p:cNvCxnSpPr>
            <p:nvPr/>
          </p:nvCxnSpPr>
          <p:spPr bwMode="auto">
            <a:xfrm>
              <a:off x="5097932" y="2949214"/>
              <a:ext cx="1676113" cy="62127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1" name="AutoShape 39"/>
            <p:cNvCxnSpPr>
              <a:cxnSpLocks noChangeShapeType="1"/>
              <a:stCxn id="202757" idx="2"/>
              <a:endCxn id="202763" idx="0"/>
            </p:cNvCxnSpPr>
            <p:nvPr/>
          </p:nvCxnSpPr>
          <p:spPr bwMode="auto">
            <a:xfrm flipH="1">
              <a:off x="3268883" y="2943584"/>
              <a:ext cx="1371884" cy="550814"/>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2" name="AutoShape 40"/>
            <p:cNvCxnSpPr>
              <a:cxnSpLocks noChangeShapeType="1"/>
              <a:stCxn id="202761" idx="2"/>
              <a:endCxn id="202771" idx="0"/>
            </p:cNvCxnSpPr>
            <p:nvPr/>
          </p:nvCxnSpPr>
          <p:spPr bwMode="auto">
            <a:xfrm flipH="1">
              <a:off x="1668415" y="3949742"/>
              <a:ext cx="814132" cy="687949"/>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3" name="AutoShape 41"/>
            <p:cNvCxnSpPr>
              <a:cxnSpLocks noChangeShapeType="1"/>
              <a:stCxn id="202762" idx="2"/>
              <a:endCxn id="202775" idx="0"/>
            </p:cNvCxnSpPr>
            <p:nvPr/>
          </p:nvCxnSpPr>
          <p:spPr bwMode="auto">
            <a:xfrm>
              <a:off x="2887418" y="3933452"/>
              <a:ext cx="0" cy="70386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4" name="AutoShape 42"/>
            <p:cNvCxnSpPr>
              <a:cxnSpLocks noChangeShapeType="1"/>
              <a:stCxn id="202763" idx="2"/>
              <a:endCxn id="202779" idx="0"/>
            </p:cNvCxnSpPr>
            <p:nvPr/>
          </p:nvCxnSpPr>
          <p:spPr bwMode="auto">
            <a:xfrm>
              <a:off x="3269141" y="3939549"/>
              <a:ext cx="838413" cy="69779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5" name="AutoShape 43"/>
            <p:cNvCxnSpPr>
              <a:cxnSpLocks noChangeShapeType="1"/>
              <a:stCxn id="202766" idx="2"/>
              <a:endCxn id="202783" idx="0"/>
            </p:cNvCxnSpPr>
            <p:nvPr/>
          </p:nvCxnSpPr>
          <p:spPr bwMode="auto">
            <a:xfrm flipH="1">
              <a:off x="5935893" y="4010451"/>
              <a:ext cx="838413" cy="62733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6" name="AutoShape 44"/>
            <p:cNvCxnSpPr>
              <a:cxnSpLocks noChangeShapeType="1"/>
              <a:stCxn id="202767" idx="2"/>
              <a:endCxn id="202788" idx="0"/>
            </p:cNvCxnSpPr>
            <p:nvPr/>
          </p:nvCxnSpPr>
          <p:spPr bwMode="auto">
            <a:xfrm>
              <a:off x="7230792" y="4016039"/>
              <a:ext cx="533471" cy="62127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7" name="AutoShape 45"/>
            <p:cNvCxnSpPr>
              <a:cxnSpLocks noChangeShapeType="1"/>
              <a:endCxn id="202774" idx="1"/>
            </p:cNvCxnSpPr>
            <p:nvPr/>
          </p:nvCxnSpPr>
          <p:spPr bwMode="auto">
            <a:xfrm flipV="1">
              <a:off x="2009352" y="4857067"/>
              <a:ext cx="222673" cy="508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8" name="AutoShape 46"/>
            <p:cNvCxnSpPr>
              <a:cxnSpLocks noChangeShapeType="1"/>
              <a:endCxn id="202778" idx="1"/>
            </p:cNvCxnSpPr>
            <p:nvPr/>
          </p:nvCxnSpPr>
          <p:spPr bwMode="auto">
            <a:xfrm>
              <a:off x="3449532" y="4860122"/>
              <a:ext cx="230293" cy="592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799" name="AutoShape 47"/>
            <p:cNvCxnSpPr>
              <a:cxnSpLocks noChangeShapeType="1"/>
              <a:stCxn id="202778" idx="3"/>
              <a:endCxn id="202782" idx="1"/>
            </p:cNvCxnSpPr>
            <p:nvPr/>
          </p:nvCxnSpPr>
          <p:spPr bwMode="auto">
            <a:xfrm>
              <a:off x="4899025" y="4865836"/>
              <a:ext cx="609600" cy="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0" name="AutoShape 48"/>
            <p:cNvCxnSpPr>
              <a:cxnSpLocks noChangeShapeType="1"/>
              <a:stCxn id="202782" idx="3"/>
              <a:endCxn id="202787" idx="1"/>
            </p:cNvCxnSpPr>
            <p:nvPr/>
          </p:nvCxnSpPr>
          <p:spPr bwMode="auto">
            <a:xfrm flipV="1">
              <a:off x="6727800" y="4856929"/>
              <a:ext cx="381357" cy="9092"/>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1" name="AutoShape 49"/>
            <p:cNvCxnSpPr>
              <a:cxnSpLocks noChangeShapeType="1"/>
              <a:stCxn id="202788" idx="2"/>
            </p:cNvCxnSpPr>
            <p:nvPr/>
          </p:nvCxnSpPr>
          <p:spPr bwMode="auto">
            <a:xfrm>
              <a:off x="7764941" y="5082814"/>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2" name="AutoShape 50"/>
            <p:cNvCxnSpPr>
              <a:cxnSpLocks noChangeShapeType="1"/>
              <a:stCxn id="202789" idx="2"/>
            </p:cNvCxnSpPr>
            <p:nvPr/>
          </p:nvCxnSpPr>
          <p:spPr bwMode="auto">
            <a:xfrm>
              <a:off x="8148108" y="5124705"/>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3" name="AutoShape 51"/>
            <p:cNvCxnSpPr>
              <a:cxnSpLocks noChangeShapeType="1"/>
              <a:stCxn id="202770" idx="2"/>
            </p:cNvCxnSpPr>
            <p:nvPr/>
          </p:nvCxnSpPr>
          <p:spPr bwMode="auto">
            <a:xfrm>
              <a:off x="1211731" y="5077184"/>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4" name="AutoShape 52"/>
            <p:cNvCxnSpPr>
              <a:cxnSpLocks noChangeShapeType="1"/>
              <a:stCxn id="202771" idx="2"/>
            </p:cNvCxnSpPr>
            <p:nvPr/>
          </p:nvCxnSpPr>
          <p:spPr bwMode="auto">
            <a:xfrm>
              <a:off x="1668931" y="5082814"/>
              <a:ext cx="0" cy="3810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5" name="AutoShape 53"/>
            <p:cNvCxnSpPr>
              <a:cxnSpLocks noChangeShapeType="1"/>
            </p:cNvCxnSpPr>
            <p:nvPr/>
          </p:nvCxnSpPr>
          <p:spPr bwMode="auto">
            <a:xfrm>
              <a:off x="2507192" y="5116449"/>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6" name="AutoShape 54"/>
            <p:cNvCxnSpPr>
              <a:cxnSpLocks noChangeShapeType="1"/>
            </p:cNvCxnSpPr>
            <p:nvPr/>
          </p:nvCxnSpPr>
          <p:spPr bwMode="auto">
            <a:xfrm>
              <a:off x="2888192" y="5131689"/>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7" name="AutoShape 55"/>
            <p:cNvCxnSpPr>
              <a:cxnSpLocks noChangeShapeType="1"/>
            </p:cNvCxnSpPr>
            <p:nvPr/>
          </p:nvCxnSpPr>
          <p:spPr bwMode="auto">
            <a:xfrm>
              <a:off x="3300095" y="5113698"/>
              <a:ext cx="0" cy="3810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8" name="AutoShape 56"/>
            <p:cNvCxnSpPr>
              <a:cxnSpLocks noChangeShapeType="1"/>
              <a:stCxn id="202779" idx="2"/>
            </p:cNvCxnSpPr>
            <p:nvPr/>
          </p:nvCxnSpPr>
          <p:spPr bwMode="auto">
            <a:xfrm>
              <a:off x="4107332" y="5077184"/>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09" name="AutoShape 57"/>
            <p:cNvCxnSpPr>
              <a:cxnSpLocks noChangeShapeType="1"/>
              <a:stCxn id="202780" idx="2"/>
            </p:cNvCxnSpPr>
            <p:nvPr/>
          </p:nvCxnSpPr>
          <p:spPr bwMode="auto">
            <a:xfrm>
              <a:off x="4564532" y="5082814"/>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10" name="AutoShape 58"/>
            <p:cNvCxnSpPr>
              <a:cxnSpLocks noChangeShapeType="1"/>
              <a:stCxn id="202783" idx="2"/>
            </p:cNvCxnSpPr>
            <p:nvPr/>
          </p:nvCxnSpPr>
          <p:spPr bwMode="auto">
            <a:xfrm>
              <a:off x="5935427" y="5094610"/>
              <a:ext cx="0" cy="2286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11" name="AutoShape 59"/>
            <p:cNvCxnSpPr>
              <a:cxnSpLocks noChangeShapeType="1"/>
              <a:stCxn id="202784" idx="2"/>
            </p:cNvCxnSpPr>
            <p:nvPr/>
          </p:nvCxnSpPr>
          <p:spPr bwMode="auto">
            <a:xfrm>
              <a:off x="6393306" y="5082814"/>
              <a:ext cx="0" cy="2286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12" name="AutoShape 60"/>
            <p:cNvCxnSpPr>
              <a:cxnSpLocks noChangeShapeType="1"/>
              <a:stCxn id="202787" idx="2"/>
            </p:cNvCxnSpPr>
            <p:nvPr/>
          </p:nvCxnSpPr>
          <p:spPr bwMode="auto">
            <a:xfrm>
              <a:off x="7383906" y="5077184"/>
              <a:ext cx="0" cy="304800"/>
            </a:xfrm>
            <a:prstGeom prst="straightConnector1">
              <a:avLst/>
            </a:prstGeom>
            <a:noFill/>
            <a:ln w="38100" cap="rnd">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13" name="AutoShape 61"/>
            <p:cNvCxnSpPr>
              <a:cxnSpLocks noChangeShapeType="1"/>
              <a:endCxn id="202769" idx="1"/>
            </p:cNvCxnSpPr>
            <p:nvPr/>
          </p:nvCxnSpPr>
          <p:spPr bwMode="auto">
            <a:xfrm rot="5400000">
              <a:off x="465138" y="4256236"/>
              <a:ext cx="914400" cy="304800"/>
            </a:xfrm>
            <a:prstGeom prst="curvedConnector4">
              <a:avLst>
                <a:gd name="adj1" fmla="val 37500"/>
                <a:gd name="adj2" fmla="val 175000"/>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814" name="AutoShape 62"/>
            <p:cNvCxnSpPr>
              <a:cxnSpLocks noChangeShapeType="1"/>
              <a:endCxn id="202758" idx="0"/>
            </p:cNvCxnSpPr>
            <p:nvPr/>
          </p:nvCxnSpPr>
          <p:spPr bwMode="auto">
            <a:xfrm rot="5400000">
              <a:off x="4823295" y="2092474"/>
              <a:ext cx="685800" cy="136525"/>
            </a:xfrm>
            <a:prstGeom prst="curvedConnector3">
              <a:avLst>
                <a:gd name="adj1" fmla="val 50000"/>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2815" name="Text Box 63"/>
            <p:cNvSpPr txBox="1">
              <a:spLocks noChangeArrowheads="1"/>
            </p:cNvSpPr>
            <p:nvPr/>
          </p:nvSpPr>
          <p:spPr bwMode="auto">
            <a:xfrm>
              <a:off x="844550" y="3535511"/>
              <a:ext cx="599440" cy="43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chemeClr val="accent1"/>
                  </a:solidFill>
                  <a:latin typeface="Times New Roman" panose="02020603050405020304" pitchFamily="18" charset="0"/>
                  <a:cs typeface="Times New Roman" panose="02020603050405020304" pitchFamily="18" charset="0"/>
                </a:rPr>
                <a:t>sqt</a:t>
              </a:r>
              <a:endParaRPr kumimoji="1" lang="en-US" altLang="zh-CN">
                <a:solidFill>
                  <a:schemeClr val="accent1"/>
                </a:solidFill>
                <a:latin typeface="Times New Roman" panose="02020603050405020304" pitchFamily="18" charset="0"/>
                <a:cs typeface="Times New Roman" panose="02020603050405020304" pitchFamily="18" charset="0"/>
              </a:endParaRPr>
            </a:p>
          </p:txBody>
        </p:sp>
        <p:sp>
          <p:nvSpPr>
            <p:cNvPr id="202816" name="Text Box 64"/>
            <p:cNvSpPr txBox="1">
              <a:spLocks noChangeArrowheads="1"/>
            </p:cNvSpPr>
            <p:nvPr/>
          </p:nvSpPr>
          <p:spPr bwMode="auto">
            <a:xfrm>
              <a:off x="4959350" y="1478111"/>
              <a:ext cx="734907" cy="43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solidFill>
                    <a:schemeClr val="accent1"/>
                  </a:solidFill>
                  <a:latin typeface="Times New Roman" panose="02020603050405020304" pitchFamily="18" charset="0"/>
                  <a:cs typeface="Times New Roman" panose="02020603050405020304" pitchFamily="18" charset="0"/>
                </a:rPr>
                <a:t>root</a:t>
              </a:r>
              <a:endParaRPr kumimoji="1" lang="en-US" altLang="zh-CN" dirty="0">
                <a:solidFill>
                  <a:schemeClr val="accent1"/>
                </a:solidFill>
                <a:latin typeface="Times New Roman" panose="02020603050405020304" pitchFamily="18" charset="0"/>
                <a:cs typeface="Times New Roman" panose="02020603050405020304" pitchFamily="18" charset="0"/>
              </a:endParaRPr>
            </a:p>
          </p:txBody>
        </p:sp>
        <p:sp>
          <p:nvSpPr>
            <p:cNvPr id="202817" name="Text Box 65"/>
            <p:cNvSpPr txBox="1">
              <a:spLocks noChangeArrowheads="1"/>
            </p:cNvSpPr>
            <p:nvPr/>
          </p:nvSpPr>
          <p:spPr bwMode="auto">
            <a:xfrm>
              <a:off x="3438525" y="5564088"/>
              <a:ext cx="2321560" cy="43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dirty="0">
                  <a:solidFill>
                    <a:schemeClr val="accent1"/>
                  </a:solidFill>
                  <a:latin typeface="Times New Roman" panose="02020603050405020304" pitchFamily="18" charset="0"/>
                  <a:ea typeface="幼圆" panose="02010509060101010101" pitchFamily="49" charset="-122"/>
                  <a:cs typeface="Times New Roman" panose="02020603050405020304" pitchFamily="18" charset="0"/>
                </a:rPr>
                <a:t>一棵</a:t>
              </a:r>
              <a:r>
                <a:rPr lang="en-US" altLang="zh-CN" dirty="0">
                  <a:solidFill>
                    <a:schemeClr val="accent1"/>
                  </a:solidFill>
                  <a:latin typeface="Times New Roman" panose="02020603050405020304" pitchFamily="18" charset="0"/>
                  <a:ea typeface="幼圆" panose="02010509060101010101" pitchFamily="49" charset="-122"/>
                  <a:cs typeface="Times New Roman" panose="02020603050405020304" pitchFamily="18" charset="0"/>
                </a:rPr>
                <a:t>3</a:t>
              </a:r>
              <a:r>
                <a:rPr kumimoji="1" lang="zh-CN" altLang="en-US" dirty="0">
                  <a:solidFill>
                    <a:schemeClr val="accent1"/>
                  </a:solidFill>
                  <a:latin typeface="Times New Roman" panose="02020603050405020304" pitchFamily="18" charset="0"/>
                  <a:ea typeface="幼圆" panose="02010509060101010101" pitchFamily="49" charset="-122"/>
                  <a:cs typeface="Times New Roman" panose="02020603050405020304" pitchFamily="18" charset="0"/>
                </a:rPr>
                <a:t>阶的</a:t>
              </a:r>
              <a:r>
                <a:rPr kumimoji="1" lang="en-US" altLang="zh-CN" dirty="0">
                  <a:solidFill>
                    <a:schemeClr val="accent1"/>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baseline="30000" dirty="0">
                  <a:solidFill>
                    <a:schemeClr val="accent1"/>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dirty="0">
                  <a:solidFill>
                    <a:schemeClr val="accent1"/>
                  </a:solidFill>
                  <a:latin typeface="Times New Roman" panose="02020603050405020304" pitchFamily="18" charset="0"/>
                  <a:ea typeface="幼圆" panose="02010509060101010101" pitchFamily="49" charset="-122"/>
                  <a:cs typeface="Times New Roman" panose="02020603050405020304" pitchFamily="18" charset="0"/>
                </a:rPr>
                <a:t>树</a:t>
              </a:r>
              <a:endParaRPr kumimoji="1" lang="zh-CN" altLang="en-US" dirty="0">
                <a:solidFill>
                  <a:schemeClr val="accent1"/>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70" name="矩形 69"/>
          <p:cNvSpPr/>
          <p:nvPr/>
        </p:nvSpPr>
        <p:spPr>
          <a:xfrm>
            <a:off x="429895" y="1038860"/>
            <a:ext cx="8367395" cy="920115"/>
          </a:xfrm>
          <a:prstGeom prst="rect">
            <a:avLst/>
          </a:prstGeom>
        </p:spPr>
        <p:txBody>
          <a:bodyPr wrap="square">
            <a:noAutofit/>
          </a:bodyPr>
          <a:lstStyle/>
          <a:p>
            <a:pPr marL="342900" indent="-342900">
              <a:lnSpc>
                <a:spcPct val="130000"/>
              </a:lnSpc>
              <a:buClr>
                <a:srgbClr val="00B0F0"/>
              </a:buClr>
              <a:buFont typeface="Wingdings" panose="05000000000000000000" charset="0"/>
              <a:buChar char="l"/>
            </a:pPr>
            <a:r>
              <a:rPr kumimoji="1" lang="zh-CN" altLang="en-US" sz="24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通常在</a:t>
            </a:r>
            <a:r>
              <a:rPr kumimoji="1" lang="en-US" altLang="zh-CN" sz="24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400" baseline="300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4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树上有两个头指针，</a:t>
            </a:r>
            <a:r>
              <a:rPr kumimoji="1" lang="zh-CN" altLang="en-US"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一个指向根结点</a:t>
            </a:r>
            <a:r>
              <a:rPr kumimoji="1" lang="zh-CN" altLang="en-US" sz="2400" b="1"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另一个指向关键字最小的叶子结点</a:t>
            </a:r>
            <a:r>
              <a:rPr kumimoji="1" lang="zh-CN" altLang="en-US" sz="24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。如下图所示：</a:t>
            </a:r>
            <a:endParaRPr kumimoji="1" lang="zh-CN" altLang="en-US" sz="24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cene3d>
              <a:camera prst="orthographicFront"/>
              <a:lightRig rig="threePt" dir="t"/>
            </a:scene3d>
          </a:bodyPr>
          <a:lstStyle/>
          <a:p>
            <a:pPr algn="l"/>
            <a:r>
              <a:rPr lang="en-US" altLang="zh-CN" b="1" kern="1200" dirty="0">
                <a:solidFill>
                  <a:schemeClr val="bg1"/>
                </a:solidFill>
                <a:effectLst>
                  <a:outerShdw blurRad="38100" dist="25400" dir="5400000" algn="ctr" rotWithShape="0">
                    <a:srgbClr val="6E747A">
                      <a:alpha val="43000"/>
                    </a:srgbClr>
                  </a:outerShdw>
                </a:effectLst>
              </a:rPr>
              <a:t>B+</a:t>
            </a:r>
            <a:r>
              <a:rPr lang="zh-CN" altLang="en-US" b="1" kern="1200" dirty="0">
                <a:solidFill>
                  <a:schemeClr val="bg1"/>
                </a:solidFill>
                <a:effectLst>
                  <a:outerShdw blurRad="38100" dist="25400" dir="5400000" algn="ctr" rotWithShape="0">
                    <a:srgbClr val="6E747A">
                      <a:alpha val="43000"/>
                    </a:srgbClr>
                  </a:outerShdw>
                </a:effectLst>
              </a:rPr>
              <a:t>树的搜索</a:t>
            </a:r>
            <a:endParaRPr lang="zh-CN" altLang="en-US" b="1" kern="1200" dirty="0">
              <a:solidFill>
                <a:schemeClr val="bg1"/>
              </a:solidFill>
              <a:effectLst>
                <a:outerShdw blurRad="38100" dist="25400" dir="5400000" algn="ctr" rotWithShape="0">
                  <a:srgbClr val="6E747A">
                    <a:alpha val="43000"/>
                  </a:srgbClr>
                </a:outerShdw>
              </a:effectLst>
            </a:endParaRPr>
          </a:p>
        </p:txBody>
      </p:sp>
      <p:sp>
        <p:nvSpPr>
          <p:cNvPr id="224259" name="Rectangle 3"/>
          <p:cNvSpPr>
            <a:spLocks noGrp="1" noChangeArrowheads="1"/>
          </p:cNvSpPr>
          <p:nvPr>
            <p:ph idx="1"/>
          </p:nvPr>
        </p:nvSpPr>
        <p:spPr/>
        <p:txBody>
          <a:bodyPr/>
          <a:lstStyle/>
          <a:p>
            <a:pPr>
              <a:lnSpc>
                <a:spcPct val="150000"/>
              </a:lnSpc>
            </a:pPr>
            <a:r>
              <a:rPr lang="en-US" altLang="zh-CN" sz="2400" dirty="0"/>
              <a:t>B</a:t>
            </a:r>
            <a:r>
              <a:rPr lang="en-US" altLang="zh-CN" sz="2400" baseline="30000" dirty="0"/>
              <a:t>+</a:t>
            </a:r>
            <a:r>
              <a:rPr lang="zh-CN" altLang="en-US" sz="2400" dirty="0"/>
              <a:t>树进行两种搜索运算：</a:t>
            </a:r>
            <a:endParaRPr lang="zh-CN" altLang="en-US" sz="2400" dirty="0"/>
          </a:p>
          <a:p>
            <a:pPr lvl="1">
              <a:lnSpc>
                <a:spcPct val="150000"/>
              </a:lnSpc>
            </a:pPr>
            <a:r>
              <a:rPr lang="zh-CN" altLang="en-US" sz="2000" b="1" dirty="0">
                <a:solidFill>
                  <a:srgbClr val="FF0000"/>
                </a:solidFill>
              </a:rPr>
              <a:t>循叶结点链顺序搜索</a:t>
            </a:r>
            <a:endParaRPr lang="zh-CN" altLang="en-US" sz="2000" b="1" dirty="0">
              <a:solidFill>
                <a:srgbClr val="FF0000"/>
              </a:solidFill>
            </a:endParaRPr>
          </a:p>
          <a:p>
            <a:pPr lvl="1">
              <a:lnSpc>
                <a:spcPct val="150000"/>
              </a:lnSpc>
            </a:pPr>
            <a:r>
              <a:rPr lang="zh-CN" altLang="en-US" sz="2000" b="1" dirty="0">
                <a:solidFill>
                  <a:srgbClr val="FF0000"/>
                </a:solidFill>
              </a:rPr>
              <a:t>从根结点开始，进行自顶向下，直至叶结点的随机搜索</a:t>
            </a:r>
            <a:endParaRPr lang="zh-CN" altLang="en-US" sz="2000" b="1" dirty="0">
              <a:solidFill>
                <a:srgbClr val="FFFF00"/>
              </a:solidFill>
            </a:endParaRPr>
          </a:p>
          <a:p>
            <a:pPr>
              <a:lnSpc>
                <a:spcPct val="150000"/>
              </a:lnSpc>
            </a:pPr>
            <a:r>
              <a:rPr lang="zh-CN" altLang="en-US" sz="2400" dirty="0"/>
              <a:t>在</a:t>
            </a:r>
            <a:r>
              <a:rPr lang="en-US" altLang="zh-CN" sz="2400" dirty="0"/>
              <a:t>B</a:t>
            </a:r>
            <a:r>
              <a:rPr lang="en-US" altLang="zh-CN" sz="2400" baseline="30000" dirty="0"/>
              <a:t>+</a:t>
            </a:r>
            <a:r>
              <a:rPr lang="zh-CN" altLang="en-US" sz="2400" dirty="0"/>
              <a:t>树上进行随机搜索、插入和删除的过程基本上与</a:t>
            </a:r>
            <a:r>
              <a:rPr lang="en-US" altLang="zh-CN" sz="2400" dirty="0"/>
              <a:t>B-</a:t>
            </a:r>
            <a:r>
              <a:rPr lang="zh-CN" altLang="en-US" sz="2400" dirty="0"/>
              <a:t>树类似。只是在搜索过程中，</a:t>
            </a:r>
            <a:r>
              <a:rPr lang="zh-CN" altLang="en-US" sz="2400" dirty="0">
                <a:solidFill>
                  <a:srgbClr val="FF0000"/>
                </a:solidFill>
              </a:rPr>
              <a:t>如果非叶结点上的关键码等于给定值，搜索并不停止，而是继续沿右指针向下，一直查到叶结点上的这个关键码。</a:t>
            </a:r>
            <a:endParaRPr lang="zh-CN" altLang="en-US" sz="2400"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cene3d>
              <a:camera prst="orthographicFront"/>
              <a:lightRig rig="threePt" dir="t"/>
            </a:scene3d>
          </a:bodyPr>
          <a:lstStyle/>
          <a:p>
            <a:pPr algn="l"/>
            <a:r>
              <a:rPr lang="en-US" altLang="zh-CN" b="1" kern="1200" dirty="0">
                <a:solidFill>
                  <a:schemeClr val="bg1"/>
                </a:solidFill>
                <a:effectLst>
                  <a:outerShdw blurRad="38100" dist="25400" dir="5400000" algn="ctr" rotWithShape="0">
                    <a:srgbClr val="6E747A">
                      <a:alpha val="43000"/>
                    </a:srgbClr>
                  </a:outerShdw>
                </a:effectLst>
              </a:rPr>
              <a:t>B+</a:t>
            </a:r>
            <a:r>
              <a:rPr lang="zh-CN" altLang="en-US" b="1" kern="1200" dirty="0">
                <a:solidFill>
                  <a:schemeClr val="bg1"/>
                </a:solidFill>
                <a:effectLst>
                  <a:outerShdw blurRad="38100" dist="25400" dir="5400000" algn="ctr" rotWithShape="0">
                    <a:srgbClr val="6E747A">
                      <a:alpha val="43000"/>
                    </a:srgbClr>
                  </a:outerShdw>
                </a:effectLst>
              </a:rPr>
              <a:t>树的插入和删除</a:t>
            </a:r>
            <a:endParaRPr lang="zh-CN" altLang="en-US" b="1" kern="1200" dirty="0">
              <a:solidFill>
                <a:schemeClr val="bg1"/>
              </a:solidFill>
              <a:effectLst>
                <a:outerShdw blurRad="38100" dist="25400" dir="5400000" algn="ctr" rotWithShape="0">
                  <a:srgbClr val="6E747A">
                    <a:alpha val="43000"/>
                  </a:srgbClr>
                </a:outerShdw>
              </a:effectLst>
            </a:endParaRPr>
          </a:p>
        </p:txBody>
      </p:sp>
      <p:sp>
        <p:nvSpPr>
          <p:cNvPr id="225283" name="Rectangle 3"/>
          <p:cNvSpPr>
            <a:spLocks noGrp="1" noChangeArrowheads="1"/>
          </p:cNvSpPr>
          <p:nvPr>
            <p:ph idx="1"/>
          </p:nvPr>
        </p:nvSpPr>
        <p:spPr/>
        <p:txBody>
          <a:bodyPr/>
          <a:lstStyle/>
          <a:p>
            <a:pPr>
              <a:lnSpc>
                <a:spcPct val="140000"/>
              </a:lnSpc>
            </a:pPr>
            <a:r>
              <a:rPr lang="en-US" altLang="zh-CN" sz="2400" dirty="0">
                <a:solidFill>
                  <a:srgbClr val="FF0000"/>
                </a:solidFill>
              </a:rPr>
              <a:t>B</a:t>
            </a:r>
            <a:r>
              <a:rPr lang="en-US" altLang="zh-CN" sz="2400" baseline="30000" dirty="0">
                <a:solidFill>
                  <a:srgbClr val="FF0000"/>
                </a:solidFill>
              </a:rPr>
              <a:t>+</a:t>
            </a:r>
            <a:r>
              <a:rPr lang="zh-CN" altLang="en-US" sz="2400" dirty="0">
                <a:solidFill>
                  <a:srgbClr val="FF0000"/>
                </a:solidFill>
              </a:rPr>
              <a:t>树的插入仅在叶结点上进行</a:t>
            </a:r>
            <a:r>
              <a:rPr lang="zh-CN" altLang="en-US" sz="2400" dirty="0"/>
              <a:t>。每插入一个关键码</a:t>
            </a:r>
            <a:r>
              <a:rPr lang="en-US" altLang="zh-CN" sz="2400" dirty="0"/>
              <a:t>-</a:t>
            </a:r>
            <a:r>
              <a:rPr lang="zh-CN" altLang="en-US" sz="2400" dirty="0"/>
              <a:t>指针索引项后都要判断结点中的子树棵数是否超出范围。</a:t>
            </a:r>
            <a:endParaRPr lang="zh-CN" altLang="en-US" sz="2400" dirty="0"/>
          </a:p>
          <a:p>
            <a:pPr>
              <a:lnSpc>
                <a:spcPct val="140000"/>
              </a:lnSpc>
            </a:pPr>
            <a:r>
              <a:rPr lang="en-US" altLang="zh-CN" sz="2400" dirty="0">
                <a:solidFill>
                  <a:srgbClr val="FF0000"/>
                </a:solidFill>
              </a:rPr>
              <a:t>B</a:t>
            </a:r>
            <a:r>
              <a:rPr lang="en-US" altLang="zh-CN" sz="2400" baseline="30000" dirty="0">
                <a:solidFill>
                  <a:srgbClr val="FF0000"/>
                </a:solidFill>
              </a:rPr>
              <a:t>+</a:t>
            </a:r>
            <a:r>
              <a:rPr lang="zh-CN" altLang="en-US" sz="2400" dirty="0">
                <a:solidFill>
                  <a:srgbClr val="FF0000"/>
                </a:solidFill>
              </a:rPr>
              <a:t>树的删除仅在叶结点上进行</a:t>
            </a:r>
            <a:r>
              <a:rPr lang="zh-CN" altLang="en-US" sz="2400" dirty="0"/>
              <a:t>。</a:t>
            </a:r>
            <a:endParaRPr lang="zh-CN" altLang="en-US" sz="24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p="http://schemas.openxmlformats.org/presentationml/2006/main">
  <p:tag name="COMMONDATA" val="eyJoZGlkIjoiZjVhM2RlMmM2M2YzNzUyZGQzMTAwZTU3MGUyMjdjYTQifQ=="/>
  <p:tag name="commondata" val="eyJoZGlkIjoiZWQ1YzRkOGVmY2I5MThlMjIyOTQ0NDAyOTkxNTNkN2IifQ=="/>
</p:tagLst>
</file>

<file path=ppt/theme/theme1.xml><?xml version="1.0" encoding="utf-8"?>
<a:theme xmlns:a="http://schemas.openxmlformats.org/drawingml/2006/main" name="2_Orbit">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rbit">
      <a:majorFont>
        <a:latin typeface="Arial"/>
        <a:ea typeface="幼圆"/>
        <a:cs typeface="Arial"/>
      </a:majorFont>
      <a:minorFont>
        <a:latin typeface="Arial"/>
        <a:ea typeface="幼圆"/>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5171</Words>
  <Application>WPS 演示</Application>
  <PresentationFormat>宽屏</PresentationFormat>
  <Paragraphs>484</Paragraphs>
  <Slides>45</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16</vt:i4>
      </vt:variant>
      <vt:variant>
        <vt:lpstr>幻灯片标题</vt:lpstr>
      </vt:variant>
      <vt:variant>
        <vt:i4>45</vt:i4>
      </vt:variant>
    </vt:vector>
  </HeadingPairs>
  <TitlesOfParts>
    <vt:vector size="76" baseType="lpstr">
      <vt:lpstr>Arial</vt:lpstr>
      <vt:lpstr>宋体</vt:lpstr>
      <vt:lpstr>Wingdings</vt:lpstr>
      <vt:lpstr>幼圆</vt:lpstr>
      <vt:lpstr>Times New Roman</vt:lpstr>
      <vt:lpstr>黑体</vt:lpstr>
      <vt:lpstr>Wingdings</vt:lpstr>
      <vt:lpstr>Symbol</vt:lpstr>
      <vt:lpstr>Consolas</vt:lpstr>
      <vt:lpstr>微软雅黑</vt:lpstr>
      <vt:lpstr>Arial Unicode MS</vt:lpstr>
      <vt:lpstr>Calibri</vt:lpstr>
      <vt:lpstr>仿宋_GB2312</vt:lpstr>
      <vt:lpstr>楷体_GB2312</vt:lpstr>
      <vt:lpstr>2_Orbit</vt:lpstr>
      <vt:lpstr>Word.Picture.8</vt:lpstr>
      <vt:lpstr>Photoshop.Image.6</vt:lpstr>
      <vt:lpstr>Photoshop.Image.6</vt:lpstr>
      <vt:lpstr>Photoshop.Image.6</vt:lpstr>
      <vt:lpstr>Photoshop.Image.6</vt:lpstr>
      <vt:lpstr>Photoshop.Image.6</vt:lpstr>
      <vt:lpstr>Photoshop.Image.6</vt:lpstr>
      <vt:lpstr>Photoshop.Image.6</vt:lpstr>
      <vt:lpstr>Equation.DSMT4</vt:lpstr>
      <vt:lpstr>Photoshop.Image.6</vt:lpstr>
      <vt:lpstr>Photoshop.Image.6</vt:lpstr>
      <vt:lpstr>Photoshop.Image.6</vt:lpstr>
      <vt:lpstr>Photoshop.Image.6</vt:lpstr>
      <vt:lpstr>Photoshop.Image.6</vt:lpstr>
      <vt:lpstr>Photoshop.Image.6</vt:lpstr>
      <vt:lpstr>Photoshop.Image.6</vt:lpstr>
      <vt:lpstr>Chapter 08 Searching 第八章 查找</vt:lpstr>
      <vt:lpstr>PowerPoint 演示文稿</vt:lpstr>
      <vt:lpstr>Contents</vt:lpstr>
      <vt:lpstr>8.5 B树和B＋树</vt:lpstr>
      <vt:lpstr>8.5.1 B树定义及查找</vt:lpstr>
      <vt:lpstr>8.5.1 B树定义及查找</vt:lpstr>
      <vt:lpstr>8.5.1 B树定义及查找</vt:lpstr>
      <vt:lpstr>PowerPoint 演示文稿</vt:lpstr>
      <vt:lpstr>PowerPoint 演示文稿</vt:lpstr>
      <vt:lpstr>8.5.2 B树查找性能分析</vt:lpstr>
      <vt:lpstr>8.5.2 B树查找性能分析</vt:lpstr>
      <vt:lpstr>8.5.3 B树的插入和删除</vt:lpstr>
      <vt:lpstr>8.5.3 B树的插入和删除</vt:lpstr>
      <vt:lpstr>8.5.3 B树的插入和删除</vt:lpstr>
      <vt:lpstr>Example: Setup of a B-Tree (2-3 tree)</vt:lpstr>
      <vt:lpstr>Example: Setup of a B-Tree </vt:lpstr>
      <vt:lpstr>Example: Inset into a B-Tree </vt:lpstr>
      <vt:lpstr>Example: Inset into a B-Tree </vt:lpstr>
      <vt:lpstr>Example: Inset into a B-Tree </vt:lpstr>
      <vt:lpstr>Example: Inset into a B-Tree </vt:lpstr>
      <vt:lpstr>Example: Inset into a B-Tree </vt:lpstr>
      <vt:lpstr>Example: Inset into a B-Tree </vt:lpstr>
      <vt:lpstr>PowerPoint 演示文稿</vt:lpstr>
      <vt:lpstr>PowerPoint 演示文稿</vt:lpstr>
      <vt:lpstr>8.5.3 B树的插入和删除</vt:lpstr>
      <vt:lpstr>8.5.3 B树的插入和删除</vt:lpstr>
      <vt:lpstr>8.5.3 B树的插入和删除</vt:lpstr>
      <vt:lpstr>8.5.3 B树的插入和删除</vt:lpstr>
      <vt:lpstr>8.5.3 B树的插入和删除</vt:lpstr>
      <vt:lpstr>8.5.3 B树的插入和删除</vt:lpstr>
      <vt:lpstr>8.5.3 B树的插入和删除</vt:lpstr>
      <vt:lpstr>8.5.3 B树的插入和删除</vt:lpstr>
      <vt:lpstr>Example</vt:lpstr>
      <vt:lpstr>Example</vt:lpstr>
      <vt:lpstr>Example</vt:lpstr>
      <vt:lpstr>Example</vt:lpstr>
      <vt:lpstr>Example</vt:lpstr>
      <vt:lpstr>Example</vt:lpstr>
      <vt:lpstr>Example</vt:lpstr>
      <vt:lpstr>Example</vt:lpstr>
      <vt:lpstr>Example</vt:lpstr>
      <vt:lpstr>8.5.4 B+树</vt:lpstr>
      <vt:lpstr>8.5.4 B+树</vt:lpstr>
      <vt:lpstr>B+树的搜索</vt:lpstr>
      <vt:lpstr>B+树的插入和删除</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王犇</cp:lastModifiedBy>
  <cp:revision>422</cp:revision>
  <dcterms:created xsi:type="dcterms:W3CDTF">2019-06-19T02:08:00Z</dcterms:created>
  <dcterms:modified xsi:type="dcterms:W3CDTF">2026-05-19T10:07:29Z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ECD2649BF67C4413A73376E89FA200B9_11</vt:lpwstr>
  </property>
</Properties>
</file>